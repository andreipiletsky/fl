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notesSlides/notesSlide6.xml" ContentType="application/vnd.openxmlformats-officedocument.presentationml.notesSlide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notesSlides/notesSlide7.xml" ContentType="application/vnd.openxmlformats-officedocument.presentationml.notesSlide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notesSlides/notesSlide8.xml" ContentType="application/vnd.openxmlformats-officedocument.presentationml.notesSlide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notesSlides/notesSlide9.xml" ContentType="application/vnd.openxmlformats-officedocument.presentationml.notesSlide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notesSlides/notesSlide10.xml" ContentType="application/vnd.openxmlformats-officedocument.presentationml.notesSlide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notesSlides/notesSlide11.xml" ContentType="application/vnd.openxmlformats-officedocument.presentationml.notesSlide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notesSlides/notesSlide12.xml" ContentType="application/vnd.openxmlformats-officedocument.presentationml.notesSlide+xml"/>
  <Override PartName="/ppt/charts/chart80.xml" ContentType="application/vnd.openxmlformats-officedocument.drawingml.chart+xml"/>
  <Override PartName="/ppt/charts/chart81.xml" ContentType="application/vnd.openxmlformats-officedocument.drawingml.chart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notesSlides/notesSlide13.xml" ContentType="application/vnd.openxmlformats-officedocument.presentationml.notesSlide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tags/tag306.xml" ContentType="application/vnd.openxmlformats-officedocument.presentationml.tags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tags/tag307.xml" ContentType="application/vnd.openxmlformats-officedocument.presentationml.tags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0.xml" ContentType="application/vnd.openxmlformats-officedocument.drawingml.chart+xml"/>
  <Override PartName="/ppt/charts/chart9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956" r:id="rId1"/>
  </p:sldMasterIdLst>
  <p:notesMasterIdLst>
    <p:notesMasterId r:id="rId24"/>
  </p:notesMasterIdLst>
  <p:handoutMasterIdLst>
    <p:handoutMasterId r:id="rId25"/>
  </p:handoutMasterIdLst>
  <p:sldIdLst>
    <p:sldId id="361" r:id="rId2"/>
    <p:sldId id="676" r:id="rId3"/>
    <p:sldId id="733" r:id="rId4"/>
    <p:sldId id="677" r:id="rId5"/>
    <p:sldId id="692" r:id="rId6"/>
    <p:sldId id="620" r:id="rId7"/>
    <p:sldId id="632" r:id="rId8"/>
    <p:sldId id="633" r:id="rId9"/>
    <p:sldId id="763" r:id="rId10"/>
    <p:sldId id="764" r:id="rId11"/>
    <p:sldId id="368" r:id="rId12"/>
    <p:sldId id="616" r:id="rId13"/>
    <p:sldId id="579" r:id="rId14"/>
    <p:sldId id="678" r:id="rId15"/>
    <p:sldId id="761" r:id="rId16"/>
    <p:sldId id="680" r:id="rId17"/>
    <p:sldId id="737" r:id="rId18"/>
    <p:sldId id="738" r:id="rId19"/>
    <p:sldId id="742" r:id="rId20"/>
    <p:sldId id="743" r:id="rId21"/>
    <p:sldId id="744" r:id="rId22"/>
    <p:sldId id="779" r:id="rId23"/>
  </p:sldIdLst>
  <p:sldSz cx="9144000" cy="6858000" type="screen4x3"/>
  <p:notesSz cx="9906000" cy="6794500"/>
  <p:custDataLst>
    <p:tags r:id="rId26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121AF72-3A54-4938-9580-744C0CDC90B6}">
          <p14:sldIdLst>
            <p14:sldId id="361"/>
            <p14:sldId id="676"/>
            <p14:sldId id="733"/>
          </p14:sldIdLst>
        </p14:section>
        <p14:section name="Дирекция по добыче ЭБ" id="{D09A82EB-E091-445D-AE73-2D5A0BD18A15}">
          <p14:sldIdLst>
            <p14:sldId id="677"/>
            <p14:sldId id="692"/>
            <p14:sldId id="620"/>
            <p14:sldId id="632"/>
            <p14:sldId id="633"/>
            <p14:sldId id="763"/>
            <p14:sldId id="764"/>
            <p14:sldId id="368"/>
            <p14:sldId id="616"/>
            <p14:sldId id="579"/>
          </p14:sldIdLst>
        </p14:section>
        <p14:section name="ДКП" id="{EAAB629B-E3C1-4BAD-9338-7636F44C9FAA}">
          <p14:sldIdLst>
            <p14:sldId id="678"/>
            <p14:sldId id="761"/>
            <p14:sldId id="680"/>
          </p14:sldIdLst>
        </p14:section>
        <p14:section name="ГРР" id="{E46F0983-2556-4702-BAAB-71505164DBA9}">
          <p14:sldIdLst>
            <p14:sldId id="737"/>
            <p14:sldId id="738"/>
          </p14:sldIdLst>
        </p14:section>
        <p14:section name="НПВ" id="{363939B0-534F-496E-87EC-E3B426DDB553}">
          <p14:sldIdLst>
            <p14:sldId id="742"/>
            <p14:sldId id="743"/>
            <p14:sldId id="744"/>
            <p14:sldId id="77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9" userDrawn="1">
          <p15:clr>
            <a:srgbClr val="A4A3A4"/>
          </p15:clr>
        </p15:guide>
        <p15:guide id="2" orient="horz" pos="3997">
          <p15:clr>
            <a:srgbClr val="A4A3A4"/>
          </p15:clr>
        </p15:guide>
        <p15:guide id="3" pos="181">
          <p15:clr>
            <a:srgbClr val="A4A3A4"/>
          </p15:clr>
        </p15:guide>
        <p15:guide id="4" pos="5579">
          <p15:clr>
            <a:srgbClr val="A4A3A4"/>
          </p15:clr>
        </p15:guide>
        <p15:guide id="5" orient="horz" pos="1280">
          <p15:clr>
            <a:srgbClr val="A4A3A4"/>
          </p15:clr>
        </p15:guide>
        <p15:guide id="6" orient="horz" pos="1525">
          <p15:clr>
            <a:srgbClr val="A4A3A4"/>
          </p15:clr>
        </p15:guide>
        <p15:guide id="7" pos="2880">
          <p15:clr>
            <a:srgbClr val="A4A3A4"/>
          </p15:clr>
        </p15:guide>
        <p15:guide id="8" pos="2789">
          <p15:clr>
            <a:srgbClr val="A4A3A4"/>
          </p15:clr>
        </p15:guide>
        <p15:guide id="9" pos="2971">
          <p15:clr>
            <a:srgbClr val="A4A3A4"/>
          </p15:clr>
        </p15:guide>
        <p15:guide id="10" pos="295">
          <p15:clr>
            <a:srgbClr val="A4A3A4"/>
          </p15:clr>
        </p15:guide>
        <p15:guide id="11" pos="3553">
          <p15:clr>
            <a:srgbClr val="A4A3A4"/>
          </p15:clr>
        </p15:guide>
        <p15:guide id="12" pos="2253">
          <p15:clr>
            <a:srgbClr val="A4A3A4"/>
          </p15:clr>
        </p15:guide>
        <p15:guide id="13" orient="horz" pos="548">
          <p15:clr>
            <a:srgbClr val="A4A3A4"/>
          </p15:clr>
        </p15:guide>
        <p15:guide id="14" orient="horz" pos="119">
          <p15:clr>
            <a:srgbClr val="A4A3A4"/>
          </p15:clr>
        </p15:guide>
        <p15:guide id="15" orient="horz" pos="1230">
          <p15:clr>
            <a:srgbClr val="A4A3A4"/>
          </p15:clr>
        </p15:guide>
        <p15:guide id="16" pos="1723">
          <p15:clr>
            <a:srgbClr val="A4A3A4"/>
          </p15:clr>
        </p15:guide>
        <p15:guide id="17" pos="2047">
          <p15:clr>
            <a:srgbClr val="A4A3A4"/>
          </p15:clr>
        </p15:guide>
        <p15:guide id="18" pos="7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5353"/>
    <a:srgbClr val="848EA4"/>
    <a:srgbClr val="003669"/>
    <a:srgbClr val="00B050"/>
    <a:srgbClr val="FFFFCC"/>
    <a:srgbClr val="CCFF99"/>
    <a:srgbClr val="996633"/>
    <a:srgbClr val="DDDDDD"/>
    <a:srgbClr val="FFCC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Средний стиль 1 -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Средний стиль 1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79" autoAdjust="0"/>
    <p:restoredTop sz="95742" autoAdjust="0"/>
  </p:normalViewPr>
  <p:slideViewPr>
    <p:cSldViewPr showGuides="1">
      <p:cViewPr varScale="1">
        <p:scale>
          <a:sx n="93" d="100"/>
          <a:sy n="93" d="100"/>
        </p:scale>
        <p:origin x="372" y="102"/>
      </p:cViewPr>
      <p:guideLst>
        <p:guide orient="horz" pos="799"/>
        <p:guide orient="horz" pos="3997"/>
        <p:guide pos="181"/>
        <p:guide pos="5579"/>
        <p:guide orient="horz" pos="1280"/>
        <p:guide orient="horz" pos="1525"/>
        <p:guide pos="2880"/>
        <p:guide pos="2789"/>
        <p:guide pos="2971"/>
        <p:guide pos="295"/>
        <p:guide pos="3553"/>
        <p:guide pos="2253"/>
        <p:guide orient="horz" pos="548"/>
        <p:guide orient="horz" pos="119"/>
        <p:guide orient="horz" pos="1230"/>
        <p:guide pos="1723"/>
        <p:guide pos="2047"/>
        <p:guide pos="7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781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5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6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7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8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9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0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1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2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3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4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5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6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7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8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9.xlsx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0.xlsx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1.xlsx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2.xlsx"/></Relationships>
</file>

<file path=ppt/charts/_rels/chart2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3.xlsx"/></Relationships>
</file>

<file path=ppt/charts/_rels/chart2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4.xlsx"/></Relationships>
</file>

<file path=ppt/charts/_rels/chart2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5.xlsx"/></Relationships>
</file>

<file path=ppt/charts/_rels/chart2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6.xlsx"/></Relationships>
</file>

<file path=ppt/charts/_rels/chart2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7.xlsx"/></Relationships>
</file>

<file path=ppt/charts/_rels/chart2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8.xlsx"/></Relationships>
</file>

<file path=ppt/charts/_rels/chart2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9.xlsx"/></Relationships>
</file>

<file path=ppt/charts/_rels/chart3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0.xlsx"/></Relationships>
</file>

<file path=ppt/charts/_rels/chart3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1.xlsx"/></Relationships>
</file>

<file path=ppt/charts/_rels/chart3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2.xlsx"/></Relationships>
</file>

<file path=ppt/charts/_rels/chart3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3.xlsx"/></Relationships>
</file>

<file path=ppt/charts/_rels/chart3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4.xlsx"/></Relationships>
</file>

<file path=ppt/charts/_rels/chart3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5.xlsx"/></Relationships>
</file>

<file path=ppt/charts/_rels/chart3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6.xlsx"/></Relationships>
</file>

<file path=ppt/charts/_rels/chart3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7.xlsx"/></Relationships>
</file>

<file path=ppt/charts/_rels/chart3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8.xlsx"/></Relationships>
</file>

<file path=ppt/charts/_rels/chart3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39.xlsx"/></Relationships>
</file>

<file path=ppt/charts/_rels/chart4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0.xlsx"/></Relationships>
</file>

<file path=ppt/charts/_rels/chart4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1.xlsx"/></Relationships>
</file>

<file path=ppt/charts/_rels/chart4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2.xlsx"/></Relationships>
</file>

<file path=ppt/charts/_rels/chart4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3.xlsx"/></Relationships>
</file>

<file path=ppt/charts/_rels/chart4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4.xlsx"/></Relationships>
</file>

<file path=ppt/charts/_rels/chart4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5.xlsx"/></Relationships>
</file>

<file path=ppt/charts/_rels/chart4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6.xlsx"/></Relationships>
</file>

<file path=ppt/charts/_rels/chart4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7.xlsx"/></Relationships>
</file>

<file path=ppt/charts/_rels/chart4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8.xlsx"/></Relationships>
</file>

<file path=ppt/charts/_rels/chart4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49.xlsx"/></Relationships>
</file>

<file path=ppt/charts/_rels/chart5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50.xlsx"/></Relationships>
</file>

<file path=ppt/charts/_rels/chart5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51.xlsx"/></Relationships>
</file>

<file path=ppt/charts/_rels/chart5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52.xlsx"/></Relationships>
</file>

<file path=ppt/charts/_rels/chart5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53.xlsx"/></Relationships>
</file>

<file path=ppt/charts/_rels/chart5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_____Microsoft_Excel54.xlsx"/><Relationship Id="rId1" Type="http://schemas.openxmlformats.org/officeDocument/2006/relationships/image" Target="../media/image4.png"/></Relationships>
</file>

<file path=ppt/charts/_rels/chart55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_____Microsoft_Excel55.xlsx"/><Relationship Id="rId1" Type="http://schemas.openxmlformats.org/officeDocument/2006/relationships/image" Target="../media/image4.png"/></Relationships>
</file>

<file path=ppt/charts/_rels/chart5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56.xlsx"/></Relationships>
</file>

<file path=ppt/charts/_rels/chart5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57.xlsx"/></Relationships>
</file>

<file path=ppt/charts/_rels/chart5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58.xlsx"/></Relationships>
</file>

<file path=ppt/charts/_rels/chart5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59.xlsx"/></Relationships>
</file>

<file path=ppt/charts/_rels/chart6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60.xlsx"/></Relationships>
</file>

<file path=ppt/charts/_rels/chart6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61.xlsx"/></Relationships>
</file>

<file path=ppt/charts/_rels/chart6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62.xlsx"/></Relationships>
</file>

<file path=ppt/charts/_rels/chart6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63.xlsx"/></Relationships>
</file>

<file path=ppt/charts/_rels/chart6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64.xlsx"/></Relationships>
</file>

<file path=ppt/charts/_rels/chart6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65.xlsx"/></Relationships>
</file>

<file path=ppt/charts/_rels/chart6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66.xlsx"/></Relationships>
</file>

<file path=ppt/charts/_rels/chart6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67.xlsx"/></Relationships>
</file>

<file path=ppt/charts/_rels/chart6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68.xlsx"/></Relationships>
</file>

<file path=ppt/charts/_rels/chart6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69.xlsx"/></Relationships>
</file>

<file path=ppt/charts/_rels/chart7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70.xlsx"/></Relationships>
</file>

<file path=ppt/charts/_rels/chart7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71.xlsx"/></Relationships>
</file>

<file path=ppt/charts/_rels/chart7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72.xlsx"/></Relationships>
</file>

<file path=ppt/charts/_rels/chart7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73.xlsx"/></Relationships>
</file>

<file path=ppt/charts/_rels/chart7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74.xlsx"/></Relationships>
</file>

<file path=ppt/charts/_rels/chart7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75.xlsx"/></Relationships>
</file>

<file path=ppt/charts/_rels/chart7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76.xlsx"/></Relationships>
</file>

<file path=ppt/charts/_rels/chart7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77.xlsx"/></Relationships>
</file>

<file path=ppt/charts/_rels/chart7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78.xlsx"/></Relationships>
</file>

<file path=ppt/charts/_rels/chart7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79.xlsx"/></Relationships>
</file>

<file path=ppt/charts/_rels/chart8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80.xlsx"/></Relationships>
</file>

<file path=ppt/charts/_rels/chart8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81.xlsx"/></Relationships>
</file>

<file path=ppt/charts/_rels/chart8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82.xlsx"/></Relationships>
</file>

<file path=ppt/charts/_rels/chart8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83.xlsx"/></Relationships>
</file>

<file path=ppt/charts/_rels/chart8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84.xlsx"/></Relationships>
</file>

<file path=ppt/charts/_rels/chart8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85.xlsx"/></Relationships>
</file>

<file path=ppt/charts/_rels/chart8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86.xlsx"/></Relationships>
</file>

<file path=ppt/charts/_rels/chart8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87.xlsx"/></Relationships>
</file>

<file path=ppt/charts/_rels/chart8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88.xlsx"/></Relationships>
</file>

<file path=ppt/charts/_rels/chart89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_____Microsoft_Excel89.xlsx"/><Relationship Id="rId1" Type="http://schemas.openxmlformats.org/officeDocument/2006/relationships/image" Target="../media/image4.png"/></Relationships>
</file>

<file path=ppt/charts/_rels/chart9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_____Microsoft_Excel90.xlsx"/><Relationship Id="rId1" Type="http://schemas.openxmlformats.org/officeDocument/2006/relationships/image" Target="../media/image4.png"/></Relationships>
</file>

<file path=ppt/charts/_rels/chart9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9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LTIF по функции (Добыча, ГРР, Крупные проекты) last г.</c:v>
                </c:pt>
              </c:strCache>
            </c:strRef>
          </c:tx>
          <c:spPr>
            <a:ln>
              <a:solidFill>
                <a:schemeClr val="bg2"/>
              </a:solidFill>
            </a:ln>
          </c:spPr>
          <c:marker>
            <c:symbol val="none"/>
          </c:marker>
          <c:dLbls>
            <c:dLbl>
              <c:idx val="5"/>
              <c:layout>
                <c:manualLayout>
                  <c:x val="-2.8154992148034783E-2"/>
                  <c:y val="3.516229464035015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-4.0972980481328296E-2"/>
                  <c:y val="-0.12134906738349487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chemeClr val="bg2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Март</c:v>
                </c:pt>
                <c:pt idx="3">
                  <c:v>Апр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Нояб</c:v>
                </c:pt>
                <c:pt idx="11">
                  <c:v>Дек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LTIF по функции (Добыча, ГРР, Крупные проекты) cur г.</c:v>
                </c:pt>
              </c:strCache>
            </c:strRef>
          </c:tx>
          <c:marker>
            <c:symbol val="none"/>
          </c:marker>
          <c:dLbls>
            <c:dLbl>
              <c:idx val="0"/>
              <c:layout>
                <c:manualLayout>
                  <c:x val="-5.1704706769996965E-2"/>
                  <c:y val="-6.693684810539722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5.1704706769996965E-2"/>
                  <c:y val="-4.50442219556033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4.6471436854005413E-2"/>
                  <c:y val="-7.423439015532848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layout>
                <c:manualLayout>
                  <c:x val="-8.9056655709765328E-2"/>
                  <c:y val="-1.90532705746863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layout>
                <c:manualLayout>
                  <c:x val="-5.9382304806190875E-2"/>
                  <c:y val="9.654629479618563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layout>
                <c:manualLayout>
                  <c:x val="-4.5981945883023054E-2"/>
                  <c:y val="6.880139187745239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>
                    <a:solidFill>
                      <a:schemeClr val="accent2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Март</c:v>
                </c:pt>
                <c:pt idx="3">
                  <c:v>Апр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Нояб</c:v>
                </c:pt>
                <c:pt idx="11">
                  <c:v>Дек</c:v>
                </c:pt>
              </c:strCache>
            </c:strRef>
          </c:cat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LTIF (средний) по функции за month мес. cur г.</c:v>
                </c:pt>
              </c:strCache>
            </c:strRef>
          </c:tx>
          <c:spPr>
            <a:ln>
              <a:solidFill>
                <a:srgbClr val="FFC000"/>
              </a:solidFill>
              <a:prstDash val="dash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-1.1235253613737681E-2"/>
                  <c:y val="5.9444132720570191E-2"/>
                </c:manualLayout>
              </c:layout>
              <c:spPr/>
              <c:txPr>
                <a:bodyPr/>
                <a:lstStyle/>
                <a:p>
                  <a:pPr>
                    <a:defRPr sz="800" b="1">
                      <a:solidFill>
                        <a:srgbClr val="FFC000"/>
                      </a:solidFill>
                    </a:defRPr>
                  </a:pPr>
                  <a:endParaRPr lang="ru-RU"/>
                </a:p>
              </c:txPr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</c:v>
                </c:pt>
                <c:pt idx="1">
                  <c:v>Фев</c:v>
                </c:pt>
                <c:pt idx="2">
                  <c:v>Март</c:v>
                </c:pt>
                <c:pt idx="3">
                  <c:v>Апр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</c:v>
                </c:pt>
                <c:pt idx="8">
                  <c:v>Сен</c:v>
                </c:pt>
                <c:pt idx="9">
                  <c:v>Окт</c:v>
                </c:pt>
                <c:pt idx="10">
                  <c:v>Нояб</c:v>
                </c:pt>
                <c:pt idx="11">
                  <c:v>Дек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  <c:smooth val="0"/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72594496"/>
        <c:axId val="172595056"/>
      </c:lineChart>
      <c:catAx>
        <c:axId val="1725944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 b="1"/>
            </a:pPr>
            <a:endParaRPr lang="ru-RU"/>
          </a:p>
        </c:txPr>
        <c:crossAx val="172595056"/>
        <c:crosses val="autoZero"/>
        <c:auto val="1"/>
        <c:lblAlgn val="ctr"/>
        <c:lblOffset val="100"/>
        <c:noMultiLvlLbl val="0"/>
      </c:catAx>
      <c:valAx>
        <c:axId val="1725950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ru-RU"/>
          </a:p>
        </c:txPr>
        <c:crossAx val="17259449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/>
          </a:pPr>
          <a:endParaRPr lang="ru-RU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4319906726323154E-2"/>
          <c:y val="4.7524384436442878E-2"/>
          <c:w val="0.9085539948872553"/>
          <c:h val="0.71139173721337357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Лист1!$A$4</c:f>
              <c:strCache>
                <c:ptCount val="1"/>
                <c:pt idx="0">
                  <c:v>Прирост добычи БП </c:v>
                </c:pt>
              </c:strCache>
            </c:strRef>
          </c:tx>
          <c:spPr>
            <a:solidFill>
              <a:schemeClr val="bg1">
                <a:lumMod val="75000"/>
                <a:alpha val="70000"/>
              </a:schemeClr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Лист1!$B$4:$M$4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Лист1!$A$5</c:f>
              <c:strCache>
                <c:ptCount val="1"/>
                <c:pt idx="0">
                  <c:v>Прирост добычи Факт/Прогноз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dash"/>
              </a:ln>
            </c:spPr>
          </c:dPt>
          <c:dPt>
            <c:idx val="7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Лист1!$B$5:$M$5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5023904"/>
        <c:axId val="295023344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Ввод скв. БП</c:v>
                </c:pt>
              </c:strCache>
            </c:strRef>
          </c:tx>
          <c:spPr>
            <a:ln w="25400">
              <a:solidFill>
                <a:schemeClr val="tx1"/>
              </a:solidFill>
              <a:prstDash val="solid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2845797720797718E-2"/>
                  <c:y val="3.19901194640391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5.7972578347578345E-2"/>
                  <c:y val="4.24933278974397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5.7259615384615388E-2"/>
                  <c:y val="4.28676165776481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/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Лист1!$B$2:$M$2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Ввод скв. Факт/Прогноз</c:v>
                </c:pt>
              </c:strCache>
            </c:strRef>
          </c:tx>
          <c:spPr>
            <a:ln w="25400">
              <a:solidFill>
                <a:schemeClr val="accent3"/>
              </a:solidFill>
              <a:prstDash val="solid"/>
            </a:ln>
          </c:spPr>
          <c:marker>
            <c:symbol val="square"/>
            <c:size val="3"/>
            <c:spPr>
              <a:solidFill>
                <a:schemeClr val="accent3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497008547008547E-2"/>
                  <c:y val="-4.81924511883023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6.0205840455840459E-2"/>
                  <c:y val="-4.85667398685107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5.5798789173789172E-2"/>
                  <c:y val="-5.03037134233453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>
                    <a:solidFill>
                      <a:schemeClr val="accent3">
                        <a:lumMod val="75000"/>
                      </a:schemeClr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Лист1!$B$3:$M$3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95022224"/>
        <c:axId val="295022784"/>
      </c:lineChart>
      <c:catAx>
        <c:axId val="29502222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crossAx val="295022784"/>
        <c:crosses val="autoZero"/>
        <c:auto val="1"/>
        <c:lblAlgn val="ctr"/>
        <c:lblOffset val="100"/>
        <c:noMultiLvlLbl val="0"/>
      </c:catAx>
      <c:valAx>
        <c:axId val="29502278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Ввод скважин, шт.</a:t>
                </a:r>
              </a:p>
            </c:rich>
          </c:tx>
          <c:layout>
            <c:manualLayout>
              <c:xMode val="edge"/>
              <c:yMode val="edge"/>
              <c:x val="1.175524898318127E-2"/>
              <c:y val="0.24472783988324248"/>
            </c:manualLayout>
          </c:layout>
          <c:overlay val="0"/>
        </c:title>
        <c:numFmt formatCode="General" sourceLinked="1"/>
        <c:majorTickMark val="none"/>
        <c:minorTickMark val="none"/>
        <c:tickLblPos val="none"/>
        <c:crossAx val="295022224"/>
        <c:crosses val="autoZero"/>
        <c:crossBetween val="between"/>
      </c:valAx>
      <c:valAx>
        <c:axId val="29502334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Прирост добычи, тыс. т</a:t>
                </a:r>
              </a:p>
            </c:rich>
          </c:tx>
          <c:layout>
            <c:manualLayout>
              <c:xMode val="edge"/>
              <c:yMode val="edge"/>
              <c:x val="0.9604256371635258"/>
              <c:y val="0.19741800765364678"/>
            </c:manualLayout>
          </c:layout>
          <c:overlay val="0"/>
        </c:title>
        <c:numFmt formatCode="0" sourceLinked="0"/>
        <c:majorTickMark val="none"/>
        <c:minorTickMark val="none"/>
        <c:tickLblPos val="none"/>
        <c:crossAx val="295023904"/>
        <c:crosses val="max"/>
        <c:crossBetween val="between"/>
      </c:valAx>
      <c:catAx>
        <c:axId val="2950239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295023344"/>
        <c:crosses val="autoZero"/>
        <c:auto val="1"/>
        <c:lblAlgn val="ctr"/>
        <c:lblOffset val="100"/>
        <c:noMultiLvlLbl val="0"/>
      </c:catAx>
    </c:plotArea>
    <c:legend>
      <c:legendPos val="b"/>
      <c:layout>
        <c:manualLayout>
          <c:xMode val="edge"/>
          <c:yMode val="edge"/>
          <c:x val="4.2261575993105104E-3"/>
          <c:y val="0.90943813088960745"/>
          <c:w val="0.98699575288105024"/>
          <c:h val="7.880184562897545E-2"/>
        </c:manualLayout>
      </c:layout>
      <c:overlay val="0"/>
      <c:txPr>
        <a:bodyPr/>
        <a:lstStyle/>
        <a:p>
          <a:pPr>
            <a:defRPr sz="8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 b="1"/>
      </a:pPr>
      <a:endParaRPr lang="ru-RU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2730894741392314E-2"/>
          <c:y val="3.6315126685653711E-2"/>
          <c:w val="0.91483449899845115"/>
          <c:h val="0.72525035196528165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Лист1!$A$4</c:f>
              <c:strCache>
                <c:ptCount val="1"/>
                <c:pt idx="0">
                  <c:v>Кол-во бр. БП 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Лист1!$B$4:$M$4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Лист1!$A$5</c:f>
              <c:strCache>
                <c:ptCount val="1"/>
                <c:pt idx="0">
                  <c:v>Кол-во бр. Факт/Прогноз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Лист1!$B$5:$M$5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4285328"/>
        <c:axId val="295028944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Зак. бурением БП</c:v>
                </c:pt>
              </c:strCache>
            </c:strRef>
          </c:tx>
          <c:spPr>
            <a:ln w="25400">
              <a:solidFill>
                <a:schemeClr val="tx1"/>
              </a:solidFill>
              <a:prstDash val="solid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8755698005698005E-2"/>
                  <c:y val="4.09262869782021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/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Лист1!$B$2:$M$2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Зак. бурением Факт/Прогноз</c:v>
                </c:pt>
              </c:strCache>
            </c:strRef>
          </c:tx>
          <c:spPr>
            <a:ln w="25400">
              <a:solidFill>
                <a:schemeClr val="accent3"/>
              </a:solidFill>
              <a:prstDash val="solid"/>
            </a:ln>
          </c:spPr>
          <c:marker>
            <c:symbol val="square"/>
            <c:size val="3"/>
            <c:spPr>
              <a:solidFill>
                <a:schemeClr val="accent3"/>
              </a:solidFill>
              <a:ln>
                <a:noFill/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>
                    <a:solidFill>
                      <a:schemeClr val="accent3">
                        <a:lumMod val="75000"/>
                      </a:schemeClr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Лист1!$B$3:$M$3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95027824"/>
        <c:axId val="295028384"/>
      </c:lineChart>
      <c:catAx>
        <c:axId val="29502782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crossAx val="295028384"/>
        <c:crosses val="autoZero"/>
        <c:auto val="1"/>
        <c:lblAlgn val="ctr"/>
        <c:lblOffset val="100"/>
        <c:noMultiLvlLbl val="0"/>
      </c:catAx>
      <c:valAx>
        <c:axId val="29502838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Скв. зак. бурением, шт.</a:t>
                </a:r>
              </a:p>
            </c:rich>
          </c:tx>
          <c:layout>
            <c:manualLayout>
              <c:xMode val="edge"/>
              <c:yMode val="edge"/>
              <c:x val="5.811965811965812E-3"/>
              <c:y val="0.22738704994979414"/>
            </c:manualLayout>
          </c:layout>
          <c:overlay val="0"/>
        </c:title>
        <c:numFmt formatCode="General" sourceLinked="1"/>
        <c:majorTickMark val="none"/>
        <c:minorTickMark val="none"/>
        <c:tickLblPos val="none"/>
        <c:crossAx val="295027824"/>
        <c:crosses val="autoZero"/>
        <c:crossBetween val="between"/>
      </c:valAx>
      <c:valAx>
        <c:axId val="295028944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Кол-во бригад, шт. </a:t>
                </a:r>
              </a:p>
            </c:rich>
          </c:tx>
          <c:layout>
            <c:manualLayout>
              <c:xMode val="edge"/>
              <c:yMode val="edge"/>
              <c:x val="0.96678609055994424"/>
              <c:y val="0.2711373612784882"/>
            </c:manualLayout>
          </c:layout>
          <c:overlay val="0"/>
        </c:title>
        <c:numFmt formatCode="0" sourceLinked="0"/>
        <c:majorTickMark val="none"/>
        <c:minorTickMark val="none"/>
        <c:tickLblPos val="none"/>
        <c:crossAx val="314285328"/>
        <c:crosses val="max"/>
        <c:crossBetween val="between"/>
      </c:valAx>
      <c:catAx>
        <c:axId val="3142853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295028944"/>
        <c:crosses val="autoZero"/>
        <c:auto val="1"/>
        <c:lblAlgn val="ctr"/>
        <c:lblOffset val="100"/>
        <c:noMultiLvlLbl val="0"/>
      </c:catAx>
    </c:plotArea>
    <c:legend>
      <c:legendPos val="b"/>
      <c:legendEntry>
        <c:idx val="0"/>
        <c:txPr>
          <a:bodyPr/>
          <a:lstStyle/>
          <a:p>
            <a:pPr>
              <a:defRPr sz="900"/>
            </a:pPr>
            <a:endParaRPr lang="ru-RU"/>
          </a:p>
        </c:txPr>
      </c:legendEntry>
      <c:layout>
        <c:manualLayout>
          <c:xMode val="edge"/>
          <c:yMode val="edge"/>
          <c:x val="0"/>
          <c:y val="0.91999617229563513"/>
          <c:w val="0.9937302447643217"/>
          <c:h val="7.880184562897545E-2"/>
        </c:manualLayout>
      </c:layout>
      <c:overlay val="0"/>
      <c:txPr>
        <a:bodyPr/>
        <a:lstStyle/>
        <a:p>
          <a:pPr>
            <a:defRPr sz="9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 b="1"/>
      </a:pPr>
      <a:endParaRPr lang="ru-RU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4319906726323154E-2"/>
          <c:y val="4.7524384436442878E-2"/>
          <c:w val="0.9085539948872553"/>
          <c:h val="0.71139173721337357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Лист1!$A$4</c:f>
              <c:strCache>
                <c:ptCount val="1"/>
                <c:pt idx="0">
                  <c:v>Прирост добычи БП </c:v>
                </c:pt>
              </c:strCache>
            </c:strRef>
          </c:tx>
          <c:spPr>
            <a:solidFill>
              <a:schemeClr val="bg1">
                <a:lumMod val="75000"/>
                <a:alpha val="70000"/>
              </a:schemeClr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Лист1!$B$4:$M$4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Лист1!$A$5</c:f>
              <c:strCache>
                <c:ptCount val="1"/>
                <c:pt idx="0">
                  <c:v>Прирост добычи Факт/Прогноз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Лист1!$B$5:$M$5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4290928"/>
        <c:axId val="314290368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Ввод скв. БП</c:v>
                </c:pt>
              </c:strCache>
            </c:strRef>
          </c:tx>
          <c:spPr>
            <a:ln w="25400">
              <a:solidFill>
                <a:schemeClr val="tx1"/>
              </a:solidFill>
              <a:prstDash val="solid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2845797720797718E-2"/>
                  <c:y val="3.19901194640391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5.7972578347578345E-2"/>
                  <c:y val="4.24933278974397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5.7259615384615388E-2"/>
                  <c:y val="4.28676165776481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/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Лист1!$B$2:$M$2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Ввод скв. Факт/Прогноз</c:v>
                </c:pt>
              </c:strCache>
            </c:strRef>
          </c:tx>
          <c:spPr>
            <a:ln w="25400">
              <a:solidFill>
                <a:schemeClr val="accent3"/>
              </a:solidFill>
              <a:prstDash val="solid"/>
            </a:ln>
          </c:spPr>
          <c:marker>
            <c:symbol val="square"/>
            <c:size val="3"/>
            <c:spPr>
              <a:solidFill>
                <a:schemeClr val="accent3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497008547008547E-2"/>
                  <c:y val="-4.81924511883023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6.0205840455840459E-2"/>
                  <c:y val="-4.85667398685107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5.5798789173789172E-2"/>
                  <c:y val="-5.03037134233453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>
                    <a:solidFill>
                      <a:schemeClr val="accent3">
                        <a:lumMod val="75000"/>
                      </a:schemeClr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Лист1!$B$3:$M$3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14289248"/>
        <c:axId val="314289808"/>
      </c:lineChart>
      <c:catAx>
        <c:axId val="31428924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crossAx val="314289808"/>
        <c:crosses val="autoZero"/>
        <c:auto val="1"/>
        <c:lblAlgn val="ctr"/>
        <c:lblOffset val="100"/>
        <c:noMultiLvlLbl val="0"/>
      </c:catAx>
      <c:valAx>
        <c:axId val="31428980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Ввод скважин, шт.</a:t>
                </a:r>
              </a:p>
            </c:rich>
          </c:tx>
          <c:layout>
            <c:manualLayout>
              <c:xMode val="edge"/>
              <c:yMode val="edge"/>
              <c:x val="1.175524898318127E-2"/>
              <c:y val="0.24472783988324248"/>
            </c:manualLayout>
          </c:layout>
          <c:overlay val="0"/>
        </c:title>
        <c:numFmt formatCode="General" sourceLinked="1"/>
        <c:majorTickMark val="none"/>
        <c:minorTickMark val="none"/>
        <c:tickLblPos val="none"/>
        <c:crossAx val="314289248"/>
        <c:crosses val="autoZero"/>
        <c:crossBetween val="between"/>
      </c:valAx>
      <c:valAx>
        <c:axId val="314290368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Прирост добычи, тыс. т</a:t>
                </a:r>
              </a:p>
            </c:rich>
          </c:tx>
          <c:layout>
            <c:manualLayout>
              <c:xMode val="edge"/>
              <c:yMode val="edge"/>
              <c:x val="0.9604256371635258"/>
              <c:y val="0.19741800765364678"/>
            </c:manualLayout>
          </c:layout>
          <c:overlay val="0"/>
        </c:title>
        <c:numFmt formatCode="0" sourceLinked="0"/>
        <c:majorTickMark val="none"/>
        <c:minorTickMark val="none"/>
        <c:tickLblPos val="none"/>
        <c:crossAx val="314290928"/>
        <c:crosses val="max"/>
        <c:crossBetween val="between"/>
      </c:valAx>
      <c:catAx>
        <c:axId val="3142909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314290368"/>
        <c:crosses val="autoZero"/>
        <c:auto val="1"/>
        <c:lblAlgn val="ctr"/>
        <c:lblOffset val="100"/>
        <c:noMultiLvlLbl val="0"/>
      </c:catAx>
    </c:plotArea>
    <c:legend>
      <c:legendPos val="b"/>
      <c:layout>
        <c:manualLayout>
          <c:xMode val="edge"/>
          <c:yMode val="edge"/>
          <c:x val="4.2261575993105104E-3"/>
          <c:y val="0.90943813088960745"/>
          <c:w val="0.98699575288105024"/>
          <c:h val="7.880184562897545E-2"/>
        </c:manualLayout>
      </c:layout>
      <c:overlay val="0"/>
      <c:txPr>
        <a:bodyPr/>
        <a:lstStyle/>
        <a:p>
          <a:pPr>
            <a:defRPr sz="8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 b="1"/>
      </a:pPr>
      <a:endParaRPr lang="ru-RU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2730894741392314E-2"/>
          <c:y val="3.6315126685653711E-2"/>
          <c:w val="0.91483449899845115"/>
          <c:h val="0.72525035196528165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Лист1!$A$4</c:f>
              <c:strCache>
                <c:ptCount val="1"/>
                <c:pt idx="0">
                  <c:v>Кол-во бр. БП 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Лист1!$B$4:$M$4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Лист1!$A$5</c:f>
              <c:strCache>
                <c:ptCount val="1"/>
                <c:pt idx="0">
                  <c:v>Кол-во бр. Факт/Прогноз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Лист1!$B$5:$M$5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7588720"/>
        <c:axId val="277588160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Зак. бурением БП</c:v>
                </c:pt>
              </c:strCache>
            </c:strRef>
          </c:tx>
          <c:spPr>
            <a:ln w="25400">
              <a:solidFill>
                <a:schemeClr val="tx1"/>
              </a:solidFill>
              <a:prstDash val="solid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8755698005698005E-2"/>
                  <c:y val="4.09262869782021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/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Лист1!$B$2:$M$2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Зак. бурением Факт/Прогноз</c:v>
                </c:pt>
              </c:strCache>
            </c:strRef>
          </c:tx>
          <c:spPr>
            <a:ln w="25400">
              <a:solidFill>
                <a:schemeClr val="accent3"/>
              </a:solidFill>
              <a:prstDash val="solid"/>
            </a:ln>
          </c:spPr>
          <c:marker>
            <c:symbol val="square"/>
            <c:size val="3"/>
            <c:spPr>
              <a:solidFill>
                <a:schemeClr val="accent3"/>
              </a:solidFill>
              <a:ln>
                <a:noFill/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>
                    <a:solidFill>
                      <a:schemeClr val="accent3">
                        <a:lumMod val="75000"/>
                      </a:schemeClr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Лист1!$B$3:$M$3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77587040"/>
        <c:axId val="277587600"/>
      </c:lineChart>
      <c:catAx>
        <c:axId val="2775870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crossAx val="277587600"/>
        <c:crosses val="autoZero"/>
        <c:auto val="1"/>
        <c:lblAlgn val="ctr"/>
        <c:lblOffset val="100"/>
        <c:noMultiLvlLbl val="0"/>
      </c:catAx>
      <c:valAx>
        <c:axId val="27758760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Скв. зак. бурением, шт.</a:t>
                </a:r>
              </a:p>
            </c:rich>
          </c:tx>
          <c:layout>
            <c:manualLayout>
              <c:xMode val="edge"/>
              <c:yMode val="edge"/>
              <c:x val="5.811965811965812E-3"/>
              <c:y val="0.22738704994979414"/>
            </c:manualLayout>
          </c:layout>
          <c:overlay val="0"/>
        </c:title>
        <c:numFmt formatCode="General" sourceLinked="1"/>
        <c:majorTickMark val="none"/>
        <c:minorTickMark val="none"/>
        <c:tickLblPos val="none"/>
        <c:crossAx val="277587040"/>
        <c:crosses val="autoZero"/>
        <c:crossBetween val="between"/>
      </c:valAx>
      <c:valAx>
        <c:axId val="277588160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Кол-во бригад, шт. </a:t>
                </a:r>
              </a:p>
            </c:rich>
          </c:tx>
          <c:layout>
            <c:manualLayout>
              <c:xMode val="edge"/>
              <c:yMode val="edge"/>
              <c:x val="0.96678609055994424"/>
              <c:y val="0.2711373612784882"/>
            </c:manualLayout>
          </c:layout>
          <c:overlay val="0"/>
        </c:title>
        <c:numFmt formatCode="0" sourceLinked="0"/>
        <c:majorTickMark val="none"/>
        <c:minorTickMark val="none"/>
        <c:tickLblPos val="none"/>
        <c:crossAx val="277588720"/>
        <c:crosses val="max"/>
        <c:crossBetween val="between"/>
      </c:valAx>
      <c:catAx>
        <c:axId val="2775887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277588160"/>
        <c:crosses val="autoZero"/>
        <c:auto val="1"/>
        <c:lblAlgn val="ctr"/>
        <c:lblOffset val="100"/>
        <c:noMultiLvlLbl val="0"/>
      </c:catAx>
    </c:plotArea>
    <c:legend>
      <c:legendPos val="b"/>
      <c:legendEntry>
        <c:idx val="0"/>
        <c:txPr>
          <a:bodyPr/>
          <a:lstStyle/>
          <a:p>
            <a:pPr>
              <a:defRPr sz="900"/>
            </a:pPr>
            <a:endParaRPr lang="ru-RU"/>
          </a:p>
        </c:txPr>
      </c:legendEntry>
      <c:layout>
        <c:manualLayout>
          <c:xMode val="edge"/>
          <c:yMode val="edge"/>
          <c:x val="0"/>
          <c:y val="0.91999617229563513"/>
          <c:w val="0.9937302447643217"/>
          <c:h val="7.880184562897545E-2"/>
        </c:manualLayout>
      </c:layout>
      <c:overlay val="0"/>
      <c:txPr>
        <a:bodyPr/>
        <a:lstStyle/>
        <a:p>
          <a:pPr>
            <a:defRPr sz="9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 b="1"/>
      </a:pPr>
      <a:endParaRPr lang="ru-RU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80274656679152E-2"/>
          <c:y val="5.8823529411764705E-3"/>
          <c:w val="0.96081131213971815"/>
          <c:h val="0.810818672724989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Лист1!$B$1:$P$1</c:f>
              <c:strCache>
                <c:ptCount val="15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</c:strCache>
            </c:strRef>
          </c:cat>
          <c:val>
            <c:numRef>
              <c:f>Лист1!$B$3:$P$3</c:f>
              <c:numCache>
                <c:formatCode>General</c:formatCode>
                <c:ptCount val="15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7592080"/>
        <c:axId val="277592640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Лист1!$B$1:$P$1</c:f>
              <c:strCache>
                <c:ptCount val="15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</c:strCache>
            </c:strRef>
          </c:xVal>
          <c:yVal>
            <c:numRef>
              <c:f>Лист1!$B$4:$P$4</c:f>
              <c:numCache>
                <c:formatCode>0.0</c:formatCode>
                <c:ptCount val="15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Лист1!$A$5</c:f>
              <c:strCache>
                <c:ptCount val="1"/>
                <c:pt idx="0">
                  <c:v>line</c:v>
                </c:pt>
              </c:strCache>
            </c:strRef>
          </c:tx>
          <c:spPr>
            <a:ln w="12700">
              <a:solidFill>
                <a:schemeClr val="tx2"/>
              </a:solidFill>
            </a:ln>
          </c:spPr>
          <c:marker>
            <c:symbol val="none"/>
          </c:marker>
          <c:xVal>
            <c:strRef>
              <c:f>Лист1!$B$1:$P$1</c:f>
              <c:strCache>
                <c:ptCount val="15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</c:strCache>
            </c:strRef>
          </c:xVal>
          <c:yVal>
            <c:numRef>
              <c:f>Лист1!$B$5:$P$5</c:f>
              <c:numCache>
                <c:formatCode>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7592080"/>
        <c:axId val="277592640"/>
      </c:scatterChart>
      <c:catAx>
        <c:axId val="2775920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500" b="1"/>
            </a:pPr>
            <a:endParaRPr lang="ru-RU"/>
          </a:p>
        </c:txPr>
        <c:crossAx val="277592640"/>
        <c:crosses val="autoZero"/>
        <c:auto val="1"/>
        <c:lblAlgn val="ctr"/>
        <c:lblOffset val="0"/>
        <c:noMultiLvlLbl val="0"/>
      </c:catAx>
      <c:valAx>
        <c:axId val="27759264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77592080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1625216"/>
        <c:axId val="301625776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01626896"/>
        <c:axId val="301626336"/>
      </c:scatterChart>
      <c:catAx>
        <c:axId val="301625216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301625776"/>
        <c:crosses val="autoZero"/>
        <c:auto val="1"/>
        <c:lblAlgn val="ctr"/>
        <c:lblOffset val="0"/>
        <c:noMultiLvlLbl val="0"/>
      </c:catAx>
      <c:valAx>
        <c:axId val="301625776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01625216"/>
        <c:crosses val="autoZero"/>
        <c:crossBetween val="between"/>
      </c:valAx>
      <c:valAx>
        <c:axId val="301626336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301626896"/>
        <c:crosses val="max"/>
        <c:crossBetween val="midCat"/>
      </c:valAx>
      <c:valAx>
        <c:axId val="301626896"/>
        <c:scaling>
          <c:orientation val="minMax"/>
        </c:scaling>
        <c:delete val="1"/>
        <c:axPos val="t"/>
        <c:majorTickMark val="out"/>
        <c:minorTickMark val="none"/>
        <c:tickLblPos val="nextTo"/>
        <c:crossAx val="301626336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1629696"/>
        <c:axId val="290596928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0598048"/>
        <c:axId val="290597488"/>
      </c:scatterChart>
      <c:catAx>
        <c:axId val="30162969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noFill/>
          </a:ln>
        </c:spPr>
        <c:txPr>
          <a:bodyPr rot="-2700000" vert="horz"/>
          <a:lstStyle/>
          <a:p>
            <a:pPr>
              <a:defRPr sz="500" b="1"/>
            </a:pPr>
            <a:endParaRPr lang="ru-RU"/>
          </a:p>
        </c:txPr>
        <c:crossAx val="290596928"/>
        <c:crosses val="autoZero"/>
        <c:auto val="1"/>
        <c:lblAlgn val="ctr"/>
        <c:lblOffset val="0"/>
        <c:noMultiLvlLbl val="0"/>
      </c:catAx>
      <c:valAx>
        <c:axId val="290596928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01629696"/>
        <c:crosses val="autoZero"/>
        <c:crossBetween val="between"/>
      </c:valAx>
      <c:valAx>
        <c:axId val="290597488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90598048"/>
        <c:crosses val="max"/>
        <c:crossBetween val="midCat"/>
      </c:valAx>
      <c:valAx>
        <c:axId val="290598048"/>
        <c:scaling>
          <c:orientation val="minMax"/>
        </c:scaling>
        <c:delete val="1"/>
        <c:axPos val="t"/>
        <c:majorTickMark val="out"/>
        <c:minorTickMark val="none"/>
        <c:tickLblPos val="nextTo"/>
        <c:crossAx val="290597488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80274656679152E-2"/>
          <c:y val="5.8823529411764705E-3"/>
          <c:w val="0.96081131213971815"/>
          <c:h val="0.810818672724989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Лист1!$B$1:$P$1</c:f>
              <c:strCache>
                <c:ptCount val="15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</c:strCache>
            </c:strRef>
          </c:cat>
          <c:val>
            <c:numRef>
              <c:f>Лист1!$B$3:$P$3</c:f>
              <c:numCache>
                <c:formatCode>General</c:formatCode>
                <c:ptCount val="15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0601408"/>
        <c:axId val="290601968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Лист1!$B$1:$P$1</c:f>
              <c:strCache>
                <c:ptCount val="15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</c:strCache>
            </c:strRef>
          </c:xVal>
          <c:yVal>
            <c:numRef>
              <c:f>Лист1!$B$4:$P$4</c:f>
              <c:numCache>
                <c:formatCode>0.0</c:formatCode>
                <c:ptCount val="15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Лист1!$A$5</c:f>
              <c:strCache>
                <c:ptCount val="1"/>
                <c:pt idx="0">
                  <c:v>line</c:v>
                </c:pt>
              </c:strCache>
            </c:strRef>
          </c:tx>
          <c:spPr>
            <a:ln w="12700">
              <a:solidFill>
                <a:schemeClr val="tx2"/>
              </a:solidFill>
            </a:ln>
          </c:spPr>
          <c:marker>
            <c:symbol val="none"/>
          </c:marker>
          <c:xVal>
            <c:strRef>
              <c:f>Лист1!$B$1:$P$1</c:f>
              <c:strCache>
                <c:ptCount val="15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</c:strCache>
            </c:strRef>
          </c:xVal>
          <c:yVal>
            <c:numRef>
              <c:f>Лист1!$B$5:$P$5</c:f>
              <c:numCache>
                <c:formatCode>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0601408"/>
        <c:axId val="290601968"/>
      </c:scatterChart>
      <c:catAx>
        <c:axId val="2906014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500" b="1"/>
            </a:pPr>
            <a:endParaRPr lang="ru-RU"/>
          </a:p>
        </c:txPr>
        <c:crossAx val="290601968"/>
        <c:crosses val="autoZero"/>
        <c:auto val="1"/>
        <c:lblAlgn val="ctr"/>
        <c:lblOffset val="0"/>
        <c:noMultiLvlLbl val="0"/>
      </c:catAx>
      <c:valAx>
        <c:axId val="290601968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906014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5686304"/>
        <c:axId val="295686864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5687984"/>
        <c:axId val="295687424"/>
      </c:scatterChart>
      <c:catAx>
        <c:axId val="29568630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295686864"/>
        <c:crosses val="autoZero"/>
        <c:auto val="1"/>
        <c:lblAlgn val="ctr"/>
        <c:lblOffset val="0"/>
        <c:noMultiLvlLbl val="0"/>
      </c:catAx>
      <c:valAx>
        <c:axId val="295686864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95686304"/>
        <c:crosses val="autoZero"/>
        <c:crossBetween val="between"/>
      </c:valAx>
      <c:valAx>
        <c:axId val="295687424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95687984"/>
        <c:crosses val="max"/>
        <c:crossBetween val="midCat"/>
      </c:valAx>
      <c:valAx>
        <c:axId val="295687984"/>
        <c:scaling>
          <c:orientation val="minMax"/>
        </c:scaling>
        <c:delete val="1"/>
        <c:axPos val="t"/>
        <c:majorTickMark val="out"/>
        <c:minorTickMark val="none"/>
        <c:tickLblPos val="nextTo"/>
        <c:crossAx val="295687424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5690784"/>
        <c:axId val="295691344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5692464"/>
        <c:axId val="295691904"/>
      </c:scatterChart>
      <c:catAx>
        <c:axId val="29569078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295691344"/>
        <c:crosses val="autoZero"/>
        <c:auto val="1"/>
        <c:lblAlgn val="ctr"/>
        <c:lblOffset val="0"/>
        <c:noMultiLvlLbl val="0"/>
      </c:catAx>
      <c:valAx>
        <c:axId val="295691344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95690784"/>
        <c:crosses val="autoZero"/>
        <c:crossBetween val="between"/>
      </c:valAx>
      <c:valAx>
        <c:axId val="295691904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95692464"/>
        <c:crosses val="max"/>
        <c:crossBetween val="midCat"/>
      </c:valAx>
      <c:valAx>
        <c:axId val="295692464"/>
        <c:scaling>
          <c:orientation val="minMax"/>
        </c:scaling>
        <c:delete val="1"/>
        <c:axPos val="t"/>
        <c:majorTickMark val="out"/>
        <c:minorTickMark val="none"/>
        <c:tickLblPos val="nextTo"/>
        <c:crossAx val="295691904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8632016"/>
        <c:axId val="308632576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08633696"/>
        <c:axId val="308633136"/>
      </c:scatterChart>
      <c:catAx>
        <c:axId val="308632016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308632576"/>
        <c:crosses val="autoZero"/>
        <c:auto val="1"/>
        <c:lblAlgn val="ctr"/>
        <c:lblOffset val="0"/>
        <c:noMultiLvlLbl val="0"/>
      </c:catAx>
      <c:valAx>
        <c:axId val="308632576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08632016"/>
        <c:crosses val="autoZero"/>
        <c:crossBetween val="between"/>
      </c:valAx>
      <c:valAx>
        <c:axId val="308633136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308633696"/>
        <c:crosses val="max"/>
        <c:crossBetween val="midCat"/>
      </c:valAx>
      <c:valAx>
        <c:axId val="308633696"/>
        <c:scaling>
          <c:orientation val="minMax"/>
        </c:scaling>
        <c:delete val="1"/>
        <c:axPos val="t"/>
        <c:majorTickMark val="out"/>
        <c:minorTickMark val="none"/>
        <c:tickLblPos val="nextTo"/>
        <c:crossAx val="308633136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8636496"/>
        <c:axId val="308637056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08638176"/>
        <c:axId val="308637616"/>
      </c:scatterChart>
      <c:catAx>
        <c:axId val="308636496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308637056"/>
        <c:crosses val="autoZero"/>
        <c:auto val="1"/>
        <c:lblAlgn val="ctr"/>
        <c:lblOffset val="0"/>
        <c:noMultiLvlLbl val="0"/>
      </c:catAx>
      <c:valAx>
        <c:axId val="308637056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08636496"/>
        <c:crosses val="autoZero"/>
        <c:crossBetween val="between"/>
      </c:valAx>
      <c:valAx>
        <c:axId val="308637616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308638176"/>
        <c:crosses val="max"/>
        <c:crossBetween val="midCat"/>
      </c:valAx>
      <c:valAx>
        <c:axId val="308638176"/>
        <c:scaling>
          <c:orientation val="minMax"/>
        </c:scaling>
        <c:delete val="1"/>
        <c:axPos val="t"/>
        <c:majorTickMark val="out"/>
        <c:minorTickMark val="none"/>
        <c:tickLblPos val="nextTo"/>
        <c:crossAx val="308637616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8743728"/>
        <c:axId val="308744288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08745408"/>
        <c:axId val="308744848"/>
      </c:scatterChart>
      <c:catAx>
        <c:axId val="3087437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noFill/>
          </a:ln>
        </c:spPr>
        <c:txPr>
          <a:bodyPr rot="-2700000" vert="horz"/>
          <a:lstStyle/>
          <a:p>
            <a:pPr>
              <a:defRPr sz="500" b="1"/>
            </a:pPr>
            <a:endParaRPr lang="ru-RU"/>
          </a:p>
        </c:txPr>
        <c:crossAx val="308744288"/>
        <c:crosses val="autoZero"/>
        <c:auto val="1"/>
        <c:lblAlgn val="ctr"/>
        <c:lblOffset val="0"/>
        <c:noMultiLvlLbl val="0"/>
      </c:catAx>
      <c:valAx>
        <c:axId val="308744288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08743728"/>
        <c:crosses val="autoZero"/>
        <c:crossBetween val="between"/>
      </c:valAx>
      <c:valAx>
        <c:axId val="308744848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308745408"/>
        <c:crosses val="max"/>
        <c:crossBetween val="midCat"/>
      </c:valAx>
      <c:valAx>
        <c:axId val="308745408"/>
        <c:scaling>
          <c:orientation val="minMax"/>
        </c:scaling>
        <c:delete val="1"/>
        <c:axPos val="t"/>
        <c:majorTickMark val="out"/>
        <c:minorTickMark val="none"/>
        <c:tickLblPos val="nextTo"/>
        <c:crossAx val="308744848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08748208"/>
        <c:axId val="308748768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5213840"/>
        <c:axId val="295213280"/>
      </c:scatterChart>
      <c:catAx>
        <c:axId val="308748208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308748768"/>
        <c:crosses val="autoZero"/>
        <c:auto val="1"/>
        <c:lblAlgn val="ctr"/>
        <c:lblOffset val="0"/>
        <c:noMultiLvlLbl val="0"/>
      </c:catAx>
      <c:valAx>
        <c:axId val="308748768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08748208"/>
        <c:crosses val="autoZero"/>
        <c:crossBetween val="between"/>
      </c:valAx>
      <c:valAx>
        <c:axId val="295213280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95213840"/>
        <c:crosses val="max"/>
        <c:crossBetween val="midCat"/>
      </c:valAx>
      <c:valAx>
        <c:axId val="295213840"/>
        <c:scaling>
          <c:orientation val="minMax"/>
        </c:scaling>
        <c:delete val="1"/>
        <c:axPos val="t"/>
        <c:majorTickMark val="out"/>
        <c:minorTickMark val="none"/>
        <c:tickLblPos val="nextTo"/>
        <c:crossAx val="295213280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5216640"/>
        <c:axId val="295217200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5218320"/>
        <c:axId val="295217760"/>
      </c:scatterChart>
      <c:catAx>
        <c:axId val="295216640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295217200"/>
        <c:crosses val="autoZero"/>
        <c:auto val="1"/>
        <c:lblAlgn val="ctr"/>
        <c:lblOffset val="0"/>
        <c:noMultiLvlLbl val="0"/>
      </c:catAx>
      <c:valAx>
        <c:axId val="29521720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95216640"/>
        <c:crosses val="autoZero"/>
        <c:crossBetween val="between"/>
      </c:valAx>
      <c:valAx>
        <c:axId val="295217760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95218320"/>
        <c:crosses val="max"/>
        <c:crossBetween val="midCat"/>
      </c:valAx>
      <c:valAx>
        <c:axId val="295218320"/>
        <c:scaling>
          <c:orientation val="minMax"/>
        </c:scaling>
        <c:delete val="1"/>
        <c:axPos val="t"/>
        <c:majorTickMark val="out"/>
        <c:minorTickMark val="none"/>
        <c:tickLblPos val="nextTo"/>
        <c:crossAx val="295217760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1193968"/>
        <c:axId val="311194528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1195648"/>
        <c:axId val="311195088"/>
      </c:scatterChart>
      <c:catAx>
        <c:axId val="311193968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311194528"/>
        <c:crosses val="autoZero"/>
        <c:auto val="1"/>
        <c:lblAlgn val="ctr"/>
        <c:lblOffset val="0"/>
        <c:noMultiLvlLbl val="0"/>
      </c:catAx>
      <c:valAx>
        <c:axId val="311194528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11193968"/>
        <c:crosses val="autoZero"/>
        <c:crossBetween val="between"/>
      </c:valAx>
      <c:valAx>
        <c:axId val="311195088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311195648"/>
        <c:crosses val="max"/>
        <c:crossBetween val="midCat"/>
      </c:valAx>
      <c:valAx>
        <c:axId val="311195648"/>
        <c:scaling>
          <c:orientation val="minMax"/>
        </c:scaling>
        <c:delete val="1"/>
        <c:axPos val="t"/>
        <c:majorTickMark val="out"/>
        <c:minorTickMark val="none"/>
        <c:tickLblPos val="nextTo"/>
        <c:crossAx val="311195088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80274656679152E-2"/>
          <c:y val="5.8823529411764705E-3"/>
          <c:w val="0.96081131213971815"/>
          <c:h val="0.810818672724989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Лист1!$B$1:$P$1</c:f>
              <c:strCache>
                <c:ptCount val="15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</c:strCache>
            </c:strRef>
          </c:cat>
          <c:val>
            <c:numRef>
              <c:f>Лист1!$B$3:$P$3</c:f>
              <c:numCache>
                <c:formatCode>General</c:formatCode>
                <c:ptCount val="15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1198448"/>
        <c:axId val="311199008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Лист1!$B$1:$P$1</c:f>
              <c:strCache>
                <c:ptCount val="15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</c:strCache>
            </c:strRef>
          </c:xVal>
          <c:yVal>
            <c:numRef>
              <c:f>Лист1!$B$4:$P$4</c:f>
              <c:numCache>
                <c:formatCode>0.0</c:formatCode>
                <c:ptCount val="15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Лист1!$A$5</c:f>
              <c:strCache>
                <c:ptCount val="1"/>
                <c:pt idx="0">
                  <c:v>line</c:v>
                </c:pt>
              </c:strCache>
            </c:strRef>
          </c:tx>
          <c:spPr>
            <a:ln w="12700">
              <a:solidFill>
                <a:schemeClr val="tx2"/>
              </a:solidFill>
            </a:ln>
          </c:spPr>
          <c:marker>
            <c:symbol val="none"/>
          </c:marker>
          <c:xVal>
            <c:strRef>
              <c:f>Лист1!$B$1:$P$1</c:f>
              <c:strCache>
                <c:ptCount val="15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</c:strCache>
            </c:strRef>
          </c:xVal>
          <c:yVal>
            <c:numRef>
              <c:f>Лист1!$B$5:$P$5</c:f>
              <c:numCache>
                <c:formatCode>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1198448"/>
        <c:axId val="311199008"/>
      </c:scatterChart>
      <c:catAx>
        <c:axId val="3111984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500" b="1"/>
            </a:pPr>
            <a:endParaRPr lang="ru-RU"/>
          </a:p>
        </c:txPr>
        <c:crossAx val="311199008"/>
        <c:crosses val="autoZero"/>
        <c:auto val="1"/>
        <c:lblAlgn val="ctr"/>
        <c:lblOffset val="0"/>
        <c:noMultiLvlLbl val="0"/>
      </c:catAx>
      <c:valAx>
        <c:axId val="311199008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11198448"/>
        <c:crosses val="autoZero"/>
        <c:crossBetween val="between"/>
      </c:valAx>
      <c:dTable>
        <c:showHorzBorder val="1"/>
        <c:showVertBorder val="1"/>
        <c:showOutline val="1"/>
        <c:showKeys val="1"/>
      </c:dTable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0035360"/>
        <c:axId val="310035920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0037040"/>
        <c:axId val="310036480"/>
      </c:scatterChart>
      <c:catAx>
        <c:axId val="310035360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310035920"/>
        <c:crosses val="autoZero"/>
        <c:auto val="1"/>
        <c:lblAlgn val="ctr"/>
        <c:lblOffset val="0"/>
        <c:noMultiLvlLbl val="0"/>
      </c:catAx>
      <c:valAx>
        <c:axId val="31003592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10035360"/>
        <c:crosses val="autoZero"/>
        <c:crossBetween val="between"/>
      </c:valAx>
      <c:valAx>
        <c:axId val="310036480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310037040"/>
        <c:crosses val="max"/>
        <c:crossBetween val="midCat"/>
      </c:valAx>
      <c:valAx>
        <c:axId val="310037040"/>
        <c:scaling>
          <c:orientation val="minMax"/>
        </c:scaling>
        <c:delete val="1"/>
        <c:axPos val="t"/>
        <c:majorTickMark val="out"/>
        <c:minorTickMark val="none"/>
        <c:tickLblPos val="nextTo"/>
        <c:crossAx val="310036480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0039840"/>
        <c:axId val="310040400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0041520"/>
        <c:axId val="310040960"/>
      </c:scatterChart>
      <c:catAx>
        <c:axId val="31003984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noFill/>
          </a:ln>
        </c:spPr>
        <c:txPr>
          <a:bodyPr rot="-2700000" vert="horz"/>
          <a:lstStyle/>
          <a:p>
            <a:pPr>
              <a:defRPr sz="500" b="1"/>
            </a:pPr>
            <a:endParaRPr lang="ru-RU"/>
          </a:p>
        </c:txPr>
        <c:crossAx val="310040400"/>
        <c:crosses val="autoZero"/>
        <c:auto val="1"/>
        <c:lblAlgn val="ctr"/>
        <c:lblOffset val="0"/>
        <c:noMultiLvlLbl val="0"/>
      </c:catAx>
      <c:valAx>
        <c:axId val="310040400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10039840"/>
        <c:crosses val="autoZero"/>
        <c:crossBetween val="between"/>
      </c:valAx>
      <c:valAx>
        <c:axId val="310040960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310041520"/>
        <c:crosses val="max"/>
        <c:crossBetween val="midCat"/>
      </c:valAx>
      <c:valAx>
        <c:axId val="310041520"/>
        <c:scaling>
          <c:orientation val="minMax"/>
        </c:scaling>
        <c:delete val="1"/>
        <c:axPos val="t"/>
        <c:majorTickMark val="out"/>
        <c:minorTickMark val="none"/>
        <c:tickLblPos val="nextTo"/>
        <c:crossAx val="310040960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80274656679152E-2"/>
          <c:y val="5.8823529411764705E-3"/>
          <c:w val="0.96081131213971815"/>
          <c:h val="0.8108186727249895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solidFill>
                <a:schemeClr val="bg1"/>
              </a:solidFill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Лист1!$B$1:$P$1</c:f>
              <c:strCache>
                <c:ptCount val="15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</c:strCache>
            </c:strRef>
          </c:cat>
          <c:val>
            <c:numRef>
              <c:f>Лист1!$B$3:$P$3</c:f>
              <c:numCache>
                <c:formatCode>General</c:formatCode>
                <c:ptCount val="15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7936144"/>
        <c:axId val="297936704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Лист1!$B$1:$P$1</c:f>
              <c:strCache>
                <c:ptCount val="15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</c:strCache>
            </c:strRef>
          </c:xVal>
          <c:yVal>
            <c:numRef>
              <c:f>Лист1!$B$4:$P$4</c:f>
              <c:numCache>
                <c:formatCode>0.0</c:formatCode>
                <c:ptCount val="15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Лист1!$A$5</c:f>
              <c:strCache>
                <c:ptCount val="1"/>
                <c:pt idx="0">
                  <c:v>line</c:v>
                </c:pt>
              </c:strCache>
            </c:strRef>
          </c:tx>
          <c:spPr>
            <a:ln w="12700">
              <a:solidFill>
                <a:schemeClr val="tx2"/>
              </a:solidFill>
            </a:ln>
          </c:spPr>
          <c:marker>
            <c:symbol val="none"/>
          </c:marker>
          <c:xVal>
            <c:strRef>
              <c:f>Лист1!$B$1:$P$1</c:f>
              <c:strCache>
                <c:ptCount val="15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</c:strCache>
            </c:strRef>
          </c:xVal>
          <c:yVal>
            <c:numRef>
              <c:f>Лист1!$B$5:$P$5</c:f>
              <c:numCache>
                <c:formatCode>0.0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7936144"/>
        <c:axId val="297936704"/>
      </c:scatterChart>
      <c:catAx>
        <c:axId val="2979361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sz="500" b="1"/>
            </a:pPr>
            <a:endParaRPr lang="ru-RU"/>
          </a:p>
        </c:txPr>
        <c:crossAx val="297936704"/>
        <c:crosses val="autoZero"/>
        <c:auto val="1"/>
        <c:lblAlgn val="ctr"/>
        <c:lblOffset val="0"/>
        <c:noMultiLvlLbl val="0"/>
      </c:catAx>
      <c:valAx>
        <c:axId val="297936704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979361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7939504"/>
        <c:axId val="297940064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7941184"/>
        <c:axId val="297940624"/>
      </c:scatterChart>
      <c:catAx>
        <c:axId val="29793950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297940064"/>
        <c:crosses val="autoZero"/>
        <c:auto val="1"/>
        <c:lblAlgn val="ctr"/>
        <c:lblOffset val="0"/>
        <c:noMultiLvlLbl val="0"/>
      </c:catAx>
      <c:valAx>
        <c:axId val="297940064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97939504"/>
        <c:crosses val="autoZero"/>
        <c:crossBetween val="between"/>
      </c:valAx>
      <c:valAx>
        <c:axId val="297940624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97941184"/>
        <c:crosses val="max"/>
        <c:crossBetween val="midCat"/>
      </c:valAx>
      <c:valAx>
        <c:axId val="297941184"/>
        <c:scaling>
          <c:orientation val="minMax"/>
        </c:scaling>
        <c:delete val="1"/>
        <c:axPos val="t"/>
        <c:majorTickMark val="out"/>
        <c:minorTickMark val="none"/>
        <c:tickLblPos val="nextTo"/>
        <c:crossAx val="297940624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0014368"/>
        <c:axId val="240014928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0016048"/>
        <c:axId val="240015488"/>
      </c:scatterChart>
      <c:catAx>
        <c:axId val="240014368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240014928"/>
        <c:crosses val="autoZero"/>
        <c:auto val="1"/>
        <c:lblAlgn val="ctr"/>
        <c:lblOffset val="0"/>
        <c:noMultiLvlLbl val="0"/>
      </c:catAx>
      <c:valAx>
        <c:axId val="240014928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40014368"/>
        <c:crosses val="autoZero"/>
        <c:crossBetween val="between"/>
      </c:valAx>
      <c:valAx>
        <c:axId val="240015488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40016048"/>
        <c:crosses val="max"/>
        <c:crossBetween val="midCat"/>
      </c:valAx>
      <c:valAx>
        <c:axId val="240016048"/>
        <c:scaling>
          <c:orientation val="minMax"/>
        </c:scaling>
        <c:delete val="1"/>
        <c:axPos val="t"/>
        <c:majorTickMark val="out"/>
        <c:minorTickMark val="none"/>
        <c:tickLblPos val="nextTo"/>
        <c:crossAx val="240015488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0018848"/>
        <c:axId val="240019408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0020528"/>
        <c:axId val="240019968"/>
      </c:scatterChart>
      <c:catAx>
        <c:axId val="240018848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240019408"/>
        <c:crosses val="autoZero"/>
        <c:auto val="1"/>
        <c:lblAlgn val="ctr"/>
        <c:lblOffset val="0"/>
        <c:noMultiLvlLbl val="0"/>
      </c:catAx>
      <c:valAx>
        <c:axId val="240019408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40018848"/>
        <c:crosses val="autoZero"/>
        <c:crossBetween val="between"/>
      </c:valAx>
      <c:valAx>
        <c:axId val="240019968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40020528"/>
        <c:crosses val="max"/>
        <c:crossBetween val="midCat"/>
      </c:valAx>
      <c:valAx>
        <c:axId val="240020528"/>
        <c:scaling>
          <c:orientation val="minMax"/>
        </c:scaling>
        <c:delete val="1"/>
        <c:axPos val="t"/>
        <c:majorTickMark val="out"/>
        <c:minorTickMark val="none"/>
        <c:tickLblPos val="nextTo"/>
        <c:crossAx val="240019968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0023328"/>
        <c:axId val="240023888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40025008"/>
        <c:axId val="240024448"/>
      </c:scatterChart>
      <c:catAx>
        <c:axId val="240023328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240023888"/>
        <c:crosses val="autoZero"/>
        <c:auto val="1"/>
        <c:lblAlgn val="ctr"/>
        <c:lblOffset val="0"/>
        <c:noMultiLvlLbl val="0"/>
      </c:catAx>
      <c:valAx>
        <c:axId val="240023888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40023328"/>
        <c:crosses val="autoZero"/>
        <c:crossBetween val="between"/>
      </c:valAx>
      <c:valAx>
        <c:axId val="240024448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40025008"/>
        <c:crosses val="max"/>
        <c:crossBetween val="midCat"/>
      </c:valAx>
      <c:valAx>
        <c:axId val="240025008"/>
        <c:scaling>
          <c:orientation val="minMax"/>
        </c:scaling>
        <c:delete val="1"/>
        <c:axPos val="t"/>
        <c:majorTickMark val="out"/>
        <c:minorTickMark val="none"/>
        <c:tickLblPos val="nextTo"/>
        <c:crossAx val="240024448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40027808"/>
        <c:axId val="293473344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3474464"/>
        <c:axId val="293473904"/>
      </c:scatterChart>
      <c:catAx>
        <c:axId val="24002780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noFill/>
          </a:ln>
        </c:spPr>
        <c:txPr>
          <a:bodyPr rot="-2700000" vert="horz"/>
          <a:lstStyle/>
          <a:p>
            <a:pPr>
              <a:defRPr sz="500" b="1"/>
            </a:pPr>
            <a:endParaRPr lang="ru-RU"/>
          </a:p>
        </c:txPr>
        <c:crossAx val="293473344"/>
        <c:crosses val="autoZero"/>
        <c:auto val="1"/>
        <c:lblAlgn val="ctr"/>
        <c:lblOffset val="0"/>
        <c:noMultiLvlLbl val="0"/>
      </c:catAx>
      <c:valAx>
        <c:axId val="293473344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40027808"/>
        <c:crosses val="autoZero"/>
        <c:crossBetween val="between"/>
      </c:valAx>
      <c:valAx>
        <c:axId val="293473904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93474464"/>
        <c:crosses val="max"/>
        <c:crossBetween val="midCat"/>
      </c:valAx>
      <c:valAx>
        <c:axId val="293474464"/>
        <c:scaling>
          <c:orientation val="minMax"/>
        </c:scaling>
        <c:delete val="1"/>
        <c:axPos val="t"/>
        <c:majorTickMark val="out"/>
        <c:minorTickMark val="none"/>
        <c:tickLblPos val="nextTo"/>
        <c:crossAx val="293473904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3477264"/>
        <c:axId val="293477824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3478944"/>
        <c:axId val="293478384"/>
      </c:scatterChart>
      <c:catAx>
        <c:axId val="29347726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293477824"/>
        <c:crosses val="autoZero"/>
        <c:auto val="1"/>
        <c:lblAlgn val="ctr"/>
        <c:lblOffset val="0"/>
        <c:noMultiLvlLbl val="0"/>
      </c:catAx>
      <c:valAx>
        <c:axId val="293477824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93477264"/>
        <c:crosses val="autoZero"/>
        <c:crossBetween val="between"/>
      </c:valAx>
      <c:valAx>
        <c:axId val="293478384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93478944"/>
        <c:crosses val="max"/>
        <c:crossBetween val="midCat"/>
      </c:valAx>
      <c:valAx>
        <c:axId val="293478944"/>
        <c:scaling>
          <c:orientation val="minMax"/>
        </c:scaling>
        <c:delete val="1"/>
        <c:axPos val="t"/>
        <c:majorTickMark val="out"/>
        <c:minorTickMark val="none"/>
        <c:tickLblPos val="nextTo"/>
        <c:crossAx val="293478384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3481744"/>
        <c:axId val="293482304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3483424"/>
        <c:axId val="293482864"/>
      </c:scatterChart>
      <c:catAx>
        <c:axId val="29348174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293482304"/>
        <c:crosses val="autoZero"/>
        <c:auto val="1"/>
        <c:lblAlgn val="ctr"/>
        <c:lblOffset val="0"/>
        <c:noMultiLvlLbl val="0"/>
      </c:catAx>
      <c:valAx>
        <c:axId val="293482304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93481744"/>
        <c:crosses val="autoZero"/>
        <c:crossBetween val="between"/>
      </c:valAx>
      <c:valAx>
        <c:axId val="293482864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93483424"/>
        <c:crosses val="max"/>
        <c:crossBetween val="midCat"/>
      </c:valAx>
      <c:valAx>
        <c:axId val="293483424"/>
        <c:scaling>
          <c:orientation val="minMax"/>
        </c:scaling>
        <c:delete val="1"/>
        <c:axPos val="t"/>
        <c:majorTickMark val="out"/>
        <c:minorTickMark val="none"/>
        <c:tickLblPos val="nextTo"/>
        <c:crossAx val="293482864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548837499999999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93486224"/>
        <c:axId val="293486784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93487904"/>
        <c:axId val="293487344"/>
      </c:scatterChart>
      <c:catAx>
        <c:axId val="29348622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low"/>
        <c:crossAx val="293486784"/>
        <c:crosses val="autoZero"/>
        <c:auto val="1"/>
        <c:lblAlgn val="ctr"/>
        <c:lblOffset val="0"/>
        <c:noMultiLvlLbl val="0"/>
      </c:catAx>
      <c:valAx>
        <c:axId val="293486784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293486224"/>
        <c:crosses val="autoZero"/>
        <c:crossBetween val="between"/>
      </c:valAx>
      <c:valAx>
        <c:axId val="293487344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293487904"/>
        <c:crosses val="max"/>
        <c:crossBetween val="midCat"/>
      </c:valAx>
      <c:valAx>
        <c:axId val="293487904"/>
        <c:scaling>
          <c:orientation val="minMax"/>
        </c:scaling>
        <c:delete val="1"/>
        <c:axPos val="t"/>
        <c:majorTickMark val="out"/>
        <c:minorTickMark val="none"/>
        <c:tickLblPos val="nextTo"/>
        <c:crossAx val="293487344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84040364138673E-2"/>
          <c:y val="5.1579365079365086E-2"/>
          <c:w val="0.93835642555723564"/>
          <c:h val="0.73289956007218071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Факт/прогноз curг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8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8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8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308203984"/>
        <c:axId val="308204544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Факт lastг </c:v>
                </c:pt>
              </c:strCache>
            </c:strRef>
          </c:tx>
          <c:spPr>
            <a:ln w="12700"/>
          </c:spPr>
          <c:marker>
            <c:symbol val="none"/>
          </c:marker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8203984"/>
        <c:axId val="308204544"/>
      </c:lineChart>
      <c:catAx>
        <c:axId val="3082039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lang="en-US" sz="550" b="1">
                <a:solidFill>
                  <a:schemeClr val="accent4">
                    <a:lumMod val="25000"/>
                  </a:schemeClr>
                </a:solidFill>
              </a:defRPr>
            </a:pPr>
            <a:endParaRPr lang="ru-RU"/>
          </a:p>
        </c:txPr>
        <c:crossAx val="308204544"/>
        <c:crosses val="autoZero"/>
        <c:auto val="1"/>
        <c:lblAlgn val="ctr"/>
        <c:lblOffset val="100"/>
        <c:noMultiLvlLbl val="0"/>
      </c:catAx>
      <c:valAx>
        <c:axId val="308204544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3082039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 b="1">
              <a:solidFill>
                <a:schemeClr val="accent4">
                  <a:lumMod val="25000"/>
                </a:schemeClr>
              </a:solidFill>
            </a:defRPr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308207344"/>
        <c:axId val="308207904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8207344"/>
        <c:axId val="308207904"/>
      </c:lineChart>
      <c:catAx>
        <c:axId val="30820734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308207904"/>
        <c:crosses val="autoZero"/>
        <c:auto val="1"/>
        <c:lblAlgn val="ctr"/>
        <c:lblOffset val="100"/>
        <c:noMultiLvlLbl val="0"/>
      </c:catAx>
      <c:valAx>
        <c:axId val="308207904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3082073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31823736756522"/>
          <c:w val="0.9957867724867725"/>
          <c:h val="0.7488814374160447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Факт/прогноз curг (ППДН)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308210704"/>
        <c:axId val="308211264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Факт lastг (бенч)</c:v>
                </c:pt>
              </c:strCache>
            </c:strRef>
          </c:tx>
          <c:spPr>
            <a:ln w="12700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8210704"/>
        <c:axId val="308211264"/>
      </c:lineChart>
      <c:catAx>
        <c:axId val="3082107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550"/>
            </a:pPr>
            <a:endParaRPr lang="ru-RU"/>
          </a:p>
        </c:txPr>
        <c:crossAx val="308211264"/>
        <c:crosses val="autoZero"/>
        <c:auto val="1"/>
        <c:lblAlgn val="ctr"/>
        <c:lblOffset val="100"/>
        <c:noMultiLvlLbl val="0"/>
      </c:catAx>
      <c:valAx>
        <c:axId val="308211264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3082107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84040364138673E-2"/>
          <c:y val="5.1579365079365086E-2"/>
          <c:w val="0.93835642555723564"/>
          <c:h val="0.73289956007218071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Факт/прогноз curг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8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8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8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308214064"/>
        <c:axId val="308214624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Фактlastг </c:v>
                </c:pt>
              </c:strCache>
            </c:strRef>
          </c:tx>
          <c:spPr>
            <a:ln w="12700"/>
          </c:spPr>
          <c:marker>
            <c:symbol val="none"/>
          </c:marker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8214064"/>
        <c:axId val="308214624"/>
      </c:lineChart>
      <c:catAx>
        <c:axId val="3082140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lang="en-US" sz="550" b="1">
                <a:solidFill>
                  <a:schemeClr val="accent4">
                    <a:lumMod val="25000"/>
                  </a:schemeClr>
                </a:solidFill>
              </a:defRPr>
            </a:pPr>
            <a:endParaRPr lang="ru-RU"/>
          </a:p>
        </c:txPr>
        <c:crossAx val="308214624"/>
        <c:crosses val="autoZero"/>
        <c:auto val="1"/>
        <c:lblAlgn val="ctr"/>
        <c:lblOffset val="100"/>
        <c:noMultiLvlLbl val="0"/>
      </c:catAx>
      <c:valAx>
        <c:axId val="308214624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30821406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 b="1">
              <a:solidFill>
                <a:schemeClr val="accent4">
                  <a:lumMod val="25000"/>
                </a:schemeClr>
              </a:solidFill>
            </a:defRPr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308217424"/>
        <c:axId val="308217984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08217424"/>
        <c:axId val="308217984"/>
      </c:lineChart>
      <c:catAx>
        <c:axId val="30821742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308217984"/>
        <c:crosses val="autoZero"/>
        <c:auto val="1"/>
        <c:lblAlgn val="ctr"/>
        <c:lblOffset val="100"/>
        <c:noMultiLvlLbl val="0"/>
      </c:catAx>
      <c:valAx>
        <c:axId val="308217984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3082174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91770064"/>
        <c:axId val="291770624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1770064"/>
        <c:axId val="291770624"/>
      </c:lineChart>
      <c:catAx>
        <c:axId val="29177006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91770624"/>
        <c:crosses val="autoZero"/>
        <c:auto val="1"/>
        <c:lblAlgn val="ctr"/>
        <c:lblOffset val="100"/>
        <c:noMultiLvlLbl val="0"/>
      </c:catAx>
      <c:valAx>
        <c:axId val="291770624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9177006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91773424"/>
        <c:axId val="291773984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1773424"/>
        <c:axId val="291773984"/>
      </c:lineChart>
      <c:catAx>
        <c:axId val="29177342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91773984"/>
        <c:crosses val="autoZero"/>
        <c:auto val="1"/>
        <c:lblAlgn val="ctr"/>
        <c:lblOffset val="100"/>
        <c:noMultiLvlLbl val="0"/>
      </c:catAx>
      <c:valAx>
        <c:axId val="291773984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917734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91776784"/>
        <c:axId val="291777344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1776784"/>
        <c:axId val="291777344"/>
      </c:lineChart>
      <c:catAx>
        <c:axId val="29177678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91777344"/>
        <c:crosses val="autoZero"/>
        <c:auto val="1"/>
        <c:lblAlgn val="ctr"/>
        <c:lblOffset val="100"/>
        <c:noMultiLvlLbl val="0"/>
      </c:catAx>
      <c:valAx>
        <c:axId val="291777344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91776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31823736756522"/>
          <c:w val="0.9957867724867725"/>
          <c:h val="0.7488814374160447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Факт/прогноз curг (ППДН)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91780144"/>
        <c:axId val="291780704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Факт lastг (бенч)</c:v>
                </c:pt>
              </c:strCache>
            </c:strRef>
          </c:tx>
          <c:spPr>
            <a:ln w="12700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1780144"/>
        <c:axId val="291780704"/>
      </c:lineChart>
      <c:catAx>
        <c:axId val="2917801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550"/>
            </a:pPr>
            <a:endParaRPr lang="ru-RU"/>
          </a:p>
        </c:txPr>
        <c:crossAx val="291780704"/>
        <c:crosses val="autoZero"/>
        <c:auto val="1"/>
        <c:lblAlgn val="ctr"/>
        <c:lblOffset val="100"/>
        <c:noMultiLvlLbl val="0"/>
      </c:catAx>
      <c:valAx>
        <c:axId val="291780704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917801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91783504"/>
        <c:axId val="291784064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1783504"/>
        <c:axId val="291784064"/>
      </c:lineChart>
      <c:catAx>
        <c:axId val="291783504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91784064"/>
        <c:crosses val="autoZero"/>
        <c:auto val="1"/>
        <c:lblAlgn val="ctr"/>
        <c:lblOffset val="100"/>
        <c:noMultiLvlLbl val="0"/>
      </c:catAx>
      <c:valAx>
        <c:axId val="291784064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9178350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90607360"/>
        <c:axId val="290607920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0607360"/>
        <c:axId val="290607920"/>
      </c:lineChart>
      <c:catAx>
        <c:axId val="290607360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90607920"/>
        <c:crosses val="autoZero"/>
        <c:auto val="1"/>
        <c:lblAlgn val="ctr"/>
        <c:lblOffset val="100"/>
        <c:noMultiLvlLbl val="0"/>
      </c:catAx>
      <c:valAx>
        <c:axId val="290607920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9060736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90610720"/>
        <c:axId val="290611280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0610720"/>
        <c:axId val="290611280"/>
      </c:lineChart>
      <c:catAx>
        <c:axId val="290610720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90611280"/>
        <c:crosses val="autoZero"/>
        <c:auto val="1"/>
        <c:lblAlgn val="ctr"/>
        <c:lblOffset val="100"/>
        <c:noMultiLvlLbl val="0"/>
      </c:catAx>
      <c:valAx>
        <c:axId val="290611280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9061072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84040364138673E-2"/>
          <c:y val="5.1579365079365086E-2"/>
          <c:w val="0.93835642555723564"/>
          <c:h val="0.73289956007218071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Факт/прогноз curг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8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8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8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290614640"/>
        <c:axId val="290615200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Факт lastг </c:v>
                </c:pt>
              </c:strCache>
            </c:strRef>
          </c:tx>
          <c:spPr>
            <a:ln w="12700"/>
          </c:spPr>
          <c:marker>
            <c:symbol val="none"/>
          </c:marker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0614640"/>
        <c:axId val="290615200"/>
      </c:lineChart>
      <c:catAx>
        <c:axId val="29061464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lang="en-US" sz="550" b="1">
                <a:solidFill>
                  <a:schemeClr val="accent4">
                    <a:lumMod val="25000"/>
                  </a:schemeClr>
                </a:solidFill>
              </a:defRPr>
            </a:pPr>
            <a:endParaRPr lang="ru-RU"/>
          </a:p>
        </c:txPr>
        <c:crossAx val="290615200"/>
        <c:crosses val="autoZero"/>
        <c:auto val="1"/>
        <c:lblAlgn val="ctr"/>
        <c:lblOffset val="100"/>
        <c:noMultiLvlLbl val="0"/>
      </c:catAx>
      <c:valAx>
        <c:axId val="290615200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290614640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 b="1">
              <a:solidFill>
                <a:schemeClr val="accent4">
                  <a:lumMod val="25000"/>
                </a:schemeClr>
              </a:solidFill>
            </a:defRPr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90618000"/>
        <c:axId val="290618560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0618000"/>
        <c:axId val="290618560"/>
      </c:lineChart>
      <c:catAx>
        <c:axId val="290618000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90618560"/>
        <c:crosses val="autoZero"/>
        <c:auto val="1"/>
        <c:lblAlgn val="ctr"/>
        <c:lblOffset val="100"/>
        <c:noMultiLvlLbl val="0"/>
      </c:catAx>
      <c:valAx>
        <c:axId val="290618560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90618000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31823736756522"/>
          <c:w val="0.9957867724867725"/>
          <c:h val="0.7488814374160447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Факт/прогноз curг (ППДН)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82658224"/>
        <c:axId val="285409488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Факт lastг (бенч)</c:v>
                </c:pt>
              </c:strCache>
            </c:strRef>
          </c:tx>
          <c:spPr>
            <a:ln w="12700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2658224"/>
        <c:axId val="285409488"/>
      </c:lineChart>
      <c:catAx>
        <c:axId val="28265822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550"/>
            </a:pPr>
            <a:endParaRPr lang="ru-RU"/>
          </a:p>
        </c:txPr>
        <c:crossAx val="285409488"/>
        <c:crosses val="autoZero"/>
        <c:auto val="1"/>
        <c:lblAlgn val="ctr"/>
        <c:lblOffset val="100"/>
        <c:noMultiLvlLbl val="0"/>
      </c:catAx>
      <c:valAx>
        <c:axId val="285409488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826582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084040364138673E-2"/>
          <c:y val="5.1579365079365086E-2"/>
          <c:w val="0.93835642555723564"/>
          <c:h val="0.73289956007218071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Факт/прогноз curг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8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3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8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4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8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0"/>
        <c:axId val="285412288"/>
        <c:axId val="285412848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Фактlastг </c:v>
                </c:pt>
              </c:strCache>
            </c:strRef>
          </c:tx>
          <c:spPr>
            <a:ln w="12700"/>
          </c:spPr>
          <c:marker>
            <c:symbol val="none"/>
          </c:marker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5412288"/>
        <c:axId val="285412848"/>
      </c:lineChart>
      <c:catAx>
        <c:axId val="2854122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lang="en-US" sz="550" b="1">
                <a:solidFill>
                  <a:schemeClr val="accent4">
                    <a:lumMod val="25000"/>
                  </a:schemeClr>
                </a:solidFill>
              </a:defRPr>
            </a:pPr>
            <a:endParaRPr lang="ru-RU"/>
          </a:p>
        </c:txPr>
        <c:crossAx val="285412848"/>
        <c:crosses val="autoZero"/>
        <c:auto val="1"/>
        <c:lblAlgn val="ctr"/>
        <c:lblOffset val="100"/>
        <c:noMultiLvlLbl val="0"/>
      </c:catAx>
      <c:valAx>
        <c:axId val="285412848"/>
        <c:scaling>
          <c:orientation val="minMax"/>
        </c:scaling>
        <c:delete val="1"/>
        <c:axPos val="l"/>
        <c:numFmt formatCode="#,##0" sourceLinked="1"/>
        <c:majorTickMark val="out"/>
        <c:minorTickMark val="none"/>
        <c:tickLblPos val="nextTo"/>
        <c:crossAx val="285412288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 b="1">
              <a:solidFill>
                <a:schemeClr val="accent4">
                  <a:lumMod val="25000"/>
                </a:schemeClr>
              </a:solidFill>
            </a:defRPr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85415648"/>
        <c:axId val="285416208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5415648"/>
        <c:axId val="285416208"/>
      </c:lineChart>
      <c:catAx>
        <c:axId val="285415648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85416208"/>
        <c:crosses val="autoZero"/>
        <c:auto val="1"/>
        <c:lblAlgn val="ctr"/>
        <c:lblOffset val="100"/>
        <c:noMultiLvlLbl val="0"/>
      </c:catAx>
      <c:valAx>
        <c:axId val="285416208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85415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85419008"/>
        <c:axId val="285419568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5419008"/>
        <c:axId val="285419568"/>
      </c:lineChart>
      <c:catAx>
        <c:axId val="285419008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85419568"/>
        <c:crosses val="autoZero"/>
        <c:auto val="1"/>
        <c:lblAlgn val="ctr"/>
        <c:lblOffset val="100"/>
        <c:noMultiLvlLbl val="0"/>
      </c:catAx>
      <c:valAx>
        <c:axId val="285419568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854190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85422368"/>
        <c:axId val="285422928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85422368"/>
        <c:axId val="285422928"/>
      </c:lineChart>
      <c:catAx>
        <c:axId val="285422368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85422928"/>
        <c:crosses val="autoZero"/>
        <c:auto val="1"/>
        <c:lblAlgn val="ctr"/>
        <c:lblOffset val="100"/>
        <c:noMultiLvlLbl val="0"/>
      </c:catAx>
      <c:valAx>
        <c:axId val="285422928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8542236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90818112"/>
        <c:axId val="290818672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0818112"/>
        <c:axId val="290818672"/>
      </c:lineChart>
      <c:catAx>
        <c:axId val="290818112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90818672"/>
        <c:crosses val="autoZero"/>
        <c:auto val="1"/>
        <c:lblAlgn val="ctr"/>
        <c:lblOffset val="100"/>
        <c:noMultiLvlLbl val="0"/>
      </c:catAx>
      <c:valAx>
        <c:axId val="290818672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908181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18131823736756522"/>
          <c:w val="0.9957867724867725"/>
          <c:h val="0.74888143741604474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Факт/прогноз curг (ППДН)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90821472"/>
        <c:axId val="290822032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Факт lastг (бенч)</c:v>
                </c:pt>
              </c:strCache>
            </c:strRef>
          </c:tx>
          <c:spPr>
            <a:ln w="12700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cat>
            <c:strRef>
              <c:f>Лист1!$B$1:$P$1</c:f>
              <c:strCache>
                <c:ptCount val="15"/>
                <c:pt idx="0">
                  <c:v>Факт last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Всего num мес</c:v>
                </c:pt>
                <c:pt idx="14">
                  <c:v>Прогноз cur</c:v>
                </c:pt>
              </c:strCache>
            </c:strRef>
          </c:cat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0821472"/>
        <c:axId val="290822032"/>
      </c:lineChart>
      <c:catAx>
        <c:axId val="29082147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550"/>
            </a:pPr>
            <a:endParaRPr lang="ru-RU"/>
          </a:p>
        </c:txPr>
        <c:crossAx val="290822032"/>
        <c:crosses val="autoZero"/>
        <c:auto val="1"/>
        <c:lblAlgn val="ctr"/>
        <c:lblOffset val="100"/>
        <c:noMultiLvlLbl val="0"/>
      </c:catAx>
      <c:valAx>
        <c:axId val="290822032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908214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290824832"/>
        <c:axId val="290825392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90824832"/>
        <c:axId val="290825392"/>
      </c:lineChart>
      <c:catAx>
        <c:axId val="290824832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290825392"/>
        <c:crosses val="autoZero"/>
        <c:auto val="1"/>
        <c:lblAlgn val="ctr"/>
        <c:lblOffset val="100"/>
        <c:noMultiLvlLbl val="0"/>
      </c:catAx>
      <c:valAx>
        <c:axId val="290825392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29082483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337980512"/>
        <c:axId val="337981072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7980512"/>
        <c:axId val="337981072"/>
      </c:lineChart>
      <c:catAx>
        <c:axId val="337980512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337981072"/>
        <c:crosses val="autoZero"/>
        <c:auto val="1"/>
        <c:lblAlgn val="ctr"/>
        <c:lblOffset val="100"/>
        <c:noMultiLvlLbl val="0"/>
      </c:catAx>
      <c:valAx>
        <c:axId val="337981072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3379805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0.32044008999000112"/>
          <c:w val="1"/>
          <c:h val="0.59151066548161324"/>
        </c:manualLayout>
      </c:layout>
      <c:barChart>
        <c:barDir val="col"/>
        <c:grouping val="clustered"/>
        <c:varyColors val="0"/>
        <c:ser>
          <c:idx val="2"/>
          <c:order val="1"/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bg1">
                  <a:lumMod val="50000"/>
                </a:schemeClr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25400">
                <a:noFill/>
              </a:ln>
            </c:spPr>
          </c:dPt>
          <c:dPt>
            <c:idx val="3"/>
            <c:invertIfNegative val="0"/>
            <c:bubble3D val="0"/>
          </c:dPt>
          <c:dPt>
            <c:idx val="5"/>
            <c:invertIfNegative val="0"/>
            <c:bubble3D val="0"/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600" b="1">
                      <a:solidFill>
                        <a:schemeClr val="accent1"/>
                      </a:solidFill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600" b="0">
                    <a:solidFill>
                      <a:schemeClr val="accent1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Лист1!$B$4:$P$4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Лист1!$A$4</c15:sqref>
                        </c15:formulaRef>
                      </c:ext>
                    </c:extLst>
                    <c:strCache>
                      <c:ptCount val="1"/>
                      <c:pt idx="0">
                        <c:v>Факт/прогноз curг (ППДН)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337983872"/>
        <c:axId val="337984432"/>
      </c:barChart>
      <c:lineChart>
        <c:grouping val="standard"/>
        <c:varyColors val="0"/>
        <c:ser>
          <c:idx val="0"/>
          <c:order val="0"/>
          <c:spPr>
            <a:ln w="12700" cap="flat">
              <a:solidFill>
                <a:schemeClr val="bg1">
                  <a:lumMod val="50000"/>
                </a:schemeClr>
              </a:solidFill>
              <a:prstDash val="dash"/>
            </a:ln>
          </c:spPr>
          <c:marker>
            <c:symbol val="none"/>
          </c:marker>
          <c:val>
            <c:numRef>
              <c:f>Лист1!$B$2:$P$2</c:f>
              <c:numCache>
                <c:formatCode>#,##0</c:formatCode>
                <c:ptCount val="1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Лист1!$A$2</c15:sqref>
                        </c15:formulaRef>
                      </c:ext>
                    </c:extLst>
                    <c:strCache>
                      <c:ptCount val="1"/>
                      <c:pt idx="0">
                        <c:v>Факт lastг (бенч)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Лист1!$B$1:$P$1</c15:sqref>
                        </c15:formulaRef>
                      </c:ext>
                    </c:extLst>
                    <c:strCache>
                      <c:ptCount val="15"/>
                      <c:pt idx="0">
                        <c:v>Факт last</c:v>
                      </c:pt>
                      <c:pt idx="1">
                        <c:v>январь</c:v>
                      </c:pt>
                      <c:pt idx="2">
                        <c:v>февраль</c:v>
                      </c:pt>
                      <c:pt idx="3">
                        <c:v>март</c:v>
                      </c:pt>
                      <c:pt idx="4">
                        <c:v>апрель</c:v>
                      </c:pt>
                      <c:pt idx="5">
                        <c:v>май</c:v>
                      </c:pt>
                      <c:pt idx="6">
                        <c:v>июнь</c:v>
                      </c:pt>
                      <c:pt idx="7">
                        <c:v>июль</c:v>
                      </c:pt>
                      <c:pt idx="8">
                        <c:v>август</c:v>
                      </c:pt>
                      <c:pt idx="9">
                        <c:v>сентябрь</c:v>
                      </c:pt>
                      <c:pt idx="10">
                        <c:v>октябрь</c:v>
                      </c:pt>
                      <c:pt idx="11">
                        <c:v>ноябрь</c:v>
                      </c:pt>
                      <c:pt idx="12">
                        <c:v>декабрь</c:v>
                      </c:pt>
                      <c:pt idx="13">
                        <c:v>Всего num мес</c:v>
                      </c:pt>
                      <c:pt idx="14">
                        <c:v>Прогноз cur</c:v>
                      </c:pt>
                    </c:strCache>
                  </c: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7983872"/>
        <c:axId val="337984432"/>
      </c:lineChart>
      <c:catAx>
        <c:axId val="337983872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337984432"/>
        <c:crosses val="autoZero"/>
        <c:auto val="1"/>
        <c:lblAlgn val="ctr"/>
        <c:lblOffset val="100"/>
        <c:noMultiLvlLbl val="0"/>
      </c:catAx>
      <c:valAx>
        <c:axId val="337984432"/>
        <c:scaling>
          <c:orientation val="minMax"/>
          <c:min val="0"/>
        </c:scaling>
        <c:delete val="1"/>
        <c:axPos val="l"/>
        <c:numFmt formatCode="#,##0" sourceLinked="1"/>
        <c:majorTickMark val="out"/>
        <c:minorTickMark val="none"/>
        <c:tickLblPos val="nextTo"/>
        <c:crossAx val="3379838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624598952228658"/>
          <c:y val="3.6956451249493878E-2"/>
          <c:w val="0.84057942597700253"/>
          <c:h val="0.747662265426304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НПВ в ЭБ за month</c:v>
                </c:pt>
              </c:strCache>
            </c:strRef>
          </c:tx>
          <c:spPr>
            <a:solidFill>
              <a:schemeClr val="accent2"/>
            </a:solidFill>
            <a:ln w="28575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0">
                    <a:solidFill>
                      <a:schemeClr val="tx2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Лист1!$B$1:$F$1</c:f>
              <c:strCache>
                <c:ptCount val="5"/>
                <c:pt idx="0">
                  <c:v>ННГ</c:v>
                </c:pt>
                <c:pt idx="1">
                  <c:v>МН</c:v>
                </c:pt>
                <c:pt idx="2">
                  <c:v>Хантос </c:v>
                </c:pt>
                <c:pt idx="3">
                  <c:v>Восток</c:v>
                </c:pt>
                <c:pt idx="4">
                  <c:v>ГПНО</c:v>
                </c:pt>
              </c:strCache>
            </c:strRef>
          </c:cat>
          <c:val>
            <c:numRef>
              <c:f>Лист1!$B$2:$F$2</c:f>
              <c:numCache>
                <c:formatCode>General</c:formatCode>
                <c:ptCount val="5"/>
              </c:numCache>
            </c:numRef>
          </c:val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НПВ в ЭБ с начала года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28575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0">
                    <a:solidFill>
                      <a:schemeClr val="tx2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Лист1!$B$1:$F$1</c:f>
              <c:strCache>
                <c:ptCount val="5"/>
                <c:pt idx="0">
                  <c:v>ННГ</c:v>
                </c:pt>
                <c:pt idx="1">
                  <c:v>МН</c:v>
                </c:pt>
                <c:pt idx="2">
                  <c:v>Хантос </c:v>
                </c:pt>
                <c:pt idx="3">
                  <c:v>Восток</c:v>
                </c:pt>
                <c:pt idx="4">
                  <c:v>ГПНО</c:v>
                </c:pt>
              </c:strCache>
            </c:strRef>
          </c:cat>
          <c:val>
            <c:numRef>
              <c:f>Лист1!$B$3:$F$3</c:f>
              <c:numCache>
                <c:formatCode>General</c:formatCode>
                <c:ptCount val="5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7992272"/>
        <c:axId val="337992832"/>
      </c:barChart>
      <c:lineChart>
        <c:grouping val="stacked"/>
        <c:varyColors val="0"/>
        <c:ser>
          <c:idx val="2"/>
          <c:order val="2"/>
          <c:tx>
            <c:strRef>
              <c:f>Лист1!$A$4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>
              <a:noFill/>
            </a:ln>
          </c:spPr>
          <c:marker>
            <c:symbol val="picture"/>
            <c:spPr>
              <a:blipFill>
                <a:blip xmlns:r="http://schemas.openxmlformats.org/officeDocument/2006/relationships" r:embed="rId1"/>
                <a:stretch>
                  <a:fillRect/>
                </a:stretch>
              </a:blip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1.8445655757586322E-2"/>
                  <c:y val="0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3834241818189741E-2"/>
                  <c:y val="0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8445655757586405E-2"/>
                  <c:y val="5.2794930356418858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3834241818189741E-2"/>
                  <c:y val="5.279493035641982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5.279493035641982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6000" bIns="0" anchor="ctr">
                <a:spAutoFit/>
              </a:bodyPr>
              <a:lstStyle/>
              <a:p>
                <a:pPr>
                  <a:defRPr sz="600" b="1">
                    <a:solidFill>
                      <a:srgbClr val="FF0000"/>
                    </a:solidFill>
                  </a:defRPr>
                </a:pPr>
                <a:endParaRPr lang="ru-RU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Лист1!$B$1:$F$1</c:f>
              <c:strCache>
                <c:ptCount val="5"/>
                <c:pt idx="0">
                  <c:v>ННГ</c:v>
                </c:pt>
                <c:pt idx="1">
                  <c:v>МН</c:v>
                </c:pt>
                <c:pt idx="2">
                  <c:v>Хантос </c:v>
                </c:pt>
                <c:pt idx="3">
                  <c:v>Восток</c:v>
                </c:pt>
                <c:pt idx="4">
                  <c:v>ГПНО</c:v>
                </c:pt>
              </c:strCache>
            </c:strRef>
          </c:cat>
          <c:val>
            <c:numRef>
              <c:f>Лист1!$B$4:$F$4</c:f>
              <c:numCache>
                <c:formatCode>General</c:formatCode>
                <c:ptCount val="5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7992272"/>
        <c:axId val="337992832"/>
      </c:lineChart>
      <c:catAx>
        <c:axId val="33799227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tx2"/>
                </a:solidFill>
              </a:defRPr>
            </a:pPr>
            <a:endParaRPr lang="ru-RU"/>
          </a:p>
        </c:txPr>
        <c:crossAx val="337992832"/>
        <c:crosses val="autoZero"/>
        <c:auto val="1"/>
        <c:lblAlgn val="ctr"/>
        <c:lblOffset val="100"/>
        <c:noMultiLvlLbl val="0"/>
      </c:catAx>
      <c:valAx>
        <c:axId val="33799283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3799227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2.4149648007506075E-2"/>
          <c:y val="0.87337863443210528"/>
          <c:w val="0.83068195186991023"/>
          <c:h val="0.12662136556789469"/>
        </c:manualLayout>
      </c:layout>
      <c:overlay val="0"/>
      <c:txPr>
        <a:bodyPr/>
        <a:lstStyle/>
        <a:p>
          <a:pPr>
            <a:defRPr sz="700" b="1">
              <a:solidFill>
                <a:srgbClr val="545353"/>
              </a:solidFill>
            </a:defRPr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/>
      </a:pPr>
      <a:endParaRPr lang="ru-RU"/>
    </a:p>
  </c:txPr>
  <c:externalData r:id="rId2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624598952228658"/>
          <c:y val="3.6956451249493878E-2"/>
          <c:w val="0.84057942597700253"/>
          <c:h val="0.747662265426304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НПВ в ЭБ за month</c:v>
                </c:pt>
              </c:strCache>
            </c:strRef>
          </c:tx>
          <c:spPr>
            <a:solidFill>
              <a:schemeClr val="accent2"/>
            </a:solidFill>
            <a:ln w="28575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0">
                    <a:solidFill>
                      <a:schemeClr val="tx2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Лист1!$B$1:$F$1</c:f>
              <c:strCache>
                <c:ptCount val="5"/>
                <c:pt idx="0">
                  <c:v>ННГ</c:v>
                </c:pt>
                <c:pt idx="1">
                  <c:v>МН</c:v>
                </c:pt>
                <c:pt idx="2">
                  <c:v>Хантос </c:v>
                </c:pt>
                <c:pt idx="3">
                  <c:v>Восток</c:v>
                </c:pt>
                <c:pt idx="4">
                  <c:v>ГПНО</c:v>
                </c:pt>
              </c:strCache>
            </c:strRef>
          </c:cat>
          <c:val>
            <c:numRef>
              <c:f>Лист1!$B$2:$F$2</c:f>
              <c:numCache>
                <c:formatCode>General</c:formatCode>
                <c:ptCount val="5"/>
              </c:numCache>
            </c:numRef>
          </c:val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НПВ в ЭБ с начала года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28575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0">
                    <a:solidFill>
                      <a:schemeClr val="tx2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Лист1!$B$1:$F$1</c:f>
              <c:strCache>
                <c:ptCount val="5"/>
                <c:pt idx="0">
                  <c:v>ННГ</c:v>
                </c:pt>
                <c:pt idx="1">
                  <c:v>МН</c:v>
                </c:pt>
                <c:pt idx="2">
                  <c:v>Хантос </c:v>
                </c:pt>
                <c:pt idx="3">
                  <c:v>Восток</c:v>
                </c:pt>
                <c:pt idx="4">
                  <c:v>ГПНО</c:v>
                </c:pt>
              </c:strCache>
            </c:strRef>
          </c:cat>
          <c:val>
            <c:numRef>
              <c:f>Лист1!$B$3:$F$3</c:f>
              <c:numCache>
                <c:formatCode>General</c:formatCode>
                <c:ptCount val="5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7996192"/>
        <c:axId val="337996752"/>
      </c:barChart>
      <c:lineChart>
        <c:grouping val="stacked"/>
        <c:varyColors val="0"/>
        <c:ser>
          <c:idx val="2"/>
          <c:order val="2"/>
          <c:tx>
            <c:strRef>
              <c:f>Лист1!$A$4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>
              <a:noFill/>
            </a:ln>
          </c:spPr>
          <c:marker>
            <c:symbol val="picture"/>
            <c:spPr>
              <a:blipFill>
                <a:blip xmlns:r="http://schemas.openxmlformats.org/officeDocument/2006/relationships" r:embed="rId1"/>
                <a:stretch>
                  <a:fillRect/>
                </a:stretch>
              </a:blip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1.8445655757586322E-2"/>
                  <c:y val="0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3834241818189741E-2"/>
                  <c:y val="0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8445655757586405E-2"/>
                  <c:y val="5.2794930356418858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3834241818189741E-2"/>
                  <c:y val="5.279493035641982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5.279493035641982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6000" bIns="0" anchor="ctr">
                <a:spAutoFit/>
              </a:bodyPr>
              <a:lstStyle/>
              <a:p>
                <a:pPr>
                  <a:defRPr sz="600" b="1">
                    <a:solidFill>
                      <a:srgbClr val="FF0000"/>
                    </a:solidFill>
                  </a:defRPr>
                </a:pPr>
                <a:endParaRPr lang="ru-RU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Лист1!$B$1:$F$1</c:f>
              <c:strCache>
                <c:ptCount val="5"/>
                <c:pt idx="0">
                  <c:v>ННГ</c:v>
                </c:pt>
                <c:pt idx="1">
                  <c:v>МН</c:v>
                </c:pt>
                <c:pt idx="2">
                  <c:v>Хантос </c:v>
                </c:pt>
                <c:pt idx="3">
                  <c:v>Восток</c:v>
                </c:pt>
                <c:pt idx="4">
                  <c:v>ГПНО</c:v>
                </c:pt>
              </c:strCache>
            </c:strRef>
          </c:cat>
          <c:val>
            <c:numRef>
              <c:f>Лист1!$B$4:$F$4</c:f>
              <c:numCache>
                <c:formatCode>General</c:formatCode>
                <c:ptCount val="5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7996192"/>
        <c:axId val="337996752"/>
      </c:lineChart>
      <c:catAx>
        <c:axId val="33799619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tx2"/>
                </a:solidFill>
              </a:defRPr>
            </a:pPr>
            <a:endParaRPr lang="ru-RU"/>
          </a:p>
        </c:txPr>
        <c:crossAx val="337996752"/>
        <c:crosses val="autoZero"/>
        <c:auto val="1"/>
        <c:lblAlgn val="ctr"/>
        <c:lblOffset val="100"/>
        <c:noMultiLvlLbl val="0"/>
      </c:catAx>
      <c:valAx>
        <c:axId val="33799675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33799619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2.4149648007506075E-2"/>
          <c:y val="0.87337863443210528"/>
          <c:w val="0.95057871429422125"/>
          <c:h val="0.12662136556789469"/>
        </c:manualLayout>
      </c:layout>
      <c:overlay val="0"/>
      <c:txPr>
        <a:bodyPr/>
        <a:lstStyle/>
        <a:p>
          <a:pPr>
            <a:defRPr sz="700" b="1">
              <a:solidFill>
                <a:srgbClr val="545353"/>
              </a:solidFill>
            </a:defRPr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/>
      </a:pPr>
      <a:endParaRPr lang="ru-RU"/>
    </a:p>
  </c:txPr>
  <c:externalData r:id="rId2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 sz="800" dirty="0" smtClean="0">
                <a:effectLst/>
              </a:rPr>
              <a:t>Общее НПВ по 5 ДО с начала </a:t>
            </a:r>
            <a:r>
              <a:rPr lang="en-US" sz="800" dirty="0" smtClean="0">
                <a:effectLst/>
              </a:rPr>
              <a:t>cur</a:t>
            </a:r>
            <a:r>
              <a:rPr lang="ru-RU" sz="800" dirty="0" smtClean="0">
                <a:effectLst/>
              </a:rPr>
              <a:t> года </a:t>
            </a:r>
            <a:r>
              <a:rPr lang="en-US" sz="800" b="1" dirty="0" smtClean="0">
                <a:effectLst/>
              </a:rPr>
              <a:t>percent</a:t>
            </a:r>
            <a:r>
              <a:rPr lang="ru-RU" sz="800" b="1" dirty="0" smtClean="0">
                <a:effectLst/>
              </a:rPr>
              <a:t> %</a:t>
            </a:r>
            <a:endParaRPr lang="ru-RU" sz="800" dirty="0">
              <a:effectLst/>
            </a:endParaRPr>
          </a:p>
        </c:rich>
      </c:tx>
      <c:layout>
        <c:manualLayout>
          <c:xMode val="edge"/>
          <c:yMode val="edge"/>
          <c:x val="0.15405793520220237"/>
          <c:y val="5.5819268635724333E-3"/>
        </c:manualLayout>
      </c:layout>
      <c:overlay val="0"/>
      <c:spPr>
        <a:solidFill>
          <a:srgbClr val="FFFFFF"/>
        </a:solidFill>
        <a:ln>
          <a:solidFill>
            <a:schemeClr val="bg2"/>
          </a:solidFill>
        </a:ln>
      </c:spPr>
    </c:title>
    <c:autoTitleDeleted val="0"/>
    <c:plotArea>
      <c:layout>
        <c:manualLayout>
          <c:layoutTarget val="inner"/>
          <c:xMode val="edge"/>
          <c:yMode val="edge"/>
          <c:x val="6.6263441890291694E-2"/>
          <c:y val="2.7909634317862166E-2"/>
          <c:w val="0.60941989195741186"/>
          <c:h val="0.7468974156118142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 вине буровых подрядчиков</c:v>
                </c:pt>
              </c:strCache>
            </c:strRef>
          </c:tx>
          <c:spPr>
            <a:solidFill>
              <a:srgbClr val="545353"/>
            </a:solidFill>
          </c:spPr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Лист1!$C$2:$C$14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1"/>
          <c:order val="1"/>
          <c:tx>
            <c:strRef>
              <c:f>Лист1!$D$1</c:f>
              <c:strCache>
                <c:ptCount val="1"/>
                <c:pt idx="0">
                  <c:v>по вине подр. по ННБ</c:v>
                </c:pt>
              </c:strCache>
            </c:strRef>
          </c:tx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Лист1!$D$2:$D$14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2"/>
          <c:order val="2"/>
          <c:tx>
            <c:strRef>
              <c:f>Лист1!$E$1</c:f>
              <c:strCache>
                <c:ptCount val="1"/>
                <c:pt idx="0">
                  <c:v>по вине подрядчика по буровым растворам</c:v>
                </c:pt>
              </c:strCache>
            </c:strRef>
          </c:tx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Лист1!$E$2:$E$14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3"/>
          <c:order val="3"/>
          <c:tx>
            <c:strRef>
              <c:f>Лист1!$F$1</c:f>
              <c:strCache>
                <c:ptCount val="1"/>
                <c:pt idx="0">
                  <c:v>по вине подрядчика по цементированию</c:v>
                </c:pt>
              </c:strCache>
            </c:strRef>
          </c:tx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Лист1!$F$2:$F$14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4"/>
          <c:order val="4"/>
          <c:tx>
            <c:strRef>
              <c:f>Лист1!$G$1</c:f>
              <c:strCache>
                <c:ptCount val="1"/>
                <c:pt idx="0">
                  <c:v>по вине подр. по инж. сопр. спуска хвостовиков</c:v>
                </c:pt>
              </c:strCache>
            </c:strRef>
          </c:tx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Лист1!$G$2:$G$14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5"/>
          <c:order val="5"/>
          <c:tx>
            <c:strRef>
              <c:f>Лист1!$H$1</c:f>
              <c:strCache>
                <c:ptCount val="1"/>
                <c:pt idx="0">
                  <c:v>по вине других подрядчиков</c:v>
                </c:pt>
              </c:strCache>
            </c:strRef>
          </c:tx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Лист1!$H$2:$H$14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6"/>
          <c:order val="6"/>
          <c:tx>
            <c:strRef>
              <c:f>Лист1!$I$1</c:f>
              <c:strCache>
                <c:ptCount val="1"/>
                <c:pt idx="0">
                  <c:v>по вине Заказчика</c:v>
                </c:pt>
              </c:strCache>
            </c:strRef>
          </c:tx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Лист1!$I$2:$I$14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38002912"/>
        <c:axId val="338003472"/>
      </c:barChart>
      <c:lineChart>
        <c:grouping val="standard"/>
        <c:varyColors val="0"/>
        <c:ser>
          <c:idx val="7"/>
          <c:order val="7"/>
          <c:tx>
            <c:strRef>
              <c:f>Лист1!$J$1</c:f>
              <c:strCache>
                <c:ptCount val="1"/>
                <c:pt idx="0">
                  <c:v>Итого НПВ, %</c:v>
                </c:pt>
              </c:strCache>
            </c:strRef>
          </c:tx>
          <c:spPr>
            <a:ln>
              <a:solidFill>
                <a:schemeClr val="bg1">
                  <a:lumMod val="75000"/>
                </a:schemeClr>
              </a:solidFill>
            </a:ln>
          </c:spPr>
          <c:marker>
            <c:symbol val="none"/>
          </c:marker>
          <c:dPt>
            <c:idx val="0"/>
            <c:marker>
              <c:symbol val="diamond"/>
              <c:size val="7"/>
              <c:spPr>
                <a:solidFill>
                  <a:srgbClr val="FF0000">
                    <a:alpha val="99000"/>
                  </a:srgbClr>
                </a:solidFill>
                <a:ln>
                  <a:noFill/>
                </a:ln>
              </c:spPr>
            </c:marker>
            <c:bubble3D val="0"/>
            <c:spPr>
              <a:ln>
                <a:noFill/>
              </a:ln>
            </c:spPr>
          </c:dPt>
          <c:dPt>
            <c:idx val="1"/>
            <c:bubble3D val="0"/>
            <c:spPr>
              <a:ln>
                <a:noFill/>
              </a:ln>
            </c:spPr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FF0000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Лист1!$J$2:$J$14</c:f>
              <c:numCache>
                <c:formatCode>0.0%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8004592"/>
        <c:axId val="338004032"/>
      </c:lineChart>
      <c:catAx>
        <c:axId val="3380029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003472"/>
        <c:crosses val="autoZero"/>
        <c:auto val="1"/>
        <c:lblAlgn val="ctr"/>
        <c:lblOffset val="100"/>
        <c:noMultiLvlLbl val="0"/>
      </c:catAx>
      <c:valAx>
        <c:axId val="338003472"/>
        <c:scaling>
          <c:orientation val="minMax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002912"/>
        <c:crosses val="autoZero"/>
        <c:crossBetween val="between"/>
      </c:valAx>
      <c:valAx>
        <c:axId val="338004032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004592"/>
        <c:crosses val="max"/>
        <c:crossBetween val="between"/>
      </c:valAx>
      <c:catAx>
        <c:axId val="3380045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38004032"/>
        <c:crosses val="autoZero"/>
        <c:auto val="1"/>
        <c:lblAlgn val="ctr"/>
        <c:lblOffset val="100"/>
        <c:noMultiLvlLbl val="0"/>
      </c:catAx>
    </c:plotArea>
    <c:legend>
      <c:legendPos val="r"/>
      <c:layout>
        <c:manualLayout>
          <c:xMode val="edge"/>
          <c:yMode val="edge"/>
          <c:x val="0.74332521871260671"/>
          <c:y val="1.4015471167369901E-2"/>
          <c:w val="0.2514137066735489"/>
          <c:h val="0.97196905766526021"/>
        </c:manualLayout>
      </c:layout>
      <c:overlay val="0"/>
      <c:txPr>
        <a:bodyPr/>
        <a:lstStyle/>
        <a:p>
          <a:pPr>
            <a:defRPr sz="6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 sz="800" dirty="0" smtClean="0">
                <a:effectLst/>
              </a:rPr>
              <a:t>Общее НПВ по 5 ДО с начала </a:t>
            </a:r>
            <a:r>
              <a:rPr lang="en-US" sz="800" dirty="0" smtClean="0">
                <a:effectLst/>
              </a:rPr>
              <a:t>cur</a:t>
            </a:r>
            <a:r>
              <a:rPr lang="ru-RU" sz="800" dirty="0" smtClean="0">
                <a:effectLst/>
              </a:rPr>
              <a:t> года </a:t>
            </a:r>
            <a:r>
              <a:rPr lang="en-US" sz="800" b="1" dirty="0" smtClean="0">
                <a:effectLst/>
              </a:rPr>
              <a:t>percent</a:t>
            </a:r>
            <a:r>
              <a:rPr lang="ru-RU" sz="800" b="1" dirty="0" smtClean="0">
                <a:effectLst/>
              </a:rPr>
              <a:t> %</a:t>
            </a:r>
            <a:endParaRPr lang="ru-RU" sz="800" dirty="0">
              <a:effectLst/>
            </a:endParaRPr>
          </a:p>
        </c:rich>
      </c:tx>
      <c:layout>
        <c:manualLayout>
          <c:xMode val="edge"/>
          <c:yMode val="edge"/>
          <c:x val="0.15405793520220237"/>
          <c:y val="5.5819268635724333E-3"/>
        </c:manualLayout>
      </c:layout>
      <c:overlay val="0"/>
      <c:spPr>
        <a:solidFill>
          <a:srgbClr val="FFFFFF"/>
        </a:solidFill>
        <a:ln>
          <a:solidFill>
            <a:schemeClr val="bg2"/>
          </a:solidFill>
        </a:ln>
      </c:spPr>
    </c:title>
    <c:autoTitleDeleted val="0"/>
    <c:plotArea>
      <c:layout>
        <c:manualLayout>
          <c:layoutTarget val="inner"/>
          <c:xMode val="edge"/>
          <c:yMode val="edge"/>
          <c:x val="6.6263441890291694E-2"/>
          <c:y val="2.7909634317862166E-2"/>
          <c:w val="0.60941989195741186"/>
          <c:h val="0.74689741561181422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 вине буровых подрядчиков</c:v>
                </c:pt>
              </c:strCache>
            </c:strRef>
          </c:tx>
          <c:spPr>
            <a:solidFill>
              <a:srgbClr val="545353"/>
            </a:solidFill>
          </c:spPr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Лист1!$C$2:$C$14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1"/>
          <c:order val="1"/>
          <c:tx>
            <c:strRef>
              <c:f>Лист1!$D$1</c:f>
              <c:strCache>
                <c:ptCount val="1"/>
                <c:pt idx="0">
                  <c:v>по вине подр. по ННБ</c:v>
                </c:pt>
              </c:strCache>
            </c:strRef>
          </c:tx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Лист1!$D$2:$D$14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2"/>
          <c:order val="2"/>
          <c:tx>
            <c:strRef>
              <c:f>Лист1!$E$1</c:f>
              <c:strCache>
                <c:ptCount val="1"/>
                <c:pt idx="0">
                  <c:v>по вине подрядчика по буровым растворам</c:v>
                </c:pt>
              </c:strCache>
            </c:strRef>
          </c:tx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Лист1!$E$2:$E$14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3"/>
          <c:order val="3"/>
          <c:tx>
            <c:strRef>
              <c:f>Лист1!$F$1</c:f>
              <c:strCache>
                <c:ptCount val="1"/>
                <c:pt idx="0">
                  <c:v>по вине подрядчика по цементированию</c:v>
                </c:pt>
              </c:strCache>
            </c:strRef>
          </c:tx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Лист1!$F$2:$F$14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4"/>
          <c:order val="4"/>
          <c:tx>
            <c:strRef>
              <c:f>Лист1!$G$1</c:f>
              <c:strCache>
                <c:ptCount val="1"/>
                <c:pt idx="0">
                  <c:v>по вине подр. по инж. сопр. спуска хвостовиков</c:v>
                </c:pt>
              </c:strCache>
            </c:strRef>
          </c:tx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Лист1!$G$2:$G$14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5"/>
          <c:order val="5"/>
          <c:tx>
            <c:strRef>
              <c:f>Лист1!$H$1</c:f>
              <c:strCache>
                <c:ptCount val="1"/>
                <c:pt idx="0">
                  <c:v>по вине других подрядчиков</c:v>
                </c:pt>
              </c:strCache>
            </c:strRef>
          </c:tx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Лист1!$H$2:$H$14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ser>
          <c:idx val="6"/>
          <c:order val="6"/>
          <c:tx>
            <c:strRef>
              <c:f>Лист1!$I$1</c:f>
              <c:strCache>
                <c:ptCount val="1"/>
                <c:pt idx="0">
                  <c:v>по вине Заказчика</c:v>
                </c:pt>
              </c:strCache>
            </c:strRef>
          </c:tx>
          <c:invertIfNegative val="0"/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Лист1!$I$2:$I$14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90612400"/>
        <c:axId val="339583984"/>
      </c:barChart>
      <c:lineChart>
        <c:grouping val="standard"/>
        <c:varyColors val="0"/>
        <c:ser>
          <c:idx val="7"/>
          <c:order val="7"/>
          <c:tx>
            <c:strRef>
              <c:f>Лист1!$J$1</c:f>
              <c:strCache>
                <c:ptCount val="1"/>
                <c:pt idx="0">
                  <c:v>Итого НПВ, %</c:v>
                </c:pt>
              </c:strCache>
            </c:strRef>
          </c:tx>
          <c:spPr>
            <a:ln>
              <a:solidFill>
                <a:schemeClr val="bg1">
                  <a:lumMod val="75000"/>
                </a:schemeClr>
              </a:solidFill>
            </a:ln>
          </c:spPr>
          <c:marker>
            <c:symbol val="none"/>
          </c:marker>
          <c:dPt>
            <c:idx val="0"/>
            <c:marker>
              <c:symbol val="diamond"/>
              <c:size val="7"/>
              <c:spPr>
                <a:solidFill>
                  <a:srgbClr val="FF0000">
                    <a:alpha val="99000"/>
                  </a:srgbClr>
                </a:solidFill>
                <a:ln>
                  <a:noFill/>
                </a:ln>
              </c:spPr>
            </c:marker>
            <c:bubble3D val="0"/>
            <c:spPr>
              <a:ln>
                <a:noFill/>
              </a:ln>
            </c:spPr>
          </c:dPt>
          <c:dPt>
            <c:idx val="1"/>
            <c:bubble3D val="0"/>
            <c:spPr>
              <a:ln>
                <a:noFill/>
              </a:ln>
            </c:spPr>
          </c:dPt>
          <c:dLbls>
            <c:dLbl>
              <c:idx val="0"/>
              <c:numFmt formatCode="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FF0000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Лист1!$J$2:$J$14</c:f>
              <c:numCache>
                <c:formatCode>0.0%</c:formatCode>
                <c:ptCount val="1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9585104"/>
        <c:axId val="339584544"/>
      </c:lineChart>
      <c:catAx>
        <c:axId val="2906124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9583984"/>
        <c:crosses val="autoZero"/>
        <c:auto val="1"/>
        <c:lblAlgn val="ctr"/>
        <c:lblOffset val="100"/>
        <c:noMultiLvlLbl val="0"/>
      </c:catAx>
      <c:valAx>
        <c:axId val="339583984"/>
        <c:scaling>
          <c:orientation val="minMax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290612400"/>
        <c:crosses val="autoZero"/>
        <c:crossBetween val="between"/>
      </c:valAx>
      <c:valAx>
        <c:axId val="339584544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9585104"/>
        <c:crosses val="max"/>
        <c:crossBetween val="between"/>
      </c:valAx>
      <c:catAx>
        <c:axId val="3395851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39584544"/>
        <c:crosses val="autoZero"/>
        <c:auto val="1"/>
        <c:lblAlgn val="ctr"/>
        <c:lblOffset val="100"/>
        <c:noMultiLvlLbl val="0"/>
      </c:catAx>
    </c:plotArea>
    <c:legend>
      <c:legendPos val="r"/>
      <c:layout>
        <c:manualLayout>
          <c:xMode val="edge"/>
          <c:yMode val="edge"/>
          <c:x val="0.74332521871260671"/>
          <c:y val="1.4015471167369901E-2"/>
          <c:w val="0.2514137066735489"/>
          <c:h val="0.97196905766526021"/>
        </c:manualLayout>
      </c:layout>
      <c:overlay val="0"/>
      <c:txPr>
        <a:bodyPr/>
        <a:lstStyle/>
        <a:p>
          <a:pPr>
            <a:defRPr sz="6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solidFill>
                  <a:schemeClr val="bg2"/>
                </a:solidFill>
              </a:defRPr>
            </a:pP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НПВ с начала года </a:t>
            </a:r>
            <a:r>
              <a:rPr lang="en-US" sz="800" b="1" i="0" baseline="0" dirty="0" smtClean="0">
                <a:solidFill>
                  <a:schemeClr val="bg2"/>
                </a:solidFill>
                <a:effectLst/>
              </a:rPr>
              <a:t>percent</a:t>
            </a: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 %</a:t>
            </a:r>
            <a:endParaRPr lang="ru-RU" sz="800" dirty="0">
              <a:solidFill>
                <a:schemeClr val="bg2"/>
              </a:solidFill>
              <a:effectLst/>
            </a:endParaRPr>
          </a:p>
        </c:rich>
      </c:tx>
      <c:layout>
        <c:manualLayout>
          <c:xMode val="edge"/>
          <c:yMode val="edge"/>
          <c:x val="0.26713495045173297"/>
          <c:y val="4.087670884558300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531621308185359"/>
          <c:y val="0.11857263038805113"/>
          <c:w val="0.84617230980494385"/>
          <c:h val="0.69588935608320657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Лист1!$D$1</c:f>
              <c:strCache>
                <c:ptCount val="1"/>
                <c:pt idx="0">
                  <c:v>аварии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геологические 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ликв. брака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простои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General</c:formatCode>
                <c:ptCount val="12"/>
              </c:numCache>
            </c:numRef>
          </c:val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простои (метео)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ремонты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39592944"/>
        <c:axId val="339593504"/>
      </c:barChar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last год</c:v>
                </c:pt>
              </c:strCache>
            </c:strRef>
          </c:tx>
          <c:spPr>
            <a:ln w="19050"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003669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003669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НПВ</c:v>
                </c:pt>
              </c:strCache>
            </c:strRef>
          </c:tx>
          <c:spPr>
            <a:ln w="19050">
              <a:solidFill>
                <a:srgbClr val="848EA4"/>
              </a:solidFill>
            </a:ln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Лист1!$C$3:$C$13</c:f>
              <c:numCache>
                <c:formatCode>General</c:formatCode>
                <c:ptCount val="11"/>
              </c:numCache>
            </c:numRef>
          </c:val>
          <c:smooth val="0"/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 w="19050">
              <a:solidFill>
                <a:srgbClr val="FF0000"/>
              </a:solidFill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FF0000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Лист1!$K$2:$K$13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НПВ из СМБ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Лист1!$L$2:$L$13</c:f>
              <c:numCache>
                <c:formatCode>General</c:formatCode>
                <c:ptCount val="12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9592944"/>
        <c:axId val="339593504"/>
      </c:lineChart>
      <c:catAx>
        <c:axId val="3395929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9593504"/>
        <c:crosses val="autoZero"/>
        <c:auto val="1"/>
        <c:lblAlgn val="ctr"/>
        <c:lblOffset val="100"/>
        <c:noMultiLvlLbl val="0"/>
      </c:catAx>
      <c:valAx>
        <c:axId val="339593504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95929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Легенда:</a:t>
            </a:r>
          </a:p>
        </c:rich>
      </c:tx>
      <c:layout>
        <c:manualLayout>
          <c:xMode val="edge"/>
          <c:yMode val="edge"/>
          <c:x val="0.36469777777777779"/>
          <c:y val="0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0.13826925925925926"/>
          <c:y val="0.12879188712522047"/>
          <c:w val="0.80998999999999999"/>
          <c:h val="1.6314071525389228E-2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Лист1!$D$1</c:f>
              <c:strCache>
                <c:ptCount val="1"/>
                <c:pt idx="0">
                  <c:v>аварии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геологические 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ликв. брака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простои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General</c:formatCode>
                <c:ptCount val="12"/>
              </c:numCache>
            </c:numRef>
          </c:val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простои (метео)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ремонты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39601344"/>
        <c:axId val="339601904"/>
      </c:barChar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last год</c:v>
                </c:pt>
              </c:strCache>
            </c:strRef>
          </c:tx>
          <c:spPr>
            <a:ln w="19050">
              <a:solidFill>
                <a:schemeClr val="accent1"/>
              </a:solidFill>
              <a:prstDash val="dash"/>
            </a:ln>
          </c:spPr>
          <c:marker>
            <c:symbol val="none"/>
          </c:marker>
          <c:dPt>
            <c:idx val="0"/>
            <c:bubble3D val="0"/>
          </c:dPt>
          <c:dPt>
            <c:idx val="1"/>
            <c:bubble3D val="0"/>
          </c:dPt>
          <c:dPt>
            <c:idx val="13"/>
            <c:bubble3D val="0"/>
          </c:dPt>
          <c:dLbls>
            <c:dLbl>
              <c:idx val="11"/>
              <c:layout>
                <c:manualLayout>
                  <c:x val="-3.2925925925925928E-2"/>
                  <c:y val="-3.57671202398851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Итого НПВ</c:v>
                </c:pt>
              </c:strCache>
            </c:strRef>
          </c:tx>
          <c:spPr>
            <a:ln w="19050">
              <a:solidFill>
                <a:schemeClr val="bg1">
                  <a:lumMod val="65000"/>
                </a:schemeClr>
              </a:solidFill>
            </a:ln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 w="19050">
              <a:solidFill>
                <a:srgbClr val="FF0000"/>
              </a:solidFill>
              <a:prstDash val="dash"/>
            </a:ln>
          </c:spPr>
          <c:marker>
            <c:symbol val="none"/>
          </c:marker>
          <c:dLbls>
            <c:dLbl>
              <c:idx val="11"/>
              <c:layout>
                <c:manualLayout>
                  <c:x val="-3.2925925925925928E-2"/>
                  <c:y val="-3.06575316341872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Лист1!$K$2:$K$13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НПВ из СМБ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Лист1!$L$2:$L$13</c:f>
              <c:numCache>
                <c:formatCode>General</c:formatCode>
                <c:ptCount val="12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9601344"/>
        <c:axId val="339601904"/>
      </c:lineChart>
      <c:catAx>
        <c:axId val="339601344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339601904"/>
        <c:crosses val="autoZero"/>
        <c:auto val="1"/>
        <c:lblAlgn val="ctr"/>
        <c:lblOffset val="100"/>
        <c:noMultiLvlLbl val="0"/>
      </c:catAx>
      <c:valAx>
        <c:axId val="339601904"/>
        <c:scaling>
          <c:orientation val="minMax"/>
        </c:scaling>
        <c:delete val="1"/>
        <c:axPos val="l"/>
        <c:majorGridlines>
          <c:spPr>
            <a:ln>
              <a:noFill/>
            </a:ln>
          </c:spPr>
        </c:majorGridlines>
        <c:numFmt formatCode="0%" sourceLinked="0"/>
        <c:majorTickMark val="out"/>
        <c:minorTickMark val="none"/>
        <c:tickLblPos val="nextTo"/>
        <c:crossAx val="339601344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5.174074074074074E-2"/>
          <c:y val="0.13349705474461512"/>
          <c:w val="0.90696814814814819"/>
          <c:h val="0.8413911277425314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100"/>
      </a:pPr>
      <a:endParaRPr lang="ru-RU"/>
    </a:p>
  </c:tx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solidFill>
                  <a:schemeClr val="bg2"/>
                </a:solidFill>
              </a:defRPr>
            </a:pP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НПВ с начала года </a:t>
            </a:r>
            <a:r>
              <a:rPr lang="en-US" sz="800" b="1" i="0" baseline="0" dirty="0" smtClean="0">
                <a:solidFill>
                  <a:schemeClr val="bg2"/>
                </a:solidFill>
                <a:effectLst/>
              </a:rPr>
              <a:t>percent</a:t>
            </a: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 %</a:t>
            </a:r>
            <a:endParaRPr lang="ru-RU" sz="800" dirty="0">
              <a:solidFill>
                <a:schemeClr val="bg2"/>
              </a:solidFill>
              <a:effectLst/>
            </a:endParaRPr>
          </a:p>
        </c:rich>
      </c:tx>
      <c:layout>
        <c:manualLayout>
          <c:xMode val="edge"/>
          <c:yMode val="edge"/>
          <c:x val="0.26713495045173297"/>
          <c:y val="4.087670884558300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531621308185359"/>
          <c:y val="0.11857263038805113"/>
          <c:w val="0.84617230980494385"/>
          <c:h val="0.69588935608320657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Лист1!$D$1</c:f>
              <c:strCache>
                <c:ptCount val="1"/>
                <c:pt idx="0">
                  <c:v>аварии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геологические 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ликв. брака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простои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General</c:formatCode>
                <c:ptCount val="12"/>
              </c:numCache>
            </c:numRef>
          </c:val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простои (метео)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ремонты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39609744"/>
        <c:axId val="339610304"/>
      </c:barChar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last год</c:v>
                </c:pt>
              </c:strCache>
            </c:strRef>
          </c:tx>
          <c:spPr>
            <a:ln w="19050"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003669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003669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НПВ</c:v>
                </c:pt>
              </c:strCache>
            </c:strRef>
          </c:tx>
          <c:spPr>
            <a:ln w="19050">
              <a:solidFill>
                <a:srgbClr val="848EA4"/>
              </a:solidFill>
            </a:ln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 w="19050">
              <a:solidFill>
                <a:srgbClr val="FF0000"/>
              </a:solidFill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FF0000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Лист1!$K$2:$K$13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НПВ из СМБ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Лист1!$L$2:$L$13</c:f>
              <c:numCache>
                <c:formatCode>General</c:formatCode>
                <c:ptCount val="12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9609744"/>
        <c:axId val="339610304"/>
      </c:lineChart>
      <c:catAx>
        <c:axId val="3396097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9610304"/>
        <c:crosses val="autoZero"/>
        <c:auto val="1"/>
        <c:lblAlgn val="ctr"/>
        <c:lblOffset val="100"/>
        <c:noMultiLvlLbl val="0"/>
      </c:catAx>
      <c:valAx>
        <c:axId val="339610304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960974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solidFill>
                  <a:schemeClr val="bg2"/>
                </a:solidFill>
              </a:defRPr>
            </a:pP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НПВ с начала года </a:t>
            </a:r>
            <a:r>
              <a:rPr lang="en-US" sz="800" b="1" i="0" baseline="0" dirty="0" smtClean="0">
                <a:solidFill>
                  <a:schemeClr val="bg2"/>
                </a:solidFill>
                <a:effectLst/>
              </a:rPr>
              <a:t>percent</a:t>
            </a: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 %</a:t>
            </a:r>
            <a:endParaRPr lang="ru-RU" sz="800" dirty="0">
              <a:solidFill>
                <a:schemeClr val="bg2"/>
              </a:solidFill>
              <a:effectLst/>
            </a:endParaRPr>
          </a:p>
        </c:rich>
      </c:tx>
      <c:layout>
        <c:manualLayout>
          <c:xMode val="edge"/>
          <c:yMode val="edge"/>
          <c:x val="0.26713495045173297"/>
          <c:y val="4.087670884558300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531621308185359"/>
          <c:y val="0.11857263038805113"/>
          <c:w val="0.84617230980494385"/>
          <c:h val="0.69588935608320657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Лист1!$D$1</c:f>
              <c:strCache>
                <c:ptCount val="1"/>
                <c:pt idx="0">
                  <c:v>аварии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геологические 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ликв. брака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простои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General</c:formatCode>
                <c:ptCount val="12"/>
              </c:numCache>
            </c:numRef>
          </c:val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простои (метео)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ремонты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0372096"/>
        <c:axId val="340372656"/>
      </c:barChar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last год</c:v>
                </c:pt>
              </c:strCache>
            </c:strRef>
          </c:tx>
          <c:spPr>
            <a:ln w="19050"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003669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003669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НПВ</c:v>
                </c:pt>
              </c:strCache>
            </c:strRef>
          </c:tx>
          <c:spPr>
            <a:ln w="19050">
              <a:solidFill>
                <a:srgbClr val="848EA4"/>
              </a:solidFill>
            </a:ln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 w="19050">
              <a:solidFill>
                <a:srgbClr val="FF0000"/>
              </a:solidFill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FF0000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Лист1!$K$2:$K$13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НПВ из СМБ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Лист1!$L$2:$L$13</c:f>
              <c:numCache>
                <c:formatCode>General</c:formatCode>
                <c:ptCount val="12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0372096"/>
        <c:axId val="340372656"/>
      </c:lineChart>
      <c:catAx>
        <c:axId val="3403720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40372656"/>
        <c:crosses val="autoZero"/>
        <c:auto val="1"/>
        <c:lblAlgn val="ctr"/>
        <c:lblOffset val="100"/>
        <c:noMultiLvlLbl val="0"/>
      </c:catAx>
      <c:valAx>
        <c:axId val="340372656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403720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solidFill>
                  <a:schemeClr val="bg2"/>
                </a:solidFill>
              </a:defRPr>
            </a:pP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НПВ с начала года </a:t>
            </a:r>
            <a:r>
              <a:rPr lang="en-US" sz="800" b="1" i="0" baseline="0" dirty="0" smtClean="0">
                <a:solidFill>
                  <a:schemeClr val="bg2"/>
                </a:solidFill>
                <a:effectLst/>
              </a:rPr>
              <a:t>percent</a:t>
            </a: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 %</a:t>
            </a:r>
            <a:endParaRPr lang="ru-RU" sz="800" dirty="0">
              <a:solidFill>
                <a:schemeClr val="bg2"/>
              </a:solidFill>
              <a:effectLst/>
            </a:endParaRPr>
          </a:p>
        </c:rich>
      </c:tx>
      <c:layout>
        <c:manualLayout>
          <c:xMode val="edge"/>
          <c:yMode val="edge"/>
          <c:x val="0.26713495045173297"/>
          <c:y val="4.087670884558300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531621308185359"/>
          <c:y val="0.11857263038805113"/>
          <c:w val="0.84617230980494385"/>
          <c:h val="0.69588935608320657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Лист1!$D$1</c:f>
              <c:strCache>
                <c:ptCount val="1"/>
                <c:pt idx="0">
                  <c:v>аварии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геологические 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ликв. брака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простои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General</c:formatCode>
                <c:ptCount val="12"/>
              </c:numCache>
            </c:numRef>
          </c:val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простои (метео)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ремонты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0380496"/>
        <c:axId val="340381056"/>
      </c:barChar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last год</c:v>
                </c:pt>
              </c:strCache>
            </c:strRef>
          </c:tx>
          <c:spPr>
            <a:ln w="19050"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003669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003669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НПВ</c:v>
                </c:pt>
              </c:strCache>
            </c:strRef>
          </c:tx>
          <c:spPr>
            <a:ln w="19050">
              <a:solidFill>
                <a:srgbClr val="848EA4"/>
              </a:solidFill>
            </a:ln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 w="19050">
              <a:solidFill>
                <a:srgbClr val="FF0000"/>
              </a:solidFill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FF0000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Лист1!$K$2:$K$13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НПВ из СМБ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Лист1!$L$2:$L$13</c:f>
              <c:numCache>
                <c:formatCode>General</c:formatCode>
                <c:ptCount val="12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0380496"/>
        <c:axId val="340381056"/>
      </c:lineChart>
      <c:catAx>
        <c:axId val="3403804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40381056"/>
        <c:crosses val="autoZero"/>
        <c:auto val="1"/>
        <c:lblAlgn val="ctr"/>
        <c:lblOffset val="100"/>
        <c:noMultiLvlLbl val="0"/>
      </c:catAx>
      <c:valAx>
        <c:axId val="340381056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403804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solidFill>
                  <a:schemeClr val="bg2"/>
                </a:solidFill>
              </a:defRPr>
            </a:pP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НПВ с начала года </a:t>
            </a:r>
            <a:r>
              <a:rPr lang="en-US" sz="800" b="1" i="0" baseline="0" dirty="0" smtClean="0">
                <a:solidFill>
                  <a:schemeClr val="bg2"/>
                </a:solidFill>
                <a:effectLst/>
              </a:rPr>
              <a:t>percent</a:t>
            </a: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 %</a:t>
            </a:r>
            <a:endParaRPr lang="ru-RU" sz="800" dirty="0">
              <a:solidFill>
                <a:schemeClr val="bg2"/>
              </a:solidFill>
              <a:effectLst/>
            </a:endParaRPr>
          </a:p>
        </c:rich>
      </c:tx>
      <c:layout>
        <c:manualLayout>
          <c:xMode val="edge"/>
          <c:yMode val="edge"/>
          <c:x val="0.26713495045173297"/>
          <c:y val="4.087670884558300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531621308185359"/>
          <c:y val="0.11857263038805113"/>
          <c:w val="0.84617230980494385"/>
          <c:h val="0.69588935608320657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Лист1!$D$1</c:f>
              <c:strCache>
                <c:ptCount val="1"/>
                <c:pt idx="0">
                  <c:v>аварии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геологические 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ликв. брака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простои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General</c:formatCode>
                <c:ptCount val="12"/>
              </c:numCache>
            </c:numRef>
          </c:val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простои (метео)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ремонты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0388896"/>
        <c:axId val="340389456"/>
      </c:barChar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last год</c:v>
                </c:pt>
              </c:strCache>
            </c:strRef>
          </c:tx>
          <c:spPr>
            <a:ln w="19050"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003669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003669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НПВ</c:v>
                </c:pt>
              </c:strCache>
            </c:strRef>
          </c:tx>
          <c:spPr>
            <a:ln w="19050">
              <a:solidFill>
                <a:srgbClr val="848EA4"/>
              </a:solidFill>
            </a:ln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 w="19050">
              <a:solidFill>
                <a:srgbClr val="FF0000"/>
              </a:solidFill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FF0000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Лист1!$K$2:$K$13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НПВ из СМБ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Лист1!$L$2:$L$13</c:f>
              <c:numCache>
                <c:formatCode>General</c:formatCode>
                <c:ptCount val="12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0388896"/>
        <c:axId val="340389456"/>
      </c:lineChart>
      <c:catAx>
        <c:axId val="3403888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40389456"/>
        <c:crosses val="autoZero"/>
        <c:auto val="1"/>
        <c:lblAlgn val="ctr"/>
        <c:lblOffset val="100"/>
        <c:noMultiLvlLbl val="0"/>
      </c:catAx>
      <c:valAx>
        <c:axId val="340389456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403888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solidFill>
                  <a:schemeClr val="bg2"/>
                </a:solidFill>
              </a:defRPr>
            </a:pP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НПВ с начала года </a:t>
            </a:r>
            <a:r>
              <a:rPr lang="en-US" sz="800" b="1" i="0" baseline="0" dirty="0" smtClean="0">
                <a:solidFill>
                  <a:schemeClr val="bg2"/>
                </a:solidFill>
                <a:effectLst/>
              </a:rPr>
              <a:t>percent</a:t>
            </a: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 %</a:t>
            </a:r>
            <a:endParaRPr lang="ru-RU" sz="800" dirty="0">
              <a:solidFill>
                <a:schemeClr val="bg2"/>
              </a:solidFill>
              <a:effectLst/>
            </a:endParaRPr>
          </a:p>
        </c:rich>
      </c:tx>
      <c:layout>
        <c:manualLayout>
          <c:xMode val="edge"/>
          <c:yMode val="edge"/>
          <c:x val="0.26713495045173297"/>
          <c:y val="4.087670884558300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531621308185359"/>
          <c:y val="0.11857263038805113"/>
          <c:w val="0.84617230980494385"/>
          <c:h val="0.69588935608320657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Лист1!$D$1</c:f>
              <c:strCache>
                <c:ptCount val="1"/>
                <c:pt idx="0">
                  <c:v>аварии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геологические 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ликв. брака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простои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General</c:formatCode>
                <c:ptCount val="12"/>
              </c:numCache>
            </c:numRef>
          </c:val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простои (метео)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ремонты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0397296"/>
        <c:axId val="340397856"/>
      </c:barChar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last год</c:v>
                </c:pt>
              </c:strCache>
            </c:strRef>
          </c:tx>
          <c:spPr>
            <a:ln w="19050"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003669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003669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НПВ</c:v>
                </c:pt>
              </c:strCache>
            </c:strRef>
          </c:tx>
          <c:spPr>
            <a:ln w="19050">
              <a:solidFill>
                <a:srgbClr val="848EA4"/>
              </a:solidFill>
            </a:ln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 w="19050">
              <a:solidFill>
                <a:srgbClr val="FF0000"/>
              </a:solidFill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FF0000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Лист1!$K$2:$K$13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НПВ из СМБ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Лист1!$L$2:$L$13</c:f>
              <c:numCache>
                <c:formatCode>General</c:formatCode>
                <c:ptCount val="12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0397296"/>
        <c:axId val="340397856"/>
      </c:lineChart>
      <c:catAx>
        <c:axId val="3403972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40397856"/>
        <c:crosses val="autoZero"/>
        <c:auto val="1"/>
        <c:lblAlgn val="ctr"/>
        <c:lblOffset val="100"/>
        <c:noMultiLvlLbl val="0"/>
      </c:catAx>
      <c:valAx>
        <c:axId val="340397856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40397296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/>
              <a:t>Легенда:</a:t>
            </a:r>
          </a:p>
        </c:rich>
      </c:tx>
      <c:layout>
        <c:manualLayout>
          <c:xMode val="edge"/>
          <c:yMode val="edge"/>
          <c:x val="0.36469777777777779"/>
          <c:y val="0"/>
        </c:manualLayout>
      </c:layout>
      <c:overlay val="1"/>
    </c:title>
    <c:autoTitleDeleted val="0"/>
    <c:plotArea>
      <c:layout>
        <c:manualLayout>
          <c:layoutTarget val="inner"/>
          <c:xMode val="edge"/>
          <c:yMode val="edge"/>
          <c:x val="0.13826925925925926"/>
          <c:y val="0.12879188712522047"/>
          <c:w val="0.80998999999999999"/>
          <c:h val="1.6314071525389228E-2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Лист1!$D$1</c:f>
              <c:strCache>
                <c:ptCount val="1"/>
                <c:pt idx="0">
                  <c:v>аварии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геологические 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ликв. брака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простои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General</c:formatCode>
                <c:ptCount val="12"/>
              </c:numCache>
            </c:numRef>
          </c:val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простои (метео)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ремонты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37877712"/>
        <c:axId val="337878272"/>
      </c:barChar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last год</c:v>
                </c:pt>
              </c:strCache>
            </c:strRef>
          </c:tx>
          <c:spPr>
            <a:ln w="19050">
              <a:solidFill>
                <a:schemeClr val="accent1"/>
              </a:solidFill>
              <a:prstDash val="dash"/>
            </a:ln>
          </c:spPr>
          <c:marker>
            <c:symbol val="none"/>
          </c:marker>
          <c:dPt>
            <c:idx val="0"/>
            <c:bubble3D val="0"/>
          </c:dPt>
          <c:dPt>
            <c:idx val="1"/>
            <c:bubble3D val="0"/>
          </c:dPt>
          <c:dPt>
            <c:idx val="13"/>
            <c:bubble3D val="0"/>
          </c:dPt>
          <c:dLbls>
            <c:dLbl>
              <c:idx val="11"/>
              <c:layout>
                <c:manualLayout>
                  <c:x val="-3.2925925925925928E-2"/>
                  <c:y val="-3.576712023988512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Итого НПВ</c:v>
                </c:pt>
              </c:strCache>
            </c:strRef>
          </c:tx>
          <c:spPr>
            <a:ln w="19050">
              <a:solidFill>
                <a:schemeClr val="bg1">
                  <a:lumMod val="65000"/>
                </a:schemeClr>
              </a:solidFill>
            </a:ln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 w="19050">
              <a:solidFill>
                <a:srgbClr val="FF0000"/>
              </a:solidFill>
              <a:prstDash val="dash"/>
            </a:ln>
          </c:spPr>
          <c:marker>
            <c:symbol val="none"/>
          </c:marker>
          <c:dLbls>
            <c:dLbl>
              <c:idx val="11"/>
              <c:layout>
                <c:manualLayout>
                  <c:x val="-3.2925925925925928E-2"/>
                  <c:y val="-3.065753163418725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Лист1!$K$2:$K$13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НПВ из СМБ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Лист1!$L$2:$L$13</c:f>
              <c:numCache>
                <c:formatCode>General</c:formatCode>
                <c:ptCount val="12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7877712"/>
        <c:axId val="337878272"/>
      </c:lineChart>
      <c:catAx>
        <c:axId val="33787771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nextTo"/>
        <c:crossAx val="337878272"/>
        <c:crosses val="autoZero"/>
        <c:auto val="1"/>
        <c:lblAlgn val="ctr"/>
        <c:lblOffset val="100"/>
        <c:noMultiLvlLbl val="0"/>
      </c:catAx>
      <c:valAx>
        <c:axId val="337878272"/>
        <c:scaling>
          <c:orientation val="minMax"/>
        </c:scaling>
        <c:delete val="1"/>
        <c:axPos val="l"/>
        <c:majorGridlines>
          <c:spPr>
            <a:ln>
              <a:noFill/>
            </a:ln>
          </c:spPr>
        </c:majorGridlines>
        <c:numFmt formatCode="0%" sourceLinked="0"/>
        <c:majorTickMark val="out"/>
        <c:minorTickMark val="none"/>
        <c:tickLblPos val="nextTo"/>
        <c:crossAx val="337877712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5.174074074074074E-2"/>
          <c:y val="0.13349705474461512"/>
          <c:w val="0.90696814814814819"/>
          <c:h val="0.84139112774253144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100"/>
      </a:pPr>
      <a:endParaRPr lang="ru-RU"/>
    </a:p>
  </c:tx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solidFill>
                  <a:schemeClr val="bg2"/>
                </a:solidFill>
              </a:defRPr>
            </a:pP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НПВ с начала года </a:t>
            </a:r>
            <a:r>
              <a:rPr lang="en-US" sz="800" b="1" i="0" baseline="0" dirty="0" smtClean="0">
                <a:solidFill>
                  <a:schemeClr val="bg2"/>
                </a:solidFill>
                <a:effectLst/>
              </a:rPr>
              <a:t>percent</a:t>
            </a: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 %</a:t>
            </a:r>
            <a:endParaRPr lang="ru-RU" sz="800" dirty="0">
              <a:solidFill>
                <a:schemeClr val="bg2"/>
              </a:solidFill>
              <a:effectLst/>
            </a:endParaRPr>
          </a:p>
        </c:rich>
      </c:tx>
      <c:layout>
        <c:manualLayout>
          <c:xMode val="edge"/>
          <c:yMode val="edge"/>
          <c:x val="0.26713495045173297"/>
          <c:y val="4.087670884558300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531621308185359"/>
          <c:y val="0.11857263038805113"/>
          <c:w val="0.84617230980494385"/>
          <c:h val="0.69588935608320657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Лист1!$D$1</c:f>
              <c:strCache>
                <c:ptCount val="1"/>
                <c:pt idx="0">
                  <c:v>аварии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геологические 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ликв. брака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простои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General</c:formatCode>
                <c:ptCount val="12"/>
              </c:numCache>
            </c:numRef>
          </c:val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простои (метео)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ремонты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37886112"/>
        <c:axId val="337886672"/>
      </c:barChar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last год</c:v>
                </c:pt>
              </c:strCache>
            </c:strRef>
          </c:tx>
          <c:spPr>
            <a:ln w="19050"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003669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003669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НПВ</c:v>
                </c:pt>
              </c:strCache>
            </c:strRef>
          </c:tx>
          <c:spPr>
            <a:ln w="19050">
              <a:solidFill>
                <a:srgbClr val="848EA4"/>
              </a:solidFill>
            </a:ln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 w="19050">
              <a:solidFill>
                <a:srgbClr val="FF0000"/>
              </a:solidFill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FF0000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Лист1!$K$2:$K$13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НПВ из СМБ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Лист1!$L$2:$L$13</c:f>
              <c:numCache>
                <c:formatCode>General</c:formatCode>
                <c:ptCount val="12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7886112"/>
        <c:axId val="337886672"/>
      </c:lineChart>
      <c:catAx>
        <c:axId val="3378861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7886672"/>
        <c:crosses val="autoZero"/>
        <c:auto val="1"/>
        <c:lblAlgn val="ctr"/>
        <c:lblOffset val="100"/>
        <c:noMultiLvlLbl val="0"/>
      </c:catAx>
      <c:valAx>
        <c:axId val="337886672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78861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solidFill>
                  <a:schemeClr val="bg2"/>
                </a:solidFill>
              </a:defRPr>
            </a:pP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НПВ с начала года </a:t>
            </a:r>
            <a:r>
              <a:rPr lang="en-US" sz="800" b="1" i="0" baseline="0" dirty="0" smtClean="0">
                <a:solidFill>
                  <a:schemeClr val="bg2"/>
                </a:solidFill>
                <a:effectLst/>
              </a:rPr>
              <a:t>percent</a:t>
            </a: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 %</a:t>
            </a:r>
            <a:endParaRPr lang="ru-RU" sz="800" dirty="0">
              <a:solidFill>
                <a:schemeClr val="bg2"/>
              </a:solidFill>
              <a:effectLst/>
            </a:endParaRPr>
          </a:p>
        </c:rich>
      </c:tx>
      <c:layout>
        <c:manualLayout>
          <c:xMode val="edge"/>
          <c:yMode val="edge"/>
          <c:x val="0.26713495045173297"/>
          <c:y val="4.087670884558300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531621308185359"/>
          <c:y val="0.11857263038805113"/>
          <c:w val="0.84617230980494385"/>
          <c:h val="0.69588935608320657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Лист1!$D$1</c:f>
              <c:strCache>
                <c:ptCount val="1"/>
                <c:pt idx="0">
                  <c:v>аварии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геологические 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ликв. брака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простои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General</c:formatCode>
                <c:ptCount val="12"/>
              </c:numCache>
            </c:numRef>
          </c:val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простои (метео)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ремонты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37894512"/>
        <c:axId val="337895072"/>
      </c:barChar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last год</c:v>
                </c:pt>
              </c:strCache>
            </c:strRef>
          </c:tx>
          <c:spPr>
            <a:ln w="19050"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003669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003669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НПВ</c:v>
                </c:pt>
              </c:strCache>
            </c:strRef>
          </c:tx>
          <c:spPr>
            <a:ln w="19050">
              <a:solidFill>
                <a:srgbClr val="848EA4"/>
              </a:solidFill>
            </a:ln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 w="19050">
              <a:solidFill>
                <a:srgbClr val="FF0000"/>
              </a:solidFill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FF0000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Лист1!$K$2:$K$13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НПВ из СМБ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Лист1!$L$2:$L$13</c:f>
              <c:numCache>
                <c:formatCode>General</c:formatCode>
                <c:ptCount val="12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7894512"/>
        <c:axId val="337895072"/>
      </c:lineChart>
      <c:catAx>
        <c:axId val="3378945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7895072"/>
        <c:crosses val="autoZero"/>
        <c:auto val="1"/>
        <c:lblAlgn val="ctr"/>
        <c:lblOffset val="100"/>
        <c:noMultiLvlLbl val="0"/>
      </c:catAx>
      <c:valAx>
        <c:axId val="337895072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78945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solidFill>
                  <a:schemeClr val="bg2"/>
                </a:solidFill>
              </a:defRPr>
            </a:pP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НПВ с начала года </a:t>
            </a:r>
            <a:r>
              <a:rPr lang="en-US" sz="800" b="1" i="0" baseline="0" dirty="0" smtClean="0">
                <a:solidFill>
                  <a:schemeClr val="bg2"/>
                </a:solidFill>
                <a:effectLst/>
              </a:rPr>
              <a:t>percent</a:t>
            </a: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 %</a:t>
            </a:r>
            <a:endParaRPr lang="ru-RU" sz="800" dirty="0">
              <a:solidFill>
                <a:schemeClr val="bg2"/>
              </a:solidFill>
              <a:effectLst/>
            </a:endParaRPr>
          </a:p>
        </c:rich>
      </c:tx>
      <c:layout>
        <c:manualLayout>
          <c:xMode val="edge"/>
          <c:yMode val="edge"/>
          <c:x val="0.26713495045173297"/>
          <c:y val="4.087670884558300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531621308185359"/>
          <c:y val="0.11857263038805113"/>
          <c:w val="0.84617230980494385"/>
          <c:h val="0.69588935608320657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Лист1!$D$1</c:f>
              <c:strCache>
                <c:ptCount val="1"/>
                <c:pt idx="0">
                  <c:v>аварии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геологические 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ликв. брака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простои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General</c:formatCode>
                <c:ptCount val="12"/>
              </c:numCache>
            </c:numRef>
          </c:val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простои (метео)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ремонты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37902912"/>
        <c:axId val="337903472"/>
      </c:barChar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last год</c:v>
                </c:pt>
              </c:strCache>
            </c:strRef>
          </c:tx>
          <c:spPr>
            <a:ln w="19050"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003669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003669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НПВ</c:v>
                </c:pt>
              </c:strCache>
            </c:strRef>
          </c:tx>
          <c:spPr>
            <a:ln w="19050">
              <a:solidFill>
                <a:srgbClr val="848EA4"/>
              </a:solidFill>
            </a:ln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 w="19050">
              <a:solidFill>
                <a:srgbClr val="FF0000"/>
              </a:solidFill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FF0000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Лист1!$K$2:$K$13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НПВ из СМБ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Лист1!$L$2:$L$13</c:f>
              <c:numCache>
                <c:formatCode>General</c:formatCode>
                <c:ptCount val="12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7902912"/>
        <c:axId val="337903472"/>
      </c:lineChart>
      <c:catAx>
        <c:axId val="3379029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7903472"/>
        <c:crosses val="autoZero"/>
        <c:auto val="1"/>
        <c:lblAlgn val="ctr"/>
        <c:lblOffset val="100"/>
        <c:noMultiLvlLbl val="0"/>
      </c:catAx>
      <c:valAx>
        <c:axId val="337903472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79029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>
                <a:solidFill>
                  <a:schemeClr val="bg2"/>
                </a:solidFill>
              </a:defRPr>
            </a:pP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НПВ с начала года </a:t>
            </a:r>
            <a:r>
              <a:rPr lang="en-US" sz="800" b="1" i="0" baseline="0" dirty="0" smtClean="0">
                <a:solidFill>
                  <a:schemeClr val="bg2"/>
                </a:solidFill>
                <a:effectLst/>
              </a:rPr>
              <a:t>percent</a:t>
            </a:r>
            <a:r>
              <a:rPr lang="ru-RU" sz="800" b="1" i="0" baseline="0" dirty="0" smtClean="0">
                <a:solidFill>
                  <a:schemeClr val="bg2"/>
                </a:solidFill>
                <a:effectLst/>
              </a:rPr>
              <a:t> %</a:t>
            </a:r>
            <a:endParaRPr lang="ru-RU" sz="800" dirty="0">
              <a:solidFill>
                <a:schemeClr val="bg2"/>
              </a:solidFill>
              <a:effectLst/>
            </a:endParaRPr>
          </a:p>
        </c:rich>
      </c:tx>
      <c:layout>
        <c:manualLayout>
          <c:xMode val="edge"/>
          <c:yMode val="edge"/>
          <c:x val="0.26713495045173297"/>
          <c:y val="4.087670884558300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11531621308185359"/>
          <c:y val="0.11857263038805113"/>
          <c:w val="0.84617230980494385"/>
          <c:h val="0.69588935608320657"/>
        </c:manualLayout>
      </c:layout>
      <c:barChart>
        <c:barDir val="col"/>
        <c:grouping val="stacked"/>
        <c:varyColors val="0"/>
        <c:ser>
          <c:idx val="2"/>
          <c:order val="2"/>
          <c:tx>
            <c:strRef>
              <c:f>Лист1!$D$1</c:f>
              <c:strCache>
                <c:ptCount val="1"/>
                <c:pt idx="0">
                  <c:v>аварии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</c:ser>
        <c:ser>
          <c:idx val="4"/>
          <c:order val="4"/>
          <c:tx>
            <c:strRef>
              <c:f>Лист1!$F$1</c:f>
              <c:strCache>
                <c:ptCount val="1"/>
                <c:pt idx="0">
                  <c:v>геологические осложнения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General</c:formatCode>
                <c:ptCount val="12"/>
              </c:numCache>
            </c:numRef>
          </c:val>
        </c:ser>
        <c:ser>
          <c:idx val="5"/>
          <c:order val="5"/>
          <c:tx>
            <c:strRef>
              <c:f>Лист1!$G$1</c:f>
              <c:strCache>
                <c:ptCount val="1"/>
                <c:pt idx="0">
                  <c:v>ликв. брака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</c:ser>
        <c:ser>
          <c:idx val="6"/>
          <c:order val="6"/>
          <c:tx>
            <c:strRef>
              <c:f>Лист1!$H$1</c:f>
              <c:strCache>
                <c:ptCount val="1"/>
                <c:pt idx="0">
                  <c:v>простои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General</c:formatCode>
                <c:ptCount val="12"/>
              </c:numCache>
            </c:numRef>
          </c:val>
        </c:ser>
        <c:ser>
          <c:idx val="7"/>
          <c:order val="7"/>
          <c:tx>
            <c:strRef>
              <c:f>Лист1!$I$1</c:f>
              <c:strCache>
                <c:ptCount val="1"/>
                <c:pt idx="0">
                  <c:v>простои (метео)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General</c:formatCode>
                <c:ptCount val="12"/>
              </c:numCache>
            </c:numRef>
          </c:val>
        </c:ser>
        <c:ser>
          <c:idx val="8"/>
          <c:order val="8"/>
          <c:tx>
            <c:strRef>
              <c:f>Лист1!$J$1</c:f>
              <c:strCache>
                <c:ptCount val="1"/>
                <c:pt idx="0">
                  <c:v>ремонты</c:v>
                </c:pt>
              </c:strCache>
            </c:strRef>
          </c:tx>
          <c:invertIfNegative val="0"/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General</c:formatCode>
                <c:ptCount val="1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17194512"/>
        <c:axId val="317195072"/>
      </c:barChart>
      <c:lineChart>
        <c:grouping val="standar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last год</c:v>
                </c:pt>
              </c:strCache>
            </c:strRef>
          </c:tx>
          <c:spPr>
            <a:ln w="19050"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003669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>
                    <a:solidFill>
                      <a:srgbClr val="003669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НПВ</c:v>
                </c:pt>
              </c:strCache>
            </c:strRef>
          </c:tx>
          <c:spPr>
            <a:ln w="19050">
              <a:solidFill>
                <a:srgbClr val="848EA4"/>
              </a:solidFill>
            </a:ln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9"/>
          <c:order val="9"/>
          <c:tx>
            <c:strRef>
              <c:f>Лист1!$K$1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 w="19050">
              <a:solidFill>
                <a:srgbClr val="FF0000"/>
              </a:solidFill>
              <a:prstDash val="dash"/>
            </a:ln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</c:extLst>
            </c:dLbl>
            <c:dLbl>
              <c:idx val="1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wrap="square" lIns="38100" tIns="19050" rIns="38100" bIns="19050" anchor="ctr">
                  <a:spAutoFit/>
                </a:bodyPr>
                <a:lstStyle/>
                <a:p>
                  <a:pPr>
                    <a:defRPr sz="600" b="1">
                      <a:solidFill>
                        <a:srgbClr val="FF0000"/>
                      </a:solidFill>
                    </a:defRPr>
                  </a:pPr>
                  <a:endParaRPr lang="ru-RU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%" sourceLinked="0"/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Лист1!$K$2:$K$13</c:f>
              <c:numCache>
                <c:formatCode>General</c:formatCode>
                <c:ptCount val="12"/>
              </c:numCache>
            </c:numRef>
          </c:val>
          <c:smooth val="0"/>
        </c:ser>
        <c:ser>
          <c:idx val="10"/>
          <c:order val="10"/>
          <c:tx>
            <c:strRef>
              <c:f>Лист1!$L$1</c:f>
              <c:strCache>
                <c:ptCount val="1"/>
                <c:pt idx="0">
                  <c:v>НПВ из СМБ</c:v>
                </c:pt>
              </c:strCache>
            </c:strRef>
          </c:tx>
          <c:spPr>
            <a:ln w="19050"/>
          </c:spPr>
          <c:marker>
            <c:symbol val="none"/>
          </c:marker>
          <c:cat>
            <c:strRef>
              <c:f>Лист1!$A$2:$A$13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Лист1!$L$2:$L$13</c:f>
              <c:numCache>
                <c:formatCode>General</c:formatCode>
                <c:ptCount val="12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7194512"/>
        <c:axId val="317195072"/>
      </c:lineChart>
      <c:catAx>
        <c:axId val="3171945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17195072"/>
        <c:crosses val="autoZero"/>
        <c:auto val="1"/>
        <c:lblAlgn val="ctr"/>
        <c:lblOffset val="100"/>
        <c:noMultiLvlLbl val="0"/>
      </c:catAx>
      <c:valAx>
        <c:axId val="317195072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1719451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4319906726323154E-2"/>
          <c:y val="4.7524384436442878E-2"/>
          <c:w val="0.9085539948872553"/>
          <c:h val="0.71139173721337357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Лист1!$A$4</c:f>
              <c:strCache>
                <c:ptCount val="1"/>
                <c:pt idx="0">
                  <c:v>Прирост добычи БП </c:v>
                </c:pt>
              </c:strCache>
            </c:strRef>
          </c:tx>
          <c:spPr>
            <a:solidFill>
              <a:schemeClr val="bg1">
                <a:lumMod val="75000"/>
                <a:alpha val="70000"/>
              </a:schemeClr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bg1">
                  <a:lumMod val="75000"/>
                  <a:alpha val="70000"/>
                </a:schemeClr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Лист1!$B$4:$M$4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Лист1!$A$5</c:f>
              <c:strCache>
                <c:ptCount val="1"/>
                <c:pt idx="0">
                  <c:v>Прирост добычи Факт/Прогноз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dash"/>
              </a:ln>
            </c:spPr>
          </c:dPt>
          <c:dPt>
            <c:idx val="7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Лист1!$B$5:$M$5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7200672"/>
        <c:axId val="317200112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Ввод скв. БП</c:v>
                </c:pt>
              </c:strCache>
            </c:strRef>
          </c:tx>
          <c:spPr>
            <a:ln w="25400">
              <a:solidFill>
                <a:schemeClr val="tx1"/>
              </a:solidFill>
              <a:prstDash val="solid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2845797720797718E-2"/>
                  <c:y val="3.19901194640391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5.7972578347578345E-2"/>
                  <c:y val="4.24933278974397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5.7259615384615388E-2"/>
                  <c:y val="4.286761657764819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/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Лист1!$B$2:$M$2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Ввод скв. Факт/Прогноз</c:v>
                </c:pt>
              </c:strCache>
            </c:strRef>
          </c:tx>
          <c:spPr>
            <a:ln w="25400">
              <a:solidFill>
                <a:schemeClr val="accent3"/>
              </a:solidFill>
              <a:prstDash val="solid"/>
            </a:ln>
          </c:spPr>
          <c:marker>
            <c:symbol val="square"/>
            <c:size val="3"/>
            <c:spPr>
              <a:solidFill>
                <a:schemeClr val="accent3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497008547008547E-2"/>
                  <c:y val="-4.819245118830232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dLbl>
              <c:idx val="1"/>
              <c:layout>
                <c:manualLayout>
                  <c:x val="-6.0205840455840459E-2"/>
                  <c:y val="-4.85667398685107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dLbl>
              <c:idx val="2"/>
              <c:layout>
                <c:manualLayout>
                  <c:x val="-5.5798789173789172E-2"/>
                  <c:y val="-5.030371342334533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 xmlns:c15="http://schemas.microsoft.com/office/drawing/2012/chart" xmlns:c14="http://schemas.microsoft.com/office/drawing/2007/8/2/chart" xmlns:mc="http://schemas.openxmlformats.org/markup-compatibility/2006"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>
                    <a:solidFill>
                      <a:schemeClr val="accent3">
                        <a:lumMod val="75000"/>
                      </a:schemeClr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 xmlns:c14="http://schemas.microsoft.com/office/drawing/2007/8/2/chart" xmlns:mc="http://schemas.openxmlformats.org/markup-compatibility/2006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Лист1!$B$3:$M$3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17198992"/>
        <c:axId val="317199552"/>
      </c:lineChart>
      <c:catAx>
        <c:axId val="31719899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crossAx val="317199552"/>
        <c:crosses val="autoZero"/>
        <c:auto val="1"/>
        <c:lblAlgn val="ctr"/>
        <c:lblOffset val="100"/>
        <c:noMultiLvlLbl val="0"/>
      </c:catAx>
      <c:valAx>
        <c:axId val="31719955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Ввод скважин, шт.</a:t>
                </a:r>
              </a:p>
            </c:rich>
          </c:tx>
          <c:layout>
            <c:manualLayout>
              <c:xMode val="edge"/>
              <c:yMode val="edge"/>
              <c:x val="1.175524898318127E-2"/>
              <c:y val="0.24472783988324248"/>
            </c:manualLayout>
          </c:layout>
          <c:overlay val="0"/>
        </c:title>
        <c:numFmt formatCode="General" sourceLinked="1"/>
        <c:majorTickMark val="none"/>
        <c:minorTickMark val="none"/>
        <c:tickLblPos val="none"/>
        <c:crossAx val="317198992"/>
        <c:crosses val="autoZero"/>
        <c:crossBetween val="between"/>
      </c:valAx>
      <c:valAx>
        <c:axId val="31720011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Прирост добычи, тыс. т</a:t>
                </a:r>
              </a:p>
            </c:rich>
          </c:tx>
          <c:layout>
            <c:manualLayout>
              <c:xMode val="edge"/>
              <c:yMode val="edge"/>
              <c:x val="0.9604256371635258"/>
              <c:y val="0.19741800765364678"/>
            </c:manualLayout>
          </c:layout>
          <c:overlay val="0"/>
        </c:title>
        <c:numFmt formatCode="0" sourceLinked="0"/>
        <c:majorTickMark val="none"/>
        <c:minorTickMark val="none"/>
        <c:tickLblPos val="none"/>
        <c:crossAx val="317200672"/>
        <c:crosses val="max"/>
        <c:crossBetween val="between"/>
      </c:valAx>
      <c:catAx>
        <c:axId val="3172006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317200112"/>
        <c:crosses val="autoZero"/>
        <c:auto val="1"/>
        <c:lblAlgn val="ctr"/>
        <c:lblOffset val="100"/>
        <c:noMultiLvlLbl val="0"/>
      </c:catAx>
    </c:plotArea>
    <c:legend>
      <c:legendPos val="b"/>
      <c:layout>
        <c:manualLayout>
          <c:xMode val="edge"/>
          <c:yMode val="edge"/>
          <c:x val="4.2261575993105104E-3"/>
          <c:y val="0.90943813088960745"/>
          <c:w val="0.98699575288105024"/>
          <c:h val="7.880184562897545E-2"/>
        </c:manualLayout>
      </c:layout>
      <c:overlay val="0"/>
      <c:txPr>
        <a:bodyPr/>
        <a:lstStyle/>
        <a:p>
          <a:pPr>
            <a:defRPr sz="8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 b="1"/>
      </a:pPr>
      <a:endParaRPr lang="ru-RU"/>
    </a:p>
  </c:tx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2730894741392314E-2"/>
          <c:y val="3.6315126685653711E-2"/>
          <c:w val="0.91483449899845115"/>
          <c:h val="0.72525035196528165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Лист1!$A$4</c:f>
              <c:strCache>
                <c:ptCount val="1"/>
                <c:pt idx="0">
                  <c:v>Кол-во бр. БП 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Лист1!$B$4:$M$4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Лист1!$A$5</c:f>
              <c:strCache>
                <c:ptCount val="1"/>
                <c:pt idx="0">
                  <c:v>Кол-во бр. Факт/Прогноз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Лист1!$B$5:$M$5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7206272"/>
        <c:axId val="317205712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Зак. бурением БП</c:v>
                </c:pt>
              </c:strCache>
            </c:strRef>
          </c:tx>
          <c:spPr>
            <a:ln w="25400">
              <a:solidFill>
                <a:schemeClr val="tx1"/>
              </a:solidFill>
              <a:prstDash val="solid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8755698005698005E-2"/>
                  <c:y val="4.09262869782021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/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Лист1!$B$2:$M$2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Зак. бурением Факт/Прогноз</c:v>
                </c:pt>
              </c:strCache>
            </c:strRef>
          </c:tx>
          <c:spPr>
            <a:ln w="25400">
              <a:solidFill>
                <a:schemeClr val="accent3"/>
              </a:solidFill>
              <a:prstDash val="solid"/>
            </a:ln>
          </c:spPr>
          <c:marker>
            <c:symbol val="square"/>
            <c:size val="3"/>
            <c:spPr>
              <a:solidFill>
                <a:schemeClr val="accent3"/>
              </a:solidFill>
              <a:ln>
                <a:noFill/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>
                    <a:solidFill>
                      <a:schemeClr val="accent3">
                        <a:lumMod val="75000"/>
                      </a:schemeClr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Лист1!$B$3:$M$3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17204592"/>
        <c:axId val="317205152"/>
      </c:lineChart>
      <c:catAx>
        <c:axId val="31720459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crossAx val="317205152"/>
        <c:crosses val="autoZero"/>
        <c:auto val="1"/>
        <c:lblAlgn val="ctr"/>
        <c:lblOffset val="100"/>
        <c:noMultiLvlLbl val="0"/>
      </c:catAx>
      <c:valAx>
        <c:axId val="317205152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Скв. зак. бурением, шт.</a:t>
                </a:r>
              </a:p>
            </c:rich>
          </c:tx>
          <c:layout>
            <c:manualLayout>
              <c:xMode val="edge"/>
              <c:yMode val="edge"/>
              <c:x val="5.811965811965812E-3"/>
              <c:y val="0.22738704994979414"/>
            </c:manualLayout>
          </c:layout>
          <c:overlay val="0"/>
        </c:title>
        <c:numFmt formatCode="General" sourceLinked="1"/>
        <c:majorTickMark val="none"/>
        <c:minorTickMark val="none"/>
        <c:tickLblPos val="none"/>
        <c:crossAx val="317204592"/>
        <c:crosses val="autoZero"/>
        <c:crossBetween val="between"/>
      </c:valAx>
      <c:valAx>
        <c:axId val="31720571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Кол-во бригад, шт. </a:t>
                </a:r>
              </a:p>
            </c:rich>
          </c:tx>
          <c:layout>
            <c:manualLayout>
              <c:xMode val="edge"/>
              <c:yMode val="edge"/>
              <c:x val="0.96678609055994424"/>
              <c:y val="0.2711373612784882"/>
            </c:manualLayout>
          </c:layout>
          <c:overlay val="0"/>
        </c:title>
        <c:numFmt formatCode="0" sourceLinked="0"/>
        <c:majorTickMark val="none"/>
        <c:minorTickMark val="none"/>
        <c:tickLblPos val="none"/>
        <c:crossAx val="317206272"/>
        <c:crosses val="max"/>
        <c:crossBetween val="between"/>
      </c:valAx>
      <c:catAx>
        <c:axId val="31720627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317205712"/>
        <c:crosses val="autoZero"/>
        <c:auto val="1"/>
        <c:lblAlgn val="ctr"/>
        <c:lblOffset val="100"/>
        <c:noMultiLvlLbl val="0"/>
      </c:catAx>
    </c:plotArea>
    <c:legend>
      <c:legendPos val="b"/>
      <c:legendEntry>
        <c:idx val="0"/>
        <c:txPr>
          <a:bodyPr/>
          <a:lstStyle/>
          <a:p>
            <a:pPr>
              <a:defRPr sz="900"/>
            </a:pPr>
            <a:endParaRPr lang="ru-RU"/>
          </a:p>
        </c:txPr>
      </c:legendEntry>
      <c:layout>
        <c:manualLayout>
          <c:xMode val="edge"/>
          <c:yMode val="edge"/>
          <c:x val="0"/>
          <c:y val="0.91999617229563513"/>
          <c:w val="0.9937302447643217"/>
          <c:h val="7.880184562897545E-2"/>
        </c:manualLayout>
      </c:layout>
      <c:overlay val="0"/>
      <c:txPr>
        <a:bodyPr/>
        <a:lstStyle/>
        <a:p>
          <a:pPr>
            <a:defRPr sz="9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 b="1"/>
      </a:pPr>
      <a:endParaRPr lang="ru-RU"/>
    </a:p>
  </c:tx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1379647615628045E-2"/>
          <c:y val="5.1400554097404488E-2"/>
          <c:w val="0.91587097955268526"/>
          <c:h val="0.72613808690580339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Лист!$A$3</c:f>
              <c:strCache>
                <c:ptCount val="1"/>
                <c:pt idx="0">
                  <c:v>Факт last г</c:v>
                </c:pt>
              </c:strCache>
            </c:strRef>
          </c:tx>
          <c:spPr>
            <a:solidFill>
              <a:schemeClr val="tx1">
                <a:lumMod val="60000"/>
                <a:lumOff val="40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2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Лист!$B$1:$C$2</c:f>
              <c:multiLvlStrCache>
                <c:ptCount val="2"/>
                <c:lvl>
                  <c:pt idx="0">
                    <c:v>month месяцев</c:v>
                  </c:pt>
                  <c:pt idx="1">
                    <c:v>Прогноз cur г.</c:v>
                  </c:pt>
                </c:lvl>
                <c:lvl>
                  <c:pt idx="0">
                    <c:v>Новый Порт</c:v>
                  </c:pt>
                </c:lvl>
              </c:multiLvlStrCache>
            </c:multiLvlStrRef>
          </c:cat>
          <c:val>
            <c:numRef>
              <c:f>Лист!$B$3:$C$3</c:f>
              <c:numCache>
                <c:formatCode>General</c:formatCode>
                <c:ptCount val="2"/>
              </c:numCache>
            </c:numRef>
          </c:val>
        </c:ser>
        <c:ser>
          <c:idx val="0"/>
          <c:order val="1"/>
          <c:tx>
            <c:strRef>
              <c:f>Лист!$A$4</c:f>
              <c:strCache>
                <c:ptCount val="1"/>
                <c:pt idx="0">
                  <c:v>Факт/Прогноз cur г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2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Лист!$B$1:$C$2</c:f>
              <c:multiLvlStrCache>
                <c:ptCount val="2"/>
                <c:lvl>
                  <c:pt idx="0">
                    <c:v>month месяцев</c:v>
                  </c:pt>
                  <c:pt idx="1">
                    <c:v>Прогноз cur г.</c:v>
                  </c:pt>
                </c:lvl>
                <c:lvl>
                  <c:pt idx="0">
                    <c:v>Новый Порт</c:v>
                  </c:pt>
                </c:lvl>
              </c:multiLvlStrCache>
            </c:multiLvlStrRef>
          </c:cat>
          <c:val>
            <c:numRef>
              <c:f>Лист!$B$4:$C$4</c:f>
              <c:numCache>
                <c:formatCode>General</c:formatCode>
                <c:ptCount val="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7209072"/>
        <c:axId val="317209632"/>
      </c:barChart>
      <c:catAx>
        <c:axId val="317209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75000"/>
              </a:schemeClr>
            </a:solidFill>
          </a:ln>
        </c:spPr>
        <c:txPr>
          <a:bodyPr rot="0" vert="horz" anchor="ctr" anchorCtr="1"/>
          <a:lstStyle/>
          <a:p>
            <a:pPr>
              <a:defRPr sz="600"/>
            </a:pPr>
            <a:endParaRPr lang="ru-RU"/>
          </a:p>
        </c:txPr>
        <c:crossAx val="317209632"/>
        <c:crosses val="autoZero"/>
        <c:auto val="1"/>
        <c:lblAlgn val="ctr"/>
        <c:lblOffset val="100"/>
        <c:tickLblSkip val="1"/>
        <c:noMultiLvlLbl val="0"/>
      </c:catAx>
      <c:valAx>
        <c:axId val="317209632"/>
        <c:scaling>
          <c:orientation val="minMax"/>
        </c:scaling>
        <c:delete val="1"/>
        <c:axPos val="l"/>
        <c:majorGridlines>
          <c:spPr>
            <a:ln>
              <a:noFill/>
            </a:ln>
          </c:spPr>
        </c:majorGridlines>
        <c:numFmt formatCode="0%" sourceLinked="0"/>
        <c:majorTickMark val="out"/>
        <c:minorTickMark val="none"/>
        <c:tickLblPos val="nextTo"/>
        <c:crossAx val="317209072"/>
        <c:crosses val="autoZero"/>
        <c:crossBetween val="between"/>
      </c:valAx>
    </c:plotArea>
    <c:legend>
      <c:legendPos val="l"/>
      <c:layout>
        <c:manualLayout>
          <c:xMode val="edge"/>
          <c:yMode val="edge"/>
          <c:x val="5.9765589797716092E-3"/>
          <c:y val="4.2687238722864508E-3"/>
          <c:w val="0.34022270903683838"/>
          <c:h val="0.17290538925347726"/>
        </c:manualLayout>
      </c:layout>
      <c:overlay val="0"/>
      <c:txPr>
        <a:bodyPr/>
        <a:lstStyle/>
        <a:p>
          <a:pPr>
            <a:defRPr sz="800"/>
          </a:pPr>
          <a:endParaRPr lang="ru-RU"/>
        </a:p>
      </c:txPr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 sz="800" b="1" i="0" baseline="0" dirty="0" smtClean="0">
                <a:effectLst/>
              </a:rPr>
              <a:t>Новый Порт</a:t>
            </a:r>
            <a:endParaRPr lang="ru-RU" sz="800" dirty="0">
              <a:effectLst/>
            </a:endParaRPr>
          </a:p>
        </c:rich>
      </c:tx>
      <c:layout>
        <c:manualLayout>
          <c:xMode val="edge"/>
          <c:yMode val="edge"/>
          <c:x val="0.80961258981623929"/>
          <c:y val="1.610781837990860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758238979990369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7212432"/>
        <c:axId val="317212992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7214112"/>
        <c:axId val="317213552"/>
      </c:scatterChart>
      <c:catAx>
        <c:axId val="31721243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noFill/>
          </a:ln>
        </c:spPr>
        <c:txPr>
          <a:bodyPr rot="-2700000" vert="horz"/>
          <a:lstStyle/>
          <a:p>
            <a:pPr>
              <a:defRPr sz="500" b="1"/>
            </a:pPr>
            <a:endParaRPr lang="ru-RU"/>
          </a:p>
        </c:txPr>
        <c:crossAx val="317212992"/>
        <c:crosses val="autoZero"/>
        <c:auto val="1"/>
        <c:lblAlgn val="ctr"/>
        <c:lblOffset val="0"/>
        <c:noMultiLvlLbl val="0"/>
      </c:catAx>
      <c:valAx>
        <c:axId val="317212992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17212432"/>
        <c:crosses val="autoZero"/>
        <c:crossBetween val="between"/>
      </c:valAx>
      <c:valAx>
        <c:axId val="317213552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317214112"/>
        <c:crosses val="max"/>
        <c:crossBetween val="midCat"/>
      </c:valAx>
      <c:valAx>
        <c:axId val="317214112"/>
        <c:scaling>
          <c:orientation val="minMax"/>
        </c:scaling>
        <c:delete val="1"/>
        <c:axPos val="t"/>
        <c:majorTickMark val="out"/>
        <c:minorTickMark val="none"/>
        <c:tickLblPos val="nextTo"/>
        <c:crossAx val="317213552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 sz="900" b="1" i="0" baseline="0" dirty="0" smtClean="0">
                <a:effectLst/>
              </a:rPr>
              <a:t>Новый Порт</a:t>
            </a:r>
            <a:endParaRPr lang="ru-RU" sz="900" dirty="0">
              <a:effectLst/>
            </a:endParaRPr>
          </a:p>
        </c:rich>
      </c:tx>
      <c:layout>
        <c:manualLayout>
          <c:xMode val="edge"/>
          <c:yMode val="edge"/>
          <c:x val="0.799962974622767"/>
          <c:y val="1.5674258465642313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2.3662334499533717E-2"/>
          <c:y val="5.8819444444444483E-3"/>
          <c:w val="0.93456358564048936"/>
          <c:h val="0.77872678121902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Лист1!$A$3</c:f>
              <c:strCache>
                <c:ptCount val="1"/>
                <c:pt idx="0">
                  <c:v>ННС Факт</c:v>
                </c:pt>
              </c:strCache>
            </c:strRef>
          </c:tx>
          <c:spPr>
            <a:solidFill>
              <a:schemeClr val="bg1">
                <a:lumMod val="50000"/>
              </a:schemeClr>
            </a:solidFill>
            <a:ln>
              <a:noFill/>
            </a:ln>
          </c:spPr>
          <c:invertIfNegative val="0"/>
          <c:dPt>
            <c:idx val="13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4"/>
            <c:invertIfNegative val="0"/>
            <c:bubble3D val="0"/>
            <c:spPr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c:spPr>
          </c:dPt>
          <c:dPt>
            <c:idx val="15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cat>
          <c:val>
            <c:numRef>
              <c:f>Лист1!$B$3:$Q$3</c:f>
              <c:numCache>
                <c:formatCode>General</c:formatCode>
                <c:ptCount val="16"/>
                <c:pt idx="0" formatCode="0.0">
                  <c:v>0</c:v>
                </c:pt>
                <c:pt idx="13" formatCode="0.0">
                  <c:v>0</c:v>
                </c:pt>
                <c:pt idx="14" formatCode="0.0">
                  <c:v>0</c:v>
                </c:pt>
                <c:pt idx="15" formatCode="0.0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7216912"/>
        <c:axId val="317217472"/>
      </c:barChart>
      <c:scatterChart>
        <c:scatterStyle val="lineMarker"/>
        <c:varyColors val="0"/>
        <c:ser>
          <c:idx val="1"/>
          <c:order val="1"/>
          <c:tx>
            <c:strRef>
              <c:f>Лист1!$A$4</c:f>
              <c:strCache>
                <c:ptCount val="1"/>
                <c:pt idx="0">
                  <c:v>ННС Факт</c:v>
                </c:pt>
              </c:strCache>
            </c:strRef>
          </c:tx>
          <c:spPr>
            <a:ln>
              <a:solidFill>
                <a:schemeClr val="accent1"/>
              </a:solidFill>
            </a:ln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1"/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xVal>
            <c:strRef>
              <c:f>Лист1!$B$1:$Q$1</c:f>
              <c:strCache>
                <c:ptCount val="16"/>
                <c:pt idx="0">
                  <c:v>20xx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  <c:pt idx="13">
                  <c:v>с начала года</c:v>
                </c:pt>
                <c:pt idx="14">
                  <c:v>прогноз CurYear</c:v>
                </c:pt>
                <c:pt idx="15">
                  <c:v>Δ</c:v>
                </c:pt>
              </c:strCache>
            </c:strRef>
          </c:xVal>
          <c:yVal>
            <c:numRef>
              <c:f>Лист1!$B$4:$Q$4</c:f>
              <c:numCache>
                <c:formatCode>0.0</c:formatCode>
                <c:ptCount val="16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7218592"/>
        <c:axId val="317218032"/>
      </c:scatterChart>
      <c:catAx>
        <c:axId val="31721691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noFill/>
          </a:ln>
        </c:spPr>
        <c:txPr>
          <a:bodyPr rot="-2700000" vert="horz"/>
          <a:lstStyle/>
          <a:p>
            <a:pPr>
              <a:defRPr sz="500" b="1"/>
            </a:pPr>
            <a:endParaRPr lang="ru-RU"/>
          </a:p>
        </c:txPr>
        <c:crossAx val="317217472"/>
        <c:crosses val="autoZero"/>
        <c:auto val="1"/>
        <c:lblAlgn val="ctr"/>
        <c:lblOffset val="0"/>
        <c:noMultiLvlLbl val="0"/>
      </c:catAx>
      <c:valAx>
        <c:axId val="317217472"/>
        <c:scaling>
          <c:orientation val="minMax"/>
        </c:scaling>
        <c:delete val="1"/>
        <c:axPos val="l"/>
        <c:numFmt formatCode="0.0" sourceLinked="1"/>
        <c:majorTickMark val="out"/>
        <c:minorTickMark val="none"/>
        <c:tickLblPos val="nextTo"/>
        <c:crossAx val="317216912"/>
        <c:crosses val="autoZero"/>
        <c:crossBetween val="between"/>
      </c:valAx>
      <c:valAx>
        <c:axId val="317218032"/>
        <c:scaling>
          <c:orientation val="minMax"/>
        </c:scaling>
        <c:delete val="1"/>
        <c:axPos val="r"/>
        <c:numFmt formatCode="0.0" sourceLinked="1"/>
        <c:majorTickMark val="out"/>
        <c:minorTickMark val="none"/>
        <c:tickLblPos val="nextTo"/>
        <c:crossAx val="317218592"/>
        <c:crosses val="max"/>
        <c:crossBetween val="midCat"/>
      </c:valAx>
      <c:valAx>
        <c:axId val="317218592"/>
        <c:scaling>
          <c:orientation val="minMax"/>
        </c:scaling>
        <c:delete val="1"/>
        <c:axPos val="t"/>
        <c:majorTickMark val="out"/>
        <c:minorTickMark val="none"/>
        <c:tickLblPos val="nextTo"/>
        <c:crossAx val="317218032"/>
        <c:crosses val="max"/>
        <c:crossBetween val="midCat"/>
      </c:valAx>
    </c:plotArea>
    <c:plotVisOnly val="1"/>
    <c:dispBlanksAs val="gap"/>
    <c:showDLblsOverMax val="0"/>
  </c:chart>
  <c:txPr>
    <a:bodyPr/>
    <a:lstStyle/>
    <a:p>
      <a:pPr>
        <a:defRPr sz="1200"/>
      </a:pPr>
      <a:endParaRPr lang="ru-RU"/>
    </a:p>
  </c:tx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1379647615628045E-2"/>
          <c:y val="5.1400554097404488E-2"/>
          <c:w val="0.91587097955268526"/>
          <c:h val="0.72613808690580339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Лист!$A$3</c:f>
              <c:strCache>
                <c:ptCount val="1"/>
                <c:pt idx="0">
                  <c:v>Факт last г</c:v>
                </c:pt>
              </c:strCache>
            </c:strRef>
          </c:tx>
          <c:spPr>
            <a:solidFill>
              <a:schemeClr val="tx1">
                <a:lumMod val="60000"/>
                <a:lumOff val="40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2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Лист!$B$1:$C$2</c:f>
              <c:multiLvlStrCache>
                <c:ptCount val="2"/>
                <c:lvl>
                  <c:pt idx="0">
                    <c:v>month месяцев</c:v>
                  </c:pt>
                  <c:pt idx="1">
                    <c:v>Прогноз cur г.</c:v>
                  </c:pt>
                </c:lvl>
                <c:lvl>
                  <c:pt idx="0">
                    <c:v>Новый Порт</c:v>
                  </c:pt>
                </c:lvl>
              </c:multiLvlStrCache>
            </c:multiLvlStrRef>
          </c:cat>
          <c:val>
            <c:numRef>
              <c:f>Лист!$B$3:$C$3</c:f>
              <c:numCache>
                <c:formatCode>General</c:formatCode>
                <c:ptCount val="2"/>
              </c:numCache>
            </c:numRef>
          </c:val>
        </c:ser>
        <c:ser>
          <c:idx val="0"/>
          <c:order val="1"/>
          <c:tx>
            <c:strRef>
              <c:f>Лист!$A$4</c:f>
              <c:strCache>
                <c:ptCount val="1"/>
                <c:pt idx="0">
                  <c:v>Факт/Прогноз cur г</c:v>
                </c:pt>
              </c:strCache>
            </c:strRef>
          </c:tx>
          <c:spPr>
            <a:solidFill>
              <a:schemeClr val="accent1">
                <a:lumMod val="60000"/>
                <a:lumOff val="40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>
                    <a:solidFill>
                      <a:schemeClr val="tx2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multiLvlStrRef>
              <c:f>Лист!$B$1:$C$2</c:f>
              <c:multiLvlStrCache>
                <c:ptCount val="2"/>
                <c:lvl>
                  <c:pt idx="0">
                    <c:v>month месяцев</c:v>
                  </c:pt>
                  <c:pt idx="1">
                    <c:v>Прогноз cur г.</c:v>
                  </c:pt>
                </c:lvl>
                <c:lvl>
                  <c:pt idx="0">
                    <c:v>Новый Порт</c:v>
                  </c:pt>
                </c:lvl>
              </c:multiLvlStrCache>
            </c:multiLvlStrRef>
          </c:cat>
          <c:val>
            <c:numRef>
              <c:f>Лист!$B$4:$C$4</c:f>
              <c:numCache>
                <c:formatCode>General</c:formatCode>
                <c:ptCount val="2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7221392"/>
        <c:axId val="317221952"/>
      </c:barChart>
      <c:catAx>
        <c:axId val="3172213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bg1">
                <a:lumMod val="75000"/>
              </a:schemeClr>
            </a:solidFill>
          </a:ln>
        </c:spPr>
        <c:txPr>
          <a:bodyPr rot="0" vert="horz" anchor="ctr" anchorCtr="1"/>
          <a:lstStyle/>
          <a:p>
            <a:pPr>
              <a:defRPr sz="600"/>
            </a:pPr>
            <a:endParaRPr lang="ru-RU"/>
          </a:p>
        </c:txPr>
        <c:crossAx val="317221952"/>
        <c:crosses val="autoZero"/>
        <c:auto val="1"/>
        <c:lblAlgn val="ctr"/>
        <c:lblOffset val="100"/>
        <c:tickLblSkip val="1"/>
        <c:noMultiLvlLbl val="0"/>
      </c:catAx>
      <c:valAx>
        <c:axId val="317221952"/>
        <c:scaling>
          <c:orientation val="minMax"/>
        </c:scaling>
        <c:delete val="1"/>
        <c:axPos val="l"/>
        <c:majorGridlines>
          <c:spPr>
            <a:ln>
              <a:noFill/>
            </a:ln>
          </c:spPr>
        </c:majorGridlines>
        <c:numFmt formatCode="0%" sourceLinked="0"/>
        <c:majorTickMark val="out"/>
        <c:minorTickMark val="none"/>
        <c:tickLblPos val="nextTo"/>
        <c:crossAx val="317221392"/>
        <c:crosses val="autoZero"/>
        <c:crossBetween val="between"/>
      </c:valAx>
    </c:plotArea>
    <c:legend>
      <c:legendPos val="l"/>
      <c:layout>
        <c:manualLayout>
          <c:xMode val="edge"/>
          <c:yMode val="edge"/>
          <c:x val="0"/>
          <c:y val="4.2687238722864508E-3"/>
          <c:w val="0.34022270903683838"/>
          <c:h val="0.18348349523943586"/>
        </c:manualLayout>
      </c:layout>
      <c:overlay val="0"/>
      <c:txPr>
        <a:bodyPr/>
        <a:lstStyle/>
        <a:p>
          <a:pPr>
            <a:defRPr sz="800"/>
          </a:pPr>
          <a:endParaRPr lang="ru-RU"/>
        </a:p>
      </c:txPr>
    </c:legend>
    <c:plotVisOnly val="1"/>
    <c:dispBlanksAs val="gap"/>
    <c:showDLblsOverMax val="0"/>
  </c:chart>
  <c:spPr>
    <a:ln>
      <a:noFill/>
    </a:ln>
  </c:sp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 sz="800" dirty="0" smtClean="0">
                <a:effectLst/>
              </a:rPr>
              <a:t>Общее НПВ по ДО</a:t>
            </a:r>
            <a:r>
              <a:rPr lang="ru-RU" sz="800" baseline="0" dirty="0" smtClean="0">
                <a:effectLst/>
              </a:rPr>
              <a:t> Новый порт</a:t>
            </a:r>
            <a:r>
              <a:rPr lang="ru-RU" sz="800" dirty="0" smtClean="0">
                <a:effectLst/>
              </a:rPr>
              <a:t> начала </a:t>
            </a:r>
            <a:r>
              <a:rPr lang="en-US" sz="800" dirty="0" smtClean="0">
                <a:effectLst/>
              </a:rPr>
              <a:t>cur</a:t>
            </a:r>
            <a:r>
              <a:rPr lang="ru-RU" sz="800" dirty="0" smtClean="0">
                <a:effectLst/>
              </a:rPr>
              <a:t> года </a:t>
            </a:r>
            <a:r>
              <a:rPr lang="en-US" sz="800" b="1" dirty="0" smtClean="0">
                <a:effectLst/>
              </a:rPr>
              <a:t>percent</a:t>
            </a:r>
            <a:r>
              <a:rPr lang="ru-RU" sz="800" b="1" dirty="0" smtClean="0">
                <a:effectLst/>
              </a:rPr>
              <a:t> %</a:t>
            </a:r>
            <a:endParaRPr lang="ru-RU" sz="800" dirty="0">
              <a:effectLst/>
            </a:endParaRPr>
          </a:p>
        </c:rich>
      </c:tx>
      <c:layout>
        <c:manualLayout>
          <c:xMode val="edge"/>
          <c:yMode val="edge"/>
          <c:x val="0.18236934507329433"/>
          <c:y val="3.1973655721773811E-2"/>
        </c:manualLayout>
      </c:layout>
      <c:overlay val="0"/>
      <c:spPr>
        <a:solidFill>
          <a:srgbClr val="FFFFFF"/>
        </a:solidFill>
        <a:ln>
          <a:solidFill>
            <a:srgbClr val="545353"/>
          </a:solidFill>
        </a:ln>
      </c:spPr>
    </c:title>
    <c:autoTitleDeleted val="0"/>
    <c:plotArea>
      <c:layout>
        <c:manualLayout>
          <c:layoutTarget val="inner"/>
          <c:xMode val="edge"/>
          <c:yMode val="edge"/>
          <c:x val="4.7514124293785313E-2"/>
          <c:y val="6.1401195499296762E-2"/>
          <c:w val="0.57948770758293755"/>
          <c:h val="0.6687504395218002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 вине буровых подрядчиков</c:v>
                </c:pt>
              </c:strCache>
            </c:strRef>
          </c:tx>
          <c:spPr>
            <a:solidFill>
              <a:srgbClr val="545353"/>
            </a:solidFill>
          </c:spPr>
          <c:invertIfNegative val="0"/>
          <c:cat>
            <c:strRef>
              <c:f>Лист1!$B$2:$B$13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Лист1!$C$2:$C$13</c:f>
              <c:numCache>
                <c:formatCode>0.0%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Лист1!$D$1</c:f>
              <c:strCache>
                <c:ptCount val="1"/>
                <c:pt idx="0">
                  <c:v>по вине подр. по ННБ</c:v>
                </c:pt>
              </c:strCache>
            </c:strRef>
          </c:tx>
          <c:invertIfNegative val="0"/>
          <c:cat>
            <c:strRef>
              <c:f>Лист1!$B$2:$B$13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Лист1!$D$2:$D$13</c:f>
              <c:numCache>
                <c:formatCode>0.0%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2"/>
          <c:order val="2"/>
          <c:tx>
            <c:strRef>
              <c:f>Лист1!$E$1</c:f>
              <c:strCache>
                <c:ptCount val="1"/>
                <c:pt idx="0">
                  <c:v>по вине подрядчика по буровым растворам</c:v>
                </c:pt>
              </c:strCache>
            </c:strRef>
          </c:tx>
          <c:invertIfNegative val="0"/>
          <c:cat>
            <c:strRef>
              <c:f>Лист1!$B$2:$B$13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Лист1!$E$2:$E$13</c:f>
              <c:numCache>
                <c:formatCode>0.0%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Лист1!$F$1</c:f>
              <c:strCache>
                <c:ptCount val="1"/>
                <c:pt idx="0">
                  <c:v>по вине подрядчика по цементированию</c:v>
                </c:pt>
              </c:strCache>
            </c:strRef>
          </c:tx>
          <c:invertIfNegative val="0"/>
          <c:cat>
            <c:strRef>
              <c:f>Лист1!$B$2:$B$13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Лист1!$F$2:$F$13</c:f>
              <c:numCache>
                <c:formatCode>0.0%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4"/>
          <c:order val="4"/>
          <c:tx>
            <c:strRef>
              <c:f>Лист1!$G$1</c:f>
              <c:strCache>
                <c:ptCount val="1"/>
                <c:pt idx="0">
                  <c:v>по вине подр. по инж. сопр. спуска хвостовиков</c:v>
                </c:pt>
              </c:strCache>
            </c:strRef>
          </c:tx>
          <c:invertIfNegative val="0"/>
          <c:cat>
            <c:strRef>
              <c:f>Лист1!$B$2:$B$13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Лист1!$G$2:$G$13</c:f>
              <c:numCache>
                <c:formatCode>0.0%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5"/>
          <c:order val="5"/>
          <c:tx>
            <c:strRef>
              <c:f>Лист1!$H$1</c:f>
              <c:strCache>
                <c:ptCount val="1"/>
                <c:pt idx="0">
                  <c:v>по вине других подрядчиков</c:v>
                </c:pt>
              </c:strCache>
            </c:strRef>
          </c:tx>
          <c:invertIfNegative val="0"/>
          <c:cat>
            <c:strRef>
              <c:f>Лист1!$B$2:$B$13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Лист1!$H$2:$H$13</c:f>
              <c:numCache>
                <c:formatCode>0.0%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6"/>
          <c:order val="6"/>
          <c:tx>
            <c:strRef>
              <c:f>Лист1!$I$1</c:f>
              <c:strCache>
                <c:ptCount val="1"/>
                <c:pt idx="0">
                  <c:v>по вине Заказчика</c:v>
                </c:pt>
              </c:strCache>
            </c:strRef>
          </c:tx>
          <c:invertIfNegative val="0"/>
          <c:cat>
            <c:strRef>
              <c:f>Лист1!$B$2:$B$13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Лист1!$I$2:$I$13</c:f>
              <c:numCache>
                <c:formatCode>0.0%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43599920"/>
        <c:axId val="343600480"/>
      </c:barChart>
      <c:lineChart>
        <c:grouping val="standard"/>
        <c:varyColors val="0"/>
        <c:ser>
          <c:idx val="7"/>
          <c:order val="7"/>
          <c:tx>
            <c:strRef>
              <c:f>Лист1!$J$1</c:f>
              <c:strCache>
                <c:ptCount val="1"/>
                <c:pt idx="0">
                  <c:v>Итого НПВ, %</c:v>
                </c:pt>
              </c:strCache>
            </c:strRef>
          </c:tx>
          <c:spPr>
            <a:ln w="28575">
              <a:solidFill>
                <a:schemeClr val="bg1">
                  <a:lumMod val="75000"/>
                </a:schemeClr>
              </a:solidFill>
            </a:ln>
          </c:spPr>
          <c:marker>
            <c:symbol val="none"/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Лист1!$B$2:$B$13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Лист1!$J$2:$J$13</c:f>
              <c:numCache>
                <c:formatCode>0.0%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43601600"/>
        <c:axId val="343601040"/>
      </c:lineChart>
      <c:catAx>
        <c:axId val="34359992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ru-RU"/>
          </a:p>
        </c:txPr>
        <c:crossAx val="343600480"/>
        <c:crosses val="autoZero"/>
        <c:auto val="1"/>
        <c:lblAlgn val="ctr"/>
        <c:lblOffset val="100"/>
        <c:noMultiLvlLbl val="0"/>
      </c:catAx>
      <c:valAx>
        <c:axId val="343600480"/>
        <c:scaling>
          <c:orientation val="minMax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ru-RU"/>
          </a:p>
        </c:txPr>
        <c:crossAx val="343599920"/>
        <c:crosses val="autoZero"/>
        <c:crossBetween val="between"/>
      </c:valAx>
      <c:valAx>
        <c:axId val="343601040"/>
        <c:scaling>
          <c:orientation val="minMax"/>
        </c:scaling>
        <c:delete val="0"/>
        <c:axPos val="r"/>
        <c:numFmt formatCode="0.0%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43601600"/>
        <c:crosses val="max"/>
        <c:crossBetween val="between"/>
      </c:valAx>
      <c:catAx>
        <c:axId val="34360160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43601040"/>
        <c:crosses val="autoZero"/>
        <c:auto val="1"/>
        <c:lblAlgn val="ctr"/>
        <c:lblOffset val="100"/>
        <c:noMultiLvlLbl val="0"/>
      </c:catAx>
    </c:plotArea>
    <c:legend>
      <c:legendPos val="r"/>
      <c:layout>
        <c:manualLayout>
          <c:xMode val="edge"/>
          <c:yMode val="edge"/>
          <c:x val="0.67257725018697989"/>
          <c:y val="0"/>
          <c:w val="0.30907371566470382"/>
          <c:h val="0.63289040169317712"/>
        </c:manualLayout>
      </c:layout>
      <c:overlay val="0"/>
      <c:txPr>
        <a:bodyPr/>
        <a:lstStyle/>
        <a:p>
          <a:pPr>
            <a:defRPr sz="8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2975840475766657E-2"/>
          <c:y val="5.1400579872802096E-2"/>
          <c:w val="0.91630570936428957"/>
          <c:h val="0.726138086905803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Лист!$A$3</c:f>
              <c:strCache>
                <c:ptCount val="1"/>
                <c:pt idx="0">
                  <c:v>НПВ в ЭБ за  month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Лист!$B$1:$B$1</c:f>
              <c:strCache>
                <c:ptCount val="1"/>
                <c:pt idx="0">
                  <c:v>Новый Порт</c:v>
                </c:pt>
              </c:strCache>
            </c:strRef>
          </c:cat>
          <c:val>
            <c:numRef>
              <c:f>Лист!$B$3:$B$3</c:f>
              <c:numCache>
                <c:formatCode>0.0%</c:formatCode>
                <c:ptCount val="1"/>
              </c:numCache>
            </c:numRef>
          </c:val>
        </c:ser>
        <c:ser>
          <c:idx val="1"/>
          <c:order val="1"/>
          <c:tx>
            <c:strRef>
              <c:f>Лист!$A$2</c:f>
              <c:strCache>
                <c:ptCount val="1"/>
                <c:pt idx="0">
                  <c:v>НПВ в ЭБ с начала года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Лист!$B$1:$B$1</c:f>
              <c:strCache>
                <c:ptCount val="1"/>
                <c:pt idx="0">
                  <c:v>Новый Порт</c:v>
                </c:pt>
              </c:strCache>
            </c:strRef>
          </c:cat>
          <c:val>
            <c:numRef>
              <c:f>Лист!$B$3:$B$3</c:f>
              <c:numCache>
                <c:formatCode>0.0%</c:formatCode>
                <c:ptCount val="1"/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43604400"/>
        <c:axId val="343604960"/>
      </c:barChart>
      <c:catAx>
        <c:axId val="3436044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ru-RU"/>
          </a:p>
        </c:txPr>
        <c:crossAx val="343604960"/>
        <c:crosses val="autoZero"/>
        <c:auto val="1"/>
        <c:lblAlgn val="ctr"/>
        <c:lblOffset val="100"/>
        <c:noMultiLvlLbl val="0"/>
      </c:catAx>
      <c:valAx>
        <c:axId val="343604960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ru-RU"/>
          </a:p>
        </c:txPr>
        <c:crossAx val="343604400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9.5975503062114664E-4"/>
          <c:y val="0.89364898989898989"/>
          <c:w val="0.99904031967451223"/>
          <c:h val="0.1063510101010101"/>
        </c:manualLayout>
      </c:layout>
      <c:overlay val="0"/>
      <c:txPr>
        <a:bodyPr/>
        <a:lstStyle/>
        <a:p>
          <a:pPr>
            <a:defRPr sz="800"/>
          </a:pPr>
          <a:endParaRPr lang="ru-RU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2730894741392314E-2"/>
          <c:y val="3.6315126685653711E-2"/>
          <c:w val="0.91483449899845115"/>
          <c:h val="0.72525035196528165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Лист1!$A$4</c:f>
              <c:strCache>
                <c:ptCount val="1"/>
                <c:pt idx="0">
                  <c:v>Кол-во бр. БП 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Лист1!$B$4:$M$4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3"/>
          <c:tx>
            <c:strRef>
              <c:f>Лист1!$A$5</c:f>
              <c:strCache>
                <c:ptCount val="1"/>
                <c:pt idx="0">
                  <c:v>Кол-во бр. Факт/Прогноз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Лист1!$B$5:$M$5</c:f>
              <c:numCache>
                <c:formatCode>0.0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7986112"/>
        <c:axId val="337984992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Зак. бурением БП</c:v>
                </c:pt>
              </c:strCache>
            </c:strRef>
          </c:tx>
          <c:spPr>
            <a:ln w="25400">
              <a:solidFill>
                <a:schemeClr val="tx1"/>
              </a:solidFill>
              <a:prstDash val="solid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8755698005698005E-2"/>
                  <c:y val="4.09262869782021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/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Лист1!$B$2:$M$2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Зак. бурением Факт/Прогноз</c:v>
                </c:pt>
              </c:strCache>
            </c:strRef>
          </c:tx>
          <c:spPr>
            <a:ln w="25400">
              <a:solidFill>
                <a:schemeClr val="accent3"/>
              </a:solidFill>
              <a:prstDash val="solid"/>
            </a:ln>
          </c:spPr>
          <c:marker>
            <c:symbol val="square"/>
            <c:size val="3"/>
            <c:spPr>
              <a:solidFill>
                <a:schemeClr val="accent3"/>
              </a:solidFill>
              <a:ln>
                <a:noFill/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>
                    <a:solidFill>
                      <a:schemeClr val="accent3">
                        <a:lumMod val="75000"/>
                      </a:schemeClr>
                    </a:solidFill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Лист1!$B$3:$M$3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43608880"/>
        <c:axId val="343609440"/>
      </c:lineChart>
      <c:catAx>
        <c:axId val="34360888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crossAx val="343609440"/>
        <c:crosses val="autoZero"/>
        <c:auto val="1"/>
        <c:lblAlgn val="ctr"/>
        <c:lblOffset val="100"/>
        <c:noMultiLvlLbl val="0"/>
      </c:catAx>
      <c:valAx>
        <c:axId val="343609440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Скв. зак. бурением, шт.</a:t>
                </a:r>
              </a:p>
            </c:rich>
          </c:tx>
          <c:layout>
            <c:manualLayout>
              <c:xMode val="edge"/>
              <c:yMode val="edge"/>
              <c:x val="5.811965811965812E-3"/>
              <c:y val="0.22738704994979414"/>
            </c:manualLayout>
          </c:layout>
          <c:overlay val="0"/>
        </c:title>
        <c:numFmt formatCode="General" sourceLinked="1"/>
        <c:majorTickMark val="none"/>
        <c:minorTickMark val="none"/>
        <c:tickLblPos val="none"/>
        <c:crossAx val="343608880"/>
        <c:crosses val="autoZero"/>
        <c:crossBetween val="between"/>
      </c:valAx>
      <c:valAx>
        <c:axId val="337984992"/>
        <c:scaling>
          <c:orientation val="minMax"/>
        </c:scaling>
        <c:delete val="0"/>
        <c:axPos val="r"/>
        <c:title>
          <c:tx>
            <c:rich>
              <a:bodyPr rot="-5400000" vert="horz"/>
              <a:lstStyle/>
              <a:p>
                <a:pPr>
                  <a:defRPr sz="800"/>
                </a:pPr>
                <a:r>
                  <a:rPr lang="ru-RU" sz="800"/>
                  <a:t>Кол-во бригад, шт. </a:t>
                </a:r>
              </a:p>
            </c:rich>
          </c:tx>
          <c:layout>
            <c:manualLayout>
              <c:xMode val="edge"/>
              <c:yMode val="edge"/>
              <c:x val="0.96678609055994424"/>
              <c:y val="0.2711373612784882"/>
            </c:manualLayout>
          </c:layout>
          <c:overlay val="0"/>
        </c:title>
        <c:numFmt formatCode="0" sourceLinked="0"/>
        <c:majorTickMark val="none"/>
        <c:minorTickMark val="none"/>
        <c:tickLblPos val="none"/>
        <c:crossAx val="337986112"/>
        <c:crosses val="max"/>
        <c:crossBetween val="between"/>
      </c:valAx>
      <c:catAx>
        <c:axId val="337986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337984992"/>
        <c:crosses val="autoZero"/>
        <c:auto val="1"/>
        <c:lblAlgn val="ctr"/>
        <c:lblOffset val="100"/>
        <c:noMultiLvlLbl val="0"/>
      </c:catAx>
    </c:plotArea>
    <c:legend>
      <c:legendPos val="b"/>
      <c:legendEntry>
        <c:idx val="0"/>
        <c:txPr>
          <a:bodyPr/>
          <a:lstStyle/>
          <a:p>
            <a:pPr>
              <a:defRPr sz="900"/>
            </a:pPr>
            <a:endParaRPr lang="ru-RU"/>
          </a:p>
        </c:txPr>
      </c:legendEntry>
      <c:layout>
        <c:manualLayout>
          <c:xMode val="edge"/>
          <c:yMode val="edge"/>
          <c:x val="0"/>
          <c:y val="0.91999617229563513"/>
          <c:w val="0.9937302447643217"/>
          <c:h val="7.880184562897545E-2"/>
        </c:manualLayout>
      </c:layout>
      <c:overlay val="0"/>
      <c:txPr>
        <a:bodyPr/>
        <a:lstStyle/>
        <a:p>
          <a:pPr>
            <a:defRPr sz="9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 b="1"/>
      </a:pPr>
      <a:endParaRPr lang="ru-RU"/>
    </a:p>
  </c:tx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2730894741392314E-2"/>
          <c:y val="3.6315126685653711E-2"/>
          <c:w val="0.91483449899845115"/>
          <c:h val="0.72525035196528165"/>
        </c:manualLayout>
      </c:layout>
      <c:barChart>
        <c:barDir val="col"/>
        <c:grouping val="clustered"/>
        <c:varyColors val="0"/>
        <c:ser>
          <c:idx val="2"/>
          <c:order val="1"/>
          <c:tx>
            <c:strRef>
              <c:f>Лист1!$A$4</c:f>
              <c:strCache>
                <c:ptCount val="1"/>
                <c:pt idx="0">
                  <c:v>Кол-во законченных исп. объектов БП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</c:spPr>
          <c:invertIfNegative val="0"/>
          <c:dPt>
            <c:idx val="5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solid"/>
              </a:ln>
            </c:spPr>
          </c:dPt>
          <c:dPt>
            <c:idx val="7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bg1">
                  <a:lumMod val="75000"/>
                </a:schemeClr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Лист1!$B$4:$M$4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3"/>
          <c:order val="2"/>
          <c:tx>
            <c:strRef>
              <c:f>Лист1!$A$5</c:f>
              <c:strCache>
                <c:ptCount val="1"/>
                <c:pt idx="0">
                  <c:v>Кол-во законченных исп. объектов Факт/Прогноз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</c:dPt>
          <c:dPt>
            <c:idx val="3"/>
            <c:invertIfNegative val="0"/>
            <c:bubble3D val="0"/>
          </c:dPt>
          <c:dPt>
            <c:idx val="4"/>
            <c:invertIfNegative val="0"/>
            <c:bubble3D val="0"/>
          </c:dPt>
          <c:dPt>
            <c:idx val="5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solid"/>
              </a:ln>
            </c:spPr>
          </c:dPt>
          <c:dPt>
            <c:idx val="6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7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8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9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Pt>
            <c:idx val="11"/>
            <c:invertIfNegative val="0"/>
            <c:bubble3D val="0"/>
            <c:spPr>
              <a:solidFill>
                <a:schemeClr val="accent2"/>
              </a:solidFill>
              <a:ln>
                <a:noFill/>
                <a:prstDash val="dash"/>
              </a:ln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-5400000" vert="horz"/>
              <a:lstStyle/>
              <a:p>
                <a:pPr>
                  <a:defRPr/>
                </a:pPr>
                <a:endParaRPr lang="ru-RU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Лист1!$B$5:$M$5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8290128"/>
        <c:axId val="338289568"/>
      </c:barChart>
      <c:lineChart>
        <c:grouping val="standar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С УВ в составе притока, %</c:v>
                </c:pt>
              </c:strCache>
            </c:strRef>
          </c:tx>
          <c:spPr>
            <a:ln w="25400">
              <a:solidFill>
                <a:schemeClr val="tx1"/>
              </a:solidFill>
              <a:prstDash val="solid"/>
            </a:ln>
          </c:spPr>
          <c:marker>
            <c:symbol val="diamond"/>
            <c:size val="4"/>
            <c:spPr>
              <a:solidFill>
                <a:schemeClr val="tx1"/>
              </a:solid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4.8755698005698005E-2"/>
                  <c:y val="4.092628697820218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800"/>
                </a:pPr>
                <a:endParaRPr lang="ru-RU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Лист1!$B$1:$M$1</c:f>
              <c:strCache>
                <c:ptCount val="12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  <c:pt idx="4">
                  <c:v>май</c:v>
                </c:pt>
                <c:pt idx="5">
                  <c:v>июнь</c:v>
                </c:pt>
                <c:pt idx="6">
                  <c:v>июль</c:v>
                </c:pt>
                <c:pt idx="7">
                  <c:v>август</c:v>
                </c:pt>
                <c:pt idx="8">
                  <c:v>сентябрь</c:v>
                </c:pt>
                <c:pt idx="9">
                  <c:v>октябрь</c:v>
                </c:pt>
                <c:pt idx="10">
                  <c:v>ноябрь</c:v>
                </c:pt>
                <c:pt idx="11">
                  <c:v>декабрь</c:v>
                </c:pt>
              </c:strCache>
            </c:strRef>
          </c:cat>
          <c:val>
            <c:numRef>
              <c:f>Лист1!$B$2:$M$2</c:f>
              <c:numCache>
                <c:formatCode>0%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  <c:smooth val="0"/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7985552"/>
        <c:axId val="317222512"/>
      </c:lineChart>
      <c:catAx>
        <c:axId val="337985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crossAx val="317222512"/>
        <c:crosses val="autoZero"/>
        <c:auto val="1"/>
        <c:lblAlgn val="ctr"/>
        <c:lblOffset val="100"/>
        <c:noMultiLvlLbl val="0"/>
      </c:catAx>
      <c:valAx>
        <c:axId val="3172225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ru-RU" sz="800" b="1" i="0" baseline="0" dirty="0" smtClean="0">
                    <a:effectLst/>
                  </a:rPr>
                  <a:t>УВ в составе притока, %</a:t>
                </a:r>
                <a:endParaRPr lang="ru-RU" sz="800" dirty="0">
                  <a:effectLst/>
                </a:endParaRPr>
              </a:p>
            </c:rich>
          </c:tx>
          <c:overlay val="0"/>
        </c:title>
        <c:numFmt formatCode="0%" sourceLinked="1"/>
        <c:majorTickMark val="none"/>
        <c:minorTickMark val="none"/>
        <c:tickLblPos val="none"/>
        <c:crossAx val="337985552"/>
        <c:crosses val="autoZero"/>
        <c:crossBetween val="between"/>
      </c:valAx>
      <c:valAx>
        <c:axId val="338289568"/>
        <c:scaling>
          <c:orientation val="minMax"/>
        </c:scaling>
        <c:delete val="0"/>
        <c:axPos val="r"/>
        <c:title>
          <c:tx>
            <c:rich>
              <a:bodyPr/>
              <a:lstStyle/>
              <a:p>
                <a:pPr>
                  <a:defRPr/>
                </a:pPr>
                <a:r>
                  <a:rPr lang="ru-RU" sz="800" b="1" i="0" baseline="0" dirty="0" smtClean="0">
                    <a:effectLst/>
                  </a:rPr>
                  <a:t>Кол-во </a:t>
                </a:r>
                <a:r>
                  <a:rPr lang="ru-RU" sz="800" b="1" i="0" baseline="0" dirty="0" err="1" smtClean="0">
                    <a:effectLst/>
                  </a:rPr>
                  <a:t>зак</a:t>
                </a:r>
                <a:r>
                  <a:rPr lang="ru-RU" sz="800" b="1" i="0" baseline="0" dirty="0" smtClean="0">
                    <a:effectLst/>
                  </a:rPr>
                  <a:t>. исп. объектов, шт.</a:t>
                </a:r>
                <a:endParaRPr lang="ru-RU" sz="800" dirty="0">
                  <a:effectLst/>
                </a:endParaRPr>
              </a:p>
            </c:rich>
          </c:tx>
          <c:overlay val="0"/>
        </c:title>
        <c:numFmt formatCode="0" sourceLinked="0"/>
        <c:majorTickMark val="none"/>
        <c:minorTickMark val="none"/>
        <c:tickLblPos val="none"/>
        <c:crossAx val="338290128"/>
        <c:crosses val="max"/>
        <c:crossBetween val="between"/>
      </c:valAx>
      <c:catAx>
        <c:axId val="33829012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one"/>
        <c:crossAx val="338289568"/>
        <c:crosses val="autoZero"/>
        <c:auto val="1"/>
        <c:lblAlgn val="ctr"/>
        <c:lblOffset val="100"/>
        <c:noMultiLvlLbl val="0"/>
      </c:catAx>
    </c:plotArea>
    <c:legend>
      <c:legendPos val="b"/>
      <c:legendEntry>
        <c:idx val="0"/>
        <c:txPr>
          <a:bodyPr/>
          <a:lstStyle/>
          <a:p>
            <a:pPr>
              <a:defRPr sz="900"/>
            </a:pPr>
            <a:endParaRPr lang="ru-RU"/>
          </a:p>
        </c:txPr>
      </c:legendEntry>
      <c:layout>
        <c:manualLayout>
          <c:xMode val="edge"/>
          <c:yMode val="edge"/>
          <c:x val="0"/>
          <c:y val="0.91999617229563513"/>
          <c:w val="0.9937302447643217"/>
          <c:h val="7.880184562897545E-2"/>
        </c:manualLayout>
      </c:layout>
      <c:overlay val="0"/>
      <c:txPr>
        <a:bodyPr/>
        <a:lstStyle/>
        <a:p>
          <a:pPr>
            <a:defRPr sz="9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 b="1"/>
      </a:pPr>
      <a:endParaRPr lang="ru-RU"/>
    </a:p>
  </c:tx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 sz="800" dirty="0" smtClean="0">
                <a:effectLst/>
              </a:rPr>
              <a:t>Общее НПВ по 5 ДО с начала </a:t>
            </a:r>
            <a:r>
              <a:rPr lang="en-US" sz="800" dirty="0" smtClean="0">
                <a:effectLst/>
              </a:rPr>
              <a:t>cur</a:t>
            </a:r>
            <a:r>
              <a:rPr lang="ru-RU" sz="800" dirty="0" smtClean="0">
                <a:effectLst/>
              </a:rPr>
              <a:t> года </a:t>
            </a:r>
            <a:r>
              <a:rPr lang="en-US" sz="800" b="1" dirty="0" smtClean="0">
                <a:effectLst/>
              </a:rPr>
              <a:t>percent</a:t>
            </a:r>
            <a:r>
              <a:rPr lang="ru-RU" sz="800" b="1" dirty="0" smtClean="0">
                <a:effectLst/>
              </a:rPr>
              <a:t> %</a:t>
            </a:r>
            <a:endParaRPr lang="ru-RU" sz="800" dirty="0">
              <a:effectLst/>
            </a:endParaRPr>
          </a:p>
        </c:rich>
      </c:tx>
      <c:layout>
        <c:manualLayout>
          <c:xMode val="edge"/>
          <c:yMode val="edge"/>
          <c:x val="0.15405793520220237"/>
          <c:y val="5.5819268635724333E-3"/>
        </c:manualLayout>
      </c:layout>
      <c:overlay val="0"/>
      <c:spPr>
        <a:solidFill>
          <a:srgbClr val="FFFFFF"/>
        </a:solidFill>
        <a:ln>
          <a:solidFill>
            <a:schemeClr val="bg2"/>
          </a:solidFill>
        </a:ln>
      </c:spPr>
    </c:title>
    <c:autoTitleDeleted val="0"/>
    <c:plotArea>
      <c:layout>
        <c:manualLayout>
          <c:layoutTarget val="inner"/>
          <c:xMode val="edge"/>
          <c:yMode val="edge"/>
          <c:x val="6.6263441890291694E-2"/>
          <c:y val="2.7909634317862166E-2"/>
          <c:w val="0.74417176897500903"/>
          <c:h val="0.74689741561181422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Лист1!$B$1</c:f>
              <c:strCache>
                <c:ptCount val="1"/>
                <c:pt idx="0">
                  <c:v>Ремонт, час</c:v>
                </c:pt>
              </c:strCache>
            </c:strRef>
          </c:tx>
          <c:invertIfNegative val="0"/>
          <c:val>
            <c:numRef>
              <c:f>Лист1!$B$2:$B$13</c:f>
              <c:numCache>
                <c:formatCode>General</c:formatCode>
                <c:ptCount val="12"/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>Лист1!#REF!</c15:sqref>
                        </c15:formulaRef>
                      </c:ext>
                    </c:extLst>
                  </c:multiLvlStrRef>
                </c15:cat>
              </c15:filteredCategoryTitle>
            </c:ext>
          </c:extLst>
        </c:ser>
        <c:ser>
          <c:idx val="0"/>
          <c:order val="1"/>
          <c:tx>
            <c:strRef>
              <c:f>Лист1!$C$1</c:f>
              <c:strCache>
                <c:ptCount val="1"/>
                <c:pt idx="0">
                  <c:v>Простои, час</c:v>
                </c:pt>
              </c:strCache>
            </c:strRef>
          </c:tx>
          <c:spPr>
            <a:solidFill>
              <a:srgbClr val="848EA4"/>
            </a:solidFill>
          </c:spPr>
          <c:invertIfNegative val="0"/>
          <c:val>
            <c:numRef>
              <c:f>Лист1!$C$2:$C$13</c:f>
              <c:numCache>
                <c:formatCode>General</c:formatCode>
                <c:ptCount val="12"/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>Лист1!#REF!</c15:sqref>
                        </c15:formulaRef>
                      </c:ext>
                    </c:extLst>
                  </c:multiLvlStrRef>
                </c15:cat>
              </c15:filteredCategoryTitle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Осложнения, час</c:v>
                </c:pt>
              </c:strCache>
            </c:strRef>
          </c:tx>
          <c:spPr>
            <a:solidFill>
              <a:schemeClr val="accent5"/>
            </a:solidFill>
          </c:spPr>
          <c:invertIfNegative val="0"/>
          <c:val>
            <c:numRef>
              <c:f>Лист1!$D$2:$D$13</c:f>
              <c:numCache>
                <c:formatCode>General</c:formatCode>
                <c:ptCount val="12"/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>Лист1!#REF!</c15:sqref>
                        </c15:formulaRef>
                      </c:ext>
                    </c:extLst>
                  </c:multiLvlStrRef>
                </c15:cat>
              </c15:filteredCategoryTitle>
            </c:ext>
          </c:extLst>
        </c:ser>
        <c:ser>
          <c:idx val="3"/>
          <c:order val="3"/>
          <c:tx>
            <c:strRef>
              <c:f>Лист1!$E$1</c:f>
              <c:strCache>
                <c:ptCount val="1"/>
                <c:pt idx="0">
                  <c:v>Аварии, час</c:v>
                </c:pt>
              </c:strCache>
            </c:strRef>
          </c:tx>
          <c:spPr>
            <a:solidFill>
              <a:srgbClr val="545353"/>
            </a:solidFill>
          </c:spPr>
          <c:invertIfNegative val="0"/>
          <c:val>
            <c:numRef>
              <c:f>Лист1!$E$2:$E$13</c:f>
              <c:numCache>
                <c:formatCode>General</c:formatCode>
                <c:ptCount val="12"/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>Лист1!#REF!</c15:sqref>
                        </c15:formulaRef>
                      </c:ext>
                    </c:extLst>
                  </c:multiLvl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38294608"/>
        <c:axId val="338295168"/>
      </c:barChart>
      <c:lineChart>
        <c:grouping val="standard"/>
        <c:varyColors val="0"/>
        <c:ser>
          <c:idx val="4"/>
          <c:order val="4"/>
          <c:tx>
            <c:strRef>
              <c:f>Лист1!$G$1</c:f>
              <c:strCache>
                <c:ptCount val="1"/>
                <c:pt idx="0">
                  <c:v>Итого НПВ, %</c:v>
                </c:pt>
              </c:strCache>
            </c:strRef>
          </c:tx>
          <c:spPr>
            <a:ln w="19050">
              <a:solidFill>
                <a:srgbClr val="848EA4"/>
              </a:solidFill>
            </a:ln>
          </c:spPr>
          <c:marker>
            <c:symbol val="none"/>
          </c:marker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Лист1!$G$2:$G$13</c:f>
              <c:numCache>
                <c:formatCode>General</c:formatCode>
                <c:ptCount val="12"/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>Лист1!#REF!</c15:sqref>
                        </c15:formulaRef>
                      </c:ext>
                    </c:extLst>
                  </c:multiLvlStrRef>
                </c15:cat>
              </c15:filteredCategoryTitle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38296288"/>
        <c:axId val="338295728"/>
      </c:lineChart>
      <c:catAx>
        <c:axId val="3382946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295168"/>
        <c:crosses val="autoZero"/>
        <c:auto val="1"/>
        <c:lblAlgn val="ctr"/>
        <c:lblOffset val="100"/>
        <c:noMultiLvlLbl val="0"/>
      </c:catAx>
      <c:valAx>
        <c:axId val="338295168"/>
        <c:scaling>
          <c:orientation val="minMax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294608"/>
        <c:crosses val="autoZero"/>
        <c:crossBetween val="between"/>
      </c:valAx>
      <c:valAx>
        <c:axId val="338295728"/>
        <c:scaling>
          <c:orientation val="minMax"/>
        </c:scaling>
        <c:delete val="0"/>
        <c:axPos val="r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ru-RU"/>
          </a:p>
        </c:txPr>
        <c:crossAx val="338296288"/>
        <c:crosses val="max"/>
        <c:crossBetween val="between"/>
      </c:valAx>
      <c:catAx>
        <c:axId val="33829628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38295728"/>
        <c:crosses val="autoZero"/>
        <c:auto val="1"/>
        <c:lblAlgn val="ctr"/>
        <c:lblOffset val="100"/>
        <c:noMultiLvlLbl val="0"/>
      </c:catAx>
    </c:plotArea>
    <c:legend>
      <c:legendPos val="r"/>
      <c:layout>
        <c:manualLayout>
          <c:xMode val="edge"/>
          <c:yMode val="edge"/>
          <c:x val="0.83113767200306587"/>
          <c:y val="5.0738836146272837E-2"/>
          <c:w val="0.15307916937205318"/>
          <c:h val="0.9147837915234821"/>
        </c:manualLayout>
      </c:layout>
      <c:overlay val="0"/>
      <c:txPr>
        <a:bodyPr/>
        <a:lstStyle/>
        <a:p>
          <a:pPr>
            <a:defRPr sz="6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2975840475766657E-2"/>
          <c:y val="5.1400579872802096E-2"/>
          <c:w val="0.91630570936428957"/>
          <c:h val="0.4513878344068640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Лист!$A$3</c:f>
              <c:strCache>
                <c:ptCount val="1"/>
                <c:pt idx="0">
                  <c:v>НПВ за  month</c:v>
                </c:pt>
              </c:strCache>
            </c:strRef>
          </c:tx>
          <c:spPr>
            <a:solidFill>
              <a:schemeClr val="accent3">
                <a:lumMod val="60000"/>
                <a:lumOff val="40000"/>
              </a:schemeClr>
            </a:solidFill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Лист!$B$1</c:f>
              <c:strCache>
                <c:ptCount val="1"/>
                <c:pt idx="0">
                  <c:v>  </c:v>
                </c:pt>
              </c:strCache>
            </c:strRef>
          </c:cat>
          <c:val>
            <c:numRef>
              <c:f>Лист!$B$3</c:f>
              <c:numCache>
                <c:formatCode>0.0%</c:formatCode>
                <c:ptCount val="1"/>
              </c:numCache>
            </c:numRef>
          </c:val>
        </c:ser>
        <c:ser>
          <c:idx val="1"/>
          <c:order val="1"/>
          <c:tx>
            <c:strRef>
              <c:f>Лист!$A$2</c:f>
              <c:strCache>
                <c:ptCount val="1"/>
                <c:pt idx="0">
                  <c:v>НПВ с начала года</c:v>
                </c:pt>
              </c:strCache>
            </c:strRef>
          </c:tx>
          <c:spPr>
            <a:solidFill>
              <a:schemeClr val="bg1">
                <a:lumMod val="65000"/>
              </a:schemeClr>
            </a:solidFill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Лист!$B$1</c:f>
              <c:strCache>
                <c:ptCount val="1"/>
                <c:pt idx="0">
                  <c:v>  </c:v>
                </c:pt>
              </c:strCache>
            </c:strRef>
          </c:cat>
          <c:val>
            <c:numRef>
              <c:f>Лист!$B$2</c:f>
              <c:numCache>
                <c:formatCode>0.0%</c:formatCode>
                <c:ptCount val="1"/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38299088"/>
        <c:axId val="338299648"/>
      </c:barChart>
      <c:catAx>
        <c:axId val="3382990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ru-RU"/>
          </a:p>
        </c:txPr>
        <c:crossAx val="338299648"/>
        <c:crosses val="autoZero"/>
        <c:auto val="1"/>
        <c:lblAlgn val="ctr"/>
        <c:lblOffset val="100"/>
        <c:noMultiLvlLbl val="0"/>
      </c:catAx>
      <c:valAx>
        <c:axId val="33829964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ru-RU"/>
          </a:p>
        </c:txPr>
        <c:crossAx val="33829908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9.5975503062114664E-4"/>
          <c:y val="0.89364898989898989"/>
          <c:w val="0.99904031967451223"/>
          <c:h val="0.1063510101010101"/>
        </c:manualLayout>
      </c:layout>
      <c:overlay val="0"/>
      <c:txPr>
        <a:bodyPr/>
        <a:lstStyle/>
        <a:p>
          <a:pPr>
            <a:defRPr sz="800"/>
          </a:pPr>
          <a:endParaRPr lang="ru-RU"/>
        </a:p>
      </c:txPr>
    </c:legend>
    <c:plotVisOnly val="1"/>
    <c:dispBlanksAs val="gap"/>
    <c:showDLblsOverMax val="0"/>
  </c:chart>
  <c:externalData r:id="rId1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664160767311686E-2"/>
          <c:y val="7.7034790747156037E-2"/>
          <c:w val="0.89076853449024362"/>
          <c:h val="0.39352066942056946"/>
        </c:manualLayout>
      </c:layout>
      <c:barChart>
        <c:barDir val="col"/>
        <c:grouping val="clustered"/>
        <c:varyColors val="0"/>
        <c:ser>
          <c:idx val="0"/>
          <c:order val="0"/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Лист1!$A$2:$A$5</c:f>
              <c:numCache>
                <c:formatCode>General</c:formatCode>
                <c:ptCount val="4"/>
              </c:numCache>
            </c:numRef>
          </c:cat>
          <c:val>
            <c:numRef>
              <c:f>Лист1!$B$2:$B$5</c:f>
              <c:numCache>
                <c:formatCode>General</c:formatCode>
                <c:ptCount val="4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8301888"/>
        <c:axId val="338302448"/>
      </c:barChart>
      <c:catAx>
        <c:axId val="3383018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700000"/>
          <a:lstStyle/>
          <a:p>
            <a:pPr>
              <a:defRPr/>
            </a:pPr>
            <a:endParaRPr lang="ru-RU"/>
          </a:p>
        </c:txPr>
        <c:crossAx val="338302448"/>
        <c:crosses val="autoZero"/>
        <c:auto val="1"/>
        <c:lblAlgn val="ctr"/>
        <c:lblOffset val="100"/>
        <c:noMultiLvlLbl val="0"/>
      </c:catAx>
      <c:valAx>
        <c:axId val="33830244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extTo"/>
        <c:crossAx val="338301888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txPr>
    <a:bodyPr/>
    <a:lstStyle/>
    <a:p>
      <a:pPr>
        <a:defRPr sz="800"/>
      </a:pPr>
      <a:endParaRPr lang="ru-RU"/>
    </a:p>
  </c:tx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>
        <c:manualLayout>
          <c:layoutTarget val="inner"/>
          <c:xMode val="edge"/>
          <c:yMode val="edge"/>
          <c:x val="8.1664160767311686E-2"/>
          <c:y val="7.7034790747156037E-2"/>
          <c:w val="0.89076853449024362"/>
          <c:h val="0.393520669420569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Лист1!$A$2</c:f>
              <c:numCache>
                <c:formatCode>@</c:formatCode>
                <c:ptCount val="1"/>
              </c:numCache>
            </c:numRef>
          </c:cat>
          <c:val>
            <c:numRef>
              <c:f>Лист1!$B$2</c:f>
              <c:numCache>
                <c:formatCode>0%</c:formatCode>
                <c:ptCount val="1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38304688"/>
        <c:axId val="338305248"/>
      </c:barChart>
      <c:catAx>
        <c:axId val="3383046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 rot="-2700000"/>
          <a:lstStyle/>
          <a:p>
            <a:pPr>
              <a:defRPr/>
            </a:pPr>
            <a:endParaRPr lang="ru-RU"/>
          </a:p>
        </c:txPr>
        <c:crossAx val="338305248"/>
        <c:crosses val="autoZero"/>
        <c:auto val="1"/>
        <c:lblAlgn val="ctr"/>
        <c:lblOffset val="100"/>
        <c:noMultiLvlLbl val="0"/>
      </c:catAx>
      <c:valAx>
        <c:axId val="33830524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0%" sourceLinked="1"/>
        <c:majorTickMark val="out"/>
        <c:minorTickMark val="none"/>
        <c:tickLblPos val="nextTo"/>
        <c:crossAx val="338304688"/>
        <c:crosses val="autoZero"/>
        <c:crossBetween val="between"/>
      </c:valAx>
      <c:spPr>
        <a:ln>
          <a:noFill/>
        </a:ln>
      </c:spPr>
    </c:plotArea>
    <c:plotVisOnly val="1"/>
    <c:dispBlanksAs val="gap"/>
    <c:showDLblsOverMax val="0"/>
  </c:chart>
  <c:txPr>
    <a:bodyPr/>
    <a:lstStyle/>
    <a:p>
      <a:pPr>
        <a:defRPr sz="800"/>
      </a:pPr>
      <a:endParaRPr lang="ru-RU"/>
    </a:p>
  </c:tx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ru-RU" sz="1100" b="1" i="0" u="none" strike="noStrike" baseline="0" dirty="0" smtClean="0">
                <a:effectLst/>
              </a:rPr>
              <a:t>% НПВ подрядчиков по ЭБ за январь – </a:t>
            </a:r>
            <a:r>
              <a:rPr lang="en-US" sz="1100" b="1" i="0" u="none" strike="noStrike" baseline="0" dirty="0" smtClean="0">
                <a:effectLst/>
              </a:rPr>
              <a:t>month</a:t>
            </a:r>
            <a:r>
              <a:rPr lang="ru-RU" sz="1100" b="1" i="0" u="none" strike="noStrike" baseline="0" dirty="0" smtClean="0">
                <a:effectLst/>
              </a:rPr>
              <a:t> </a:t>
            </a:r>
            <a:r>
              <a:rPr lang="en-US" sz="1100" b="1" i="0" u="none" strike="noStrike" baseline="0" dirty="0" smtClean="0">
                <a:effectLst/>
              </a:rPr>
              <a:t>Cur</a:t>
            </a:r>
            <a:endParaRPr lang="ru-RU" sz="1100" dirty="0"/>
          </a:p>
        </c:rich>
      </c:tx>
      <c:layout>
        <c:manualLayout>
          <c:xMode val="edge"/>
          <c:yMode val="edge"/>
          <c:x val="0.29366805436834298"/>
          <c:y val="0"/>
        </c:manualLayout>
      </c:layout>
      <c:overlay val="1"/>
      <c:spPr>
        <a:ln w="12700">
          <a:solidFill>
            <a:schemeClr val="bg1">
              <a:lumMod val="50000"/>
            </a:schemeClr>
          </a:solidFill>
        </a:ln>
      </c:spPr>
    </c:title>
    <c:autoTitleDeleted val="0"/>
    <c:plotArea>
      <c:layout>
        <c:manualLayout>
          <c:layoutTarget val="inner"/>
          <c:xMode val="edge"/>
          <c:yMode val="edge"/>
          <c:x val="3.5072540719368217E-2"/>
          <c:y val="0.10185185185185185"/>
          <c:w val="0.95406429327864217"/>
          <c:h val="0.37030074365704291"/>
        </c:manualLayout>
      </c:layout>
      <c:barChart>
        <c:barDir val="col"/>
        <c:grouping val="clustered"/>
        <c:varyColors val="0"/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38306928"/>
        <c:axId val="338307488"/>
      </c:barChart>
      <c:catAx>
        <c:axId val="3383069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307488"/>
        <c:crosses val="autoZero"/>
        <c:auto val="1"/>
        <c:lblAlgn val="ctr"/>
        <c:lblOffset val="100"/>
        <c:noMultiLvlLbl val="0"/>
      </c:catAx>
      <c:valAx>
        <c:axId val="33830748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0.00%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3069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700"/>
      </a:pPr>
      <a:endParaRPr lang="ru-RU"/>
    </a:p>
  </c:txPr>
  <c:externalData r:id="rId1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ru-RU" sz="1100" b="1" i="0" u="none" strike="noStrike" baseline="0" dirty="0" smtClean="0">
                <a:effectLst/>
              </a:rPr>
              <a:t>% НПВ подрядчиков по ЗБС за январь – </a:t>
            </a:r>
            <a:r>
              <a:rPr lang="en-US" sz="1100" b="1" i="0" u="none" strike="noStrike" baseline="0" dirty="0" smtClean="0">
                <a:effectLst/>
              </a:rPr>
              <a:t>month</a:t>
            </a:r>
            <a:r>
              <a:rPr lang="ru-RU" sz="1100" b="1" i="0" u="none" strike="noStrike" baseline="0" dirty="0" smtClean="0">
                <a:effectLst/>
              </a:rPr>
              <a:t> </a:t>
            </a:r>
            <a:r>
              <a:rPr lang="en-US" sz="1100" b="1" i="0" u="none" strike="noStrike" baseline="0" dirty="0" smtClean="0">
                <a:effectLst/>
              </a:rPr>
              <a:t>Cur</a:t>
            </a:r>
            <a:endParaRPr lang="ru-RU" sz="1100" dirty="0"/>
          </a:p>
        </c:rich>
      </c:tx>
      <c:layout>
        <c:manualLayout>
          <c:xMode val="edge"/>
          <c:yMode val="edge"/>
          <c:x val="0.2884734795331021"/>
          <c:y val="0"/>
        </c:manualLayout>
      </c:layout>
      <c:overlay val="1"/>
      <c:spPr>
        <a:ln w="12700">
          <a:solidFill>
            <a:schemeClr val="bg1">
              <a:lumMod val="50000"/>
            </a:schemeClr>
          </a:solidFill>
        </a:ln>
      </c:spPr>
    </c:title>
    <c:autoTitleDeleted val="0"/>
    <c:plotArea>
      <c:layout>
        <c:manualLayout>
          <c:layoutTarget val="inner"/>
          <c:xMode val="edge"/>
          <c:yMode val="edge"/>
          <c:x val="4.2979231152978796E-2"/>
          <c:y val="0.10185185185185185"/>
          <c:w val="0.95406429327864217"/>
          <c:h val="0.35178222513852442"/>
        </c:manualLayout>
      </c:layout>
      <c:barChart>
        <c:barDir val="col"/>
        <c:grouping val="clustered"/>
        <c:varyColors val="0"/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38309168"/>
        <c:axId val="338309728"/>
      </c:barChart>
      <c:catAx>
        <c:axId val="33830916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309728"/>
        <c:crosses val="autoZero"/>
        <c:auto val="1"/>
        <c:lblAlgn val="ctr"/>
        <c:lblOffset val="100"/>
        <c:noMultiLvlLbl val="0"/>
      </c:catAx>
      <c:valAx>
        <c:axId val="33830972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0.0%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30916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700"/>
      </a:pPr>
      <a:endParaRPr lang="ru-RU"/>
    </a:p>
  </c:tx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ru-RU" sz="1000" b="1" dirty="0" smtClean="0">
                <a:effectLst/>
              </a:rPr>
              <a:t>% НПВ подрядчиков по ННБ за </a:t>
            </a:r>
            <a:r>
              <a:rPr lang="en-US" sz="1000" b="1" dirty="0" smtClean="0">
                <a:effectLst/>
              </a:rPr>
              <a:t>month1</a:t>
            </a:r>
            <a:r>
              <a:rPr lang="en-US" sz="1000" b="1" baseline="0" dirty="0" smtClean="0">
                <a:effectLst/>
              </a:rPr>
              <a:t> </a:t>
            </a:r>
            <a:r>
              <a:rPr lang="ru-RU" sz="1000" b="1" dirty="0" smtClean="0">
                <a:effectLst/>
              </a:rPr>
              <a:t>– </a:t>
            </a:r>
            <a:r>
              <a:rPr lang="en-US" sz="1000" b="1" dirty="0" smtClean="0">
                <a:effectLst/>
              </a:rPr>
              <a:t>month</a:t>
            </a:r>
            <a:r>
              <a:rPr lang="ru-RU" sz="1000" b="1" dirty="0" smtClean="0">
                <a:effectLst/>
              </a:rPr>
              <a:t> </a:t>
            </a:r>
            <a:r>
              <a:rPr lang="en-US" sz="1000" b="1" dirty="0" smtClean="0">
                <a:effectLst/>
              </a:rPr>
              <a:t>cur</a:t>
            </a:r>
            <a:r>
              <a:rPr lang="ru-RU" sz="1000" b="1" dirty="0" smtClean="0">
                <a:effectLst/>
              </a:rPr>
              <a:t> г.</a:t>
            </a:r>
            <a:endParaRPr lang="ru-RU" sz="1000" dirty="0">
              <a:effectLst/>
            </a:endParaRPr>
          </a:p>
        </c:rich>
      </c:tx>
      <c:layout>
        <c:manualLayout>
          <c:xMode val="edge"/>
          <c:yMode val="edge"/>
          <c:x val="0.30040008985538535"/>
          <c:y val="0"/>
        </c:manualLayout>
      </c:layout>
      <c:overlay val="1"/>
      <c:spPr>
        <a:ln w="12700">
          <a:solidFill>
            <a:schemeClr val="bg1">
              <a:lumMod val="50000"/>
            </a:schemeClr>
          </a:solidFill>
        </a:ln>
      </c:spPr>
    </c:title>
    <c:autoTitleDeleted val="0"/>
    <c:plotArea>
      <c:layout>
        <c:manualLayout>
          <c:layoutTarget val="inner"/>
          <c:xMode val="edge"/>
          <c:yMode val="edge"/>
          <c:x val="4.0015170389733144E-2"/>
          <c:y val="9.7222222222222224E-2"/>
          <c:w val="0.95406429327864217"/>
          <c:h val="0.37030074365704291"/>
        </c:manualLayout>
      </c:layout>
      <c:barChart>
        <c:barDir val="col"/>
        <c:grouping val="clustered"/>
        <c:varyColors val="0"/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38311408"/>
        <c:axId val="338311968"/>
      </c:barChart>
      <c:catAx>
        <c:axId val="33831140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311968"/>
        <c:crosses val="autoZero"/>
        <c:auto val="1"/>
        <c:lblAlgn val="ctr"/>
        <c:lblOffset val="100"/>
        <c:noMultiLvlLbl val="0"/>
      </c:catAx>
      <c:valAx>
        <c:axId val="33831196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0.0%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31140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700"/>
      </a:pPr>
      <a:endParaRPr lang="ru-RU"/>
    </a:p>
  </c:tx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/>
            </a:pPr>
            <a:r>
              <a:rPr lang="ru-RU" sz="1000" b="1" i="0" baseline="0" dirty="0" smtClean="0">
                <a:effectLst/>
              </a:rPr>
              <a:t>% НПВ по Растворным</a:t>
            </a:r>
            <a:r>
              <a:rPr lang="en-US" sz="1000" b="1" i="0" baseline="0" dirty="0" smtClean="0">
                <a:effectLst/>
              </a:rPr>
              <a:t> </a:t>
            </a:r>
            <a:r>
              <a:rPr lang="ru-RU" sz="1000" b="1" i="0" baseline="0" dirty="0" smtClean="0">
                <a:effectLst/>
              </a:rPr>
              <a:t>подрядчикам за </a:t>
            </a:r>
            <a:r>
              <a:rPr lang="en-US" sz="1000" b="1" i="0" baseline="0" dirty="0" smtClean="0">
                <a:effectLst/>
              </a:rPr>
              <a:t>month1 </a:t>
            </a:r>
            <a:r>
              <a:rPr lang="ru-RU" sz="1000" b="1" i="0" baseline="0" dirty="0" smtClean="0">
                <a:effectLst/>
              </a:rPr>
              <a:t>– </a:t>
            </a:r>
            <a:r>
              <a:rPr lang="en-US" sz="1000" b="1" i="0" baseline="0" dirty="0" smtClean="0">
                <a:effectLst/>
              </a:rPr>
              <a:t>month</a:t>
            </a:r>
            <a:r>
              <a:rPr lang="ru-RU" sz="1000" b="1" i="0" baseline="0" dirty="0" smtClean="0">
                <a:effectLst/>
              </a:rPr>
              <a:t> </a:t>
            </a:r>
            <a:r>
              <a:rPr lang="en-US" sz="1000" b="1" i="0" baseline="0" dirty="0" smtClean="0">
                <a:effectLst/>
              </a:rPr>
              <a:t>cur</a:t>
            </a:r>
            <a:r>
              <a:rPr lang="ru-RU" sz="1000" b="1" i="0" baseline="0" dirty="0" smtClean="0">
                <a:effectLst/>
              </a:rPr>
              <a:t> г.</a:t>
            </a:r>
            <a:endParaRPr lang="ru-RU" sz="1000" dirty="0">
              <a:effectLst/>
            </a:endParaRPr>
          </a:p>
        </c:rich>
      </c:tx>
      <c:layout>
        <c:manualLayout>
          <c:xMode val="edge"/>
          <c:yMode val="edge"/>
          <c:x val="0.26920708457200537"/>
          <c:y val="4.6296296296296294E-3"/>
        </c:manualLayout>
      </c:layout>
      <c:overlay val="1"/>
      <c:spPr>
        <a:ln w="12700">
          <a:solidFill>
            <a:schemeClr val="bg1">
              <a:lumMod val="50000"/>
            </a:schemeClr>
          </a:solidFill>
        </a:ln>
      </c:spPr>
    </c:title>
    <c:autoTitleDeleted val="0"/>
    <c:plotArea>
      <c:layout>
        <c:manualLayout>
          <c:layoutTarget val="inner"/>
          <c:xMode val="edge"/>
          <c:yMode val="edge"/>
          <c:x val="3.2597433286752457E-2"/>
          <c:y val="0.1111111111111111"/>
          <c:w val="0.95406429327864217"/>
          <c:h val="0.35178222513852442"/>
        </c:manualLayout>
      </c:layout>
      <c:barChart>
        <c:barDir val="col"/>
        <c:grouping val="clustered"/>
        <c:varyColors val="0"/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338313648"/>
        <c:axId val="338314208"/>
      </c:barChart>
      <c:catAx>
        <c:axId val="3383136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314208"/>
        <c:crosses val="autoZero"/>
        <c:auto val="1"/>
        <c:lblAlgn val="ctr"/>
        <c:lblOffset val="100"/>
        <c:noMultiLvlLbl val="0"/>
      </c:catAx>
      <c:valAx>
        <c:axId val="338314208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0.0%" sourceLinked="1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33831364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700"/>
      </a:pPr>
      <a:endParaRPr lang="ru-RU"/>
    </a:p>
  </c:txPr>
  <c:externalData r:id="rId1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 sz="800" dirty="0" smtClean="0">
                <a:effectLst/>
              </a:rPr>
              <a:t>Общее НПВ по </a:t>
            </a:r>
            <a:r>
              <a:rPr lang="en-US" sz="800" dirty="0" smtClean="0">
                <a:effectLst/>
              </a:rPr>
              <a:t>6</a:t>
            </a:r>
            <a:r>
              <a:rPr lang="ru-RU" sz="800" dirty="0" smtClean="0">
                <a:effectLst/>
              </a:rPr>
              <a:t> ДО с начала </a:t>
            </a:r>
            <a:r>
              <a:rPr lang="en-US" sz="800" dirty="0" smtClean="0">
                <a:effectLst/>
              </a:rPr>
              <a:t>cur</a:t>
            </a:r>
            <a:r>
              <a:rPr lang="ru-RU" sz="800" dirty="0" smtClean="0">
                <a:effectLst/>
              </a:rPr>
              <a:t> года </a:t>
            </a:r>
            <a:r>
              <a:rPr lang="en-US" sz="800" b="1" dirty="0" smtClean="0">
                <a:effectLst/>
              </a:rPr>
              <a:t>percent</a:t>
            </a:r>
            <a:r>
              <a:rPr lang="ru-RU" sz="800" b="1" dirty="0" smtClean="0">
                <a:effectLst/>
              </a:rPr>
              <a:t> </a:t>
            </a:r>
            <a:r>
              <a:rPr lang="ru-RU" sz="800" b="1" dirty="0" smtClean="0">
                <a:effectLst/>
              </a:rPr>
              <a:t>%</a:t>
            </a:r>
            <a:endParaRPr lang="ru-RU" sz="800" dirty="0">
              <a:effectLst/>
            </a:endParaRPr>
          </a:p>
        </c:rich>
      </c:tx>
      <c:layout>
        <c:manualLayout>
          <c:xMode val="edge"/>
          <c:yMode val="edge"/>
          <c:x val="0.18562438288526859"/>
          <c:y val="1.67457805907173E-2"/>
        </c:manualLayout>
      </c:layout>
      <c:overlay val="1"/>
      <c:spPr>
        <a:ln>
          <a:solidFill>
            <a:srgbClr val="545353"/>
          </a:solidFill>
        </a:ln>
      </c:spPr>
    </c:title>
    <c:autoTitleDeleted val="0"/>
    <c:plotArea>
      <c:layout>
        <c:manualLayout>
          <c:layoutTarget val="inner"/>
          <c:xMode val="edge"/>
          <c:yMode val="edge"/>
          <c:x val="6.3632904583369496E-2"/>
          <c:y val="0.10976015015041178"/>
          <c:w val="0.60941989195741186"/>
          <c:h val="0.7152842515069181"/>
        </c:manualLayout>
      </c:layout>
      <c:lineChart>
        <c:grouping val="standar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 вине буровых подрядчиков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Лист1!$C$2:$C$14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Лист1!$D$1</c:f>
              <c:strCache>
                <c:ptCount val="1"/>
                <c:pt idx="0">
                  <c:v>по вине подр. по ННБ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Лист1!$D$2:$D$14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Лист1!$E$1</c:f>
              <c:strCache>
                <c:ptCount val="1"/>
                <c:pt idx="0">
                  <c:v>по вине подрядчика по буровым растворам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Лист1!$E$2:$E$14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Лист1!$F$1</c:f>
              <c:strCache>
                <c:ptCount val="1"/>
                <c:pt idx="0">
                  <c:v>по вине подрядчика по цементированию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Лист1!$F$2:$F$14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Лист1!$G$1</c:f>
              <c:strCache>
                <c:ptCount val="1"/>
                <c:pt idx="0">
                  <c:v>по вине подр. по инж. сопр. спуска хвостовиков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Лист1!$G$2:$G$14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Лист1!$H$1</c:f>
              <c:strCache>
                <c:ptCount val="1"/>
                <c:pt idx="0">
                  <c:v>по вине других подрядчиков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Лист1!$H$2:$H$14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Лист1!$I$1</c:f>
              <c:strCache>
                <c:ptCount val="1"/>
                <c:pt idx="0">
                  <c:v>по вине Заказчика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Лист1!$I$2:$I$14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Лист1!$J$1</c:f>
              <c:strCache>
                <c:ptCount val="1"/>
                <c:pt idx="0">
                  <c:v>Итого НПВ, %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Лист1!$J$2:$J$14</c:f>
              <c:numCache>
                <c:formatCode>0.0%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97675104"/>
        <c:axId val="297673984"/>
      </c:lineChart>
      <c:catAx>
        <c:axId val="2976751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297673984"/>
        <c:crosses val="autoZero"/>
        <c:auto val="1"/>
        <c:lblAlgn val="ctr"/>
        <c:lblOffset val="100"/>
        <c:noMultiLvlLbl val="0"/>
      </c:catAx>
      <c:valAx>
        <c:axId val="297673984"/>
        <c:scaling>
          <c:orientation val="minMax"/>
          <c:max val="60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297675104"/>
        <c:crosses val="autoZero"/>
        <c:crossBetween val="between"/>
        <c:majorUnit val="100"/>
      </c:valAx>
    </c:plotArea>
    <c:legend>
      <c:legendPos val="r"/>
      <c:layout>
        <c:manualLayout>
          <c:xMode val="edge"/>
          <c:yMode val="edge"/>
          <c:x val="0.70912823372261835"/>
          <c:y val="3.634317862165963E-2"/>
          <c:w val="0.29087176627738165"/>
          <c:h val="0.90498593530239113"/>
        </c:manualLayout>
      </c:layout>
      <c:overlay val="0"/>
      <c:txPr>
        <a:bodyPr/>
        <a:lstStyle/>
        <a:p>
          <a:pPr>
            <a:defRPr sz="6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624598952228658"/>
          <c:y val="3.6956451249493878E-2"/>
          <c:w val="0.84057942597700253"/>
          <c:h val="0.747662265426304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НПВ в ЭБ за month</c:v>
                </c:pt>
              </c:strCache>
            </c:strRef>
          </c:tx>
          <c:spPr>
            <a:solidFill>
              <a:schemeClr val="accent2"/>
            </a:solidFill>
            <a:ln w="28575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0">
                    <a:solidFill>
                      <a:schemeClr val="tx2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Лист1!$B$1:$G$1</c:f>
              <c:strCache>
                <c:ptCount val="6"/>
                <c:pt idx="0">
                  <c:v>ННГ</c:v>
                </c:pt>
                <c:pt idx="1">
                  <c:v>МН</c:v>
                </c:pt>
                <c:pt idx="2">
                  <c:v>Хантос </c:v>
                </c:pt>
                <c:pt idx="3">
                  <c:v>Восток</c:v>
                </c:pt>
                <c:pt idx="4">
                  <c:v>ГПНО</c:v>
                </c:pt>
                <c:pt idx="5">
                  <c:v>НовыйПорт</c:v>
                </c:pt>
              </c:strCache>
            </c:strRef>
          </c:cat>
          <c:val>
            <c:numRef>
              <c:f>Лист1!$A$2:$G$2</c:f>
              <c:numCache>
                <c:formatCode>General</c:formatCode>
                <c:ptCount val="7"/>
                <c:pt idx="0" formatCode="0%">
                  <c:v>0</c:v>
                </c:pt>
              </c:numCache>
            </c:numRef>
          </c:val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НПВ в ЭБ с начала года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28575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0">
                    <a:solidFill>
                      <a:schemeClr val="tx2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Лист1!$B$1:$G$1</c:f>
              <c:strCache>
                <c:ptCount val="6"/>
                <c:pt idx="0">
                  <c:v>ННГ</c:v>
                </c:pt>
                <c:pt idx="1">
                  <c:v>МН</c:v>
                </c:pt>
                <c:pt idx="2">
                  <c:v>Хантос </c:v>
                </c:pt>
                <c:pt idx="3">
                  <c:v>Восток</c:v>
                </c:pt>
                <c:pt idx="4">
                  <c:v>ГПНО</c:v>
                </c:pt>
                <c:pt idx="5">
                  <c:v>НовыйПорт</c:v>
                </c:pt>
              </c:strCache>
            </c:strRef>
          </c:cat>
          <c:val>
            <c:numRef>
              <c:f>Лист1!$B$3:$G$3</c:f>
              <c:numCache>
                <c:formatCode>General</c:formatCode>
                <c:ptCount val="6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77749760"/>
        <c:axId val="168352272"/>
      </c:barChart>
      <c:lineChart>
        <c:grouping val="stacked"/>
        <c:varyColors val="0"/>
        <c:ser>
          <c:idx val="2"/>
          <c:order val="2"/>
          <c:tx>
            <c:strRef>
              <c:f>Лист1!$A$4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>
              <a:noFill/>
            </a:ln>
          </c:spPr>
          <c:marker>
            <c:symbol val="picture"/>
            <c:spPr>
              <a:blipFill>
                <a:blip xmlns:r="http://schemas.openxmlformats.org/officeDocument/2006/relationships" r:embed="rId1"/>
                <a:stretch>
                  <a:fillRect/>
                </a:stretch>
              </a:blip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1.8445655757586322E-2"/>
                  <c:y val="0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3834241818189741E-2"/>
                  <c:y val="0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8445655757586405E-2"/>
                  <c:y val="5.2794930356418858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3834241818189741E-2"/>
                  <c:y val="5.279493035641982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5.279493035641982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6000" bIns="0" anchor="ctr">
                <a:spAutoFit/>
              </a:bodyPr>
              <a:lstStyle/>
              <a:p>
                <a:pPr>
                  <a:defRPr sz="600" b="1">
                    <a:solidFill>
                      <a:srgbClr val="FF0000"/>
                    </a:solidFill>
                  </a:defRPr>
                </a:pPr>
                <a:endParaRPr lang="ru-RU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layout/>
                <c15:showLeaderLines val="1"/>
              </c:ext>
            </c:extLst>
          </c:dLbls>
          <c:cat>
            <c:strRef>
              <c:f>Лист1!$B$1:$G$1</c:f>
              <c:strCache>
                <c:ptCount val="6"/>
                <c:pt idx="0">
                  <c:v>ННГ</c:v>
                </c:pt>
                <c:pt idx="1">
                  <c:v>МН</c:v>
                </c:pt>
                <c:pt idx="2">
                  <c:v>Хантос </c:v>
                </c:pt>
                <c:pt idx="3">
                  <c:v>Восток</c:v>
                </c:pt>
                <c:pt idx="4">
                  <c:v>ГПНО</c:v>
                </c:pt>
                <c:pt idx="5">
                  <c:v>НовыйПорт</c:v>
                </c:pt>
              </c:strCache>
            </c:strRef>
          </c:cat>
          <c:val>
            <c:numRef>
              <c:f>Лист1!$B$4:$G$4</c:f>
              <c:numCache>
                <c:formatCode>General</c:formatCode>
                <c:ptCount val="6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7749760"/>
        <c:axId val="168352272"/>
      </c:lineChart>
      <c:catAx>
        <c:axId val="27774976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tx2"/>
                </a:solidFill>
              </a:defRPr>
            </a:pPr>
            <a:endParaRPr lang="ru-RU"/>
          </a:p>
        </c:txPr>
        <c:crossAx val="168352272"/>
        <c:crosses val="autoZero"/>
        <c:auto val="1"/>
        <c:lblAlgn val="ctr"/>
        <c:lblOffset val="100"/>
        <c:noMultiLvlLbl val="0"/>
      </c:catAx>
      <c:valAx>
        <c:axId val="168352272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277749760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2.4149648007506075E-2"/>
          <c:y val="0.87337863443210528"/>
          <c:w val="0.97363578399120398"/>
          <c:h val="0.12662136556789469"/>
        </c:manualLayout>
      </c:layout>
      <c:overlay val="0"/>
      <c:txPr>
        <a:bodyPr/>
        <a:lstStyle/>
        <a:p>
          <a:pPr>
            <a:defRPr sz="700" b="1">
              <a:solidFill>
                <a:srgbClr val="545353"/>
              </a:solidFill>
            </a:defRPr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/>
      </a:pPr>
      <a:endParaRPr lang="ru-RU"/>
    </a:p>
  </c:txPr>
  <c:externalData r:id="rId2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624598952228658"/>
          <c:y val="3.6956451249493878E-2"/>
          <c:w val="0.84057942597700253"/>
          <c:h val="0.747662265426304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Лист1!$A$2</c:f>
              <c:strCache>
                <c:ptCount val="1"/>
                <c:pt idx="0">
                  <c:v>НПВ в ЭБ за month</c:v>
                </c:pt>
              </c:strCache>
            </c:strRef>
          </c:tx>
          <c:spPr>
            <a:solidFill>
              <a:schemeClr val="accent2"/>
            </a:solidFill>
            <a:ln w="28575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0">
                    <a:solidFill>
                      <a:schemeClr val="tx2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</c:ext>
            </c:extLst>
          </c:dLbls>
          <c:cat>
            <c:strRef>
              <c:f>Лист1!$B$1:$G$1</c:f>
              <c:strCache>
                <c:ptCount val="6"/>
                <c:pt idx="0">
                  <c:v>ННГ</c:v>
                </c:pt>
                <c:pt idx="1">
                  <c:v>МН</c:v>
                </c:pt>
                <c:pt idx="2">
                  <c:v>Хантос </c:v>
                </c:pt>
                <c:pt idx="3">
                  <c:v>Восток</c:v>
                </c:pt>
                <c:pt idx="4">
                  <c:v>ГПНО</c:v>
                </c:pt>
                <c:pt idx="5">
                  <c:v>НовыйПорт</c:v>
                </c:pt>
              </c:strCache>
            </c:strRef>
          </c:cat>
          <c:val>
            <c:numRef>
              <c:f>Лист1!$A$2:$G$2</c:f>
              <c:numCache>
                <c:formatCode>General</c:formatCode>
                <c:ptCount val="7"/>
                <c:pt idx="0" formatCode="0%">
                  <c:v>0</c:v>
                </c:pt>
              </c:numCache>
            </c:numRef>
          </c:val>
        </c:ser>
        <c:ser>
          <c:idx val="1"/>
          <c:order val="1"/>
          <c:tx>
            <c:strRef>
              <c:f>Лист1!$A$3</c:f>
              <c:strCache>
                <c:ptCount val="1"/>
                <c:pt idx="0">
                  <c:v>НПВ в ЭБ с начала года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 w="28575">
              <a:noFill/>
            </a:ln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0">
                    <a:solidFill>
                      <a:schemeClr val="tx2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Лист1!$B$1:$G$1</c:f>
              <c:strCache>
                <c:ptCount val="6"/>
                <c:pt idx="0">
                  <c:v>ННГ</c:v>
                </c:pt>
                <c:pt idx="1">
                  <c:v>МН</c:v>
                </c:pt>
                <c:pt idx="2">
                  <c:v>Хантос </c:v>
                </c:pt>
                <c:pt idx="3">
                  <c:v>Восток</c:v>
                </c:pt>
                <c:pt idx="4">
                  <c:v>ГПНО</c:v>
                </c:pt>
                <c:pt idx="5">
                  <c:v>НовыйПорт</c:v>
                </c:pt>
              </c:strCache>
            </c:strRef>
          </c:cat>
          <c:val>
            <c:numRef>
              <c:f>Лист1!$B$3:$G$3</c:f>
              <c:numCache>
                <c:formatCode>General</c:formatCode>
                <c:ptCount val="6"/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310367328"/>
        <c:axId val="310367888"/>
      </c:barChart>
      <c:lineChart>
        <c:grouping val="stacked"/>
        <c:varyColors val="0"/>
        <c:ser>
          <c:idx val="2"/>
          <c:order val="2"/>
          <c:tx>
            <c:strRef>
              <c:f>Лист1!$A$4</c:f>
              <c:strCache>
                <c:ptCount val="1"/>
                <c:pt idx="0">
                  <c:v>плановый показатель</c:v>
                </c:pt>
              </c:strCache>
            </c:strRef>
          </c:tx>
          <c:spPr>
            <a:ln>
              <a:noFill/>
            </a:ln>
          </c:spPr>
          <c:marker>
            <c:symbol val="picture"/>
            <c:spPr>
              <a:blipFill>
                <a:blip xmlns:r="http://schemas.openxmlformats.org/officeDocument/2006/relationships" r:embed="rId1"/>
                <a:stretch>
                  <a:fillRect/>
                </a:stretch>
              </a:blipFill>
              <a:ln>
                <a:noFill/>
              </a:ln>
            </c:spPr>
          </c:marker>
          <c:dLbls>
            <c:dLbl>
              <c:idx val="0"/>
              <c:layout>
                <c:manualLayout>
                  <c:x val="-1.8445655757586322E-2"/>
                  <c:y val="0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1"/>
              <c:layout>
                <c:manualLayout>
                  <c:x val="-1.3834241818189741E-2"/>
                  <c:y val="0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2"/>
              <c:layout>
                <c:manualLayout>
                  <c:x val="-1.8445655757586405E-2"/>
                  <c:y val="5.2794930356418858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3"/>
              <c:layout>
                <c:manualLayout>
                  <c:x val="-1.3834241818189741E-2"/>
                  <c:y val="5.279493035641982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dLbl>
              <c:idx val="4"/>
              <c:layout>
                <c:manualLayout>
                  <c:x val="0"/>
                  <c:y val="5.2794930356419821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6000" bIns="0" anchor="ctr">
                <a:spAutoFit/>
              </a:bodyPr>
              <a:lstStyle/>
              <a:p>
                <a:pPr>
                  <a:defRPr sz="600" b="1">
                    <a:solidFill>
                      <a:srgbClr val="FF0000"/>
                    </a:solidFill>
                  </a:defRPr>
                </a:pPr>
                <a:endParaRPr lang="ru-RU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layout/>
                <c15:showLeaderLines val="1"/>
              </c:ext>
            </c:extLst>
          </c:dLbls>
          <c:cat>
            <c:strRef>
              <c:f>Лист1!$B$1:$G$1</c:f>
              <c:strCache>
                <c:ptCount val="6"/>
                <c:pt idx="0">
                  <c:v>ННГ</c:v>
                </c:pt>
                <c:pt idx="1">
                  <c:v>МН</c:v>
                </c:pt>
                <c:pt idx="2">
                  <c:v>Хантос </c:v>
                </c:pt>
                <c:pt idx="3">
                  <c:v>Восток</c:v>
                </c:pt>
                <c:pt idx="4">
                  <c:v>ГПНО</c:v>
                </c:pt>
                <c:pt idx="5">
                  <c:v>НовыйПорт</c:v>
                </c:pt>
              </c:strCache>
            </c:strRef>
          </c:cat>
          <c:val>
            <c:numRef>
              <c:f>Лист1!$B$4:$G$4</c:f>
              <c:numCache>
                <c:formatCode>General</c:formatCode>
                <c:ptCount val="6"/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10367328"/>
        <c:axId val="310367888"/>
      </c:lineChart>
      <c:catAx>
        <c:axId val="31036732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600" b="0">
                <a:solidFill>
                  <a:schemeClr val="tx2"/>
                </a:solidFill>
              </a:defRPr>
            </a:pPr>
            <a:endParaRPr lang="ru-RU"/>
          </a:p>
        </c:txPr>
        <c:crossAx val="310367888"/>
        <c:crosses val="autoZero"/>
        <c:auto val="1"/>
        <c:lblAlgn val="ctr"/>
        <c:lblOffset val="100"/>
        <c:noMultiLvlLbl val="0"/>
      </c:catAx>
      <c:valAx>
        <c:axId val="310367888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310367328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2.4149648007506075E-2"/>
          <c:y val="0.87337863443210528"/>
          <c:w val="0.97363578399120398"/>
          <c:h val="0.12662136556789469"/>
        </c:manualLayout>
      </c:layout>
      <c:overlay val="0"/>
      <c:txPr>
        <a:bodyPr/>
        <a:lstStyle/>
        <a:p>
          <a:pPr>
            <a:defRPr sz="700" b="1">
              <a:solidFill>
                <a:srgbClr val="545353"/>
              </a:solidFill>
            </a:defRPr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700"/>
      </a:pPr>
      <a:endParaRPr lang="ru-RU"/>
    </a:p>
  </c:txPr>
  <c:externalData r:id="rId2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ru-RU" sz="800" dirty="0" smtClean="0">
                <a:effectLst/>
              </a:rPr>
              <a:t>Общее НПВ по </a:t>
            </a:r>
            <a:r>
              <a:rPr lang="en-US" sz="800" dirty="0" smtClean="0">
                <a:effectLst/>
              </a:rPr>
              <a:t>6</a:t>
            </a:r>
            <a:r>
              <a:rPr lang="ru-RU" sz="800" dirty="0" smtClean="0">
                <a:effectLst/>
              </a:rPr>
              <a:t> ДО с начала </a:t>
            </a:r>
            <a:r>
              <a:rPr lang="en-US" sz="800" dirty="0" smtClean="0">
                <a:effectLst/>
              </a:rPr>
              <a:t>cur</a:t>
            </a:r>
            <a:r>
              <a:rPr lang="ru-RU" sz="800" dirty="0" smtClean="0">
                <a:effectLst/>
              </a:rPr>
              <a:t> года </a:t>
            </a:r>
            <a:r>
              <a:rPr lang="en-US" sz="800" b="1" dirty="0" smtClean="0">
                <a:effectLst/>
              </a:rPr>
              <a:t>percent</a:t>
            </a:r>
            <a:r>
              <a:rPr lang="ru-RU" sz="800" b="1" dirty="0" smtClean="0">
                <a:effectLst/>
              </a:rPr>
              <a:t> </a:t>
            </a:r>
            <a:r>
              <a:rPr lang="ru-RU" sz="800" b="1" dirty="0" smtClean="0">
                <a:effectLst/>
              </a:rPr>
              <a:t>%</a:t>
            </a:r>
            <a:endParaRPr lang="ru-RU" sz="800" dirty="0">
              <a:effectLst/>
            </a:endParaRPr>
          </a:p>
        </c:rich>
      </c:tx>
      <c:layout>
        <c:manualLayout>
          <c:xMode val="edge"/>
          <c:yMode val="edge"/>
          <c:x val="0.18562438288526859"/>
          <c:y val="1.67457805907173E-2"/>
        </c:manualLayout>
      </c:layout>
      <c:overlay val="1"/>
      <c:spPr>
        <a:ln>
          <a:solidFill>
            <a:srgbClr val="545353"/>
          </a:solidFill>
        </a:ln>
      </c:spPr>
    </c:title>
    <c:autoTitleDeleted val="0"/>
    <c:plotArea>
      <c:layout>
        <c:manualLayout>
          <c:layoutTarget val="inner"/>
          <c:xMode val="edge"/>
          <c:yMode val="edge"/>
          <c:x val="6.3632904583369496E-2"/>
          <c:y val="0.10976015015041178"/>
          <c:w val="0.60941989195741186"/>
          <c:h val="0.7152842515069181"/>
        </c:manualLayout>
      </c:layout>
      <c:lineChart>
        <c:grouping val="standard"/>
        <c:varyColors val="0"/>
        <c:ser>
          <c:idx val="0"/>
          <c:order val="0"/>
          <c:tx>
            <c:strRef>
              <c:f>Лист1!$C$1</c:f>
              <c:strCache>
                <c:ptCount val="1"/>
                <c:pt idx="0">
                  <c:v>по вине буровых подрядчиков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Лист1!$C$2:$C$14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Лист1!$D$1</c:f>
              <c:strCache>
                <c:ptCount val="1"/>
                <c:pt idx="0">
                  <c:v>по вине подр. по ННБ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Лист1!$D$2:$D$14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Лист1!$E$1</c:f>
              <c:strCache>
                <c:ptCount val="1"/>
                <c:pt idx="0">
                  <c:v>по вине подрядчика по буровым растворам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Лист1!$E$2:$E$14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Лист1!$F$1</c:f>
              <c:strCache>
                <c:ptCount val="1"/>
                <c:pt idx="0">
                  <c:v>по вине подрядчика по цементированию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Лист1!$F$2:$F$14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Лист1!$G$1</c:f>
              <c:strCache>
                <c:ptCount val="1"/>
                <c:pt idx="0">
                  <c:v>по вине подр. по инж. сопр. спуска хвостовиков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Лист1!$G$2:$G$14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Лист1!$H$1</c:f>
              <c:strCache>
                <c:ptCount val="1"/>
                <c:pt idx="0">
                  <c:v>по вине других подрядчиков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Лист1!$H$2:$H$14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Лист1!$I$1</c:f>
              <c:strCache>
                <c:ptCount val="1"/>
                <c:pt idx="0">
                  <c:v>по вине Заказчика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Лист1!$I$2:$I$14</c:f>
              <c:numCache>
                <c:formatCode>0.0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Лист1!$J$1</c:f>
              <c:strCache>
                <c:ptCount val="1"/>
                <c:pt idx="0">
                  <c:v>Итого НПВ, %</c:v>
                </c:pt>
              </c:strCache>
            </c:strRef>
          </c:tx>
          <c:marker>
            <c:symbol val="none"/>
          </c:marker>
          <c:cat>
            <c:strRef>
              <c:f>Лист1!$B$2:$B$14</c:f>
              <c:strCache>
                <c:ptCount val="13"/>
                <c:pt idx="0">
                  <c:v>last год</c:v>
                </c:pt>
                <c:pt idx="1">
                  <c:v>Январь</c:v>
                </c:pt>
                <c:pt idx="2">
                  <c:v>Февраль</c:v>
                </c:pt>
                <c:pt idx="3">
                  <c:v>Март</c:v>
                </c:pt>
                <c:pt idx="4">
                  <c:v>Апрель</c:v>
                </c:pt>
                <c:pt idx="5">
                  <c:v>Май</c:v>
                </c:pt>
                <c:pt idx="6">
                  <c:v>Июнь</c:v>
                </c:pt>
                <c:pt idx="7">
                  <c:v>Июль</c:v>
                </c:pt>
                <c:pt idx="8">
                  <c:v>Август</c:v>
                </c:pt>
                <c:pt idx="9">
                  <c:v>Сентябрь</c:v>
                </c:pt>
                <c:pt idx="10">
                  <c:v>Октябрь</c:v>
                </c:pt>
                <c:pt idx="11">
                  <c:v>Ноябрь</c:v>
                </c:pt>
                <c:pt idx="12">
                  <c:v>Декабрь</c:v>
                </c:pt>
              </c:strCache>
            </c:strRef>
          </c:cat>
          <c:val>
            <c:numRef>
              <c:f>Лист1!$J$2:$J$14</c:f>
              <c:numCache>
                <c:formatCode>0.0%</c:formatCode>
                <c:ptCount val="13"/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97292400"/>
        <c:axId val="297292960"/>
      </c:lineChart>
      <c:catAx>
        <c:axId val="29729240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297292960"/>
        <c:crosses val="autoZero"/>
        <c:auto val="1"/>
        <c:lblAlgn val="ctr"/>
        <c:lblOffset val="100"/>
        <c:noMultiLvlLbl val="0"/>
      </c:catAx>
      <c:valAx>
        <c:axId val="297292960"/>
        <c:scaling>
          <c:orientation val="minMax"/>
          <c:max val="600"/>
        </c:scaling>
        <c:delete val="0"/>
        <c:axPos val="l"/>
        <c:majorGridlines/>
        <c:numFmt formatCode="0" sourceLinked="0"/>
        <c:majorTickMark val="out"/>
        <c:minorTickMark val="none"/>
        <c:tickLblPos val="nextTo"/>
        <c:txPr>
          <a:bodyPr/>
          <a:lstStyle/>
          <a:p>
            <a:pPr>
              <a:defRPr sz="600"/>
            </a:pPr>
            <a:endParaRPr lang="ru-RU"/>
          </a:p>
        </c:txPr>
        <c:crossAx val="297292400"/>
        <c:crosses val="autoZero"/>
        <c:crossBetween val="between"/>
        <c:majorUnit val="100"/>
      </c:valAx>
    </c:plotArea>
    <c:legend>
      <c:legendPos val="r"/>
      <c:layout>
        <c:manualLayout>
          <c:xMode val="edge"/>
          <c:yMode val="edge"/>
          <c:x val="0.70912823372261835"/>
          <c:y val="3.634317862165963E-2"/>
          <c:w val="0.29087176627738165"/>
          <c:h val="0.90498593530239113"/>
        </c:manualLayout>
      </c:layout>
      <c:overlay val="0"/>
      <c:txPr>
        <a:bodyPr/>
        <a:lstStyle/>
        <a:p>
          <a:pPr>
            <a:defRPr sz="600"/>
          </a:pPr>
          <a:endParaRPr lang="ru-RU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4EA893-088D-493E-862C-E55EBBFDE947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AC4038F7-684A-4A08-9D96-D3A1B78CF907}">
      <dgm:prSet phldrT="[Текст]" custT="1"/>
      <dgm:spPr>
        <a:solidFill>
          <a:schemeClr val="accent2">
            <a:lumMod val="20000"/>
            <a:lumOff val="80000"/>
          </a:schemeClr>
        </a:solidFill>
        <a:ln w="12700">
          <a:solidFill>
            <a:srgbClr val="545353"/>
          </a:solidFill>
        </a:ln>
      </dgm:spPr>
      <dgm:t>
        <a:bodyPr anchor="ctr"/>
        <a:lstStyle/>
        <a:p>
          <a:r>
            <a:rPr lang="en-US" sz="8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rPr>
            <a:t>0</a:t>
          </a:r>
        </a:p>
      </dgm:t>
    </dgm:pt>
    <dgm:pt modelId="{432A36B3-A8FE-441C-BAAB-855D0564CDF7}" type="parTrans" cxnId="{5DB40D71-3F49-4EE1-9542-AD226F1E1BE0}">
      <dgm:prSet/>
      <dgm:spPr/>
      <dgm:t>
        <a:bodyPr/>
        <a:lstStyle/>
        <a:p>
          <a:endParaRPr lang="ru-RU" sz="1000" b="1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E8CFD624-7502-4290-8BC3-579A9947EC9F}" type="sibTrans" cxnId="{5DB40D71-3F49-4EE1-9542-AD226F1E1BE0}">
      <dgm:prSet/>
      <dgm:spPr/>
      <dgm:t>
        <a:bodyPr/>
        <a:lstStyle/>
        <a:p>
          <a:endParaRPr lang="ru-RU" sz="1000" b="1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31D963EB-D534-4C37-A3E7-BDD9A429C5D7}">
      <dgm:prSet phldrT="[Текст]" custT="1"/>
      <dgm:spPr>
        <a:solidFill>
          <a:schemeClr val="accent2">
            <a:lumMod val="40000"/>
            <a:lumOff val="60000"/>
          </a:schemeClr>
        </a:solidFill>
        <a:ln w="12700">
          <a:solidFill>
            <a:srgbClr val="545353"/>
          </a:solidFill>
        </a:ln>
      </dgm:spPr>
      <dgm:t>
        <a:bodyPr/>
        <a:lstStyle/>
        <a:p>
          <a:r>
            <a:rPr lang="en-US" sz="800" b="1" dirty="0" smtClean="0">
              <a:solidFill>
                <a:srgbClr val="545353"/>
              </a:solidFill>
              <a:latin typeface="Arial" pitchFamily="34" charset="0"/>
              <a:cs typeface="Arial" pitchFamily="34" charset="0"/>
            </a:rPr>
            <a:t>0</a:t>
          </a:r>
          <a:endParaRPr lang="ru-RU" sz="800" b="1" dirty="0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6FAE8631-CBD1-484C-AFE6-660BEC889D05}" type="parTrans" cxnId="{EFDB1DF0-25E5-422A-BBAC-BDAF111E211E}">
      <dgm:prSet/>
      <dgm:spPr/>
      <dgm:t>
        <a:bodyPr/>
        <a:lstStyle/>
        <a:p>
          <a:endParaRPr lang="ru-RU" sz="1000" b="1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77A1C88D-3D52-4A73-913E-AA75D2DD9C75}" type="sibTrans" cxnId="{EFDB1DF0-25E5-422A-BBAC-BDAF111E211E}">
      <dgm:prSet/>
      <dgm:spPr/>
      <dgm:t>
        <a:bodyPr/>
        <a:lstStyle/>
        <a:p>
          <a:endParaRPr lang="ru-RU" sz="1000" b="1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2A219C1B-BAEC-4E2D-8942-6C7B3C1F1DAE}">
      <dgm:prSet phldrT="[Текст]" custT="1"/>
      <dgm:spPr>
        <a:solidFill>
          <a:srgbClr val="E1E1E1"/>
        </a:solidFill>
        <a:ln w="12700">
          <a:solidFill>
            <a:srgbClr val="545353"/>
          </a:solidFill>
        </a:ln>
      </dgm:spPr>
      <dgm:t>
        <a:bodyPr/>
        <a:lstStyle/>
        <a:p>
          <a:r>
            <a:rPr lang="en-US" sz="800" b="1" dirty="0" smtClean="0">
              <a:solidFill>
                <a:srgbClr val="545353"/>
              </a:solidFill>
              <a:latin typeface="Arial" pitchFamily="34" charset="0"/>
              <a:cs typeface="Arial" pitchFamily="34" charset="0"/>
            </a:rPr>
            <a:t>0</a:t>
          </a:r>
          <a:endParaRPr lang="ru-RU" sz="800" b="1" dirty="0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37E1CF57-DA02-44AD-A72E-7C5C4058F948}" type="parTrans" cxnId="{8FB67CD9-4570-4706-B46C-874EB1E8E8EF}">
      <dgm:prSet/>
      <dgm:spPr/>
      <dgm:t>
        <a:bodyPr/>
        <a:lstStyle/>
        <a:p>
          <a:endParaRPr lang="ru-RU" sz="1000" b="1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A775456F-3E0D-429F-8AA7-D7968358DC90}" type="sibTrans" cxnId="{8FB67CD9-4570-4706-B46C-874EB1E8E8EF}">
      <dgm:prSet/>
      <dgm:spPr/>
      <dgm:t>
        <a:bodyPr/>
        <a:lstStyle/>
        <a:p>
          <a:endParaRPr lang="ru-RU" sz="1000" b="1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CFE34450-819A-4340-9698-ADD308EF0220}">
      <dgm:prSet custT="1"/>
      <dgm:spPr>
        <a:solidFill>
          <a:schemeClr val="bg1">
            <a:lumMod val="65000"/>
          </a:schemeClr>
        </a:solidFill>
        <a:ln w="12700">
          <a:solidFill>
            <a:srgbClr val="545353"/>
          </a:solidFill>
        </a:ln>
      </dgm:spPr>
      <dgm:t>
        <a:bodyPr/>
        <a:lstStyle/>
        <a:p>
          <a:r>
            <a:rPr lang="en-US" sz="800" b="1" dirty="0" smtClean="0">
              <a:solidFill>
                <a:srgbClr val="545353"/>
              </a:solidFill>
            </a:rPr>
            <a:t>0</a:t>
          </a:r>
          <a:endParaRPr lang="ru-RU" sz="800" b="1" dirty="0">
            <a:solidFill>
              <a:srgbClr val="545353"/>
            </a:solidFill>
          </a:endParaRPr>
        </a:p>
      </dgm:t>
    </dgm:pt>
    <dgm:pt modelId="{EF4F58FF-2128-4D09-A876-E5A64D1FC8AD}" type="parTrans" cxnId="{0D545BD3-F7C2-4CB3-9550-C4B70D5464C4}">
      <dgm:prSet/>
      <dgm:spPr/>
      <dgm:t>
        <a:bodyPr/>
        <a:lstStyle/>
        <a:p>
          <a:endParaRPr lang="ru-RU">
            <a:solidFill>
              <a:srgbClr val="545353"/>
            </a:solidFill>
          </a:endParaRPr>
        </a:p>
      </dgm:t>
    </dgm:pt>
    <dgm:pt modelId="{FC0F5929-8F98-4B49-82AA-AEDAB34A2163}" type="sibTrans" cxnId="{0D545BD3-F7C2-4CB3-9550-C4B70D5464C4}">
      <dgm:prSet/>
      <dgm:spPr/>
      <dgm:t>
        <a:bodyPr/>
        <a:lstStyle/>
        <a:p>
          <a:endParaRPr lang="ru-RU">
            <a:solidFill>
              <a:srgbClr val="545353"/>
            </a:solidFill>
          </a:endParaRPr>
        </a:p>
      </dgm:t>
    </dgm:pt>
    <dgm:pt modelId="{AACF04F9-D963-489E-A246-2E03E88FEE50}" type="pres">
      <dgm:prSet presAssocID="{564EA893-088D-493E-862C-E55EBBFDE94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8D6C9F1-324F-4306-8485-0C38DB0DF125}" type="pres">
      <dgm:prSet presAssocID="{AC4038F7-684A-4A08-9D96-D3A1B78CF907}" presName="Name8" presStyleCnt="0"/>
      <dgm:spPr/>
    </dgm:pt>
    <dgm:pt modelId="{13209CEB-2683-4D51-842D-4E8D2D0C4F09}" type="pres">
      <dgm:prSet presAssocID="{AC4038F7-684A-4A08-9D96-D3A1B78CF907}" presName="level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C3F15E4-DFEF-40D0-AD2C-49DD7AE1FA58}" type="pres">
      <dgm:prSet presAssocID="{AC4038F7-684A-4A08-9D96-D3A1B78CF90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6D0A4A-844B-41F6-9387-E7E447E298F4}" type="pres">
      <dgm:prSet presAssocID="{31D963EB-D534-4C37-A3E7-BDD9A429C5D7}" presName="Name8" presStyleCnt="0"/>
      <dgm:spPr/>
    </dgm:pt>
    <dgm:pt modelId="{2FCB1A14-5A60-4FD0-9956-35979512E622}" type="pres">
      <dgm:prSet presAssocID="{31D963EB-D534-4C37-A3E7-BDD9A429C5D7}" presName="level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030DB67-620B-46BA-B0AD-7FE26009897A}" type="pres">
      <dgm:prSet presAssocID="{31D963EB-D534-4C37-A3E7-BDD9A429C5D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D3D64AB-0C04-44F9-A013-CFBC3E99C2A6}" type="pres">
      <dgm:prSet presAssocID="{2A219C1B-BAEC-4E2D-8942-6C7B3C1F1DAE}" presName="Name8" presStyleCnt="0"/>
      <dgm:spPr/>
    </dgm:pt>
    <dgm:pt modelId="{E1161483-6400-4736-9E6B-278E8EB4EF9B}" type="pres">
      <dgm:prSet presAssocID="{2A219C1B-BAEC-4E2D-8942-6C7B3C1F1DAE}" presName="level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8867A93-85BE-4716-9B64-02B9E9553718}" type="pres">
      <dgm:prSet presAssocID="{2A219C1B-BAEC-4E2D-8942-6C7B3C1F1DAE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10E0154-49A8-4F62-990F-23176AC6C9A1}" type="pres">
      <dgm:prSet presAssocID="{CFE34450-819A-4340-9698-ADD308EF0220}" presName="Name8" presStyleCnt="0"/>
      <dgm:spPr/>
    </dgm:pt>
    <dgm:pt modelId="{79519AF9-32DE-46BA-8B98-26D77BFA71E3}" type="pres">
      <dgm:prSet presAssocID="{CFE34450-819A-4340-9698-ADD308EF0220}" presName="level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3DA53B6-5313-4BE8-ADF6-55D74FCD0561}" type="pres">
      <dgm:prSet presAssocID="{CFE34450-819A-4340-9698-ADD308EF0220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0CE3B1B-8368-4807-99AB-10294E92F295}" type="presOf" srcId="{31D963EB-D534-4C37-A3E7-BDD9A429C5D7}" destId="{2FCB1A14-5A60-4FD0-9956-35979512E622}" srcOrd="0" destOrd="0" presId="urn:microsoft.com/office/officeart/2005/8/layout/pyramid1"/>
    <dgm:cxn modelId="{0D545BD3-F7C2-4CB3-9550-C4B70D5464C4}" srcId="{564EA893-088D-493E-862C-E55EBBFDE947}" destId="{CFE34450-819A-4340-9698-ADD308EF0220}" srcOrd="3" destOrd="0" parTransId="{EF4F58FF-2128-4D09-A876-E5A64D1FC8AD}" sibTransId="{FC0F5929-8F98-4B49-82AA-AEDAB34A2163}"/>
    <dgm:cxn modelId="{AC608069-B1B7-45EA-96AE-2A701165D85F}" type="presOf" srcId="{31D963EB-D534-4C37-A3E7-BDD9A429C5D7}" destId="{D030DB67-620B-46BA-B0AD-7FE26009897A}" srcOrd="1" destOrd="0" presId="urn:microsoft.com/office/officeart/2005/8/layout/pyramid1"/>
    <dgm:cxn modelId="{DEB0DA92-7047-4921-8826-FB3A184DF608}" type="presOf" srcId="{2A219C1B-BAEC-4E2D-8942-6C7B3C1F1DAE}" destId="{E1161483-6400-4736-9E6B-278E8EB4EF9B}" srcOrd="0" destOrd="0" presId="urn:microsoft.com/office/officeart/2005/8/layout/pyramid1"/>
    <dgm:cxn modelId="{8FB67CD9-4570-4706-B46C-874EB1E8E8EF}" srcId="{564EA893-088D-493E-862C-E55EBBFDE947}" destId="{2A219C1B-BAEC-4E2D-8942-6C7B3C1F1DAE}" srcOrd="2" destOrd="0" parTransId="{37E1CF57-DA02-44AD-A72E-7C5C4058F948}" sibTransId="{A775456F-3E0D-429F-8AA7-D7968358DC90}"/>
    <dgm:cxn modelId="{B0FAAD4C-B50A-4FA6-8257-D75803E605BF}" type="presOf" srcId="{AC4038F7-684A-4A08-9D96-D3A1B78CF907}" destId="{0C3F15E4-DFEF-40D0-AD2C-49DD7AE1FA58}" srcOrd="1" destOrd="0" presId="urn:microsoft.com/office/officeart/2005/8/layout/pyramid1"/>
    <dgm:cxn modelId="{BEC0B0A8-ED7C-486A-B57A-D6C8FDB42876}" type="presOf" srcId="{2A219C1B-BAEC-4E2D-8942-6C7B3C1F1DAE}" destId="{B8867A93-85BE-4716-9B64-02B9E9553718}" srcOrd="1" destOrd="0" presId="urn:microsoft.com/office/officeart/2005/8/layout/pyramid1"/>
    <dgm:cxn modelId="{7FA8F7BB-EA03-4743-A094-B830EAF97BC8}" type="presOf" srcId="{CFE34450-819A-4340-9698-ADD308EF0220}" destId="{79519AF9-32DE-46BA-8B98-26D77BFA71E3}" srcOrd="0" destOrd="0" presId="urn:microsoft.com/office/officeart/2005/8/layout/pyramid1"/>
    <dgm:cxn modelId="{FFD06405-F2BA-4F45-8BE2-D524EE3EA971}" type="presOf" srcId="{AC4038F7-684A-4A08-9D96-D3A1B78CF907}" destId="{13209CEB-2683-4D51-842D-4E8D2D0C4F09}" srcOrd="0" destOrd="0" presId="urn:microsoft.com/office/officeart/2005/8/layout/pyramid1"/>
    <dgm:cxn modelId="{00F5BE17-932F-40BB-8A68-DF92B1BF5B39}" type="presOf" srcId="{564EA893-088D-493E-862C-E55EBBFDE947}" destId="{AACF04F9-D963-489E-A246-2E03E88FEE50}" srcOrd="0" destOrd="0" presId="urn:microsoft.com/office/officeart/2005/8/layout/pyramid1"/>
    <dgm:cxn modelId="{5DB40D71-3F49-4EE1-9542-AD226F1E1BE0}" srcId="{564EA893-088D-493E-862C-E55EBBFDE947}" destId="{AC4038F7-684A-4A08-9D96-D3A1B78CF907}" srcOrd="0" destOrd="0" parTransId="{432A36B3-A8FE-441C-BAAB-855D0564CDF7}" sibTransId="{E8CFD624-7502-4290-8BC3-579A9947EC9F}"/>
    <dgm:cxn modelId="{93C80E86-CF08-446E-B299-EE8A0B2FE8CF}" type="presOf" srcId="{CFE34450-819A-4340-9698-ADD308EF0220}" destId="{F3DA53B6-5313-4BE8-ADF6-55D74FCD0561}" srcOrd="1" destOrd="0" presId="urn:microsoft.com/office/officeart/2005/8/layout/pyramid1"/>
    <dgm:cxn modelId="{EFDB1DF0-25E5-422A-BBAC-BDAF111E211E}" srcId="{564EA893-088D-493E-862C-E55EBBFDE947}" destId="{31D963EB-D534-4C37-A3E7-BDD9A429C5D7}" srcOrd="1" destOrd="0" parTransId="{6FAE8631-CBD1-484C-AFE6-660BEC889D05}" sibTransId="{77A1C88D-3D52-4A73-913E-AA75D2DD9C75}"/>
    <dgm:cxn modelId="{C05AD186-FC3F-4828-9ACF-AAE98898E8C3}" type="presParOf" srcId="{AACF04F9-D963-489E-A246-2E03E88FEE50}" destId="{78D6C9F1-324F-4306-8485-0C38DB0DF125}" srcOrd="0" destOrd="0" presId="urn:microsoft.com/office/officeart/2005/8/layout/pyramid1"/>
    <dgm:cxn modelId="{D79CB80E-185C-4781-A4D7-CE0061B8D040}" type="presParOf" srcId="{78D6C9F1-324F-4306-8485-0C38DB0DF125}" destId="{13209CEB-2683-4D51-842D-4E8D2D0C4F09}" srcOrd="0" destOrd="0" presId="urn:microsoft.com/office/officeart/2005/8/layout/pyramid1"/>
    <dgm:cxn modelId="{0CEDC094-8C5E-4CFE-A188-278BF7BEF3E2}" type="presParOf" srcId="{78D6C9F1-324F-4306-8485-0C38DB0DF125}" destId="{0C3F15E4-DFEF-40D0-AD2C-49DD7AE1FA58}" srcOrd="1" destOrd="0" presId="urn:microsoft.com/office/officeart/2005/8/layout/pyramid1"/>
    <dgm:cxn modelId="{25901ED6-E3B1-4D80-AD08-6E5546213EC5}" type="presParOf" srcId="{AACF04F9-D963-489E-A246-2E03E88FEE50}" destId="{A26D0A4A-844B-41F6-9387-E7E447E298F4}" srcOrd="1" destOrd="0" presId="urn:microsoft.com/office/officeart/2005/8/layout/pyramid1"/>
    <dgm:cxn modelId="{3695D9F4-1EE6-4EC9-8D12-5EC35D2834B6}" type="presParOf" srcId="{A26D0A4A-844B-41F6-9387-E7E447E298F4}" destId="{2FCB1A14-5A60-4FD0-9956-35979512E622}" srcOrd="0" destOrd="0" presId="urn:microsoft.com/office/officeart/2005/8/layout/pyramid1"/>
    <dgm:cxn modelId="{DEEFC775-D2C1-4CD8-BB25-06DB8426AA89}" type="presParOf" srcId="{A26D0A4A-844B-41F6-9387-E7E447E298F4}" destId="{D030DB67-620B-46BA-B0AD-7FE26009897A}" srcOrd="1" destOrd="0" presId="urn:microsoft.com/office/officeart/2005/8/layout/pyramid1"/>
    <dgm:cxn modelId="{F2274F27-6430-4BDF-8358-AAFC20610147}" type="presParOf" srcId="{AACF04F9-D963-489E-A246-2E03E88FEE50}" destId="{BD3D64AB-0C04-44F9-A013-CFBC3E99C2A6}" srcOrd="2" destOrd="0" presId="urn:microsoft.com/office/officeart/2005/8/layout/pyramid1"/>
    <dgm:cxn modelId="{B13FA6F0-3DB9-4690-B096-AE6E7B120849}" type="presParOf" srcId="{BD3D64AB-0C04-44F9-A013-CFBC3E99C2A6}" destId="{E1161483-6400-4736-9E6B-278E8EB4EF9B}" srcOrd="0" destOrd="0" presId="urn:microsoft.com/office/officeart/2005/8/layout/pyramid1"/>
    <dgm:cxn modelId="{DFEEC4C1-8460-4293-AE3C-9507B5908010}" type="presParOf" srcId="{BD3D64AB-0C04-44F9-A013-CFBC3E99C2A6}" destId="{B8867A93-85BE-4716-9B64-02B9E9553718}" srcOrd="1" destOrd="0" presId="urn:microsoft.com/office/officeart/2005/8/layout/pyramid1"/>
    <dgm:cxn modelId="{4C73D62A-41E7-4288-AB57-4EF20157F11D}" type="presParOf" srcId="{AACF04F9-D963-489E-A246-2E03E88FEE50}" destId="{910E0154-49A8-4F62-990F-23176AC6C9A1}" srcOrd="3" destOrd="0" presId="urn:microsoft.com/office/officeart/2005/8/layout/pyramid1"/>
    <dgm:cxn modelId="{77B309F6-42BD-471E-96B3-EDEAF994E3DC}" type="presParOf" srcId="{910E0154-49A8-4F62-990F-23176AC6C9A1}" destId="{79519AF9-32DE-46BA-8B98-26D77BFA71E3}" srcOrd="0" destOrd="0" presId="urn:microsoft.com/office/officeart/2005/8/layout/pyramid1"/>
    <dgm:cxn modelId="{39619CED-A376-4C92-B21D-6774F0FF9144}" type="presParOf" srcId="{910E0154-49A8-4F62-990F-23176AC6C9A1}" destId="{F3DA53B6-5313-4BE8-ADF6-55D74FCD0561}" srcOrd="1" destOrd="0" presId="urn:microsoft.com/office/officeart/2005/8/layout/pyramid1"/>
  </dgm:cxnLst>
  <dgm:bg>
    <a:noFill/>
  </dgm:bg>
  <dgm:whole/>
  <dgm:extLst>
    <a:ext uri="http://schemas.microsoft.com/office/drawing/2008/diagram">
      <dsp:dataModelExt xmlns:dsp="http://schemas.microsoft.com/office/drawing/2008/diagram" relId="rId2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64EA893-088D-493E-862C-E55EBBFDE947}" type="doc">
      <dgm:prSet loTypeId="urn:microsoft.com/office/officeart/2005/8/layout/pyramid1" loCatId="pyramid" qsTypeId="urn:microsoft.com/office/officeart/2005/8/quickstyle/simple1" qsCatId="simple" csTypeId="urn:microsoft.com/office/officeart/2005/8/colors/accent1_2" csCatId="accent1" phldr="1"/>
      <dgm:spPr/>
    </dgm:pt>
    <dgm:pt modelId="{AC4038F7-684A-4A08-9D96-D3A1B78CF907}">
      <dgm:prSet phldrT="[Текст]" custT="1"/>
      <dgm:spPr>
        <a:solidFill>
          <a:schemeClr val="accent2">
            <a:lumMod val="20000"/>
            <a:lumOff val="80000"/>
          </a:schemeClr>
        </a:solidFill>
        <a:ln w="12700">
          <a:solidFill>
            <a:srgbClr val="545353"/>
          </a:solidFill>
        </a:ln>
      </dgm:spPr>
      <dgm:t>
        <a:bodyPr anchor="ctr"/>
        <a:lstStyle/>
        <a:p>
          <a:r>
            <a:rPr lang="en-US" sz="800" b="1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rPr>
            <a:t>0</a:t>
          </a:r>
        </a:p>
      </dgm:t>
    </dgm:pt>
    <dgm:pt modelId="{432A36B3-A8FE-441C-BAAB-855D0564CDF7}" type="parTrans" cxnId="{5DB40D71-3F49-4EE1-9542-AD226F1E1BE0}">
      <dgm:prSet/>
      <dgm:spPr/>
      <dgm:t>
        <a:bodyPr/>
        <a:lstStyle/>
        <a:p>
          <a:endParaRPr lang="ru-RU" sz="1000" b="1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E8CFD624-7502-4290-8BC3-579A9947EC9F}" type="sibTrans" cxnId="{5DB40D71-3F49-4EE1-9542-AD226F1E1BE0}">
      <dgm:prSet/>
      <dgm:spPr/>
      <dgm:t>
        <a:bodyPr/>
        <a:lstStyle/>
        <a:p>
          <a:endParaRPr lang="ru-RU" sz="1000" b="1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31D963EB-D534-4C37-A3E7-BDD9A429C5D7}">
      <dgm:prSet phldrT="[Текст]" custT="1"/>
      <dgm:spPr>
        <a:solidFill>
          <a:schemeClr val="accent2">
            <a:lumMod val="40000"/>
            <a:lumOff val="60000"/>
          </a:schemeClr>
        </a:solidFill>
        <a:ln w="12700">
          <a:solidFill>
            <a:srgbClr val="545353"/>
          </a:solidFill>
        </a:ln>
      </dgm:spPr>
      <dgm:t>
        <a:bodyPr/>
        <a:lstStyle/>
        <a:p>
          <a:r>
            <a:rPr lang="en-US" sz="800" b="1" dirty="0" smtClean="0">
              <a:solidFill>
                <a:srgbClr val="545353"/>
              </a:solidFill>
              <a:latin typeface="Arial" pitchFamily="34" charset="0"/>
              <a:cs typeface="Arial" pitchFamily="34" charset="0"/>
            </a:rPr>
            <a:t>0</a:t>
          </a:r>
          <a:endParaRPr lang="ru-RU" sz="800" b="1" dirty="0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6FAE8631-CBD1-484C-AFE6-660BEC889D05}" type="parTrans" cxnId="{EFDB1DF0-25E5-422A-BBAC-BDAF111E211E}">
      <dgm:prSet/>
      <dgm:spPr/>
      <dgm:t>
        <a:bodyPr/>
        <a:lstStyle/>
        <a:p>
          <a:endParaRPr lang="ru-RU" sz="1000" b="1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77A1C88D-3D52-4A73-913E-AA75D2DD9C75}" type="sibTrans" cxnId="{EFDB1DF0-25E5-422A-BBAC-BDAF111E211E}">
      <dgm:prSet/>
      <dgm:spPr/>
      <dgm:t>
        <a:bodyPr/>
        <a:lstStyle/>
        <a:p>
          <a:endParaRPr lang="ru-RU" sz="1000" b="1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2A219C1B-BAEC-4E2D-8942-6C7B3C1F1DAE}">
      <dgm:prSet phldrT="[Текст]" custT="1"/>
      <dgm:spPr>
        <a:solidFill>
          <a:srgbClr val="E1E1E1"/>
        </a:solidFill>
        <a:ln w="12700">
          <a:solidFill>
            <a:srgbClr val="545353"/>
          </a:solidFill>
        </a:ln>
      </dgm:spPr>
      <dgm:t>
        <a:bodyPr/>
        <a:lstStyle/>
        <a:p>
          <a:r>
            <a:rPr lang="en-US" sz="800" b="1" dirty="0" smtClean="0">
              <a:solidFill>
                <a:srgbClr val="545353"/>
              </a:solidFill>
              <a:latin typeface="Arial" pitchFamily="34" charset="0"/>
              <a:cs typeface="Arial" pitchFamily="34" charset="0"/>
            </a:rPr>
            <a:t>0</a:t>
          </a:r>
          <a:endParaRPr lang="ru-RU" sz="800" b="1" dirty="0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37E1CF57-DA02-44AD-A72E-7C5C4058F948}" type="parTrans" cxnId="{8FB67CD9-4570-4706-B46C-874EB1E8E8EF}">
      <dgm:prSet/>
      <dgm:spPr/>
      <dgm:t>
        <a:bodyPr/>
        <a:lstStyle/>
        <a:p>
          <a:endParaRPr lang="ru-RU" sz="1000" b="1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A775456F-3E0D-429F-8AA7-D7968358DC90}" type="sibTrans" cxnId="{8FB67CD9-4570-4706-B46C-874EB1E8E8EF}">
      <dgm:prSet/>
      <dgm:spPr/>
      <dgm:t>
        <a:bodyPr/>
        <a:lstStyle/>
        <a:p>
          <a:endParaRPr lang="ru-RU" sz="1000" b="1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gm:t>
    </dgm:pt>
    <dgm:pt modelId="{AACF04F9-D963-489E-A246-2E03E88FEE50}" type="pres">
      <dgm:prSet presAssocID="{564EA893-088D-493E-862C-E55EBBFDE947}" presName="Name0" presStyleCnt="0">
        <dgm:presLayoutVars>
          <dgm:dir/>
          <dgm:animLvl val="lvl"/>
          <dgm:resizeHandles val="exact"/>
        </dgm:presLayoutVars>
      </dgm:prSet>
      <dgm:spPr/>
    </dgm:pt>
    <dgm:pt modelId="{78D6C9F1-324F-4306-8485-0C38DB0DF125}" type="pres">
      <dgm:prSet presAssocID="{AC4038F7-684A-4A08-9D96-D3A1B78CF907}" presName="Name8" presStyleCnt="0"/>
      <dgm:spPr/>
    </dgm:pt>
    <dgm:pt modelId="{13209CEB-2683-4D51-842D-4E8D2D0C4F09}" type="pres">
      <dgm:prSet presAssocID="{AC4038F7-684A-4A08-9D96-D3A1B78CF907}" presName="level" presStyleLbl="node1" presStyleIdx="0" presStyleCnt="3" custLinFactNeighborY="-2879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C3F15E4-DFEF-40D0-AD2C-49DD7AE1FA58}" type="pres">
      <dgm:prSet presAssocID="{AC4038F7-684A-4A08-9D96-D3A1B78CF90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6D0A4A-844B-41F6-9387-E7E447E298F4}" type="pres">
      <dgm:prSet presAssocID="{31D963EB-D534-4C37-A3E7-BDD9A429C5D7}" presName="Name8" presStyleCnt="0"/>
      <dgm:spPr/>
    </dgm:pt>
    <dgm:pt modelId="{2FCB1A14-5A60-4FD0-9956-35979512E622}" type="pres">
      <dgm:prSet presAssocID="{31D963EB-D534-4C37-A3E7-BDD9A429C5D7}" presName="level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030DB67-620B-46BA-B0AD-7FE26009897A}" type="pres">
      <dgm:prSet presAssocID="{31D963EB-D534-4C37-A3E7-BDD9A429C5D7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D3D64AB-0C04-44F9-A013-CFBC3E99C2A6}" type="pres">
      <dgm:prSet presAssocID="{2A219C1B-BAEC-4E2D-8942-6C7B3C1F1DAE}" presName="Name8" presStyleCnt="0"/>
      <dgm:spPr/>
    </dgm:pt>
    <dgm:pt modelId="{E1161483-6400-4736-9E6B-278E8EB4EF9B}" type="pres">
      <dgm:prSet presAssocID="{2A219C1B-BAEC-4E2D-8942-6C7B3C1F1DAE}" presName="level" presStyleLbl="node1" presStyleIdx="2" presStyleCnt="3" custLinFactNeighborX="-2668" custLinFactNeighborY="-2672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8867A93-85BE-4716-9B64-02B9E9553718}" type="pres">
      <dgm:prSet presAssocID="{2A219C1B-BAEC-4E2D-8942-6C7B3C1F1DAE}" presName="levelTx" presStyleLbl="revTx" presStyleIdx="0" presStyleCnt="0">
        <dgm:presLayoutVars>
          <dgm:chMax val="1"/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FDB1DF0-25E5-422A-BBAC-BDAF111E211E}" srcId="{564EA893-088D-493E-862C-E55EBBFDE947}" destId="{31D963EB-D534-4C37-A3E7-BDD9A429C5D7}" srcOrd="1" destOrd="0" parTransId="{6FAE8631-CBD1-484C-AFE6-660BEC889D05}" sibTransId="{77A1C88D-3D52-4A73-913E-AA75D2DD9C75}"/>
    <dgm:cxn modelId="{1DB2FE2D-A8C8-4C8E-B248-B32234AC1BB6}" type="presOf" srcId="{AC4038F7-684A-4A08-9D96-D3A1B78CF907}" destId="{13209CEB-2683-4D51-842D-4E8D2D0C4F09}" srcOrd="0" destOrd="0" presId="urn:microsoft.com/office/officeart/2005/8/layout/pyramid1"/>
    <dgm:cxn modelId="{5DB40D71-3F49-4EE1-9542-AD226F1E1BE0}" srcId="{564EA893-088D-493E-862C-E55EBBFDE947}" destId="{AC4038F7-684A-4A08-9D96-D3A1B78CF907}" srcOrd="0" destOrd="0" parTransId="{432A36B3-A8FE-441C-BAAB-855D0564CDF7}" sibTransId="{E8CFD624-7502-4290-8BC3-579A9947EC9F}"/>
    <dgm:cxn modelId="{8FB67CD9-4570-4706-B46C-874EB1E8E8EF}" srcId="{564EA893-088D-493E-862C-E55EBBFDE947}" destId="{2A219C1B-BAEC-4E2D-8942-6C7B3C1F1DAE}" srcOrd="2" destOrd="0" parTransId="{37E1CF57-DA02-44AD-A72E-7C5C4058F948}" sibTransId="{A775456F-3E0D-429F-8AA7-D7968358DC90}"/>
    <dgm:cxn modelId="{93B4C4E8-1DFA-4D9C-BB03-22DBAACC4167}" type="presOf" srcId="{564EA893-088D-493E-862C-E55EBBFDE947}" destId="{AACF04F9-D963-489E-A246-2E03E88FEE50}" srcOrd="0" destOrd="0" presId="urn:microsoft.com/office/officeart/2005/8/layout/pyramid1"/>
    <dgm:cxn modelId="{EE51BA85-6C7A-4313-8709-41406F546FD5}" type="presOf" srcId="{31D963EB-D534-4C37-A3E7-BDD9A429C5D7}" destId="{2FCB1A14-5A60-4FD0-9956-35979512E622}" srcOrd="0" destOrd="0" presId="urn:microsoft.com/office/officeart/2005/8/layout/pyramid1"/>
    <dgm:cxn modelId="{39A602D6-C0A3-4B58-9D9C-A955AF516AF6}" type="presOf" srcId="{2A219C1B-BAEC-4E2D-8942-6C7B3C1F1DAE}" destId="{E1161483-6400-4736-9E6B-278E8EB4EF9B}" srcOrd="0" destOrd="0" presId="urn:microsoft.com/office/officeart/2005/8/layout/pyramid1"/>
    <dgm:cxn modelId="{C2C4E0AD-90FA-45C9-A958-05361F610575}" type="presOf" srcId="{AC4038F7-684A-4A08-9D96-D3A1B78CF907}" destId="{0C3F15E4-DFEF-40D0-AD2C-49DD7AE1FA58}" srcOrd="1" destOrd="0" presId="urn:microsoft.com/office/officeart/2005/8/layout/pyramid1"/>
    <dgm:cxn modelId="{685B8752-05A3-4709-9D54-FCBC5FFBE282}" type="presOf" srcId="{31D963EB-D534-4C37-A3E7-BDD9A429C5D7}" destId="{D030DB67-620B-46BA-B0AD-7FE26009897A}" srcOrd="1" destOrd="0" presId="urn:microsoft.com/office/officeart/2005/8/layout/pyramid1"/>
    <dgm:cxn modelId="{41899587-7311-4267-9415-34FFDC990F66}" type="presOf" srcId="{2A219C1B-BAEC-4E2D-8942-6C7B3C1F1DAE}" destId="{B8867A93-85BE-4716-9B64-02B9E9553718}" srcOrd="1" destOrd="0" presId="urn:microsoft.com/office/officeart/2005/8/layout/pyramid1"/>
    <dgm:cxn modelId="{E120A307-090F-4909-A321-B3FF692D52F3}" type="presParOf" srcId="{AACF04F9-D963-489E-A246-2E03E88FEE50}" destId="{78D6C9F1-324F-4306-8485-0C38DB0DF125}" srcOrd="0" destOrd="0" presId="urn:microsoft.com/office/officeart/2005/8/layout/pyramid1"/>
    <dgm:cxn modelId="{D5E6B2DB-0D94-44BD-8792-CBE18E343C8C}" type="presParOf" srcId="{78D6C9F1-324F-4306-8485-0C38DB0DF125}" destId="{13209CEB-2683-4D51-842D-4E8D2D0C4F09}" srcOrd="0" destOrd="0" presId="urn:microsoft.com/office/officeart/2005/8/layout/pyramid1"/>
    <dgm:cxn modelId="{DDEC3D2C-A24C-4E8B-9BA3-1878EA1EABE2}" type="presParOf" srcId="{78D6C9F1-324F-4306-8485-0C38DB0DF125}" destId="{0C3F15E4-DFEF-40D0-AD2C-49DD7AE1FA58}" srcOrd="1" destOrd="0" presId="urn:microsoft.com/office/officeart/2005/8/layout/pyramid1"/>
    <dgm:cxn modelId="{9CE4FD31-DB9F-4910-ACA0-D613766992B4}" type="presParOf" srcId="{AACF04F9-D963-489E-A246-2E03E88FEE50}" destId="{A26D0A4A-844B-41F6-9387-E7E447E298F4}" srcOrd="1" destOrd="0" presId="urn:microsoft.com/office/officeart/2005/8/layout/pyramid1"/>
    <dgm:cxn modelId="{E1B1CD6E-3DF0-4BE4-AF66-ACB02BA8CE13}" type="presParOf" srcId="{A26D0A4A-844B-41F6-9387-E7E447E298F4}" destId="{2FCB1A14-5A60-4FD0-9956-35979512E622}" srcOrd="0" destOrd="0" presId="urn:microsoft.com/office/officeart/2005/8/layout/pyramid1"/>
    <dgm:cxn modelId="{858EE79C-D571-4366-AF98-EC481847C52A}" type="presParOf" srcId="{A26D0A4A-844B-41F6-9387-E7E447E298F4}" destId="{D030DB67-620B-46BA-B0AD-7FE26009897A}" srcOrd="1" destOrd="0" presId="urn:microsoft.com/office/officeart/2005/8/layout/pyramid1"/>
    <dgm:cxn modelId="{41694F85-21CF-408D-935C-8B9FF5FD1EBA}" type="presParOf" srcId="{AACF04F9-D963-489E-A246-2E03E88FEE50}" destId="{BD3D64AB-0C04-44F9-A013-CFBC3E99C2A6}" srcOrd="2" destOrd="0" presId="urn:microsoft.com/office/officeart/2005/8/layout/pyramid1"/>
    <dgm:cxn modelId="{E9E2F02A-C3AE-4036-A9D7-46D40ACB785E}" type="presParOf" srcId="{BD3D64AB-0C04-44F9-A013-CFBC3E99C2A6}" destId="{E1161483-6400-4736-9E6B-278E8EB4EF9B}" srcOrd="0" destOrd="0" presId="urn:microsoft.com/office/officeart/2005/8/layout/pyramid1"/>
    <dgm:cxn modelId="{9145C797-C466-4E45-A67D-472478E5BE74}" type="presParOf" srcId="{BD3D64AB-0C04-44F9-A013-CFBC3E99C2A6}" destId="{B8867A93-85BE-4716-9B64-02B9E9553718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2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09CEB-2683-4D51-842D-4E8D2D0C4F09}">
      <dsp:nvSpPr>
        <dsp:cNvPr id="0" name=""/>
        <dsp:cNvSpPr/>
      </dsp:nvSpPr>
      <dsp:spPr>
        <a:xfrm>
          <a:off x="454253" y="0"/>
          <a:ext cx="302835" cy="288451"/>
        </a:xfrm>
        <a:prstGeom prst="trapezoid">
          <a:avLst>
            <a:gd name="adj" fmla="val 52493"/>
          </a:avLst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rgbClr val="54535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rPr>
            <a:t>0</a:t>
          </a:r>
        </a:p>
      </dsp:txBody>
      <dsp:txXfrm>
        <a:off x="454253" y="0"/>
        <a:ext cx="302835" cy="288451"/>
      </dsp:txXfrm>
    </dsp:sp>
    <dsp:sp modelId="{2FCB1A14-5A60-4FD0-9956-35979512E622}">
      <dsp:nvSpPr>
        <dsp:cNvPr id="0" name=""/>
        <dsp:cNvSpPr/>
      </dsp:nvSpPr>
      <dsp:spPr>
        <a:xfrm>
          <a:off x="302835" y="288451"/>
          <a:ext cx="605671" cy="288451"/>
        </a:xfrm>
        <a:prstGeom prst="trapezoid">
          <a:avLst>
            <a:gd name="adj" fmla="val 52493"/>
          </a:avLst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rgbClr val="54535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>
              <a:solidFill>
                <a:srgbClr val="545353"/>
              </a:solidFill>
              <a:latin typeface="Arial" pitchFamily="34" charset="0"/>
              <a:cs typeface="Arial" pitchFamily="34" charset="0"/>
            </a:rPr>
            <a:t>0</a:t>
          </a:r>
          <a:endParaRPr lang="ru-RU" sz="800" b="1" kern="1200" dirty="0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sp:txBody>
      <dsp:txXfrm>
        <a:off x="408828" y="288451"/>
        <a:ext cx="393686" cy="288451"/>
      </dsp:txXfrm>
    </dsp:sp>
    <dsp:sp modelId="{E1161483-6400-4736-9E6B-278E8EB4EF9B}">
      <dsp:nvSpPr>
        <dsp:cNvPr id="0" name=""/>
        <dsp:cNvSpPr/>
      </dsp:nvSpPr>
      <dsp:spPr>
        <a:xfrm>
          <a:off x="151417" y="576903"/>
          <a:ext cx="908507" cy="288451"/>
        </a:xfrm>
        <a:prstGeom prst="trapezoid">
          <a:avLst>
            <a:gd name="adj" fmla="val 52493"/>
          </a:avLst>
        </a:prstGeom>
        <a:solidFill>
          <a:srgbClr val="E1E1E1"/>
        </a:solidFill>
        <a:ln w="12700" cap="flat" cmpd="sng" algn="ctr">
          <a:solidFill>
            <a:srgbClr val="54535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>
              <a:solidFill>
                <a:srgbClr val="545353"/>
              </a:solidFill>
              <a:latin typeface="Arial" pitchFamily="34" charset="0"/>
              <a:cs typeface="Arial" pitchFamily="34" charset="0"/>
            </a:rPr>
            <a:t>0</a:t>
          </a:r>
          <a:endParaRPr lang="ru-RU" sz="800" b="1" kern="1200" dirty="0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sp:txBody>
      <dsp:txXfrm>
        <a:off x="310406" y="576903"/>
        <a:ext cx="590529" cy="288451"/>
      </dsp:txXfrm>
    </dsp:sp>
    <dsp:sp modelId="{79519AF9-32DE-46BA-8B98-26D77BFA71E3}">
      <dsp:nvSpPr>
        <dsp:cNvPr id="0" name=""/>
        <dsp:cNvSpPr/>
      </dsp:nvSpPr>
      <dsp:spPr>
        <a:xfrm>
          <a:off x="0" y="865355"/>
          <a:ext cx="1211343" cy="288451"/>
        </a:xfrm>
        <a:prstGeom prst="trapezoid">
          <a:avLst>
            <a:gd name="adj" fmla="val 52493"/>
          </a:avLst>
        </a:prstGeom>
        <a:solidFill>
          <a:schemeClr val="bg1">
            <a:lumMod val="65000"/>
          </a:schemeClr>
        </a:solidFill>
        <a:ln w="12700" cap="flat" cmpd="sng" algn="ctr">
          <a:solidFill>
            <a:srgbClr val="54535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>
              <a:solidFill>
                <a:srgbClr val="545353"/>
              </a:solidFill>
            </a:rPr>
            <a:t>0</a:t>
          </a:r>
          <a:endParaRPr lang="ru-RU" sz="800" b="1" kern="1200" dirty="0">
            <a:solidFill>
              <a:srgbClr val="545353"/>
            </a:solidFill>
          </a:endParaRPr>
        </a:p>
      </dsp:txBody>
      <dsp:txXfrm>
        <a:off x="211985" y="865355"/>
        <a:ext cx="787372" cy="2884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209CEB-2683-4D51-842D-4E8D2D0C4F09}">
      <dsp:nvSpPr>
        <dsp:cNvPr id="0" name=""/>
        <dsp:cNvSpPr/>
      </dsp:nvSpPr>
      <dsp:spPr>
        <a:xfrm>
          <a:off x="334329" y="0"/>
          <a:ext cx="334329" cy="282149"/>
        </a:xfrm>
        <a:prstGeom prst="trapezoid">
          <a:avLst>
            <a:gd name="adj" fmla="val 59247"/>
          </a:avLst>
        </a:prstGeom>
        <a:solidFill>
          <a:schemeClr val="accent2">
            <a:lumMod val="20000"/>
            <a:lumOff val="80000"/>
          </a:schemeClr>
        </a:solidFill>
        <a:ln w="12700" cap="flat" cmpd="sng" algn="ctr">
          <a:solidFill>
            <a:srgbClr val="54535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>
              <a:solidFill>
                <a:srgbClr val="C00000"/>
              </a:solidFill>
              <a:latin typeface="Arial" pitchFamily="34" charset="0"/>
              <a:cs typeface="Arial" pitchFamily="34" charset="0"/>
            </a:rPr>
            <a:t>0</a:t>
          </a:r>
        </a:p>
      </dsp:txBody>
      <dsp:txXfrm>
        <a:off x="334329" y="0"/>
        <a:ext cx="334329" cy="282149"/>
      </dsp:txXfrm>
    </dsp:sp>
    <dsp:sp modelId="{2FCB1A14-5A60-4FD0-9956-35979512E622}">
      <dsp:nvSpPr>
        <dsp:cNvPr id="0" name=""/>
        <dsp:cNvSpPr/>
      </dsp:nvSpPr>
      <dsp:spPr>
        <a:xfrm>
          <a:off x="167164" y="282149"/>
          <a:ext cx="668659" cy="282149"/>
        </a:xfrm>
        <a:prstGeom prst="trapezoid">
          <a:avLst>
            <a:gd name="adj" fmla="val 59247"/>
          </a:avLst>
        </a:prstGeom>
        <a:solidFill>
          <a:schemeClr val="accent2">
            <a:lumMod val="40000"/>
            <a:lumOff val="60000"/>
          </a:schemeClr>
        </a:solidFill>
        <a:ln w="12700" cap="flat" cmpd="sng" algn="ctr">
          <a:solidFill>
            <a:srgbClr val="54535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>
              <a:solidFill>
                <a:srgbClr val="545353"/>
              </a:solidFill>
              <a:latin typeface="Arial" pitchFamily="34" charset="0"/>
              <a:cs typeface="Arial" pitchFamily="34" charset="0"/>
            </a:rPr>
            <a:t>0</a:t>
          </a:r>
          <a:endParaRPr lang="ru-RU" sz="800" b="1" kern="1200" dirty="0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sp:txBody>
      <dsp:txXfrm>
        <a:off x="284180" y="282149"/>
        <a:ext cx="434628" cy="282149"/>
      </dsp:txXfrm>
    </dsp:sp>
    <dsp:sp modelId="{E1161483-6400-4736-9E6B-278E8EB4EF9B}">
      <dsp:nvSpPr>
        <dsp:cNvPr id="0" name=""/>
        <dsp:cNvSpPr/>
      </dsp:nvSpPr>
      <dsp:spPr>
        <a:xfrm>
          <a:off x="0" y="556759"/>
          <a:ext cx="1002989" cy="282149"/>
        </a:xfrm>
        <a:prstGeom prst="trapezoid">
          <a:avLst>
            <a:gd name="adj" fmla="val 59247"/>
          </a:avLst>
        </a:prstGeom>
        <a:solidFill>
          <a:srgbClr val="E1E1E1"/>
        </a:solidFill>
        <a:ln w="12700" cap="flat" cmpd="sng" algn="ctr">
          <a:solidFill>
            <a:srgbClr val="54535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>
              <a:solidFill>
                <a:srgbClr val="545353"/>
              </a:solidFill>
              <a:latin typeface="Arial" pitchFamily="34" charset="0"/>
              <a:cs typeface="Arial" pitchFamily="34" charset="0"/>
            </a:rPr>
            <a:t>0</a:t>
          </a:r>
          <a:endParaRPr lang="ru-RU" sz="800" b="1" kern="1200" dirty="0">
            <a:solidFill>
              <a:srgbClr val="545353"/>
            </a:solidFill>
            <a:latin typeface="Arial" pitchFamily="34" charset="0"/>
            <a:cs typeface="Arial" pitchFamily="34" charset="0"/>
          </a:endParaRPr>
        </a:p>
      </dsp:txBody>
      <dsp:txXfrm>
        <a:off x="175523" y="556759"/>
        <a:ext cx="651942" cy="2821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293372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10316" y="1"/>
            <a:ext cx="4293372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E8E5F2-A83D-4A43-8967-E22F0B0D1875}" type="datetimeFigureOut">
              <a:rPr lang="ru-RU" smtClean="0"/>
              <a:t>20.06.2016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2" y="6453686"/>
            <a:ext cx="4293372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10316" y="6453686"/>
            <a:ext cx="4293372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093A9-B8F3-462D-8B7F-F31A364996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3319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926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611109" y="1"/>
            <a:ext cx="4292600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72A3D-889F-4515-BECA-92F105A236E7}" type="datetimeFigureOut">
              <a:rPr lang="ru-RU" smtClean="0"/>
              <a:t>20.06.2016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254375" y="509588"/>
            <a:ext cx="3397250" cy="2547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90600" y="3227387"/>
            <a:ext cx="7924800" cy="3057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6453597"/>
            <a:ext cx="42926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611109" y="6453597"/>
            <a:ext cx="4292600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CE3FC5-43CC-4D24-A57A-5AB299F7CC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51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8962CC-4311-4DF6-83A1-DD4FA188553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3848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6016E7-81CE-47EE-9738-8A2714420C73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7164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E3FC5-43CC-4D24-A57A-5AB299F7CC7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229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E3FC5-43CC-4D24-A57A-5AB299F7CC7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229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EFA5E-8C1D-4DA9-89A7-1258484FEB14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339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endParaRPr lang="ru-RU" sz="1200" b="1" dirty="0" smtClean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E3FC5-43CC-4D24-A57A-5AB299F7CC7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2170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E3FC5-43CC-4D24-A57A-5AB299F7CC7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097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EFA5E-8C1D-4DA9-89A7-1258484FEB14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246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EFA5E-8C1D-4DA9-89A7-1258484FEB14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32466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EFA5E-8C1D-4DA9-89A7-1258484FEB14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3397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E3FC5-43CC-4D24-A57A-5AB299F7CC7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97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100" b="0" i="0" u="none" strike="noStrike" kern="1200" baseline="0" dirty="0" smtClean="0">
              <a:solidFill>
                <a:schemeClr val="accent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EFA5E-8C1D-4DA9-89A7-1258484FEB14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5434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mtClean="0"/>
              <a:t>* нет поправки на объем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E3FC5-43CC-4D24-A57A-5AB299F7CC72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06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CE3FC5-43CC-4D24-A57A-5AB299F7CC72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3097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TitleSlid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3608388"/>
            <a:ext cx="4284663" cy="2160587"/>
          </a:xfrm>
        </p:spPr>
        <p:txBody>
          <a:bodyPr anchor="t">
            <a:noAutofit/>
          </a:bodyPr>
          <a:lstStyle>
            <a:lvl1pPr>
              <a:defRPr sz="2200" baseline="0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Введите название презентации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7338" y="5445124"/>
            <a:ext cx="4157662" cy="216000"/>
          </a:xfrm>
        </p:spPr>
        <p:txBody>
          <a:bodyPr>
            <a:normAutofit/>
          </a:bodyPr>
          <a:lstStyle>
            <a:lvl1pPr marL="0" indent="0" algn="l"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 smtClean="0"/>
              <a:t>Введите название предприятия</a:t>
            </a:r>
            <a:endParaRPr lang="ru-RU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87338" y="5674156"/>
            <a:ext cx="4140000" cy="215444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dirty="0" smtClean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ru-RU" dirty="0" smtClean="0"/>
              <a:t>Введите название подразделения</a:t>
            </a:r>
            <a:endParaRPr lang="ru-RU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5900956"/>
            <a:ext cx="4140000" cy="215444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baseline="0" dirty="0" smtClean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ru-RU" dirty="0" smtClean="0"/>
              <a:t>Введите имя автора</a:t>
            </a:r>
            <a:endParaRPr lang="ru-RU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8" y="6127756"/>
            <a:ext cx="4140000" cy="215444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dirty="0" smtClean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ru-RU" dirty="0" smtClean="0"/>
              <a:t>Введите дату</a:t>
            </a:r>
            <a:endParaRPr lang="ru-RU" dirty="0"/>
          </a:p>
        </p:txBody>
      </p:sp>
      <p:grpSp>
        <p:nvGrpSpPr>
          <p:cNvPr id="11" name="TitleLogoRus"/>
          <p:cNvGrpSpPr>
            <a:grpSpLocks noChangeAspect="1"/>
          </p:cNvGrpSpPr>
          <p:nvPr/>
        </p:nvGrpSpPr>
        <p:grpSpPr bwMode="auto">
          <a:xfrm>
            <a:off x="7884368" y="5886796"/>
            <a:ext cx="957932" cy="452631"/>
            <a:chOff x="264" y="1159"/>
            <a:chExt cx="3492" cy="1650"/>
          </a:xfrm>
          <a:solidFill>
            <a:schemeClr val="bg1"/>
          </a:solidFill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2996" y="1657"/>
              <a:ext cx="258" cy="576"/>
            </a:xfrm>
            <a:custGeom>
              <a:avLst/>
              <a:gdLst>
                <a:gd name="T0" fmla="*/ 128 w 258"/>
                <a:gd name="T1" fmla="*/ 504 h 576"/>
                <a:gd name="T2" fmla="*/ 112 w 258"/>
                <a:gd name="T3" fmla="*/ 498 h 576"/>
                <a:gd name="T4" fmla="*/ 104 w 258"/>
                <a:gd name="T5" fmla="*/ 482 h 576"/>
                <a:gd name="T6" fmla="*/ 104 w 258"/>
                <a:gd name="T7" fmla="*/ 94 h 576"/>
                <a:gd name="T8" fmla="*/ 104 w 258"/>
                <a:gd name="T9" fmla="*/ 92 h 576"/>
                <a:gd name="T10" fmla="*/ 106 w 258"/>
                <a:gd name="T11" fmla="*/ 84 h 576"/>
                <a:gd name="T12" fmla="*/ 120 w 258"/>
                <a:gd name="T13" fmla="*/ 72 h 576"/>
                <a:gd name="T14" fmla="*/ 128 w 258"/>
                <a:gd name="T15" fmla="*/ 72 h 576"/>
                <a:gd name="T16" fmla="*/ 146 w 258"/>
                <a:gd name="T17" fmla="*/ 78 h 576"/>
                <a:gd name="T18" fmla="*/ 154 w 258"/>
                <a:gd name="T19" fmla="*/ 92 h 576"/>
                <a:gd name="T20" fmla="*/ 154 w 258"/>
                <a:gd name="T21" fmla="*/ 94 h 576"/>
                <a:gd name="T22" fmla="*/ 154 w 258"/>
                <a:gd name="T23" fmla="*/ 482 h 576"/>
                <a:gd name="T24" fmla="*/ 152 w 258"/>
                <a:gd name="T25" fmla="*/ 490 h 576"/>
                <a:gd name="T26" fmla="*/ 138 w 258"/>
                <a:gd name="T27" fmla="*/ 502 h 576"/>
                <a:gd name="T28" fmla="*/ 176 w 258"/>
                <a:gd name="T29" fmla="*/ 0 h 576"/>
                <a:gd name="T30" fmla="*/ 82 w 258"/>
                <a:gd name="T31" fmla="*/ 0 h 576"/>
                <a:gd name="T32" fmla="*/ 56 w 258"/>
                <a:gd name="T33" fmla="*/ 2 h 576"/>
                <a:gd name="T34" fmla="*/ 36 w 258"/>
                <a:gd name="T35" fmla="*/ 10 h 576"/>
                <a:gd name="T36" fmla="*/ 22 w 258"/>
                <a:gd name="T37" fmla="*/ 22 h 576"/>
                <a:gd name="T38" fmla="*/ 12 w 258"/>
                <a:gd name="T39" fmla="*/ 36 h 576"/>
                <a:gd name="T40" fmla="*/ 2 w 258"/>
                <a:gd name="T41" fmla="*/ 70 h 576"/>
                <a:gd name="T42" fmla="*/ 0 w 258"/>
                <a:gd name="T43" fmla="*/ 102 h 576"/>
                <a:gd name="T44" fmla="*/ 0 w 258"/>
                <a:gd name="T45" fmla="*/ 472 h 576"/>
                <a:gd name="T46" fmla="*/ 2 w 258"/>
                <a:gd name="T47" fmla="*/ 506 h 576"/>
                <a:gd name="T48" fmla="*/ 12 w 258"/>
                <a:gd name="T49" fmla="*/ 540 h 576"/>
                <a:gd name="T50" fmla="*/ 22 w 258"/>
                <a:gd name="T51" fmla="*/ 554 h 576"/>
                <a:gd name="T52" fmla="*/ 36 w 258"/>
                <a:gd name="T53" fmla="*/ 566 h 576"/>
                <a:gd name="T54" fmla="*/ 56 w 258"/>
                <a:gd name="T55" fmla="*/ 572 h 576"/>
                <a:gd name="T56" fmla="*/ 82 w 258"/>
                <a:gd name="T57" fmla="*/ 576 h 576"/>
                <a:gd name="T58" fmla="*/ 176 w 258"/>
                <a:gd name="T59" fmla="*/ 576 h 576"/>
                <a:gd name="T60" fmla="*/ 202 w 258"/>
                <a:gd name="T61" fmla="*/ 572 h 576"/>
                <a:gd name="T62" fmla="*/ 222 w 258"/>
                <a:gd name="T63" fmla="*/ 566 h 576"/>
                <a:gd name="T64" fmla="*/ 236 w 258"/>
                <a:gd name="T65" fmla="*/ 554 h 576"/>
                <a:gd name="T66" fmla="*/ 246 w 258"/>
                <a:gd name="T67" fmla="*/ 540 h 576"/>
                <a:gd name="T68" fmla="*/ 256 w 258"/>
                <a:gd name="T69" fmla="*/ 506 h 576"/>
                <a:gd name="T70" fmla="*/ 258 w 258"/>
                <a:gd name="T71" fmla="*/ 472 h 576"/>
                <a:gd name="T72" fmla="*/ 258 w 258"/>
                <a:gd name="T73" fmla="*/ 102 h 576"/>
                <a:gd name="T74" fmla="*/ 256 w 258"/>
                <a:gd name="T75" fmla="*/ 70 h 576"/>
                <a:gd name="T76" fmla="*/ 246 w 258"/>
                <a:gd name="T77" fmla="*/ 36 h 576"/>
                <a:gd name="T78" fmla="*/ 236 w 258"/>
                <a:gd name="T79" fmla="*/ 22 h 576"/>
                <a:gd name="T80" fmla="*/ 222 w 258"/>
                <a:gd name="T81" fmla="*/ 10 h 576"/>
                <a:gd name="T82" fmla="*/ 202 w 258"/>
                <a:gd name="T83" fmla="*/ 2 h 576"/>
                <a:gd name="T84" fmla="*/ 176 w 258"/>
                <a:gd name="T85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8" h="576">
                  <a:moveTo>
                    <a:pt x="128" y="504"/>
                  </a:moveTo>
                  <a:lnTo>
                    <a:pt x="128" y="504"/>
                  </a:lnTo>
                  <a:lnTo>
                    <a:pt x="120" y="502"/>
                  </a:lnTo>
                  <a:lnTo>
                    <a:pt x="112" y="498"/>
                  </a:lnTo>
                  <a:lnTo>
                    <a:pt x="106" y="490"/>
                  </a:lnTo>
                  <a:lnTo>
                    <a:pt x="104" y="482"/>
                  </a:lnTo>
                  <a:lnTo>
                    <a:pt x="104" y="482"/>
                  </a:lnTo>
                  <a:lnTo>
                    <a:pt x="104" y="94"/>
                  </a:lnTo>
                  <a:lnTo>
                    <a:pt x="104" y="94"/>
                  </a:lnTo>
                  <a:lnTo>
                    <a:pt x="104" y="92"/>
                  </a:lnTo>
                  <a:lnTo>
                    <a:pt x="104" y="92"/>
                  </a:lnTo>
                  <a:lnTo>
                    <a:pt x="106" y="84"/>
                  </a:lnTo>
                  <a:lnTo>
                    <a:pt x="112" y="78"/>
                  </a:lnTo>
                  <a:lnTo>
                    <a:pt x="120" y="72"/>
                  </a:lnTo>
                  <a:lnTo>
                    <a:pt x="128" y="72"/>
                  </a:lnTo>
                  <a:lnTo>
                    <a:pt x="128" y="72"/>
                  </a:lnTo>
                  <a:lnTo>
                    <a:pt x="138" y="72"/>
                  </a:lnTo>
                  <a:lnTo>
                    <a:pt x="146" y="78"/>
                  </a:lnTo>
                  <a:lnTo>
                    <a:pt x="150" y="84"/>
                  </a:lnTo>
                  <a:lnTo>
                    <a:pt x="154" y="92"/>
                  </a:lnTo>
                  <a:lnTo>
                    <a:pt x="154" y="94"/>
                  </a:lnTo>
                  <a:lnTo>
                    <a:pt x="154" y="94"/>
                  </a:lnTo>
                  <a:lnTo>
                    <a:pt x="154" y="480"/>
                  </a:lnTo>
                  <a:lnTo>
                    <a:pt x="154" y="482"/>
                  </a:lnTo>
                  <a:lnTo>
                    <a:pt x="154" y="482"/>
                  </a:lnTo>
                  <a:lnTo>
                    <a:pt x="152" y="490"/>
                  </a:lnTo>
                  <a:lnTo>
                    <a:pt x="146" y="498"/>
                  </a:lnTo>
                  <a:lnTo>
                    <a:pt x="138" y="502"/>
                  </a:lnTo>
                  <a:lnTo>
                    <a:pt x="128" y="504"/>
                  </a:lnTo>
                  <a:close/>
                  <a:moveTo>
                    <a:pt x="176" y="0"/>
                  </a:moveTo>
                  <a:lnTo>
                    <a:pt x="82" y="0"/>
                  </a:lnTo>
                  <a:lnTo>
                    <a:pt x="82" y="0"/>
                  </a:lnTo>
                  <a:lnTo>
                    <a:pt x="68" y="0"/>
                  </a:lnTo>
                  <a:lnTo>
                    <a:pt x="56" y="2"/>
                  </a:lnTo>
                  <a:lnTo>
                    <a:pt x="46" y="6"/>
                  </a:lnTo>
                  <a:lnTo>
                    <a:pt x="36" y="10"/>
                  </a:lnTo>
                  <a:lnTo>
                    <a:pt x="28" y="16"/>
                  </a:lnTo>
                  <a:lnTo>
                    <a:pt x="22" y="22"/>
                  </a:lnTo>
                  <a:lnTo>
                    <a:pt x="16" y="28"/>
                  </a:lnTo>
                  <a:lnTo>
                    <a:pt x="12" y="36"/>
                  </a:lnTo>
                  <a:lnTo>
                    <a:pt x="6" y="52"/>
                  </a:lnTo>
                  <a:lnTo>
                    <a:pt x="2" y="70"/>
                  </a:lnTo>
                  <a:lnTo>
                    <a:pt x="0" y="86"/>
                  </a:lnTo>
                  <a:lnTo>
                    <a:pt x="0" y="102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488"/>
                  </a:lnTo>
                  <a:lnTo>
                    <a:pt x="2" y="506"/>
                  </a:lnTo>
                  <a:lnTo>
                    <a:pt x="6" y="524"/>
                  </a:lnTo>
                  <a:lnTo>
                    <a:pt x="12" y="540"/>
                  </a:lnTo>
                  <a:lnTo>
                    <a:pt x="16" y="546"/>
                  </a:lnTo>
                  <a:lnTo>
                    <a:pt x="22" y="554"/>
                  </a:lnTo>
                  <a:lnTo>
                    <a:pt x="28" y="560"/>
                  </a:lnTo>
                  <a:lnTo>
                    <a:pt x="36" y="566"/>
                  </a:lnTo>
                  <a:lnTo>
                    <a:pt x="46" y="570"/>
                  </a:lnTo>
                  <a:lnTo>
                    <a:pt x="56" y="572"/>
                  </a:lnTo>
                  <a:lnTo>
                    <a:pt x="68" y="574"/>
                  </a:lnTo>
                  <a:lnTo>
                    <a:pt x="82" y="576"/>
                  </a:lnTo>
                  <a:lnTo>
                    <a:pt x="176" y="576"/>
                  </a:lnTo>
                  <a:lnTo>
                    <a:pt x="176" y="576"/>
                  </a:lnTo>
                  <a:lnTo>
                    <a:pt x="188" y="574"/>
                  </a:lnTo>
                  <a:lnTo>
                    <a:pt x="202" y="572"/>
                  </a:lnTo>
                  <a:lnTo>
                    <a:pt x="212" y="570"/>
                  </a:lnTo>
                  <a:lnTo>
                    <a:pt x="222" y="566"/>
                  </a:lnTo>
                  <a:lnTo>
                    <a:pt x="228" y="560"/>
                  </a:lnTo>
                  <a:lnTo>
                    <a:pt x="236" y="554"/>
                  </a:lnTo>
                  <a:lnTo>
                    <a:pt x="242" y="546"/>
                  </a:lnTo>
                  <a:lnTo>
                    <a:pt x="246" y="540"/>
                  </a:lnTo>
                  <a:lnTo>
                    <a:pt x="252" y="524"/>
                  </a:lnTo>
                  <a:lnTo>
                    <a:pt x="256" y="506"/>
                  </a:lnTo>
                  <a:lnTo>
                    <a:pt x="258" y="488"/>
                  </a:lnTo>
                  <a:lnTo>
                    <a:pt x="258" y="472"/>
                  </a:lnTo>
                  <a:lnTo>
                    <a:pt x="258" y="102"/>
                  </a:lnTo>
                  <a:lnTo>
                    <a:pt x="258" y="102"/>
                  </a:lnTo>
                  <a:lnTo>
                    <a:pt x="258" y="86"/>
                  </a:lnTo>
                  <a:lnTo>
                    <a:pt x="256" y="70"/>
                  </a:lnTo>
                  <a:lnTo>
                    <a:pt x="252" y="52"/>
                  </a:lnTo>
                  <a:lnTo>
                    <a:pt x="246" y="36"/>
                  </a:lnTo>
                  <a:lnTo>
                    <a:pt x="242" y="28"/>
                  </a:lnTo>
                  <a:lnTo>
                    <a:pt x="236" y="22"/>
                  </a:lnTo>
                  <a:lnTo>
                    <a:pt x="228" y="16"/>
                  </a:lnTo>
                  <a:lnTo>
                    <a:pt x="222" y="10"/>
                  </a:lnTo>
                  <a:lnTo>
                    <a:pt x="212" y="6"/>
                  </a:lnTo>
                  <a:lnTo>
                    <a:pt x="202" y="2"/>
                  </a:lnTo>
                  <a:lnTo>
                    <a:pt x="188" y="0"/>
                  </a:lnTo>
                  <a:lnTo>
                    <a:pt x="1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3" name="Freeform 9"/>
            <p:cNvSpPr>
              <a:spLocks/>
            </p:cNvSpPr>
            <p:nvPr userDrawn="1"/>
          </p:nvSpPr>
          <p:spPr bwMode="auto">
            <a:xfrm>
              <a:off x="1428" y="1657"/>
              <a:ext cx="214" cy="576"/>
            </a:xfrm>
            <a:custGeom>
              <a:avLst/>
              <a:gdLst>
                <a:gd name="T0" fmla="*/ 0 w 214"/>
                <a:gd name="T1" fmla="*/ 0 h 576"/>
                <a:gd name="T2" fmla="*/ 214 w 214"/>
                <a:gd name="T3" fmla="*/ 0 h 576"/>
                <a:gd name="T4" fmla="*/ 214 w 214"/>
                <a:gd name="T5" fmla="*/ 72 h 576"/>
                <a:gd name="T6" fmla="*/ 112 w 214"/>
                <a:gd name="T7" fmla="*/ 72 h 576"/>
                <a:gd name="T8" fmla="*/ 112 w 214"/>
                <a:gd name="T9" fmla="*/ 576 h 576"/>
                <a:gd name="T10" fmla="*/ 0 w 214"/>
                <a:gd name="T11" fmla="*/ 576 h 576"/>
                <a:gd name="T12" fmla="*/ 0 w 214"/>
                <a:gd name="T13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4" h="576">
                  <a:moveTo>
                    <a:pt x="0" y="0"/>
                  </a:moveTo>
                  <a:lnTo>
                    <a:pt x="214" y="0"/>
                  </a:lnTo>
                  <a:lnTo>
                    <a:pt x="214" y="72"/>
                  </a:lnTo>
                  <a:lnTo>
                    <a:pt x="112" y="72"/>
                  </a:lnTo>
                  <a:lnTo>
                    <a:pt x="112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4" name="Freeform 10"/>
            <p:cNvSpPr>
              <a:spLocks noEditPoints="1"/>
            </p:cNvSpPr>
            <p:nvPr userDrawn="1"/>
          </p:nvSpPr>
          <p:spPr bwMode="auto">
            <a:xfrm>
              <a:off x="1658" y="1657"/>
              <a:ext cx="292" cy="576"/>
            </a:xfrm>
            <a:custGeom>
              <a:avLst/>
              <a:gdLst>
                <a:gd name="T0" fmla="*/ 0 w 292"/>
                <a:gd name="T1" fmla="*/ 576 h 576"/>
                <a:gd name="T2" fmla="*/ 110 w 292"/>
                <a:gd name="T3" fmla="*/ 576 h 576"/>
                <a:gd name="T4" fmla="*/ 120 w 292"/>
                <a:gd name="T5" fmla="*/ 422 h 576"/>
                <a:gd name="T6" fmla="*/ 172 w 292"/>
                <a:gd name="T7" fmla="*/ 422 h 576"/>
                <a:gd name="T8" fmla="*/ 182 w 292"/>
                <a:gd name="T9" fmla="*/ 576 h 576"/>
                <a:gd name="T10" fmla="*/ 292 w 292"/>
                <a:gd name="T11" fmla="*/ 576 h 576"/>
                <a:gd name="T12" fmla="*/ 234 w 292"/>
                <a:gd name="T13" fmla="*/ 0 h 576"/>
                <a:gd name="T14" fmla="*/ 58 w 292"/>
                <a:gd name="T15" fmla="*/ 0 h 576"/>
                <a:gd name="T16" fmla="*/ 0 w 292"/>
                <a:gd name="T17" fmla="*/ 576 h 576"/>
                <a:gd name="T18" fmla="*/ 124 w 292"/>
                <a:gd name="T19" fmla="*/ 360 h 576"/>
                <a:gd name="T20" fmla="*/ 144 w 292"/>
                <a:gd name="T21" fmla="*/ 72 h 576"/>
                <a:gd name="T22" fmla="*/ 150 w 292"/>
                <a:gd name="T23" fmla="*/ 72 h 576"/>
                <a:gd name="T24" fmla="*/ 168 w 292"/>
                <a:gd name="T25" fmla="*/ 360 h 576"/>
                <a:gd name="T26" fmla="*/ 124 w 292"/>
                <a:gd name="T27" fmla="*/ 36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2" h="576">
                  <a:moveTo>
                    <a:pt x="0" y="576"/>
                  </a:moveTo>
                  <a:lnTo>
                    <a:pt x="110" y="576"/>
                  </a:lnTo>
                  <a:lnTo>
                    <a:pt x="120" y="422"/>
                  </a:lnTo>
                  <a:lnTo>
                    <a:pt x="172" y="422"/>
                  </a:lnTo>
                  <a:lnTo>
                    <a:pt x="182" y="576"/>
                  </a:lnTo>
                  <a:lnTo>
                    <a:pt x="292" y="576"/>
                  </a:lnTo>
                  <a:lnTo>
                    <a:pt x="234" y="0"/>
                  </a:lnTo>
                  <a:lnTo>
                    <a:pt x="58" y="0"/>
                  </a:lnTo>
                  <a:lnTo>
                    <a:pt x="0" y="576"/>
                  </a:lnTo>
                  <a:close/>
                  <a:moveTo>
                    <a:pt x="124" y="360"/>
                  </a:moveTo>
                  <a:lnTo>
                    <a:pt x="144" y="72"/>
                  </a:lnTo>
                  <a:lnTo>
                    <a:pt x="150" y="72"/>
                  </a:lnTo>
                  <a:lnTo>
                    <a:pt x="168" y="360"/>
                  </a:lnTo>
                  <a:lnTo>
                    <a:pt x="124" y="3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1998" y="1657"/>
              <a:ext cx="260" cy="576"/>
            </a:xfrm>
            <a:custGeom>
              <a:avLst/>
              <a:gdLst>
                <a:gd name="T0" fmla="*/ 112 w 260"/>
                <a:gd name="T1" fmla="*/ 482 h 576"/>
                <a:gd name="T2" fmla="*/ 114 w 260"/>
                <a:gd name="T3" fmla="*/ 492 h 576"/>
                <a:gd name="T4" fmla="*/ 124 w 260"/>
                <a:gd name="T5" fmla="*/ 500 h 576"/>
                <a:gd name="T6" fmla="*/ 130 w 260"/>
                <a:gd name="T7" fmla="*/ 502 h 576"/>
                <a:gd name="T8" fmla="*/ 142 w 260"/>
                <a:gd name="T9" fmla="*/ 496 h 576"/>
                <a:gd name="T10" fmla="*/ 148 w 260"/>
                <a:gd name="T11" fmla="*/ 482 h 576"/>
                <a:gd name="T12" fmla="*/ 148 w 260"/>
                <a:gd name="T13" fmla="*/ 348 h 576"/>
                <a:gd name="T14" fmla="*/ 144 w 260"/>
                <a:gd name="T15" fmla="*/ 328 h 576"/>
                <a:gd name="T16" fmla="*/ 136 w 260"/>
                <a:gd name="T17" fmla="*/ 318 h 576"/>
                <a:gd name="T18" fmla="*/ 116 w 260"/>
                <a:gd name="T19" fmla="*/ 312 h 576"/>
                <a:gd name="T20" fmla="*/ 58 w 260"/>
                <a:gd name="T21" fmla="*/ 310 h 576"/>
                <a:gd name="T22" fmla="*/ 104 w 260"/>
                <a:gd name="T23" fmla="*/ 248 h 576"/>
                <a:gd name="T24" fmla="*/ 124 w 260"/>
                <a:gd name="T25" fmla="*/ 246 h 576"/>
                <a:gd name="T26" fmla="*/ 138 w 260"/>
                <a:gd name="T27" fmla="*/ 240 h 576"/>
                <a:gd name="T28" fmla="*/ 146 w 260"/>
                <a:gd name="T29" fmla="*/ 226 h 576"/>
                <a:gd name="T30" fmla="*/ 148 w 260"/>
                <a:gd name="T31" fmla="*/ 204 h 576"/>
                <a:gd name="T32" fmla="*/ 148 w 260"/>
                <a:gd name="T33" fmla="*/ 90 h 576"/>
                <a:gd name="T34" fmla="*/ 142 w 260"/>
                <a:gd name="T35" fmla="*/ 78 h 576"/>
                <a:gd name="T36" fmla="*/ 130 w 260"/>
                <a:gd name="T37" fmla="*/ 72 h 576"/>
                <a:gd name="T38" fmla="*/ 124 w 260"/>
                <a:gd name="T39" fmla="*/ 72 h 576"/>
                <a:gd name="T40" fmla="*/ 114 w 260"/>
                <a:gd name="T41" fmla="*/ 82 h 576"/>
                <a:gd name="T42" fmla="*/ 112 w 260"/>
                <a:gd name="T43" fmla="*/ 184 h 576"/>
                <a:gd name="T44" fmla="*/ 0 w 260"/>
                <a:gd name="T45" fmla="*/ 102 h 576"/>
                <a:gd name="T46" fmla="*/ 0 w 260"/>
                <a:gd name="T47" fmla="*/ 86 h 576"/>
                <a:gd name="T48" fmla="*/ 6 w 260"/>
                <a:gd name="T49" fmla="*/ 52 h 576"/>
                <a:gd name="T50" fmla="*/ 18 w 260"/>
                <a:gd name="T51" fmla="*/ 28 h 576"/>
                <a:gd name="T52" fmla="*/ 30 w 260"/>
                <a:gd name="T53" fmla="*/ 16 h 576"/>
                <a:gd name="T54" fmla="*/ 46 w 260"/>
                <a:gd name="T55" fmla="*/ 6 h 576"/>
                <a:gd name="T56" fmla="*/ 70 w 260"/>
                <a:gd name="T57" fmla="*/ 0 h 576"/>
                <a:gd name="T58" fmla="*/ 176 w 260"/>
                <a:gd name="T59" fmla="*/ 0 h 576"/>
                <a:gd name="T60" fmla="*/ 190 w 260"/>
                <a:gd name="T61" fmla="*/ 0 h 576"/>
                <a:gd name="T62" fmla="*/ 214 w 260"/>
                <a:gd name="T63" fmla="*/ 6 h 576"/>
                <a:gd name="T64" fmla="*/ 230 w 260"/>
                <a:gd name="T65" fmla="*/ 16 h 576"/>
                <a:gd name="T66" fmla="*/ 242 w 260"/>
                <a:gd name="T67" fmla="*/ 28 h 576"/>
                <a:gd name="T68" fmla="*/ 254 w 260"/>
                <a:gd name="T69" fmla="*/ 52 h 576"/>
                <a:gd name="T70" fmla="*/ 260 w 260"/>
                <a:gd name="T71" fmla="*/ 86 h 576"/>
                <a:gd name="T72" fmla="*/ 260 w 260"/>
                <a:gd name="T73" fmla="*/ 194 h 576"/>
                <a:gd name="T74" fmla="*/ 258 w 260"/>
                <a:gd name="T75" fmla="*/ 216 h 576"/>
                <a:gd name="T76" fmla="*/ 244 w 260"/>
                <a:gd name="T77" fmla="*/ 248 h 576"/>
                <a:gd name="T78" fmla="*/ 222 w 260"/>
                <a:gd name="T79" fmla="*/ 266 h 576"/>
                <a:gd name="T80" fmla="*/ 196 w 260"/>
                <a:gd name="T81" fmla="*/ 272 h 576"/>
                <a:gd name="T82" fmla="*/ 184 w 260"/>
                <a:gd name="T83" fmla="*/ 278 h 576"/>
                <a:gd name="T84" fmla="*/ 196 w 260"/>
                <a:gd name="T85" fmla="*/ 280 h 576"/>
                <a:gd name="T86" fmla="*/ 218 w 260"/>
                <a:gd name="T87" fmla="*/ 284 h 576"/>
                <a:gd name="T88" fmla="*/ 234 w 260"/>
                <a:gd name="T89" fmla="*/ 292 h 576"/>
                <a:gd name="T90" fmla="*/ 250 w 260"/>
                <a:gd name="T91" fmla="*/ 310 h 576"/>
                <a:gd name="T92" fmla="*/ 258 w 260"/>
                <a:gd name="T93" fmla="*/ 336 h 576"/>
                <a:gd name="T94" fmla="*/ 260 w 260"/>
                <a:gd name="T95" fmla="*/ 472 h 576"/>
                <a:gd name="T96" fmla="*/ 260 w 260"/>
                <a:gd name="T97" fmla="*/ 488 h 576"/>
                <a:gd name="T98" fmla="*/ 254 w 260"/>
                <a:gd name="T99" fmla="*/ 522 h 576"/>
                <a:gd name="T100" fmla="*/ 242 w 260"/>
                <a:gd name="T101" fmla="*/ 546 h 576"/>
                <a:gd name="T102" fmla="*/ 230 w 260"/>
                <a:gd name="T103" fmla="*/ 560 h 576"/>
                <a:gd name="T104" fmla="*/ 214 w 260"/>
                <a:gd name="T105" fmla="*/ 570 h 576"/>
                <a:gd name="T106" fmla="*/ 190 w 260"/>
                <a:gd name="T107" fmla="*/ 574 h 576"/>
                <a:gd name="T108" fmla="*/ 84 w 260"/>
                <a:gd name="T109" fmla="*/ 576 h 576"/>
                <a:gd name="T110" fmla="*/ 70 w 260"/>
                <a:gd name="T111" fmla="*/ 574 h 576"/>
                <a:gd name="T112" fmla="*/ 46 w 260"/>
                <a:gd name="T113" fmla="*/ 570 h 576"/>
                <a:gd name="T114" fmla="*/ 30 w 260"/>
                <a:gd name="T115" fmla="*/ 560 h 576"/>
                <a:gd name="T116" fmla="*/ 18 w 260"/>
                <a:gd name="T117" fmla="*/ 546 h 576"/>
                <a:gd name="T118" fmla="*/ 6 w 260"/>
                <a:gd name="T119" fmla="*/ 522 h 576"/>
                <a:gd name="T120" fmla="*/ 0 w 260"/>
                <a:gd name="T121" fmla="*/ 488 h 576"/>
                <a:gd name="T122" fmla="*/ 0 w 260"/>
                <a:gd name="T123" fmla="*/ 374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0" h="576">
                  <a:moveTo>
                    <a:pt x="112" y="374"/>
                  </a:moveTo>
                  <a:lnTo>
                    <a:pt x="112" y="482"/>
                  </a:lnTo>
                  <a:lnTo>
                    <a:pt x="112" y="482"/>
                  </a:lnTo>
                  <a:lnTo>
                    <a:pt x="114" y="492"/>
                  </a:lnTo>
                  <a:lnTo>
                    <a:pt x="118" y="498"/>
                  </a:lnTo>
                  <a:lnTo>
                    <a:pt x="124" y="500"/>
                  </a:lnTo>
                  <a:lnTo>
                    <a:pt x="130" y="502"/>
                  </a:lnTo>
                  <a:lnTo>
                    <a:pt x="130" y="502"/>
                  </a:lnTo>
                  <a:lnTo>
                    <a:pt x="138" y="500"/>
                  </a:lnTo>
                  <a:lnTo>
                    <a:pt x="142" y="496"/>
                  </a:lnTo>
                  <a:lnTo>
                    <a:pt x="146" y="490"/>
                  </a:lnTo>
                  <a:lnTo>
                    <a:pt x="148" y="482"/>
                  </a:lnTo>
                  <a:lnTo>
                    <a:pt x="148" y="348"/>
                  </a:lnTo>
                  <a:lnTo>
                    <a:pt x="148" y="348"/>
                  </a:lnTo>
                  <a:lnTo>
                    <a:pt x="146" y="336"/>
                  </a:lnTo>
                  <a:lnTo>
                    <a:pt x="144" y="328"/>
                  </a:lnTo>
                  <a:lnTo>
                    <a:pt x="140" y="322"/>
                  </a:lnTo>
                  <a:lnTo>
                    <a:pt x="136" y="318"/>
                  </a:lnTo>
                  <a:lnTo>
                    <a:pt x="128" y="314"/>
                  </a:lnTo>
                  <a:lnTo>
                    <a:pt x="116" y="312"/>
                  </a:lnTo>
                  <a:lnTo>
                    <a:pt x="102" y="310"/>
                  </a:lnTo>
                  <a:lnTo>
                    <a:pt x="58" y="310"/>
                  </a:lnTo>
                  <a:lnTo>
                    <a:pt x="58" y="248"/>
                  </a:lnTo>
                  <a:lnTo>
                    <a:pt x="104" y="248"/>
                  </a:lnTo>
                  <a:lnTo>
                    <a:pt x="104" y="248"/>
                  </a:lnTo>
                  <a:lnTo>
                    <a:pt x="124" y="246"/>
                  </a:lnTo>
                  <a:lnTo>
                    <a:pt x="132" y="244"/>
                  </a:lnTo>
                  <a:lnTo>
                    <a:pt x="138" y="240"/>
                  </a:lnTo>
                  <a:lnTo>
                    <a:pt x="142" y="234"/>
                  </a:lnTo>
                  <a:lnTo>
                    <a:pt x="146" y="226"/>
                  </a:lnTo>
                  <a:lnTo>
                    <a:pt x="146" y="216"/>
                  </a:lnTo>
                  <a:lnTo>
                    <a:pt x="148" y="204"/>
                  </a:lnTo>
                  <a:lnTo>
                    <a:pt x="148" y="90"/>
                  </a:lnTo>
                  <a:lnTo>
                    <a:pt x="148" y="90"/>
                  </a:lnTo>
                  <a:lnTo>
                    <a:pt x="146" y="84"/>
                  </a:lnTo>
                  <a:lnTo>
                    <a:pt x="142" y="78"/>
                  </a:lnTo>
                  <a:lnTo>
                    <a:pt x="138" y="74"/>
                  </a:lnTo>
                  <a:lnTo>
                    <a:pt x="130" y="72"/>
                  </a:lnTo>
                  <a:lnTo>
                    <a:pt x="130" y="72"/>
                  </a:lnTo>
                  <a:lnTo>
                    <a:pt x="124" y="72"/>
                  </a:lnTo>
                  <a:lnTo>
                    <a:pt x="118" y="76"/>
                  </a:lnTo>
                  <a:lnTo>
                    <a:pt x="114" y="82"/>
                  </a:lnTo>
                  <a:lnTo>
                    <a:pt x="112" y="90"/>
                  </a:lnTo>
                  <a:lnTo>
                    <a:pt x="112" y="184"/>
                  </a:lnTo>
                  <a:lnTo>
                    <a:pt x="0" y="184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86"/>
                  </a:lnTo>
                  <a:lnTo>
                    <a:pt x="2" y="70"/>
                  </a:lnTo>
                  <a:lnTo>
                    <a:pt x="6" y="52"/>
                  </a:lnTo>
                  <a:lnTo>
                    <a:pt x="12" y="36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30" y="16"/>
                  </a:lnTo>
                  <a:lnTo>
                    <a:pt x="38" y="10"/>
                  </a:lnTo>
                  <a:lnTo>
                    <a:pt x="46" y="6"/>
                  </a:lnTo>
                  <a:lnTo>
                    <a:pt x="58" y="2"/>
                  </a:lnTo>
                  <a:lnTo>
                    <a:pt x="70" y="0"/>
                  </a:lnTo>
                  <a:lnTo>
                    <a:pt x="84" y="0"/>
                  </a:lnTo>
                  <a:lnTo>
                    <a:pt x="176" y="0"/>
                  </a:lnTo>
                  <a:lnTo>
                    <a:pt x="176" y="0"/>
                  </a:lnTo>
                  <a:lnTo>
                    <a:pt x="190" y="0"/>
                  </a:lnTo>
                  <a:lnTo>
                    <a:pt x="202" y="2"/>
                  </a:lnTo>
                  <a:lnTo>
                    <a:pt x="214" y="6"/>
                  </a:lnTo>
                  <a:lnTo>
                    <a:pt x="222" y="10"/>
                  </a:lnTo>
                  <a:lnTo>
                    <a:pt x="230" y="16"/>
                  </a:lnTo>
                  <a:lnTo>
                    <a:pt x="238" y="22"/>
                  </a:lnTo>
                  <a:lnTo>
                    <a:pt x="242" y="28"/>
                  </a:lnTo>
                  <a:lnTo>
                    <a:pt x="248" y="36"/>
                  </a:lnTo>
                  <a:lnTo>
                    <a:pt x="254" y="52"/>
                  </a:lnTo>
                  <a:lnTo>
                    <a:pt x="258" y="70"/>
                  </a:lnTo>
                  <a:lnTo>
                    <a:pt x="260" y="86"/>
                  </a:lnTo>
                  <a:lnTo>
                    <a:pt x="260" y="102"/>
                  </a:lnTo>
                  <a:lnTo>
                    <a:pt x="260" y="194"/>
                  </a:lnTo>
                  <a:lnTo>
                    <a:pt x="260" y="194"/>
                  </a:lnTo>
                  <a:lnTo>
                    <a:pt x="258" y="216"/>
                  </a:lnTo>
                  <a:lnTo>
                    <a:pt x="252" y="234"/>
                  </a:lnTo>
                  <a:lnTo>
                    <a:pt x="244" y="248"/>
                  </a:lnTo>
                  <a:lnTo>
                    <a:pt x="234" y="258"/>
                  </a:lnTo>
                  <a:lnTo>
                    <a:pt x="222" y="266"/>
                  </a:lnTo>
                  <a:lnTo>
                    <a:pt x="210" y="270"/>
                  </a:lnTo>
                  <a:lnTo>
                    <a:pt x="196" y="272"/>
                  </a:lnTo>
                  <a:lnTo>
                    <a:pt x="184" y="272"/>
                  </a:lnTo>
                  <a:lnTo>
                    <a:pt x="184" y="278"/>
                  </a:lnTo>
                  <a:lnTo>
                    <a:pt x="184" y="278"/>
                  </a:lnTo>
                  <a:lnTo>
                    <a:pt x="196" y="280"/>
                  </a:lnTo>
                  <a:lnTo>
                    <a:pt x="208" y="280"/>
                  </a:lnTo>
                  <a:lnTo>
                    <a:pt x="218" y="284"/>
                  </a:lnTo>
                  <a:lnTo>
                    <a:pt x="228" y="288"/>
                  </a:lnTo>
                  <a:lnTo>
                    <a:pt x="234" y="292"/>
                  </a:lnTo>
                  <a:lnTo>
                    <a:pt x="240" y="298"/>
                  </a:lnTo>
                  <a:lnTo>
                    <a:pt x="250" y="310"/>
                  </a:lnTo>
                  <a:lnTo>
                    <a:pt x="256" y="322"/>
                  </a:lnTo>
                  <a:lnTo>
                    <a:pt x="258" y="336"/>
                  </a:lnTo>
                  <a:lnTo>
                    <a:pt x="260" y="358"/>
                  </a:lnTo>
                  <a:lnTo>
                    <a:pt x="260" y="472"/>
                  </a:lnTo>
                  <a:lnTo>
                    <a:pt x="260" y="472"/>
                  </a:lnTo>
                  <a:lnTo>
                    <a:pt x="260" y="488"/>
                  </a:lnTo>
                  <a:lnTo>
                    <a:pt x="258" y="506"/>
                  </a:lnTo>
                  <a:lnTo>
                    <a:pt x="254" y="522"/>
                  </a:lnTo>
                  <a:lnTo>
                    <a:pt x="248" y="540"/>
                  </a:lnTo>
                  <a:lnTo>
                    <a:pt x="242" y="546"/>
                  </a:lnTo>
                  <a:lnTo>
                    <a:pt x="238" y="554"/>
                  </a:lnTo>
                  <a:lnTo>
                    <a:pt x="230" y="560"/>
                  </a:lnTo>
                  <a:lnTo>
                    <a:pt x="222" y="566"/>
                  </a:lnTo>
                  <a:lnTo>
                    <a:pt x="214" y="570"/>
                  </a:lnTo>
                  <a:lnTo>
                    <a:pt x="202" y="572"/>
                  </a:lnTo>
                  <a:lnTo>
                    <a:pt x="190" y="574"/>
                  </a:lnTo>
                  <a:lnTo>
                    <a:pt x="176" y="576"/>
                  </a:lnTo>
                  <a:lnTo>
                    <a:pt x="84" y="576"/>
                  </a:lnTo>
                  <a:lnTo>
                    <a:pt x="84" y="576"/>
                  </a:lnTo>
                  <a:lnTo>
                    <a:pt x="70" y="574"/>
                  </a:lnTo>
                  <a:lnTo>
                    <a:pt x="58" y="572"/>
                  </a:lnTo>
                  <a:lnTo>
                    <a:pt x="46" y="570"/>
                  </a:lnTo>
                  <a:lnTo>
                    <a:pt x="38" y="566"/>
                  </a:lnTo>
                  <a:lnTo>
                    <a:pt x="30" y="560"/>
                  </a:lnTo>
                  <a:lnTo>
                    <a:pt x="22" y="554"/>
                  </a:lnTo>
                  <a:lnTo>
                    <a:pt x="18" y="546"/>
                  </a:lnTo>
                  <a:lnTo>
                    <a:pt x="12" y="540"/>
                  </a:lnTo>
                  <a:lnTo>
                    <a:pt x="6" y="522"/>
                  </a:lnTo>
                  <a:lnTo>
                    <a:pt x="2" y="506"/>
                  </a:lnTo>
                  <a:lnTo>
                    <a:pt x="0" y="488"/>
                  </a:lnTo>
                  <a:lnTo>
                    <a:pt x="0" y="472"/>
                  </a:lnTo>
                  <a:lnTo>
                    <a:pt x="0" y="374"/>
                  </a:lnTo>
                  <a:lnTo>
                    <a:pt x="112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2332" y="1657"/>
              <a:ext cx="258" cy="576"/>
            </a:xfrm>
            <a:custGeom>
              <a:avLst/>
              <a:gdLst>
                <a:gd name="T0" fmla="*/ 0 w 258"/>
                <a:gd name="T1" fmla="*/ 0 h 576"/>
                <a:gd name="T2" fmla="*/ 258 w 258"/>
                <a:gd name="T3" fmla="*/ 0 h 576"/>
                <a:gd name="T4" fmla="*/ 258 w 258"/>
                <a:gd name="T5" fmla="*/ 576 h 576"/>
                <a:gd name="T6" fmla="*/ 154 w 258"/>
                <a:gd name="T7" fmla="*/ 576 h 576"/>
                <a:gd name="T8" fmla="*/ 154 w 258"/>
                <a:gd name="T9" fmla="*/ 72 h 576"/>
                <a:gd name="T10" fmla="*/ 104 w 258"/>
                <a:gd name="T11" fmla="*/ 72 h 576"/>
                <a:gd name="T12" fmla="*/ 104 w 258"/>
                <a:gd name="T13" fmla="*/ 576 h 576"/>
                <a:gd name="T14" fmla="*/ 0 w 258"/>
                <a:gd name="T15" fmla="*/ 576 h 576"/>
                <a:gd name="T16" fmla="*/ 0 w 258"/>
                <a:gd name="T17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8" h="576">
                  <a:moveTo>
                    <a:pt x="0" y="0"/>
                  </a:moveTo>
                  <a:lnTo>
                    <a:pt x="258" y="0"/>
                  </a:lnTo>
                  <a:lnTo>
                    <a:pt x="258" y="576"/>
                  </a:lnTo>
                  <a:lnTo>
                    <a:pt x="154" y="576"/>
                  </a:lnTo>
                  <a:lnTo>
                    <a:pt x="154" y="72"/>
                  </a:lnTo>
                  <a:lnTo>
                    <a:pt x="104" y="72"/>
                  </a:lnTo>
                  <a:lnTo>
                    <a:pt x="104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7" name="Freeform 13"/>
            <p:cNvSpPr>
              <a:spLocks noEditPoints="1"/>
            </p:cNvSpPr>
            <p:nvPr userDrawn="1"/>
          </p:nvSpPr>
          <p:spPr bwMode="auto">
            <a:xfrm>
              <a:off x="2670" y="1657"/>
              <a:ext cx="268" cy="576"/>
            </a:xfrm>
            <a:custGeom>
              <a:avLst/>
              <a:gdLst>
                <a:gd name="T0" fmla="*/ 0 w 268"/>
                <a:gd name="T1" fmla="*/ 576 h 576"/>
                <a:gd name="T2" fmla="*/ 112 w 268"/>
                <a:gd name="T3" fmla="*/ 576 h 576"/>
                <a:gd name="T4" fmla="*/ 112 w 268"/>
                <a:gd name="T5" fmla="*/ 380 h 576"/>
                <a:gd name="T6" fmla="*/ 176 w 268"/>
                <a:gd name="T7" fmla="*/ 380 h 576"/>
                <a:gd name="T8" fmla="*/ 176 w 268"/>
                <a:gd name="T9" fmla="*/ 380 h 576"/>
                <a:gd name="T10" fmla="*/ 190 w 268"/>
                <a:gd name="T11" fmla="*/ 380 h 576"/>
                <a:gd name="T12" fmla="*/ 202 w 268"/>
                <a:gd name="T13" fmla="*/ 378 h 576"/>
                <a:gd name="T14" fmla="*/ 214 w 268"/>
                <a:gd name="T15" fmla="*/ 374 h 576"/>
                <a:gd name="T16" fmla="*/ 224 w 268"/>
                <a:gd name="T17" fmla="*/ 370 h 576"/>
                <a:gd name="T18" fmla="*/ 232 w 268"/>
                <a:gd name="T19" fmla="*/ 364 h 576"/>
                <a:gd name="T20" fmla="*/ 240 w 268"/>
                <a:gd name="T21" fmla="*/ 358 h 576"/>
                <a:gd name="T22" fmla="*/ 252 w 268"/>
                <a:gd name="T23" fmla="*/ 344 h 576"/>
                <a:gd name="T24" fmla="*/ 260 w 268"/>
                <a:gd name="T25" fmla="*/ 328 h 576"/>
                <a:gd name="T26" fmla="*/ 264 w 268"/>
                <a:gd name="T27" fmla="*/ 310 h 576"/>
                <a:gd name="T28" fmla="*/ 266 w 268"/>
                <a:gd name="T29" fmla="*/ 294 h 576"/>
                <a:gd name="T30" fmla="*/ 268 w 268"/>
                <a:gd name="T31" fmla="*/ 278 h 576"/>
                <a:gd name="T32" fmla="*/ 268 w 268"/>
                <a:gd name="T33" fmla="*/ 102 h 576"/>
                <a:gd name="T34" fmla="*/ 268 w 268"/>
                <a:gd name="T35" fmla="*/ 102 h 576"/>
                <a:gd name="T36" fmla="*/ 266 w 268"/>
                <a:gd name="T37" fmla="*/ 86 h 576"/>
                <a:gd name="T38" fmla="*/ 264 w 268"/>
                <a:gd name="T39" fmla="*/ 70 h 576"/>
                <a:gd name="T40" fmla="*/ 260 w 268"/>
                <a:gd name="T41" fmla="*/ 52 h 576"/>
                <a:gd name="T42" fmla="*/ 252 w 268"/>
                <a:gd name="T43" fmla="*/ 36 h 576"/>
                <a:gd name="T44" fmla="*/ 240 w 268"/>
                <a:gd name="T45" fmla="*/ 22 h 576"/>
                <a:gd name="T46" fmla="*/ 232 w 268"/>
                <a:gd name="T47" fmla="*/ 16 h 576"/>
                <a:gd name="T48" fmla="*/ 224 w 268"/>
                <a:gd name="T49" fmla="*/ 10 h 576"/>
                <a:gd name="T50" fmla="*/ 214 w 268"/>
                <a:gd name="T51" fmla="*/ 6 h 576"/>
                <a:gd name="T52" fmla="*/ 202 w 268"/>
                <a:gd name="T53" fmla="*/ 2 h 576"/>
                <a:gd name="T54" fmla="*/ 190 w 268"/>
                <a:gd name="T55" fmla="*/ 0 h 576"/>
                <a:gd name="T56" fmla="*/ 176 w 268"/>
                <a:gd name="T57" fmla="*/ 0 h 576"/>
                <a:gd name="T58" fmla="*/ 0 w 268"/>
                <a:gd name="T59" fmla="*/ 0 h 576"/>
                <a:gd name="T60" fmla="*/ 0 w 268"/>
                <a:gd name="T61" fmla="*/ 576 h 576"/>
                <a:gd name="T62" fmla="*/ 112 w 268"/>
                <a:gd name="T63" fmla="*/ 316 h 576"/>
                <a:gd name="T64" fmla="*/ 112 w 268"/>
                <a:gd name="T65" fmla="*/ 72 h 576"/>
                <a:gd name="T66" fmla="*/ 142 w 268"/>
                <a:gd name="T67" fmla="*/ 72 h 576"/>
                <a:gd name="T68" fmla="*/ 142 w 268"/>
                <a:gd name="T69" fmla="*/ 72 h 576"/>
                <a:gd name="T70" fmla="*/ 150 w 268"/>
                <a:gd name="T71" fmla="*/ 74 h 576"/>
                <a:gd name="T72" fmla="*/ 156 w 268"/>
                <a:gd name="T73" fmla="*/ 80 h 576"/>
                <a:gd name="T74" fmla="*/ 162 w 268"/>
                <a:gd name="T75" fmla="*/ 88 h 576"/>
                <a:gd name="T76" fmla="*/ 162 w 268"/>
                <a:gd name="T77" fmla="*/ 100 h 576"/>
                <a:gd name="T78" fmla="*/ 162 w 268"/>
                <a:gd name="T79" fmla="*/ 288 h 576"/>
                <a:gd name="T80" fmla="*/ 162 w 268"/>
                <a:gd name="T81" fmla="*/ 288 h 576"/>
                <a:gd name="T82" fmla="*/ 162 w 268"/>
                <a:gd name="T83" fmla="*/ 300 h 576"/>
                <a:gd name="T84" fmla="*/ 156 w 268"/>
                <a:gd name="T85" fmla="*/ 310 h 576"/>
                <a:gd name="T86" fmla="*/ 150 w 268"/>
                <a:gd name="T87" fmla="*/ 314 h 576"/>
                <a:gd name="T88" fmla="*/ 142 w 268"/>
                <a:gd name="T89" fmla="*/ 316 h 576"/>
                <a:gd name="T90" fmla="*/ 112 w 268"/>
                <a:gd name="T91" fmla="*/ 31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68" h="576">
                  <a:moveTo>
                    <a:pt x="0" y="576"/>
                  </a:moveTo>
                  <a:lnTo>
                    <a:pt x="112" y="576"/>
                  </a:lnTo>
                  <a:lnTo>
                    <a:pt x="112" y="380"/>
                  </a:lnTo>
                  <a:lnTo>
                    <a:pt x="176" y="380"/>
                  </a:lnTo>
                  <a:lnTo>
                    <a:pt x="176" y="380"/>
                  </a:lnTo>
                  <a:lnTo>
                    <a:pt x="190" y="380"/>
                  </a:lnTo>
                  <a:lnTo>
                    <a:pt x="202" y="378"/>
                  </a:lnTo>
                  <a:lnTo>
                    <a:pt x="214" y="374"/>
                  </a:lnTo>
                  <a:lnTo>
                    <a:pt x="224" y="370"/>
                  </a:lnTo>
                  <a:lnTo>
                    <a:pt x="232" y="364"/>
                  </a:lnTo>
                  <a:lnTo>
                    <a:pt x="240" y="358"/>
                  </a:lnTo>
                  <a:lnTo>
                    <a:pt x="252" y="344"/>
                  </a:lnTo>
                  <a:lnTo>
                    <a:pt x="260" y="328"/>
                  </a:lnTo>
                  <a:lnTo>
                    <a:pt x="264" y="310"/>
                  </a:lnTo>
                  <a:lnTo>
                    <a:pt x="266" y="294"/>
                  </a:lnTo>
                  <a:lnTo>
                    <a:pt x="268" y="278"/>
                  </a:lnTo>
                  <a:lnTo>
                    <a:pt x="268" y="102"/>
                  </a:lnTo>
                  <a:lnTo>
                    <a:pt x="268" y="102"/>
                  </a:lnTo>
                  <a:lnTo>
                    <a:pt x="266" y="86"/>
                  </a:lnTo>
                  <a:lnTo>
                    <a:pt x="264" y="70"/>
                  </a:lnTo>
                  <a:lnTo>
                    <a:pt x="260" y="52"/>
                  </a:lnTo>
                  <a:lnTo>
                    <a:pt x="252" y="36"/>
                  </a:lnTo>
                  <a:lnTo>
                    <a:pt x="240" y="22"/>
                  </a:lnTo>
                  <a:lnTo>
                    <a:pt x="232" y="16"/>
                  </a:lnTo>
                  <a:lnTo>
                    <a:pt x="224" y="10"/>
                  </a:lnTo>
                  <a:lnTo>
                    <a:pt x="214" y="6"/>
                  </a:lnTo>
                  <a:lnTo>
                    <a:pt x="202" y="2"/>
                  </a:lnTo>
                  <a:lnTo>
                    <a:pt x="190" y="0"/>
                  </a:lnTo>
                  <a:lnTo>
                    <a:pt x="176" y="0"/>
                  </a:lnTo>
                  <a:lnTo>
                    <a:pt x="0" y="0"/>
                  </a:lnTo>
                  <a:lnTo>
                    <a:pt x="0" y="576"/>
                  </a:lnTo>
                  <a:close/>
                  <a:moveTo>
                    <a:pt x="112" y="316"/>
                  </a:moveTo>
                  <a:lnTo>
                    <a:pt x="112" y="72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50" y="74"/>
                  </a:lnTo>
                  <a:lnTo>
                    <a:pt x="156" y="80"/>
                  </a:lnTo>
                  <a:lnTo>
                    <a:pt x="162" y="88"/>
                  </a:lnTo>
                  <a:lnTo>
                    <a:pt x="162" y="100"/>
                  </a:lnTo>
                  <a:lnTo>
                    <a:pt x="162" y="288"/>
                  </a:lnTo>
                  <a:lnTo>
                    <a:pt x="162" y="288"/>
                  </a:lnTo>
                  <a:lnTo>
                    <a:pt x="162" y="300"/>
                  </a:lnTo>
                  <a:lnTo>
                    <a:pt x="156" y="310"/>
                  </a:lnTo>
                  <a:lnTo>
                    <a:pt x="150" y="314"/>
                  </a:lnTo>
                  <a:lnTo>
                    <a:pt x="142" y="316"/>
                  </a:lnTo>
                  <a:lnTo>
                    <a:pt x="112" y="3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3320" y="1657"/>
              <a:ext cx="436" cy="576"/>
            </a:xfrm>
            <a:custGeom>
              <a:avLst/>
              <a:gdLst>
                <a:gd name="T0" fmla="*/ 292 w 436"/>
                <a:gd name="T1" fmla="*/ 0 h 576"/>
                <a:gd name="T2" fmla="*/ 436 w 436"/>
                <a:gd name="T3" fmla="*/ 0 h 576"/>
                <a:gd name="T4" fmla="*/ 436 w 436"/>
                <a:gd name="T5" fmla="*/ 576 h 576"/>
                <a:gd name="T6" fmla="*/ 324 w 436"/>
                <a:gd name="T7" fmla="*/ 576 h 576"/>
                <a:gd name="T8" fmla="*/ 324 w 436"/>
                <a:gd name="T9" fmla="*/ 214 h 576"/>
                <a:gd name="T10" fmla="*/ 320 w 436"/>
                <a:gd name="T11" fmla="*/ 214 h 576"/>
                <a:gd name="T12" fmla="*/ 262 w 436"/>
                <a:gd name="T13" fmla="*/ 576 h 576"/>
                <a:gd name="T14" fmla="*/ 174 w 436"/>
                <a:gd name="T15" fmla="*/ 576 h 576"/>
                <a:gd name="T16" fmla="*/ 116 w 436"/>
                <a:gd name="T17" fmla="*/ 214 h 576"/>
                <a:gd name="T18" fmla="*/ 112 w 436"/>
                <a:gd name="T19" fmla="*/ 214 h 576"/>
                <a:gd name="T20" fmla="*/ 112 w 436"/>
                <a:gd name="T21" fmla="*/ 576 h 576"/>
                <a:gd name="T22" fmla="*/ 0 w 436"/>
                <a:gd name="T23" fmla="*/ 576 h 576"/>
                <a:gd name="T24" fmla="*/ 0 w 436"/>
                <a:gd name="T25" fmla="*/ 0 h 576"/>
                <a:gd name="T26" fmla="*/ 146 w 436"/>
                <a:gd name="T27" fmla="*/ 0 h 576"/>
                <a:gd name="T28" fmla="*/ 218 w 436"/>
                <a:gd name="T29" fmla="*/ 404 h 576"/>
                <a:gd name="T30" fmla="*/ 292 w 436"/>
                <a:gd name="T31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36" h="576">
                  <a:moveTo>
                    <a:pt x="292" y="0"/>
                  </a:moveTo>
                  <a:lnTo>
                    <a:pt x="436" y="0"/>
                  </a:lnTo>
                  <a:lnTo>
                    <a:pt x="436" y="576"/>
                  </a:lnTo>
                  <a:lnTo>
                    <a:pt x="324" y="576"/>
                  </a:lnTo>
                  <a:lnTo>
                    <a:pt x="324" y="214"/>
                  </a:lnTo>
                  <a:lnTo>
                    <a:pt x="320" y="214"/>
                  </a:lnTo>
                  <a:lnTo>
                    <a:pt x="262" y="576"/>
                  </a:lnTo>
                  <a:lnTo>
                    <a:pt x="174" y="576"/>
                  </a:lnTo>
                  <a:lnTo>
                    <a:pt x="116" y="214"/>
                  </a:lnTo>
                  <a:lnTo>
                    <a:pt x="112" y="214"/>
                  </a:lnTo>
                  <a:lnTo>
                    <a:pt x="112" y="576"/>
                  </a:lnTo>
                  <a:lnTo>
                    <a:pt x="0" y="576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218" y="404"/>
                  </a:lnTo>
                  <a:lnTo>
                    <a:pt x="29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9" name="Freeform 15"/>
            <p:cNvSpPr>
              <a:spLocks noEditPoints="1"/>
            </p:cNvSpPr>
            <p:nvPr userDrawn="1"/>
          </p:nvSpPr>
          <p:spPr bwMode="auto">
            <a:xfrm>
              <a:off x="900" y="1159"/>
              <a:ext cx="330" cy="1042"/>
            </a:xfrm>
            <a:custGeom>
              <a:avLst/>
              <a:gdLst>
                <a:gd name="T0" fmla="*/ 288 w 330"/>
                <a:gd name="T1" fmla="*/ 600 h 1042"/>
                <a:gd name="T2" fmla="*/ 272 w 330"/>
                <a:gd name="T3" fmla="*/ 714 h 1042"/>
                <a:gd name="T4" fmla="*/ 270 w 330"/>
                <a:gd name="T5" fmla="*/ 604 h 1042"/>
                <a:gd name="T6" fmla="*/ 254 w 330"/>
                <a:gd name="T7" fmla="*/ 490 h 1042"/>
                <a:gd name="T8" fmla="*/ 216 w 330"/>
                <a:gd name="T9" fmla="*/ 364 h 1042"/>
                <a:gd name="T10" fmla="*/ 176 w 330"/>
                <a:gd name="T11" fmla="*/ 272 h 1042"/>
                <a:gd name="T12" fmla="*/ 152 w 330"/>
                <a:gd name="T13" fmla="*/ 272 h 1042"/>
                <a:gd name="T14" fmla="*/ 92 w 330"/>
                <a:gd name="T15" fmla="*/ 422 h 1042"/>
                <a:gd name="T16" fmla="*/ 74 w 330"/>
                <a:gd name="T17" fmla="*/ 490 h 1042"/>
                <a:gd name="T18" fmla="*/ 56 w 330"/>
                <a:gd name="T19" fmla="*/ 624 h 1042"/>
                <a:gd name="T20" fmla="*/ 54 w 330"/>
                <a:gd name="T21" fmla="*/ 716 h 1042"/>
                <a:gd name="T22" fmla="*/ 40 w 330"/>
                <a:gd name="T23" fmla="*/ 568 h 1042"/>
                <a:gd name="T24" fmla="*/ 40 w 330"/>
                <a:gd name="T25" fmla="*/ 498 h 1042"/>
                <a:gd name="T26" fmla="*/ 52 w 330"/>
                <a:gd name="T27" fmla="*/ 382 h 1042"/>
                <a:gd name="T28" fmla="*/ 72 w 330"/>
                <a:gd name="T29" fmla="*/ 298 h 1042"/>
                <a:gd name="T30" fmla="*/ 128 w 330"/>
                <a:gd name="T31" fmla="*/ 148 h 1042"/>
                <a:gd name="T32" fmla="*/ 164 w 330"/>
                <a:gd name="T33" fmla="*/ 80 h 1042"/>
                <a:gd name="T34" fmla="*/ 216 w 330"/>
                <a:gd name="T35" fmla="*/ 186 h 1042"/>
                <a:gd name="T36" fmla="*/ 256 w 330"/>
                <a:gd name="T37" fmla="*/ 296 h 1042"/>
                <a:gd name="T38" fmla="*/ 274 w 330"/>
                <a:gd name="T39" fmla="*/ 372 h 1042"/>
                <a:gd name="T40" fmla="*/ 290 w 330"/>
                <a:gd name="T41" fmla="*/ 506 h 1042"/>
                <a:gd name="T42" fmla="*/ 164 w 330"/>
                <a:gd name="T43" fmla="*/ 1004 h 1042"/>
                <a:gd name="T44" fmla="*/ 134 w 330"/>
                <a:gd name="T45" fmla="*/ 932 h 1042"/>
                <a:gd name="T46" fmla="*/ 120 w 330"/>
                <a:gd name="T47" fmla="*/ 848 h 1042"/>
                <a:gd name="T48" fmla="*/ 118 w 330"/>
                <a:gd name="T49" fmla="*/ 780 h 1042"/>
                <a:gd name="T50" fmla="*/ 136 w 330"/>
                <a:gd name="T51" fmla="*/ 692 h 1042"/>
                <a:gd name="T52" fmla="*/ 164 w 330"/>
                <a:gd name="T53" fmla="*/ 626 h 1042"/>
                <a:gd name="T54" fmla="*/ 182 w 330"/>
                <a:gd name="T55" fmla="*/ 666 h 1042"/>
                <a:gd name="T56" fmla="*/ 202 w 330"/>
                <a:gd name="T57" fmla="*/ 740 h 1042"/>
                <a:gd name="T58" fmla="*/ 210 w 330"/>
                <a:gd name="T59" fmla="*/ 806 h 1042"/>
                <a:gd name="T60" fmla="*/ 202 w 330"/>
                <a:gd name="T61" fmla="*/ 900 h 1042"/>
                <a:gd name="T62" fmla="*/ 180 w 330"/>
                <a:gd name="T63" fmla="*/ 972 h 1042"/>
                <a:gd name="T64" fmla="*/ 300 w 330"/>
                <a:gd name="T65" fmla="*/ 296 h 1042"/>
                <a:gd name="T66" fmla="*/ 266 w 330"/>
                <a:gd name="T67" fmla="*/ 188 h 1042"/>
                <a:gd name="T68" fmla="*/ 204 w 330"/>
                <a:gd name="T69" fmla="*/ 62 h 1042"/>
                <a:gd name="T70" fmla="*/ 164 w 330"/>
                <a:gd name="T71" fmla="*/ 0 h 1042"/>
                <a:gd name="T72" fmla="*/ 88 w 330"/>
                <a:gd name="T73" fmla="*/ 132 h 1042"/>
                <a:gd name="T74" fmla="*/ 38 w 330"/>
                <a:gd name="T75" fmla="*/ 260 h 1042"/>
                <a:gd name="T76" fmla="*/ 14 w 330"/>
                <a:gd name="T77" fmla="*/ 358 h 1042"/>
                <a:gd name="T78" fmla="*/ 0 w 330"/>
                <a:gd name="T79" fmla="*/ 500 h 1042"/>
                <a:gd name="T80" fmla="*/ 6 w 330"/>
                <a:gd name="T81" fmla="*/ 634 h 1042"/>
                <a:gd name="T82" fmla="*/ 22 w 330"/>
                <a:gd name="T83" fmla="*/ 722 h 1042"/>
                <a:gd name="T84" fmla="*/ 62 w 330"/>
                <a:gd name="T85" fmla="*/ 854 h 1042"/>
                <a:gd name="T86" fmla="*/ 94 w 330"/>
                <a:gd name="T87" fmla="*/ 924 h 1042"/>
                <a:gd name="T88" fmla="*/ 164 w 330"/>
                <a:gd name="T89" fmla="*/ 1042 h 1042"/>
                <a:gd name="T90" fmla="*/ 202 w 330"/>
                <a:gd name="T91" fmla="*/ 986 h 1042"/>
                <a:gd name="T92" fmla="*/ 268 w 330"/>
                <a:gd name="T93" fmla="*/ 846 h 1042"/>
                <a:gd name="T94" fmla="*/ 306 w 330"/>
                <a:gd name="T95" fmla="*/ 722 h 1042"/>
                <a:gd name="T96" fmla="*/ 320 w 330"/>
                <a:gd name="T97" fmla="*/ 652 h 1042"/>
                <a:gd name="T98" fmla="*/ 330 w 330"/>
                <a:gd name="T99" fmla="*/ 532 h 1042"/>
                <a:gd name="T100" fmla="*/ 320 w 330"/>
                <a:gd name="T101" fmla="*/ 402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30" h="1042">
                  <a:moveTo>
                    <a:pt x="290" y="556"/>
                  </a:moveTo>
                  <a:lnTo>
                    <a:pt x="290" y="556"/>
                  </a:lnTo>
                  <a:lnTo>
                    <a:pt x="288" y="600"/>
                  </a:lnTo>
                  <a:lnTo>
                    <a:pt x="284" y="642"/>
                  </a:lnTo>
                  <a:lnTo>
                    <a:pt x="278" y="682"/>
                  </a:lnTo>
                  <a:lnTo>
                    <a:pt x="272" y="714"/>
                  </a:lnTo>
                  <a:lnTo>
                    <a:pt x="272" y="714"/>
                  </a:lnTo>
                  <a:lnTo>
                    <a:pt x="272" y="662"/>
                  </a:lnTo>
                  <a:lnTo>
                    <a:pt x="270" y="604"/>
                  </a:lnTo>
                  <a:lnTo>
                    <a:pt x="262" y="546"/>
                  </a:lnTo>
                  <a:lnTo>
                    <a:pt x="254" y="490"/>
                  </a:lnTo>
                  <a:lnTo>
                    <a:pt x="254" y="490"/>
                  </a:lnTo>
                  <a:lnTo>
                    <a:pt x="246" y="462"/>
                  </a:lnTo>
                  <a:lnTo>
                    <a:pt x="238" y="430"/>
                  </a:lnTo>
                  <a:lnTo>
                    <a:pt x="216" y="364"/>
                  </a:lnTo>
                  <a:lnTo>
                    <a:pt x="202" y="332"/>
                  </a:lnTo>
                  <a:lnTo>
                    <a:pt x="190" y="300"/>
                  </a:lnTo>
                  <a:lnTo>
                    <a:pt x="176" y="272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52" y="272"/>
                  </a:lnTo>
                  <a:lnTo>
                    <a:pt x="140" y="296"/>
                  </a:lnTo>
                  <a:lnTo>
                    <a:pt x="114" y="356"/>
                  </a:lnTo>
                  <a:lnTo>
                    <a:pt x="92" y="422"/>
                  </a:lnTo>
                  <a:lnTo>
                    <a:pt x="82" y="456"/>
                  </a:lnTo>
                  <a:lnTo>
                    <a:pt x="74" y="490"/>
                  </a:lnTo>
                  <a:lnTo>
                    <a:pt x="74" y="490"/>
                  </a:lnTo>
                  <a:lnTo>
                    <a:pt x="68" y="524"/>
                  </a:lnTo>
                  <a:lnTo>
                    <a:pt x="64" y="558"/>
                  </a:lnTo>
                  <a:lnTo>
                    <a:pt x="56" y="624"/>
                  </a:lnTo>
                  <a:lnTo>
                    <a:pt x="54" y="678"/>
                  </a:lnTo>
                  <a:lnTo>
                    <a:pt x="54" y="716"/>
                  </a:lnTo>
                  <a:lnTo>
                    <a:pt x="54" y="716"/>
                  </a:lnTo>
                  <a:lnTo>
                    <a:pt x="50" y="684"/>
                  </a:lnTo>
                  <a:lnTo>
                    <a:pt x="44" y="632"/>
                  </a:lnTo>
                  <a:lnTo>
                    <a:pt x="40" y="568"/>
                  </a:lnTo>
                  <a:lnTo>
                    <a:pt x="38" y="532"/>
                  </a:lnTo>
                  <a:lnTo>
                    <a:pt x="40" y="498"/>
                  </a:lnTo>
                  <a:lnTo>
                    <a:pt x="40" y="498"/>
                  </a:lnTo>
                  <a:lnTo>
                    <a:pt x="42" y="468"/>
                  </a:lnTo>
                  <a:lnTo>
                    <a:pt x="44" y="438"/>
                  </a:lnTo>
                  <a:lnTo>
                    <a:pt x="52" y="382"/>
                  </a:lnTo>
                  <a:lnTo>
                    <a:pt x="62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86" y="254"/>
                  </a:lnTo>
                  <a:lnTo>
                    <a:pt x="102" y="214"/>
                  </a:lnTo>
                  <a:lnTo>
                    <a:pt x="128" y="148"/>
                  </a:lnTo>
                  <a:lnTo>
                    <a:pt x="150" y="102"/>
                  </a:lnTo>
                  <a:lnTo>
                    <a:pt x="164" y="80"/>
                  </a:lnTo>
                  <a:lnTo>
                    <a:pt x="164" y="80"/>
                  </a:lnTo>
                  <a:lnTo>
                    <a:pt x="178" y="106"/>
                  </a:lnTo>
                  <a:lnTo>
                    <a:pt x="202" y="154"/>
                  </a:lnTo>
                  <a:lnTo>
                    <a:pt x="216" y="186"/>
                  </a:lnTo>
                  <a:lnTo>
                    <a:pt x="230" y="220"/>
                  </a:lnTo>
                  <a:lnTo>
                    <a:pt x="244" y="258"/>
                  </a:lnTo>
                  <a:lnTo>
                    <a:pt x="256" y="296"/>
                  </a:lnTo>
                  <a:lnTo>
                    <a:pt x="256" y="296"/>
                  </a:lnTo>
                  <a:lnTo>
                    <a:pt x="266" y="334"/>
                  </a:lnTo>
                  <a:lnTo>
                    <a:pt x="274" y="372"/>
                  </a:lnTo>
                  <a:lnTo>
                    <a:pt x="280" y="408"/>
                  </a:lnTo>
                  <a:lnTo>
                    <a:pt x="284" y="442"/>
                  </a:lnTo>
                  <a:lnTo>
                    <a:pt x="290" y="506"/>
                  </a:lnTo>
                  <a:lnTo>
                    <a:pt x="290" y="556"/>
                  </a:lnTo>
                  <a:close/>
                  <a:moveTo>
                    <a:pt x="164" y="1004"/>
                  </a:moveTo>
                  <a:lnTo>
                    <a:pt x="164" y="1004"/>
                  </a:lnTo>
                  <a:lnTo>
                    <a:pt x="150" y="974"/>
                  </a:lnTo>
                  <a:lnTo>
                    <a:pt x="142" y="954"/>
                  </a:lnTo>
                  <a:lnTo>
                    <a:pt x="134" y="932"/>
                  </a:lnTo>
                  <a:lnTo>
                    <a:pt x="128" y="908"/>
                  </a:lnTo>
                  <a:lnTo>
                    <a:pt x="122" y="880"/>
                  </a:lnTo>
                  <a:lnTo>
                    <a:pt x="120" y="848"/>
                  </a:lnTo>
                  <a:lnTo>
                    <a:pt x="116" y="814"/>
                  </a:lnTo>
                  <a:lnTo>
                    <a:pt x="116" y="814"/>
                  </a:lnTo>
                  <a:lnTo>
                    <a:pt x="118" y="780"/>
                  </a:lnTo>
                  <a:lnTo>
                    <a:pt x="122" y="748"/>
                  </a:lnTo>
                  <a:lnTo>
                    <a:pt x="128" y="718"/>
                  </a:lnTo>
                  <a:lnTo>
                    <a:pt x="136" y="692"/>
                  </a:lnTo>
                  <a:lnTo>
                    <a:pt x="144" y="670"/>
                  </a:lnTo>
                  <a:lnTo>
                    <a:pt x="152" y="650"/>
                  </a:lnTo>
                  <a:lnTo>
                    <a:pt x="164" y="626"/>
                  </a:lnTo>
                  <a:lnTo>
                    <a:pt x="164" y="626"/>
                  </a:lnTo>
                  <a:lnTo>
                    <a:pt x="176" y="648"/>
                  </a:lnTo>
                  <a:lnTo>
                    <a:pt x="182" y="666"/>
                  </a:lnTo>
                  <a:lnTo>
                    <a:pt x="190" y="688"/>
                  </a:lnTo>
                  <a:lnTo>
                    <a:pt x="196" y="712"/>
                  </a:lnTo>
                  <a:lnTo>
                    <a:pt x="202" y="740"/>
                  </a:lnTo>
                  <a:lnTo>
                    <a:pt x="208" y="772"/>
                  </a:lnTo>
                  <a:lnTo>
                    <a:pt x="210" y="806"/>
                  </a:lnTo>
                  <a:lnTo>
                    <a:pt x="210" y="806"/>
                  </a:lnTo>
                  <a:lnTo>
                    <a:pt x="210" y="840"/>
                  </a:lnTo>
                  <a:lnTo>
                    <a:pt x="206" y="870"/>
                  </a:lnTo>
                  <a:lnTo>
                    <a:pt x="202" y="900"/>
                  </a:lnTo>
                  <a:lnTo>
                    <a:pt x="194" y="926"/>
                  </a:lnTo>
                  <a:lnTo>
                    <a:pt x="188" y="950"/>
                  </a:lnTo>
                  <a:lnTo>
                    <a:pt x="180" y="972"/>
                  </a:lnTo>
                  <a:lnTo>
                    <a:pt x="164" y="1004"/>
                  </a:lnTo>
                  <a:close/>
                  <a:moveTo>
                    <a:pt x="300" y="296"/>
                  </a:moveTo>
                  <a:lnTo>
                    <a:pt x="300" y="296"/>
                  </a:lnTo>
                  <a:lnTo>
                    <a:pt x="292" y="268"/>
                  </a:lnTo>
                  <a:lnTo>
                    <a:pt x="284" y="242"/>
                  </a:lnTo>
                  <a:lnTo>
                    <a:pt x="266" y="188"/>
                  </a:lnTo>
                  <a:lnTo>
                    <a:pt x="244" y="140"/>
                  </a:lnTo>
                  <a:lnTo>
                    <a:pt x="224" y="98"/>
                  </a:lnTo>
                  <a:lnTo>
                    <a:pt x="204" y="62"/>
                  </a:lnTo>
                  <a:lnTo>
                    <a:pt x="186" y="32"/>
                  </a:lnTo>
                  <a:lnTo>
                    <a:pt x="164" y="0"/>
                  </a:lnTo>
                  <a:lnTo>
                    <a:pt x="164" y="0"/>
                  </a:lnTo>
                  <a:lnTo>
                    <a:pt x="142" y="34"/>
                  </a:lnTo>
                  <a:lnTo>
                    <a:pt x="108" y="94"/>
                  </a:lnTo>
                  <a:lnTo>
                    <a:pt x="88" y="132"/>
                  </a:lnTo>
                  <a:lnTo>
                    <a:pt x="70" y="172"/>
                  </a:lnTo>
                  <a:lnTo>
                    <a:pt x="54" y="214"/>
                  </a:lnTo>
                  <a:lnTo>
                    <a:pt x="38" y="260"/>
                  </a:lnTo>
                  <a:lnTo>
                    <a:pt x="38" y="260"/>
                  </a:lnTo>
                  <a:lnTo>
                    <a:pt x="24" y="310"/>
                  </a:lnTo>
                  <a:lnTo>
                    <a:pt x="14" y="358"/>
                  </a:lnTo>
                  <a:lnTo>
                    <a:pt x="8" y="406"/>
                  </a:lnTo>
                  <a:lnTo>
                    <a:pt x="2" y="454"/>
                  </a:lnTo>
                  <a:lnTo>
                    <a:pt x="0" y="500"/>
                  </a:lnTo>
                  <a:lnTo>
                    <a:pt x="0" y="546"/>
                  </a:lnTo>
                  <a:lnTo>
                    <a:pt x="2" y="590"/>
                  </a:lnTo>
                  <a:lnTo>
                    <a:pt x="6" y="634"/>
                  </a:lnTo>
                  <a:lnTo>
                    <a:pt x="6" y="634"/>
                  </a:lnTo>
                  <a:lnTo>
                    <a:pt x="14" y="680"/>
                  </a:lnTo>
                  <a:lnTo>
                    <a:pt x="22" y="722"/>
                  </a:lnTo>
                  <a:lnTo>
                    <a:pt x="32" y="762"/>
                  </a:lnTo>
                  <a:lnTo>
                    <a:pt x="44" y="800"/>
                  </a:lnTo>
                  <a:lnTo>
                    <a:pt x="62" y="854"/>
                  </a:lnTo>
                  <a:lnTo>
                    <a:pt x="70" y="876"/>
                  </a:lnTo>
                  <a:lnTo>
                    <a:pt x="70" y="876"/>
                  </a:lnTo>
                  <a:lnTo>
                    <a:pt x="94" y="924"/>
                  </a:lnTo>
                  <a:lnTo>
                    <a:pt x="118" y="970"/>
                  </a:lnTo>
                  <a:lnTo>
                    <a:pt x="142" y="1010"/>
                  </a:lnTo>
                  <a:lnTo>
                    <a:pt x="164" y="1042"/>
                  </a:lnTo>
                  <a:lnTo>
                    <a:pt x="164" y="1042"/>
                  </a:lnTo>
                  <a:lnTo>
                    <a:pt x="182" y="1018"/>
                  </a:lnTo>
                  <a:lnTo>
                    <a:pt x="202" y="986"/>
                  </a:lnTo>
                  <a:lnTo>
                    <a:pt x="224" y="946"/>
                  </a:lnTo>
                  <a:lnTo>
                    <a:pt x="246" y="900"/>
                  </a:lnTo>
                  <a:lnTo>
                    <a:pt x="268" y="846"/>
                  </a:lnTo>
                  <a:lnTo>
                    <a:pt x="288" y="786"/>
                  </a:lnTo>
                  <a:lnTo>
                    <a:pt x="298" y="754"/>
                  </a:lnTo>
                  <a:lnTo>
                    <a:pt x="306" y="722"/>
                  </a:lnTo>
                  <a:lnTo>
                    <a:pt x="314" y="686"/>
                  </a:lnTo>
                  <a:lnTo>
                    <a:pt x="320" y="652"/>
                  </a:lnTo>
                  <a:lnTo>
                    <a:pt x="320" y="652"/>
                  </a:lnTo>
                  <a:lnTo>
                    <a:pt x="324" y="612"/>
                  </a:lnTo>
                  <a:lnTo>
                    <a:pt x="328" y="572"/>
                  </a:lnTo>
                  <a:lnTo>
                    <a:pt x="330" y="532"/>
                  </a:lnTo>
                  <a:lnTo>
                    <a:pt x="328" y="492"/>
                  </a:lnTo>
                  <a:lnTo>
                    <a:pt x="326" y="448"/>
                  </a:lnTo>
                  <a:lnTo>
                    <a:pt x="320" y="402"/>
                  </a:lnTo>
                  <a:lnTo>
                    <a:pt x="312" y="352"/>
                  </a:lnTo>
                  <a:lnTo>
                    <a:pt x="300" y="2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264" y="1659"/>
              <a:ext cx="1008" cy="1150"/>
            </a:xfrm>
            <a:custGeom>
              <a:avLst/>
              <a:gdLst>
                <a:gd name="T0" fmla="*/ 584 w 1008"/>
                <a:gd name="T1" fmla="*/ 754 h 1150"/>
                <a:gd name="T2" fmla="*/ 610 w 1008"/>
                <a:gd name="T3" fmla="*/ 734 h 1150"/>
                <a:gd name="T4" fmla="*/ 654 w 1008"/>
                <a:gd name="T5" fmla="*/ 714 h 1150"/>
                <a:gd name="T6" fmla="*/ 700 w 1008"/>
                <a:gd name="T7" fmla="*/ 706 h 1150"/>
                <a:gd name="T8" fmla="*/ 746 w 1008"/>
                <a:gd name="T9" fmla="*/ 714 h 1150"/>
                <a:gd name="T10" fmla="*/ 790 w 1008"/>
                <a:gd name="T11" fmla="*/ 734 h 1150"/>
                <a:gd name="T12" fmla="*/ 816 w 1008"/>
                <a:gd name="T13" fmla="*/ 754 h 1150"/>
                <a:gd name="T14" fmla="*/ 844 w 1008"/>
                <a:gd name="T15" fmla="*/ 792 h 1150"/>
                <a:gd name="T16" fmla="*/ 860 w 1008"/>
                <a:gd name="T17" fmla="*/ 838 h 1150"/>
                <a:gd name="T18" fmla="*/ 862 w 1008"/>
                <a:gd name="T19" fmla="*/ 884 h 1150"/>
                <a:gd name="T20" fmla="*/ 852 w 1008"/>
                <a:gd name="T21" fmla="*/ 928 h 1150"/>
                <a:gd name="T22" fmla="*/ 826 w 1008"/>
                <a:gd name="T23" fmla="*/ 970 h 1150"/>
                <a:gd name="T24" fmla="*/ 814 w 1008"/>
                <a:gd name="T25" fmla="*/ 984 h 1150"/>
                <a:gd name="T26" fmla="*/ 762 w 1008"/>
                <a:gd name="T27" fmla="*/ 1024 h 1150"/>
                <a:gd name="T28" fmla="*/ 676 w 1008"/>
                <a:gd name="T29" fmla="*/ 1064 h 1150"/>
                <a:gd name="T30" fmla="*/ 584 w 1008"/>
                <a:gd name="T31" fmla="*/ 1078 h 1150"/>
                <a:gd name="T32" fmla="*/ 520 w 1008"/>
                <a:gd name="T33" fmla="*/ 1072 h 1150"/>
                <a:gd name="T34" fmla="*/ 432 w 1008"/>
                <a:gd name="T35" fmla="*/ 1040 h 1150"/>
                <a:gd name="T36" fmla="*/ 352 w 1008"/>
                <a:gd name="T37" fmla="*/ 984 h 1150"/>
                <a:gd name="T38" fmla="*/ 314 w 1008"/>
                <a:gd name="T39" fmla="*/ 940 h 1150"/>
                <a:gd name="T40" fmla="*/ 276 w 1008"/>
                <a:gd name="T41" fmla="*/ 864 h 1150"/>
                <a:gd name="T42" fmla="*/ 258 w 1008"/>
                <a:gd name="T43" fmla="*/ 784 h 1150"/>
                <a:gd name="T44" fmla="*/ 260 w 1008"/>
                <a:gd name="T45" fmla="*/ 702 h 1150"/>
                <a:gd name="T46" fmla="*/ 284 w 1008"/>
                <a:gd name="T47" fmla="*/ 624 h 1150"/>
                <a:gd name="T48" fmla="*/ 312 w 1008"/>
                <a:gd name="T49" fmla="*/ 576 h 1150"/>
                <a:gd name="T50" fmla="*/ 352 w 1008"/>
                <a:gd name="T51" fmla="*/ 528 h 1150"/>
                <a:gd name="T52" fmla="*/ 432 w 1008"/>
                <a:gd name="T53" fmla="*/ 470 h 1150"/>
                <a:gd name="T54" fmla="*/ 520 w 1008"/>
                <a:gd name="T55" fmla="*/ 438 h 1150"/>
                <a:gd name="T56" fmla="*/ 584 w 1008"/>
                <a:gd name="T57" fmla="*/ 0 h 1150"/>
                <a:gd name="T58" fmla="*/ 524 w 1008"/>
                <a:gd name="T59" fmla="*/ 4 h 1150"/>
                <a:gd name="T60" fmla="*/ 438 w 1008"/>
                <a:gd name="T61" fmla="*/ 20 h 1150"/>
                <a:gd name="T62" fmla="*/ 356 w 1008"/>
                <a:gd name="T63" fmla="*/ 46 h 1150"/>
                <a:gd name="T64" fmla="*/ 282 w 1008"/>
                <a:gd name="T65" fmla="*/ 84 h 1150"/>
                <a:gd name="T66" fmla="*/ 212 w 1008"/>
                <a:gd name="T67" fmla="*/ 132 h 1150"/>
                <a:gd name="T68" fmla="*/ 152 w 1008"/>
                <a:gd name="T69" fmla="*/ 190 h 1150"/>
                <a:gd name="T70" fmla="*/ 100 w 1008"/>
                <a:gd name="T71" fmla="*/ 254 h 1150"/>
                <a:gd name="T72" fmla="*/ 58 w 1008"/>
                <a:gd name="T73" fmla="*/ 326 h 1150"/>
                <a:gd name="T74" fmla="*/ 26 w 1008"/>
                <a:gd name="T75" fmla="*/ 404 h 1150"/>
                <a:gd name="T76" fmla="*/ 6 w 1008"/>
                <a:gd name="T77" fmla="*/ 488 h 1150"/>
                <a:gd name="T78" fmla="*/ 0 w 1008"/>
                <a:gd name="T79" fmla="*/ 576 h 1150"/>
                <a:gd name="T80" fmla="*/ 4 w 1008"/>
                <a:gd name="T81" fmla="*/ 634 h 1150"/>
                <a:gd name="T82" fmla="*/ 18 w 1008"/>
                <a:gd name="T83" fmla="*/ 718 h 1150"/>
                <a:gd name="T84" fmla="*/ 46 w 1008"/>
                <a:gd name="T85" fmla="*/ 798 h 1150"/>
                <a:gd name="T86" fmla="*/ 84 w 1008"/>
                <a:gd name="T87" fmla="*/ 872 h 1150"/>
                <a:gd name="T88" fmla="*/ 134 w 1008"/>
                <a:gd name="T89" fmla="*/ 940 h 1150"/>
                <a:gd name="T90" fmla="*/ 192 w 1008"/>
                <a:gd name="T91" fmla="*/ 1000 h 1150"/>
                <a:gd name="T92" fmla="*/ 258 w 1008"/>
                <a:gd name="T93" fmla="*/ 1052 h 1150"/>
                <a:gd name="T94" fmla="*/ 330 w 1008"/>
                <a:gd name="T95" fmla="*/ 1092 h 1150"/>
                <a:gd name="T96" fmla="*/ 410 w 1008"/>
                <a:gd name="T97" fmla="*/ 1124 h 1150"/>
                <a:gd name="T98" fmla="*/ 494 w 1008"/>
                <a:gd name="T99" fmla="*/ 1142 h 1150"/>
                <a:gd name="T100" fmla="*/ 584 w 1008"/>
                <a:gd name="T101" fmla="*/ 1150 h 1150"/>
                <a:gd name="T102" fmla="*/ 646 w 1008"/>
                <a:gd name="T103" fmla="*/ 1146 h 1150"/>
                <a:gd name="T104" fmla="*/ 734 w 1008"/>
                <a:gd name="T105" fmla="*/ 1130 h 1150"/>
                <a:gd name="T106" fmla="*/ 818 w 1008"/>
                <a:gd name="T107" fmla="*/ 1100 h 1150"/>
                <a:gd name="T108" fmla="*/ 896 w 1008"/>
                <a:gd name="T109" fmla="*/ 1060 h 1150"/>
                <a:gd name="T110" fmla="*/ 966 w 1008"/>
                <a:gd name="T111" fmla="*/ 1008 h 1150"/>
                <a:gd name="T112" fmla="*/ 1008 w 1008"/>
                <a:gd name="T113" fmla="*/ 574 h 1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8" h="1150">
                  <a:moveTo>
                    <a:pt x="584" y="574"/>
                  </a:moveTo>
                  <a:lnTo>
                    <a:pt x="584" y="754"/>
                  </a:lnTo>
                  <a:lnTo>
                    <a:pt x="584" y="754"/>
                  </a:lnTo>
                  <a:lnTo>
                    <a:pt x="584" y="754"/>
                  </a:lnTo>
                  <a:lnTo>
                    <a:pt x="596" y="742"/>
                  </a:lnTo>
                  <a:lnTo>
                    <a:pt x="610" y="734"/>
                  </a:lnTo>
                  <a:lnTo>
                    <a:pt x="624" y="726"/>
                  </a:lnTo>
                  <a:lnTo>
                    <a:pt x="638" y="718"/>
                  </a:lnTo>
                  <a:lnTo>
                    <a:pt x="654" y="714"/>
                  </a:lnTo>
                  <a:lnTo>
                    <a:pt x="668" y="710"/>
                  </a:lnTo>
                  <a:lnTo>
                    <a:pt x="684" y="708"/>
                  </a:lnTo>
                  <a:lnTo>
                    <a:pt x="700" y="706"/>
                  </a:lnTo>
                  <a:lnTo>
                    <a:pt x="716" y="708"/>
                  </a:lnTo>
                  <a:lnTo>
                    <a:pt x="732" y="710"/>
                  </a:lnTo>
                  <a:lnTo>
                    <a:pt x="746" y="714"/>
                  </a:lnTo>
                  <a:lnTo>
                    <a:pt x="762" y="718"/>
                  </a:lnTo>
                  <a:lnTo>
                    <a:pt x="776" y="726"/>
                  </a:lnTo>
                  <a:lnTo>
                    <a:pt x="790" y="734"/>
                  </a:lnTo>
                  <a:lnTo>
                    <a:pt x="804" y="742"/>
                  </a:lnTo>
                  <a:lnTo>
                    <a:pt x="816" y="754"/>
                  </a:lnTo>
                  <a:lnTo>
                    <a:pt x="816" y="754"/>
                  </a:lnTo>
                  <a:lnTo>
                    <a:pt x="826" y="766"/>
                  </a:lnTo>
                  <a:lnTo>
                    <a:pt x="836" y="780"/>
                  </a:lnTo>
                  <a:lnTo>
                    <a:pt x="844" y="792"/>
                  </a:lnTo>
                  <a:lnTo>
                    <a:pt x="852" y="808"/>
                  </a:lnTo>
                  <a:lnTo>
                    <a:pt x="856" y="822"/>
                  </a:lnTo>
                  <a:lnTo>
                    <a:pt x="860" y="838"/>
                  </a:lnTo>
                  <a:lnTo>
                    <a:pt x="862" y="852"/>
                  </a:lnTo>
                  <a:lnTo>
                    <a:pt x="864" y="868"/>
                  </a:lnTo>
                  <a:lnTo>
                    <a:pt x="862" y="884"/>
                  </a:lnTo>
                  <a:lnTo>
                    <a:pt x="860" y="898"/>
                  </a:lnTo>
                  <a:lnTo>
                    <a:pt x="856" y="914"/>
                  </a:lnTo>
                  <a:lnTo>
                    <a:pt x="852" y="928"/>
                  </a:lnTo>
                  <a:lnTo>
                    <a:pt x="844" y="944"/>
                  </a:lnTo>
                  <a:lnTo>
                    <a:pt x="836" y="956"/>
                  </a:lnTo>
                  <a:lnTo>
                    <a:pt x="826" y="970"/>
                  </a:lnTo>
                  <a:lnTo>
                    <a:pt x="816" y="982"/>
                  </a:lnTo>
                  <a:lnTo>
                    <a:pt x="814" y="982"/>
                  </a:lnTo>
                  <a:lnTo>
                    <a:pt x="814" y="984"/>
                  </a:lnTo>
                  <a:lnTo>
                    <a:pt x="814" y="984"/>
                  </a:lnTo>
                  <a:lnTo>
                    <a:pt x="790" y="1006"/>
                  </a:lnTo>
                  <a:lnTo>
                    <a:pt x="762" y="1024"/>
                  </a:lnTo>
                  <a:lnTo>
                    <a:pt x="734" y="1040"/>
                  </a:lnTo>
                  <a:lnTo>
                    <a:pt x="706" y="1054"/>
                  </a:lnTo>
                  <a:lnTo>
                    <a:pt x="676" y="1064"/>
                  </a:lnTo>
                  <a:lnTo>
                    <a:pt x="646" y="1072"/>
                  </a:lnTo>
                  <a:lnTo>
                    <a:pt x="614" y="1076"/>
                  </a:lnTo>
                  <a:lnTo>
                    <a:pt x="584" y="1078"/>
                  </a:lnTo>
                  <a:lnTo>
                    <a:pt x="584" y="1078"/>
                  </a:lnTo>
                  <a:lnTo>
                    <a:pt x="552" y="1076"/>
                  </a:lnTo>
                  <a:lnTo>
                    <a:pt x="520" y="1072"/>
                  </a:lnTo>
                  <a:lnTo>
                    <a:pt x="490" y="1064"/>
                  </a:lnTo>
                  <a:lnTo>
                    <a:pt x="460" y="1054"/>
                  </a:lnTo>
                  <a:lnTo>
                    <a:pt x="432" y="1040"/>
                  </a:lnTo>
                  <a:lnTo>
                    <a:pt x="404" y="1024"/>
                  </a:lnTo>
                  <a:lnTo>
                    <a:pt x="376" y="1006"/>
                  </a:lnTo>
                  <a:lnTo>
                    <a:pt x="352" y="984"/>
                  </a:lnTo>
                  <a:lnTo>
                    <a:pt x="352" y="984"/>
                  </a:lnTo>
                  <a:lnTo>
                    <a:pt x="332" y="962"/>
                  </a:lnTo>
                  <a:lnTo>
                    <a:pt x="314" y="940"/>
                  </a:lnTo>
                  <a:lnTo>
                    <a:pt x="298" y="916"/>
                  </a:lnTo>
                  <a:lnTo>
                    <a:pt x="286" y="890"/>
                  </a:lnTo>
                  <a:lnTo>
                    <a:pt x="276" y="864"/>
                  </a:lnTo>
                  <a:lnTo>
                    <a:pt x="266" y="838"/>
                  </a:lnTo>
                  <a:lnTo>
                    <a:pt x="260" y="812"/>
                  </a:lnTo>
                  <a:lnTo>
                    <a:pt x="258" y="784"/>
                  </a:lnTo>
                  <a:lnTo>
                    <a:pt x="256" y="758"/>
                  </a:lnTo>
                  <a:lnTo>
                    <a:pt x="256" y="730"/>
                  </a:lnTo>
                  <a:lnTo>
                    <a:pt x="260" y="702"/>
                  </a:lnTo>
                  <a:lnTo>
                    <a:pt x="266" y="676"/>
                  </a:lnTo>
                  <a:lnTo>
                    <a:pt x="274" y="650"/>
                  </a:lnTo>
                  <a:lnTo>
                    <a:pt x="284" y="624"/>
                  </a:lnTo>
                  <a:lnTo>
                    <a:pt x="296" y="600"/>
                  </a:lnTo>
                  <a:lnTo>
                    <a:pt x="312" y="576"/>
                  </a:lnTo>
                  <a:lnTo>
                    <a:pt x="312" y="576"/>
                  </a:lnTo>
                  <a:lnTo>
                    <a:pt x="330" y="550"/>
                  </a:lnTo>
                  <a:lnTo>
                    <a:pt x="352" y="528"/>
                  </a:lnTo>
                  <a:lnTo>
                    <a:pt x="352" y="528"/>
                  </a:lnTo>
                  <a:lnTo>
                    <a:pt x="376" y="506"/>
                  </a:lnTo>
                  <a:lnTo>
                    <a:pt x="404" y="486"/>
                  </a:lnTo>
                  <a:lnTo>
                    <a:pt x="432" y="470"/>
                  </a:lnTo>
                  <a:lnTo>
                    <a:pt x="460" y="456"/>
                  </a:lnTo>
                  <a:lnTo>
                    <a:pt x="490" y="446"/>
                  </a:lnTo>
                  <a:lnTo>
                    <a:pt x="520" y="438"/>
                  </a:lnTo>
                  <a:lnTo>
                    <a:pt x="552" y="434"/>
                  </a:lnTo>
                  <a:lnTo>
                    <a:pt x="584" y="432"/>
                  </a:lnTo>
                  <a:lnTo>
                    <a:pt x="584" y="0"/>
                  </a:lnTo>
                  <a:lnTo>
                    <a:pt x="584" y="0"/>
                  </a:lnTo>
                  <a:lnTo>
                    <a:pt x="554" y="2"/>
                  </a:lnTo>
                  <a:lnTo>
                    <a:pt x="524" y="4"/>
                  </a:lnTo>
                  <a:lnTo>
                    <a:pt x="494" y="8"/>
                  </a:lnTo>
                  <a:lnTo>
                    <a:pt x="466" y="12"/>
                  </a:lnTo>
                  <a:lnTo>
                    <a:pt x="438" y="20"/>
                  </a:lnTo>
                  <a:lnTo>
                    <a:pt x="410" y="26"/>
                  </a:lnTo>
                  <a:lnTo>
                    <a:pt x="382" y="36"/>
                  </a:lnTo>
                  <a:lnTo>
                    <a:pt x="356" y="46"/>
                  </a:lnTo>
                  <a:lnTo>
                    <a:pt x="330" y="58"/>
                  </a:lnTo>
                  <a:lnTo>
                    <a:pt x="306" y="70"/>
                  </a:lnTo>
                  <a:lnTo>
                    <a:pt x="282" y="84"/>
                  </a:lnTo>
                  <a:lnTo>
                    <a:pt x="258" y="100"/>
                  </a:lnTo>
                  <a:lnTo>
                    <a:pt x="234" y="116"/>
                  </a:lnTo>
                  <a:lnTo>
                    <a:pt x="212" y="132"/>
                  </a:lnTo>
                  <a:lnTo>
                    <a:pt x="192" y="150"/>
                  </a:lnTo>
                  <a:lnTo>
                    <a:pt x="172" y="170"/>
                  </a:lnTo>
                  <a:lnTo>
                    <a:pt x="152" y="190"/>
                  </a:lnTo>
                  <a:lnTo>
                    <a:pt x="134" y="210"/>
                  </a:lnTo>
                  <a:lnTo>
                    <a:pt x="116" y="232"/>
                  </a:lnTo>
                  <a:lnTo>
                    <a:pt x="100" y="254"/>
                  </a:lnTo>
                  <a:lnTo>
                    <a:pt x="84" y="278"/>
                  </a:lnTo>
                  <a:lnTo>
                    <a:pt x="70" y="302"/>
                  </a:lnTo>
                  <a:lnTo>
                    <a:pt x="58" y="326"/>
                  </a:lnTo>
                  <a:lnTo>
                    <a:pt x="46" y="352"/>
                  </a:lnTo>
                  <a:lnTo>
                    <a:pt x="36" y="378"/>
                  </a:lnTo>
                  <a:lnTo>
                    <a:pt x="26" y="404"/>
                  </a:lnTo>
                  <a:lnTo>
                    <a:pt x="18" y="432"/>
                  </a:lnTo>
                  <a:lnTo>
                    <a:pt x="12" y="460"/>
                  </a:lnTo>
                  <a:lnTo>
                    <a:pt x="6" y="488"/>
                  </a:lnTo>
                  <a:lnTo>
                    <a:pt x="4" y="516"/>
                  </a:lnTo>
                  <a:lnTo>
                    <a:pt x="2" y="546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2" y="604"/>
                  </a:lnTo>
                  <a:lnTo>
                    <a:pt x="4" y="634"/>
                  </a:lnTo>
                  <a:lnTo>
                    <a:pt x="6" y="662"/>
                  </a:lnTo>
                  <a:lnTo>
                    <a:pt x="12" y="690"/>
                  </a:lnTo>
                  <a:lnTo>
                    <a:pt x="18" y="718"/>
                  </a:lnTo>
                  <a:lnTo>
                    <a:pt x="26" y="746"/>
                  </a:lnTo>
                  <a:lnTo>
                    <a:pt x="36" y="772"/>
                  </a:lnTo>
                  <a:lnTo>
                    <a:pt x="46" y="798"/>
                  </a:lnTo>
                  <a:lnTo>
                    <a:pt x="58" y="824"/>
                  </a:lnTo>
                  <a:lnTo>
                    <a:pt x="70" y="848"/>
                  </a:lnTo>
                  <a:lnTo>
                    <a:pt x="84" y="872"/>
                  </a:lnTo>
                  <a:lnTo>
                    <a:pt x="100" y="896"/>
                  </a:lnTo>
                  <a:lnTo>
                    <a:pt x="116" y="918"/>
                  </a:lnTo>
                  <a:lnTo>
                    <a:pt x="134" y="940"/>
                  </a:lnTo>
                  <a:lnTo>
                    <a:pt x="152" y="962"/>
                  </a:lnTo>
                  <a:lnTo>
                    <a:pt x="172" y="982"/>
                  </a:lnTo>
                  <a:lnTo>
                    <a:pt x="192" y="1000"/>
                  </a:lnTo>
                  <a:lnTo>
                    <a:pt x="212" y="1018"/>
                  </a:lnTo>
                  <a:lnTo>
                    <a:pt x="234" y="1036"/>
                  </a:lnTo>
                  <a:lnTo>
                    <a:pt x="258" y="1052"/>
                  </a:lnTo>
                  <a:lnTo>
                    <a:pt x="282" y="1066"/>
                  </a:lnTo>
                  <a:lnTo>
                    <a:pt x="306" y="1080"/>
                  </a:lnTo>
                  <a:lnTo>
                    <a:pt x="330" y="1092"/>
                  </a:lnTo>
                  <a:lnTo>
                    <a:pt x="356" y="1104"/>
                  </a:lnTo>
                  <a:lnTo>
                    <a:pt x="382" y="1114"/>
                  </a:lnTo>
                  <a:lnTo>
                    <a:pt x="410" y="1124"/>
                  </a:lnTo>
                  <a:lnTo>
                    <a:pt x="438" y="1132"/>
                  </a:lnTo>
                  <a:lnTo>
                    <a:pt x="466" y="1138"/>
                  </a:lnTo>
                  <a:lnTo>
                    <a:pt x="494" y="1142"/>
                  </a:lnTo>
                  <a:lnTo>
                    <a:pt x="524" y="1146"/>
                  </a:lnTo>
                  <a:lnTo>
                    <a:pt x="554" y="1148"/>
                  </a:lnTo>
                  <a:lnTo>
                    <a:pt x="584" y="1150"/>
                  </a:lnTo>
                  <a:lnTo>
                    <a:pt x="584" y="1150"/>
                  </a:lnTo>
                  <a:lnTo>
                    <a:pt x="614" y="1148"/>
                  </a:lnTo>
                  <a:lnTo>
                    <a:pt x="646" y="1146"/>
                  </a:lnTo>
                  <a:lnTo>
                    <a:pt x="676" y="1142"/>
                  </a:lnTo>
                  <a:lnTo>
                    <a:pt x="706" y="1136"/>
                  </a:lnTo>
                  <a:lnTo>
                    <a:pt x="734" y="1130"/>
                  </a:lnTo>
                  <a:lnTo>
                    <a:pt x="764" y="1122"/>
                  </a:lnTo>
                  <a:lnTo>
                    <a:pt x="792" y="1112"/>
                  </a:lnTo>
                  <a:lnTo>
                    <a:pt x="818" y="1100"/>
                  </a:lnTo>
                  <a:lnTo>
                    <a:pt x="846" y="1088"/>
                  </a:lnTo>
                  <a:lnTo>
                    <a:pt x="872" y="1074"/>
                  </a:lnTo>
                  <a:lnTo>
                    <a:pt x="896" y="1060"/>
                  </a:lnTo>
                  <a:lnTo>
                    <a:pt x="920" y="1044"/>
                  </a:lnTo>
                  <a:lnTo>
                    <a:pt x="944" y="1026"/>
                  </a:lnTo>
                  <a:lnTo>
                    <a:pt x="966" y="1008"/>
                  </a:lnTo>
                  <a:lnTo>
                    <a:pt x="988" y="988"/>
                  </a:lnTo>
                  <a:lnTo>
                    <a:pt x="1008" y="968"/>
                  </a:lnTo>
                  <a:lnTo>
                    <a:pt x="1008" y="574"/>
                  </a:lnTo>
                  <a:lnTo>
                    <a:pt x="584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1" name="Freeform 20"/>
            <p:cNvSpPr>
              <a:spLocks noEditPoints="1"/>
            </p:cNvSpPr>
            <p:nvPr userDrawn="1"/>
          </p:nvSpPr>
          <p:spPr bwMode="auto">
            <a:xfrm>
              <a:off x="1428" y="2425"/>
              <a:ext cx="2328" cy="384"/>
            </a:xfrm>
            <a:custGeom>
              <a:avLst/>
              <a:gdLst>
                <a:gd name="T0" fmla="*/ 2222 w 2328"/>
                <a:gd name="T1" fmla="*/ 266 h 384"/>
                <a:gd name="T2" fmla="*/ 2204 w 2328"/>
                <a:gd name="T3" fmla="*/ 300 h 384"/>
                <a:gd name="T4" fmla="*/ 2156 w 2328"/>
                <a:gd name="T5" fmla="*/ 312 h 384"/>
                <a:gd name="T6" fmla="*/ 2076 w 2328"/>
                <a:gd name="T7" fmla="*/ 62 h 384"/>
                <a:gd name="T8" fmla="*/ 2144 w 2328"/>
                <a:gd name="T9" fmla="*/ 158 h 384"/>
                <a:gd name="T10" fmla="*/ 2182 w 2328"/>
                <a:gd name="T11" fmla="*/ 162 h 384"/>
                <a:gd name="T12" fmla="*/ 2214 w 2328"/>
                <a:gd name="T13" fmla="*/ 180 h 384"/>
                <a:gd name="T14" fmla="*/ 2224 w 2328"/>
                <a:gd name="T15" fmla="*/ 222 h 384"/>
                <a:gd name="T16" fmla="*/ 1686 w 2328"/>
                <a:gd name="T17" fmla="*/ 108 h 384"/>
                <a:gd name="T18" fmla="*/ 1630 w 2328"/>
                <a:gd name="T19" fmla="*/ 108 h 384"/>
                <a:gd name="T20" fmla="*/ 1732 w 2328"/>
                <a:gd name="T21" fmla="*/ 62 h 384"/>
                <a:gd name="T22" fmla="*/ 1278 w 2328"/>
                <a:gd name="T23" fmla="*/ 222 h 384"/>
                <a:gd name="T24" fmla="*/ 1266 w 2328"/>
                <a:gd name="T25" fmla="*/ 266 h 384"/>
                <a:gd name="T26" fmla="*/ 1230 w 2328"/>
                <a:gd name="T27" fmla="*/ 284 h 384"/>
                <a:gd name="T28" fmla="*/ 1194 w 2328"/>
                <a:gd name="T29" fmla="*/ 312 h 384"/>
                <a:gd name="T30" fmla="*/ 1136 w 2328"/>
                <a:gd name="T31" fmla="*/ 286 h 384"/>
                <a:gd name="T32" fmla="*/ 1084 w 2328"/>
                <a:gd name="T33" fmla="*/ 280 h 384"/>
                <a:gd name="T34" fmla="*/ 1056 w 2328"/>
                <a:gd name="T35" fmla="*/ 254 h 384"/>
                <a:gd name="T36" fmla="*/ 1052 w 2328"/>
                <a:gd name="T37" fmla="*/ 144 h 384"/>
                <a:gd name="T38" fmla="*/ 1056 w 2328"/>
                <a:gd name="T39" fmla="*/ 112 h 384"/>
                <a:gd name="T40" fmla="*/ 1082 w 2328"/>
                <a:gd name="T41" fmla="*/ 88 h 384"/>
                <a:gd name="T42" fmla="*/ 1136 w 2328"/>
                <a:gd name="T43" fmla="*/ 80 h 384"/>
                <a:gd name="T44" fmla="*/ 1194 w 2328"/>
                <a:gd name="T45" fmla="*/ 80 h 384"/>
                <a:gd name="T46" fmla="*/ 1232 w 2328"/>
                <a:gd name="T47" fmla="*/ 84 h 384"/>
                <a:gd name="T48" fmla="*/ 1266 w 2328"/>
                <a:gd name="T49" fmla="*/ 102 h 384"/>
                <a:gd name="T50" fmla="*/ 1278 w 2328"/>
                <a:gd name="T51" fmla="*/ 144 h 384"/>
                <a:gd name="T52" fmla="*/ 662 w 2328"/>
                <a:gd name="T53" fmla="*/ 108 h 384"/>
                <a:gd name="T54" fmla="*/ 734 w 2328"/>
                <a:gd name="T55" fmla="*/ 206 h 384"/>
                <a:gd name="T56" fmla="*/ 742 w 2328"/>
                <a:gd name="T57" fmla="*/ 264 h 384"/>
                <a:gd name="T58" fmla="*/ 600 w 2328"/>
                <a:gd name="T59" fmla="*/ 62 h 384"/>
                <a:gd name="T60" fmla="*/ 252 w 2328"/>
                <a:gd name="T61" fmla="*/ 312 h 384"/>
                <a:gd name="T62" fmla="*/ 164 w 2328"/>
                <a:gd name="T63" fmla="*/ 202 h 384"/>
                <a:gd name="T64" fmla="*/ 104 w 2328"/>
                <a:gd name="T65" fmla="*/ 62 h 384"/>
                <a:gd name="T66" fmla="*/ 194 w 2328"/>
                <a:gd name="T67" fmla="*/ 158 h 384"/>
                <a:gd name="T68" fmla="*/ 252 w 2328"/>
                <a:gd name="T69" fmla="*/ 312 h 384"/>
                <a:gd name="T70" fmla="*/ 0 w 2328"/>
                <a:gd name="T71" fmla="*/ 384 h 384"/>
                <a:gd name="T72" fmla="*/ 1108 w 2328"/>
                <a:gd name="T73" fmla="*/ 142 h 384"/>
                <a:gd name="T74" fmla="*/ 1110 w 2328"/>
                <a:gd name="T75" fmla="*/ 232 h 384"/>
                <a:gd name="T76" fmla="*/ 1126 w 2328"/>
                <a:gd name="T77" fmla="*/ 240 h 384"/>
                <a:gd name="T78" fmla="*/ 1126 w 2328"/>
                <a:gd name="T79" fmla="*/ 124 h 384"/>
                <a:gd name="T80" fmla="*/ 1112 w 2328"/>
                <a:gd name="T81" fmla="*/ 128 h 384"/>
                <a:gd name="T82" fmla="*/ 1202 w 2328"/>
                <a:gd name="T83" fmla="*/ 124 h 384"/>
                <a:gd name="T84" fmla="*/ 1202 w 2328"/>
                <a:gd name="T85" fmla="*/ 240 h 384"/>
                <a:gd name="T86" fmla="*/ 1216 w 2328"/>
                <a:gd name="T87" fmla="*/ 238 h 384"/>
                <a:gd name="T88" fmla="*/ 1220 w 2328"/>
                <a:gd name="T89" fmla="*/ 142 h 384"/>
                <a:gd name="T90" fmla="*/ 1216 w 2328"/>
                <a:gd name="T91" fmla="*/ 128 h 384"/>
                <a:gd name="T92" fmla="*/ 2148 w 2328"/>
                <a:gd name="T93" fmla="*/ 202 h 384"/>
                <a:gd name="T94" fmla="*/ 2148 w 2328"/>
                <a:gd name="T95" fmla="*/ 268 h 384"/>
                <a:gd name="T96" fmla="*/ 2162 w 2328"/>
                <a:gd name="T97" fmla="*/ 264 h 384"/>
                <a:gd name="T98" fmla="*/ 2166 w 2328"/>
                <a:gd name="T99" fmla="*/ 220 h 384"/>
                <a:gd name="T100" fmla="*/ 2162 w 2328"/>
                <a:gd name="T101" fmla="*/ 206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28" h="384">
                  <a:moveTo>
                    <a:pt x="2224" y="248"/>
                  </a:moveTo>
                  <a:lnTo>
                    <a:pt x="2224" y="248"/>
                  </a:lnTo>
                  <a:lnTo>
                    <a:pt x="2222" y="266"/>
                  </a:lnTo>
                  <a:lnTo>
                    <a:pt x="2220" y="280"/>
                  </a:lnTo>
                  <a:lnTo>
                    <a:pt x="2212" y="292"/>
                  </a:lnTo>
                  <a:lnTo>
                    <a:pt x="2204" y="300"/>
                  </a:lnTo>
                  <a:lnTo>
                    <a:pt x="2192" y="306"/>
                  </a:lnTo>
                  <a:lnTo>
                    <a:pt x="2176" y="310"/>
                  </a:lnTo>
                  <a:lnTo>
                    <a:pt x="2156" y="312"/>
                  </a:lnTo>
                  <a:lnTo>
                    <a:pt x="2134" y="312"/>
                  </a:lnTo>
                  <a:lnTo>
                    <a:pt x="2076" y="312"/>
                  </a:lnTo>
                  <a:lnTo>
                    <a:pt x="2076" y="62"/>
                  </a:lnTo>
                  <a:lnTo>
                    <a:pt x="2134" y="62"/>
                  </a:lnTo>
                  <a:lnTo>
                    <a:pt x="2134" y="158"/>
                  </a:lnTo>
                  <a:lnTo>
                    <a:pt x="2144" y="158"/>
                  </a:lnTo>
                  <a:lnTo>
                    <a:pt x="2144" y="158"/>
                  </a:lnTo>
                  <a:lnTo>
                    <a:pt x="2164" y="158"/>
                  </a:lnTo>
                  <a:lnTo>
                    <a:pt x="2182" y="162"/>
                  </a:lnTo>
                  <a:lnTo>
                    <a:pt x="2196" y="166"/>
                  </a:lnTo>
                  <a:lnTo>
                    <a:pt x="2206" y="172"/>
                  </a:lnTo>
                  <a:lnTo>
                    <a:pt x="2214" y="180"/>
                  </a:lnTo>
                  <a:lnTo>
                    <a:pt x="2220" y="190"/>
                  </a:lnTo>
                  <a:lnTo>
                    <a:pt x="2224" y="204"/>
                  </a:lnTo>
                  <a:lnTo>
                    <a:pt x="2224" y="222"/>
                  </a:lnTo>
                  <a:lnTo>
                    <a:pt x="2224" y="248"/>
                  </a:lnTo>
                  <a:close/>
                  <a:moveTo>
                    <a:pt x="1732" y="108"/>
                  </a:moveTo>
                  <a:lnTo>
                    <a:pt x="1686" y="108"/>
                  </a:lnTo>
                  <a:lnTo>
                    <a:pt x="1686" y="312"/>
                  </a:lnTo>
                  <a:lnTo>
                    <a:pt x="1630" y="312"/>
                  </a:lnTo>
                  <a:lnTo>
                    <a:pt x="1630" y="108"/>
                  </a:lnTo>
                  <a:lnTo>
                    <a:pt x="1582" y="108"/>
                  </a:lnTo>
                  <a:lnTo>
                    <a:pt x="1582" y="62"/>
                  </a:lnTo>
                  <a:lnTo>
                    <a:pt x="1732" y="62"/>
                  </a:lnTo>
                  <a:lnTo>
                    <a:pt x="1732" y="108"/>
                  </a:lnTo>
                  <a:close/>
                  <a:moveTo>
                    <a:pt x="1278" y="222"/>
                  </a:moveTo>
                  <a:lnTo>
                    <a:pt x="1278" y="222"/>
                  </a:lnTo>
                  <a:lnTo>
                    <a:pt x="1276" y="240"/>
                  </a:lnTo>
                  <a:lnTo>
                    <a:pt x="1272" y="254"/>
                  </a:lnTo>
                  <a:lnTo>
                    <a:pt x="1266" y="266"/>
                  </a:lnTo>
                  <a:lnTo>
                    <a:pt x="1258" y="274"/>
                  </a:lnTo>
                  <a:lnTo>
                    <a:pt x="1246" y="280"/>
                  </a:lnTo>
                  <a:lnTo>
                    <a:pt x="1230" y="284"/>
                  </a:lnTo>
                  <a:lnTo>
                    <a:pt x="1214" y="286"/>
                  </a:lnTo>
                  <a:lnTo>
                    <a:pt x="1194" y="286"/>
                  </a:lnTo>
                  <a:lnTo>
                    <a:pt x="1194" y="312"/>
                  </a:lnTo>
                  <a:lnTo>
                    <a:pt x="1136" y="312"/>
                  </a:lnTo>
                  <a:lnTo>
                    <a:pt x="1136" y="286"/>
                  </a:lnTo>
                  <a:lnTo>
                    <a:pt x="1136" y="286"/>
                  </a:lnTo>
                  <a:lnTo>
                    <a:pt x="1116" y="286"/>
                  </a:lnTo>
                  <a:lnTo>
                    <a:pt x="1098" y="284"/>
                  </a:lnTo>
                  <a:lnTo>
                    <a:pt x="1084" y="280"/>
                  </a:lnTo>
                  <a:lnTo>
                    <a:pt x="1072" y="274"/>
                  </a:lnTo>
                  <a:lnTo>
                    <a:pt x="1062" y="266"/>
                  </a:lnTo>
                  <a:lnTo>
                    <a:pt x="1056" y="254"/>
                  </a:lnTo>
                  <a:lnTo>
                    <a:pt x="1052" y="240"/>
                  </a:lnTo>
                  <a:lnTo>
                    <a:pt x="1052" y="222"/>
                  </a:lnTo>
                  <a:lnTo>
                    <a:pt x="1052" y="144"/>
                  </a:lnTo>
                  <a:lnTo>
                    <a:pt x="1052" y="144"/>
                  </a:lnTo>
                  <a:lnTo>
                    <a:pt x="1052" y="128"/>
                  </a:lnTo>
                  <a:lnTo>
                    <a:pt x="1056" y="112"/>
                  </a:lnTo>
                  <a:lnTo>
                    <a:pt x="1062" y="102"/>
                  </a:lnTo>
                  <a:lnTo>
                    <a:pt x="1072" y="94"/>
                  </a:lnTo>
                  <a:lnTo>
                    <a:pt x="1082" y="88"/>
                  </a:lnTo>
                  <a:lnTo>
                    <a:pt x="1098" y="84"/>
                  </a:lnTo>
                  <a:lnTo>
                    <a:pt x="1116" y="82"/>
                  </a:lnTo>
                  <a:lnTo>
                    <a:pt x="1136" y="80"/>
                  </a:lnTo>
                  <a:lnTo>
                    <a:pt x="1136" y="62"/>
                  </a:lnTo>
                  <a:lnTo>
                    <a:pt x="1194" y="62"/>
                  </a:lnTo>
                  <a:lnTo>
                    <a:pt x="1194" y="80"/>
                  </a:lnTo>
                  <a:lnTo>
                    <a:pt x="1194" y="80"/>
                  </a:lnTo>
                  <a:lnTo>
                    <a:pt x="1214" y="82"/>
                  </a:lnTo>
                  <a:lnTo>
                    <a:pt x="1232" y="84"/>
                  </a:lnTo>
                  <a:lnTo>
                    <a:pt x="1246" y="88"/>
                  </a:lnTo>
                  <a:lnTo>
                    <a:pt x="1258" y="94"/>
                  </a:lnTo>
                  <a:lnTo>
                    <a:pt x="1266" y="102"/>
                  </a:lnTo>
                  <a:lnTo>
                    <a:pt x="1272" y="112"/>
                  </a:lnTo>
                  <a:lnTo>
                    <a:pt x="1276" y="128"/>
                  </a:lnTo>
                  <a:lnTo>
                    <a:pt x="1278" y="144"/>
                  </a:lnTo>
                  <a:lnTo>
                    <a:pt x="1278" y="222"/>
                  </a:lnTo>
                  <a:close/>
                  <a:moveTo>
                    <a:pt x="742" y="108"/>
                  </a:moveTo>
                  <a:lnTo>
                    <a:pt x="662" y="108"/>
                  </a:lnTo>
                  <a:lnTo>
                    <a:pt x="662" y="158"/>
                  </a:lnTo>
                  <a:lnTo>
                    <a:pt x="734" y="158"/>
                  </a:lnTo>
                  <a:lnTo>
                    <a:pt x="734" y="206"/>
                  </a:lnTo>
                  <a:lnTo>
                    <a:pt x="662" y="206"/>
                  </a:lnTo>
                  <a:lnTo>
                    <a:pt x="662" y="264"/>
                  </a:lnTo>
                  <a:lnTo>
                    <a:pt x="742" y="264"/>
                  </a:lnTo>
                  <a:lnTo>
                    <a:pt x="742" y="312"/>
                  </a:lnTo>
                  <a:lnTo>
                    <a:pt x="600" y="312"/>
                  </a:lnTo>
                  <a:lnTo>
                    <a:pt x="600" y="62"/>
                  </a:lnTo>
                  <a:lnTo>
                    <a:pt x="742" y="62"/>
                  </a:lnTo>
                  <a:lnTo>
                    <a:pt x="742" y="108"/>
                  </a:lnTo>
                  <a:close/>
                  <a:moveTo>
                    <a:pt x="252" y="312"/>
                  </a:moveTo>
                  <a:lnTo>
                    <a:pt x="194" y="312"/>
                  </a:lnTo>
                  <a:lnTo>
                    <a:pt x="194" y="202"/>
                  </a:lnTo>
                  <a:lnTo>
                    <a:pt x="164" y="202"/>
                  </a:lnTo>
                  <a:lnTo>
                    <a:pt x="164" y="312"/>
                  </a:lnTo>
                  <a:lnTo>
                    <a:pt x="104" y="312"/>
                  </a:lnTo>
                  <a:lnTo>
                    <a:pt x="104" y="62"/>
                  </a:lnTo>
                  <a:lnTo>
                    <a:pt x="164" y="62"/>
                  </a:lnTo>
                  <a:lnTo>
                    <a:pt x="164" y="158"/>
                  </a:lnTo>
                  <a:lnTo>
                    <a:pt x="194" y="158"/>
                  </a:lnTo>
                  <a:lnTo>
                    <a:pt x="194" y="62"/>
                  </a:lnTo>
                  <a:lnTo>
                    <a:pt x="252" y="62"/>
                  </a:lnTo>
                  <a:lnTo>
                    <a:pt x="252" y="312"/>
                  </a:lnTo>
                  <a:close/>
                  <a:moveTo>
                    <a:pt x="2328" y="0"/>
                  </a:moveTo>
                  <a:lnTo>
                    <a:pt x="0" y="0"/>
                  </a:lnTo>
                  <a:lnTo>
                    <a:pt x="0" y="384"/>
                  </a:lnTo>
                  <a:lnTo>
                    <a:pt x="2328" y="384"/>
                  </a:lnTo>
                  <a:lnTo>
                    <a:pt x="2328" y="0"/>
                  </a:lnTo>
                  <a:close/>
                  <a:moveTo>
                    <a:pt x="1108" y="142"/>
                  </a:moveTo>
                  <a:lnTo>
                    <a:pt x="1108" y="224"/>
                  </a:lnTo>
                  <a:lnTo>
                    <a:pt x="1108" y="224"/>
                  </a:lnTo>
                  <a:lnTo>
                    <a:pt x="1110" y="232"/>
                  </a:lnTo>
                  <a:lnTo>
                    <a:pt x="1112" y="238"/>
                  </a:lnTo>
                  <a:lnTo>
                    <a:pt x="1118" y="240"/>
                  </a:lnTo>
                  <a:lnTo>
                    <a:pt x="1126" y="240"/>
                  </a:lnTo>
                  <a:lnTo>
                    <a:pt x="1136" y="240"/>
                  </a:lnTo>
                  <a:lnTo>
                    <a:pt x="1136" y="124"/>
                  </a:lnTo>
                  <a:lnTo>
                    <a:pt x="1126" y="124"/>
                  </a:lnTo>
                  <a:lnTo>
                    <a:pt x="1126" y="124"/>
                  </a:lnTo>
                  <a:lnTo>
                    <a:pt x="1118" y="126"/>
                  </a:lnTo>
                  <a:lnTo>
                    <a:pt x="1112" y="128"/>
                  </a:lnTo>
                  <a:lnTo>
                    <a:pt x="1110" y="134"/>
                  </a:lnTo>
                  <a:lnTo>
                    <a:pt x="1108" y="142"/>
                  </a:lnTo>
                  <a:close/>
                  <a:moveTo>
                    <a:pt x="1202" y="124"/>
                  </a:moveTo>
                  <a:lnTo>
                    <a:pt x="1194" y="124"/>
                  </a:lnTo>
                  <a:lnTo>
                    <a:pt x="1194" y="240"/>
                  </a:lnTo>
                  <a:lnTo>
                    <a:pt x="1202" y="240"/>
                  </a:lnTo>
                  <a:lnTo>
                    <a:pt x="1202" y="240"/>
                  </a:lnTo>
                  <a:lnTo>
                    <a:pt x="1210" y="240"/>
                  </a:lnTo>
                  <a:lnTo>
                    <a:pt x="1216" y="238"/>
                  </a:lnTo>
                  <a:lnTo>
                    <a:pt x="1220" y="232"/>
                  </a:lnTo>
                  <a:lnTo>
                    <a:pt x="1220" y="222"/>
                  </a:lnTo>
                  <a:lnTo>
                    <a:pt x="1220" y="142"/>
                  </a:lnTo>
                  <a:lnTo>
                    <a:pt x="1220" y="142"/>
                  </a:lnTo>
                  <a:lnTo>
                    <a:pt x="1220" y="134"/>
                  </a:lnTo>
                  <a:lnTo>
                    <a:pt x="1216" y="128"/>
                  </a:lnTo>
                  <a:lnTo>
                    <a:pt x="1210" y="126"/>
                  </a:lnTo>
                  <a:lnTo>
                    <a:pt x="1202" y="124"/>
                  </a:lnTo>
                  <a:close/>
                  <a:moveTo>
                    <a:pt x="2148" y="202"/>
                  </a:moveTo>
                  <a:lnTo>
                    <a:pt x="2134" y="202"/>
                  </a:lnTo>
                  <a:lnTo>
                    <a:pt x="2134" y="268"/>
                  </a:lnTo>
                  <a:lnTo>
                    <a:pt x="2148" y="268"/>
                  </a:lnTo>
                  <a:lnTo>
                    <a:pt x="2148" y="268"/>
                  </a:lnTo>
                  <a:lnTo>
                    <a:pt x="2156" y="266"/>
                  </a:lnTo>
                  <a:lnTo>
                    <a:pt x="2162" y="264"/>
                  </a:lnTo>
                  <a:lnTo>
                    <a:pt x="2164" y="258"/>
                  </a:lnTo>
                  <a:lnTo>
                    <a:pt x="2166" y="250"/>
                  </a:lnTo>
                  <a:lnTo>
                    <a:pt x="2166" y="220"/>
                  </a:lnTo>
                  <a:lnTo>
                    <a:pt x="2166" y="220"/>
                  </a:lnTo>
                  <a:lnTo>
                    <a:pt x="2164" y="212"/>
                  </a:lnTo>
                  <a:lnTo>
                    <a:pt x="2162" y="206"/>
                  </a:lnTo>
                  <a:lnTo>
                    <a:pt x="2156" y="204"/>
                  </a:lnTo>
                  <a:lnTo>
                    <a:pt x="2148" y="2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2" name="Freeform 27"/>
            <p:cNvSpPr>
              <a:spLocks/>
            </p:cNvSpPr>
            <p:nvPr userDrawn="1"/>
          </p:nvSpPr>
          <p:spPr bwMode="auto">
            <a:xfrm>
              <a:off x="2536" y="2549"/>
              <a:ext cx="28" cy="116"/>
            </a:xfrm>
            <a:custGeom>
              <a:avLst/>
              <a:gdLst>
                <a:gd name="T0" fmla="*/ 0 w 28"/>
                <a:gd name="T1" fmla="*/ 18 h 116"/>
                <a:gd name="T2" fmla="*/ 0 w 28"/>
                <a:gd name="T3" fmla="*/ 100 h 116"/>
                <a:gd name="T4" fmla="*/ 0 w 28"/>
                <a:gd name="T5" fmla="*/ 100 h 116"/>
                <a:gd name="T6" fmla="*/ 2 w 28"/>
                <a:gd name="T7" fmla="*/ 108 h 116"/>
                <a:gd name="T8" fmla="*/ 4 w 28"/>
                <a:gd name="T9" fmla="*/ 114 h 116"/>
                <a:gd name="T10" fmla="*/ 10 w 28"/>
                <a:gd name="T11" fmla="*/ 116 h 116"/>
                <a:gd name="T12" fmla="*/ 18 w 28"/>
                <a:gd name="T13" fmla="*/ 116 h 116"/>
                <a:gd name="T14" fmla="*/ 28 w 28"/>
                <a:gd name="T15" fmla="*/ 116 h 116"/>
                <a:gd name="T16" fmla="*/ 28 w 28"/>
                <a:gd name="T17" fmla="*/ 0 h 116"/>
                <a:gd name="T18" fmla="*/ 18 w 28"/>
                <a:gd name="T19" fmla="*/ 0 h 116"/>
                <a:gd name="T20" fmla="*/ 18 w 28"/>
                <a:gd name="T21" fmla="*/ 0 h 116"/>
                <a:gd name="T22" fmla="*/ 10 w 28"/>
                <a:gd name="T23" fmla="*/ 2 h 116"/>
                <a:gd name="T24" fmla="*/ 4 w 28"/>
                <a:gd name="T25" fmla="*/ 4 h 116"/>
                <a:gd name="T26" fmla="*/ 2 w 28"/>
                <a:gd name="T27" fmla="*/ 10 h 116"/>
                <a:gd name="T28" fmla="*/ 0 w 28"/>
                <a:gd name="T29" fmla="*/ 1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16">
                  <a:moveTo>
                    <a:pt x="0" y="18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2" y="108"/>
                  </a:lnTo>
                  <a:lnTo>
                    <a:pt x="4" y="114"/>
                  </a:lnTo>
                  <a:lnTo>
                    <a:pt x="10" y="116"/>
                  </a:lnTo>
                  <a:lnTo>
                    <a:pt x="18" y="116"/>
                  </a:lnTo>
                  <a:lnTo>
                    <a:pt x="28" y="116"/>
                  </a:lnTo>
                  <a:lnTo>
                    <a:pt x="2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10"/>
                  </a:lnTo>
                  <a:lnTo>
                    <a:pt x="0" y="1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3" name="Freeform 28"/>
            <p:cNvSpPr>
              <a:spLocks/>
            </p:cNvSpPr>
            <p:nvPr userDrawn="1"/>
          </p:nvSpPr>
          <p:spPr bwMode="auto">
            <a:xfrm>
              <a:off x="2622" y="2549"/>
              <a:ext cx="26" cy="116"/>
            </a:xfrm>
            <a:custGeom>
              <a:avLst/>
              <a:gdLst>
                <a:gd name="T0" fmla="*/ 8 w 26"/>
                <a:gd name="T1" fmla="*/ 0 h 116"/>
                <a:gd name="T2" fmla="*/ 0 w 26"/>
                <a:gd name="T3" fmla="*/ 0 h 116"/>
                <a:gd name="T4" fmla="*/ 0 w 26"/>
                <a:gd name="T5" fmla="*/ 116 h 116"/>
                <a:gd name="T6" fmla="*/ 8 w 26"/>
                <a:gd name="T7" fmla="*/ 116 h 116"/>
                <a:gd name="T8" fmla="*/ 8 w 26"/>
                <a:gd name="T9" fmla="*/ 116 h 116"/>
                <a:gd name="T10" fmla="*/ 16 w 26"/>
                <a:gd name="T11" fmla="*/ 116 h 116"/>
                <a:gd name="T12" fmla="*/ 22 w 26"/>
                <a:gd name="T13" fmla="*/ 114 h 116"/>
                <a:gd name="T14" fmla="*/ 26 w 26"/>
                <a:gd name="T15" fmla="*/ 108 h 116"/>
                <a:gd name="T16" fmla="*/ 26 w 26"/>
                <a:gd name="T17" fmla="*/ 98 h 116"/>
                <a:gd name="T18" fmla="*/ 26 w 26"/>
                <a:gd name="T19" fmla="*/ 18 h 116"/>
                <a:gd name="T20" fmla="*/ 26 w 26"/>
                <a:gd name="T21" fmla="*/ 18 h 116"/>
                <a:gd name="T22" fmla="*/ 26 w 26"/>
                <a:gd name="T23" fmla="*/ 10 h 116"/>
                <a:gd name="T24" fmla="*/ 22 w 26"/>
                <a:gd name="T25" fmla="*/ 4 h 116"/>
                <a:gd name="T26" fmla="*/ 16 w 26"/>
                <a:gd name="T27" fmla="*/ 2 h 116"/>
                <a:gd name="T28" fmla="*/ 8 w 26"/>
                <a:gd name="T2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" h="116">
                  <a:moveTo>
                    <a:pt x="8" y="0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8" y="116"/>
                  </a:lnTo>
                  <a:lnTo>
                    <a:pt x="8" y="116"/>
                  </a:lnTo>
                  <a:lnTo>
                    <a:pt x="16" y="116"/>
                  </a:lnTo>
                  <a:lnTo>
                    <a:pt x="22" y="114"/>
                  </a:lnTo>
                  <a:lnTo>
                    <a:pt x="26" y="108"/>
                  </a:lnTo>
                  <a:lnTo>
                    <a:pt x="26" y="98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6" y="10"/>
                  </a:lnTo>
                  <a:lnTo>
                    <a:pt x="22" y="4"/>
                  </a:lnTo>
                  <a:lnTo>
                    <a:pt x="16" y="2"/>
                  </a:lnTo>
                  <a:lnTo>
                    <a:pt x="8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4" name="Freeform 29"/>
            <p:cNvSpPr>
              <a:spLocks/>
            </p:cNvSpPr>
            <p:nvPr userDrawn="1"/>
          </p:nvSpPr>
          <p:spPr bwMode="auto">
            <a:xfrm>
              <a:off x="3562" y="2627"/>
              <a:ext cx="32" cy="66"/>
            </a:xfrm>
            <a:custGeom>
              <a:avLst/>
              <a:gdLst>
                <a:gd name="T0" fmla="*/ 14 w 32"/>
                <a:gd name="T1" fmla="*/ 0 h 66"/>
                <a:gd name="T2" fmla="*/ 0 w 32"/>
                <a:gd name="T3" fmla="*/ 0 h 66"/>
                <a:gd name="T4" fmla="*/ 0 w 32"/>
                <a:gd name="T5" fmla="*/ 66 h 66"/>
                <a:gd name="T6" fmla="*/ 14 w 32"/>
                <a:gd name="T7" fmla="*/ 66 h 66"/>
                <a:gd name="T8" fmla="*/ 14 w 32"/>
                <a:gd name="T9" fmla="*/ 66 h 66"/>
                <a:gd name="T10" fmla="*/ 22 w 32"/>
                <a:gd name="T11" fmla="*/ 64 h 66"/>
                <a:gd name="T12" fmla="*/ 28 w 32"/>
                <a:gd name="T13" fmla="*/ 62 h 66"/>
                <a:gd name="T14" fmla="*/ 30 w 32"/>
                <a:gd name="T15" fmla="*/ 56 h 66"/>
                <a:gd name="T16" fmla="*/ 32 w 32"/>
                <a:gd name="T17" fmla="*/ 48 h 66"/>
                <a:gd name="T18" fmla="*/ 32 w 32"/>
                <a:gd name="T19" fmla="*/ 18 h 66"/>
                <a:gd name="T20" fmla="*/ 32 w 32"/>
                <a:gd name="T21" fmla="*/ 18 h 66"/>
                <a:gd name="T22" fmla="*/ 30 w 32"/>
                <a:gd name="T23" fmla="*/ 10 h 66"/>
                <a:gd name="T24" fmla="*/ 28 w 32"/>
                <a:gd name="T25" fmla="*/ 4 h 66"/>
                <a:gd name="T26" fmla="*/ 22 w 32"/>
                <a:gd name="T27" fmla="*/ 2 h 66"/>
                <a:gd name="T28" fmla="*/ 14 w 32"/>
                <a:gd name="T2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66">
                  <a:moveTo>
                    <a:pt x="14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22" y="64"/>
                  </a:lnTo>
                  <a:lnTo>
                    <a:pt x="28" y="62"/>
                  </a:lnTo>
                  <a:lnTo>
                    <a:pt x="30" y="56"/>
                  </a:lnTo>
                  <a:lnTo>
                    <a:pt x="32" y="4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0" y="10"/>
                  </a:lnTo>
                  <a:lnTo>
                    <a:pt x="28" y="4"/>
                  </a:lnTo>
                  <a:lnTo>
                    <a:pt x="22" y="2"/>
                  </a:lnTo>
                  <a:lnTo>
                    <a:pt x="14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079279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 с цветным фон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30" y="0"/>
            <a:ext cx="9133009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3608388"/>
            <a:ext cx="4284663" cy="2160587"/>
          </a:xfrm>
        </p:spPr>
        <p:txBody>
          <a:bodyPr anchor="t">
            <a:noAutofit/>
          </a:bodyPr>
          <a:lstStyle>
            <a:lvl1pPr>
              <a:defRPr sz="2200" baseline="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ru-RU" dirty="0" smtClean="0"/>
              <a:t>Введите название презентации</a:t>
            </a:r>
            <a:endParaRPr lang="ru-R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87338" y="5445124"/>
            <a:ext cx="4157662" cy="216000"/>
          </a:xfrm>
        </p:spPr>
        <p:txBody>
          <a:bodyPr>
            <a:normAutofit/>
          </a:bodyPr>
          <a:lstStyle>
            <a:lvl1pPr marL="0" indent="0" algn="l">
              <a:buNone/>
              <a:defRPr sz="1400" b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 smtClean="0"/>
              <a:t>Введите название предприятия</a:t>
            </a:r>
            <a:endParaRPr lang="ru-RU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287338" y="5674156"/>
            <a:ext cx="4140000" cy="215444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dirty="0" smtClean="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ru-RU" dirty="0" smtClean="0"/>
              <a:t>Введите название подразделения</a:t>
            </a:r>
            <a:endParaRPr lang="ru-RU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5900956"/>
            <a:ext cx="4140000" cy="215444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baseline="0" dirty="0" smtClean="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ru-RU" dirty="0" smtClean="0"/>
              <a:t>Введите имя автора</a:t>
            </a:r>
            <a:endParaRPr lang="ru-RU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8" y="6127756"/>
            <a:ext cx="4140000" cy="215444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400" b="0" dirty="0" smtClean="0">
                <a:solidFill>
                  <a:schemeClr val="bg2">
                    <a:lumMod val="75000"/>
                  </a:schemeClr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ru-RU" dirty="0" smtClean="0"/>
              <a:t>Введите дату</a:t>
            </a:r>
            <a:endParaRPr lang="ru-RU" dirty="0"/>
          </a:p>
        </p:txBody>
      </p:sp>
      <p:grpSp>
        <p:nvGrpSpPr>
          <p:cNvPr id="11" name="TitleLogoRus"/>
          <p:cNvGrpSpPr>
            <a:grpSpLocks noChangeAspect="1"/>
          </p:cNvGrpSpPr>
          <p:nvPr/>
        </p:nvGrpSpPr>
        <p:grpSpPr bwMode="auto">
          <a:xfrm>
            <a:off x="7884368" y="5886796"/>
            <a:ext cx="957932" cy="452631"/>
            <a:chOff x="264" y="1159"/>
            <a:chExt cx="3492" cy="1650"/>
          </a:xfrm>
          <a:solidFill>
            <a:schemeClr val="accent3"/>
          </a:solidFill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2996" y="1657"/>
              <a:ext cx="258" cy="576"/>
            </a:xfrm>
            <a:custGeom>
              <a:avLst/>
              <a:gdLst>
                <a:gd name="T0" fmla="*/ 128 w 258"/>
                <a:gd name="T1" fmla="*/ 504 h 576"/>
                <a:gd name="T2" fmla="*/ 112 w 258"/>
                <a:gd name="T3" fmla="*/ 498 h 576"/>
                <a:gd name="T4" fmla="*/ 104 w 258"/>
                <a:gd name="T5" fmla="*/ 482 h 576"/>
                <a:gd name="T6" fmla="*/ 104 w 258"/>
                <a:gd name="T7" fmla="*/ 94 h 576"/>
                <a:gd name="T8" fmla="*/ 104 w 258"/>
                <a:gd name="T9" fmla="*/ 92 h 576"/>
                <a:gd name="T10" fmla="*/ 106 w 258"/>
                <a:gd name="T11" fmla="*/ 84 h 576"/>
                <a:gd name="T12" fmla="*/ 120 w 258"/>
                <a:gd name="T13" fmla="*/ 72 h 576"/>
                <a:gd name="T14" fmla="*/ 128 w 258"/>
                <a:gd name="T15" fmla="*/ 72 h 576"/>
                <a:gd name="T16" fmla="*/ 146 w 258"/>
                <a:gd name="T17" fmla="*/ 78 h 576"/>
                <a:gd name="T18" fmla="*/ 154 w 258"/>
                <a:gd name="T19" fmla="*/ 92 h 576"/>
                <a:gd name="T20" fmla="*/ 154 w 258"/>
                <a:gd name="T21" fmla="*/ 94 h 576"/>
                <a:gd name="T22" fmla="*/ 154 w 258"/>
                <a:gd name="T23" fmla="*/ 482 h 576"/>
                <a:gd name="T24" fmla="*/ 152 w 258"/>
                <a:gd name="T25" fmla="*/ 490 h 576"/>
                <a:gd name="T26" fmla="*/ 138 w 258"/>
                <a:gd name="T27" fmla="*/ 502 h 576"/>
                <a:gd name="T28" fmla="*/ 176 w 258"/>
                <a:gd name="T29" fmla="*/ 0 h 576"/>
                <a:gd name="T30" fmla="*/ 82 w 258"/>
                <a:gd name="T31" fmla="*/ 0 h 576"/>
                <a:gd name="T32" fmla="*/ 56 w 258"/>
                <a:gd name="T33" fmla="*/ 2 h 576"/>
                <a:gd name="T34" fmla="*/ 36 w 258"/>
                <a:gd name="T35" fmla="*/ 10 h 576"/>
                <a:gd name="T36" fmla="*/ 22 w 258"/>
                <a:gd name="T37" fmla="*/ 22 h 576"/>
                <a:gd name="T38" fmla="*/ 12 w 258"/>
                <a:gd name="T39" fmla="*/ 36 h 576"/>
                <a:gd name="T40" fmla="*/ 2 w 258"/>
                <a:gd name="T41" fmla="*/ 70 h 576"/>
                <a:gd name="T42" fmla="*/ 0 w 258"/>
                <a:gd name="T43" fmla="*/ 102 h 576"/>
                <a:gd name="T44" fmla="*/ 0 w 258"/>
                <a:gd name="T45" fmla="*/ 472 h 576"/>
                <a:gd name="T46" fmla="*/ 2 w 258"/>
                <a:gd name="T47" fmla="*/ 506 h 576"/>
                <a:gd name="T48" fmla="*/ 12 w 258"/>
                <a:gd name="T49" fmla="*/ 540 h 576"/>
                <a:gd name="T50" fmla="*/ 22 w 258"/>
                <a:gd name="T51" fmla="*/ 554 h 576"/>
                <a:gd name="T52" fmla="*/ 36 w 258"/>
                <a:gd name="T53" fmla="*/ 566 h 576"/>
                <a:gd name="T54" fmla="*/ 56 w 258"/>
                <a:gd name="T55" fmla="*/ 572 h 576"/>
                <a:gd name="T56" fmla="*/ 82 w 258"/>
                <a:gd name="T57" fmla="*/ 576 h 576"/>
                <a:gd name="T58" fmla="*/ 176 w 258"/>
                <a:gd name="T59" fmla="*/ 576 h 576"/>
                <a:gd name="T60" fmla="*/ 202 w 258"/>
                <a:gd name="T61" fmla="*/ 572 h 576"/>
                <a:gd name="T62" fmla="*/ 222 w 258"/>
                <a:gd name="T63" fmla="*/ 566 h 576"/>
                <a:gd name="T64" fmla="*/ 236 w 258"/>
                <a:gd name="T65" fmla="*/ 554 h 576"/>
                <a:gd name="T66" fmla="*/ 246 w 258"/>
                <a:gd name="T67" fmla="*/ 540 h 576"/>
                <a:gd name="T68" fmla="*/ 256 w 258"/>
                <a:gd name="T69" fmla="*/ 506 h 576"/>
                <a:gd name="T70" fmla="*/ 258 w 258"/>
                <a:gd name="T71" fmla="*/ 472 h 576"/>
                <a:gd name="T72" fmla="*/ 258 w 258"/>
                <a:gd name="T73" fmla="*/ 102 h 576"/>
                <a:gd name="T74" fmla="*/ 256 w 258"/>
                <a:gd name="T75" fmla="*/ 70 h 576"/>
                <a:gd name="T76" fmla="*/ 246 w 258"/>
                <a:gd name="T77" fmla="*/ 36 h 576"/>
                <a:gd name="T78" fmla="*/ 236 w 258"/>
                <a:gd name="T79" fmla="*/ 22 h 576"/>
                <a:gd name="T80" fmla="*/ 222 w 258"/>
                <a:gd name="T81" fmla="*/ 10 h 576"/>
                <a:gd name="T82" fmla="*/ 202 w 258"/>
                <a:gd name="T83" fmla="*/ 2 h 576"/>
                <a:gd name="T84" fmla="*/ 176 w 258"/>
                <a:gd name="T85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8" h="576">
                  <a:moveTo>
                    <a:pt x="128" y="504"/>
                  </a:moveTo>
                  <a:lnTo>
                    <a:pt x="128" y="504"/>
                  </a:lnTo>
                  <a:lnTo>
                    <a:pt x="120" y="502"/>
                  </a:lnTo>
                  <a:lnTo>
                    <a:pt x="112" y="498"/>
                  </a:lnTo>
                  <a:lnTo>
                    <a:pt x="106" y="490"/>
                  </a:lnTo>
                  <a:lnTo>
                    <a:pt x="104" y="482"/>
                  </a:lnTo>
                  <a:lnTo>
                    <a:pt x="104" y="482"/>
                  </a:lnTo>
                  <a:lnTo>
                    <a:pt x="104" y="94"/>
                  </a:lnTo>
                  <a:lnTo>
                    <a:pt x="104" y="94"/>
                  </a:lnTo>
                  <a:lnTo>
                    <a:pt x="104" y="92"/>
                  </a:lnTo>
                  <a:lnTo>
                    <a:pt x="104" y="92"/>
                  </a:lnTo>
                  <a:lnTo>
                    <a:pt x="106" y="84"/>
                  </a:lnTo>
                  <a:lnTo>
                    <a:pt x="112" y="78"/>
                  </a:lnTo>
                  <a:lnTo>
                    <a:pt x="120" y="72"/>
                  </a:lnTo>
                  <a:lnTo>
                    <a:pt x="128" y="72"/>
                  </a:lnTo>
                  <a:lnTo>
                    <a:pt x="128" y="72"/>
                  </a:lnTo>
                  <a:lnTo>
                    <a:pt x="138" y="72"/>
                  </a:lnTo>
                  <a:lnTo>
                    <a:pt x="146" y="78"/>
                  </a:lnTo>
                  <a:lnTo>
                    <a:pt x="150" y="84"/>
                  </a:lnTo>
                  <a:lnTo>
                    <a:pt x="154" y="92"/>
                  </a:lnTo>
                  <a:lnTo>
                    <a:pt x="154" y="94"/>
                  </a:lnTo>
                  <a:lnTo>
                    <a:pt x="154" y="94"/>
                  </a:lnTo>
                  <a:lnTo>
                    <a:pt x="154" y="480"/>
                  </a:lnTo>
                  <a:lnTo>
                    <a:pt x="154" y="482"/>
                  </a:lnTo>
                  <a:lnTo>
                    <a:pt x="154" y="482"/>
                  </a:lnTo>
                  <a:lnTo>
                    <a:pt x="152" y="490"/>
                  </a:lnTo>
                  <a:lnTo>
                    <a:pt x="146" y="498"/>
                  </a:lnTo>
                  <a:lnTo>
                    <a:pt x="138" y="502"/>
                  </a:lnTo>
                  <a:lnTo>
                    <a:pt x="128" y="504"/>
                  </a:lnTo>
                  <a:close/>
                  <a:moveTo>
                    <a:pt x="176" y="0"/>
                  </a:moveTo>
                  <a:lnTo>
                    <a:pt x="82" y="0"/>
                  </a:lnTo>
                  <a:lnTo>
                    <a:pt x="82" y="0"/>
                  </a:lnTo>
                  <a:lnTo>
                    <a:pt x="68" y="0"/>
                  </a:lnTo>
                  <a:lnTo>
                    <a:pt x="56" y="2"/>
                  </a:lnTo>
                  <a:lnTo>
                    <a:pt x="46" y="6"/>
                  </a:lnTo>
                  <a:lnTo>
                    <a:pt x="36" y="10"/>
                  </a:lnTo>
                  <a:lnTo>
                    <a:pt x="28" y="16"/>
                  </a:lnTo>
                  <a:lnTo>
                    <a:pt x="22" y="22"/>
                  </a:lnTo>
                  <a:lnTo>
                    <a:pt x="16" y="28"/>
                  </a:lnTo>
                  <a:lnTo>
                    <a:pt x="12" y="36"/>
                  </a:lnTo>
                  <a:lnTo>
                    <a:pt x="6" y="52"/>
                  </a:lnTo>
                  <a:lnTo>
                    <a:pt x="2" y="70"/>
                  </a:lnTo>
                  <a:lnTo>
                    <a:pt x="0" y="86"/>
                  </a:lnTo>
                  <a:lnTo>
                    <a:pt x="0" y="102"/>
                  </a:lnTo>
                  <a:lnTo>
                    <a:pt x="0" y="472"/>
                  </a:lnTo>
                  <a:lnTo>
                    <a:pt x="0" y="472"/>
                  </a:lnTo>
                  <a:lnTo>
                    <a:pt x="0" y="488"/>
                  </a:lnTo>
                  <a:lnTo>
                    <a:pt x="2" y="506"/>
                  </a:lnTo>
                  <a:lnTo>
                    <a:pt x="6" y="524"/>
                  </a:lnTo>
                  <a:lnTo>
                    <a:pt x="12" y="540"/>
                  </a:lnTo>
                  <a:lnTo>
                    <a:pt x="16" y="546"/>
                  </a:lnTo>
                  <a:lnTo>
                    <a:pt x="22" y="554"/>
                  </a:lnTo>
                  <a:lnTo>
                    <a:pt x="28" y="560"/>
                  </a:lnTo>
                  <a:lnTo>
                    <a:pt x="36" y="566"/>
                  </a:lnTo>
                  <a:lnTo>
                    <a:pt x="46" y="570"/>
                  </a:lnTo>
                  <a:lnTo>
                    <a:pt x="56" y="572"/>
                  </a:lnTo>
                  <a:lnTo>
                    <a:pt x="68" y="574"/>
                  </a:lnTo>
                  <a:lnTo>
                    <a:pt x="82" y="576"/>
                  </a:lnTo>
                  <a:lnTo>
                    <a:pt x="176" y="576"/>
                  </a:lnTo>
                  <a:lnTo>
                    <a:pt x="176" y="576"/>
                  </a:lnTo>
                  <a:lnTo>
                    <a:pt x="188" y="574"/>
                  </a:lnTo>
                  <a:lnTo>
                    <a:pt x="202" y="572"/>
                  </a:lnTo>
                  <a:lnTo>
                    <a:pt x="212" y="570"/>
                  </a:lnTo>
                  <a:lnTo>
                    <a:pt x="222" y="566"/>
                  </a:lnTo>
                  <a:lnTo>
                    <a:pt x="228" y="560"/>
                  </a:lnTo>
                  <a:lnTo>
                    <a:pt x="236" y="554"/>
                  </a:lnTo>
                  <a:lnTo>
                    <a:pt x="242" y="546"/>
                  </a:lnTo>
                  <a:lnTo>
                    <a:pt x="246" y="540"/>
                  </a:lnTo>
                  <a:lnTo>
                    <a:pt x="252" y="524"/>
                  </a:lnTo>
                  <a:lnTo>
                    <a:pt x="256" y="506"/>
                  </a:lnTo>
                  <a:lnTo>
                    <a:pt x="258" y="488"/>
                  </a:lnTo>
                  <a:lnTo>
                    <a:pt x="258" y="472"/>
                  </a:lnTo>
                  <a:lnTo>
                    <a:pt x="258" y="102"/>
                  </a:lnTo>
                  <a:lnTo>
                    <a:pt x="258" y="102"/>
                  </a:lnTo>
                  <a:lnTo>
                    <a:pt x="258" y="86"/>
                  </a:lnTo>
                  <a:lnTo>
                    <a:pt x="256" y="70"/>
                  </a:lnTo>
                  <a:lnTo>
                    <a:pt x="252" y="52"/>
                  </a:lnTo>
                  <a:lnTo>
                    <a:pt x="246" y="36"/>
                  </a:lnTo>
                  <a:lnTo>
                    <a:pt x="242" y="28"/>
                  </a:lnTo>
                  <a:lnTo>
                    <a:pt x="236" y="22"/>
                  </a:lnTo>
                  <a:lnTo>
                    <a:pt x="228" y="16"/>
                  </a:lnTo>
                  <a:lnTo>
                    <a:pt x="222" y="10"/>
                  </a:lnTo>
                  <a:lnTo>
                    <a:pt x="212" y="6"/>
                  </a:lnTo>
                  <a:lnTo>
                    <a:pt x="202" y="2"/>
                  </a:lnTo>
                  <a:lnTo>
                    <a:pt x="188" y="0"/>
                  </a:lnTo>
                  <a:lnTo>
                    <a:pt x="17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3" name="Freeform 9"/>
            <p:cNvSpPr>
              <a:spLocks/>
            </p:cNvSpPr>
            <p:nvPr userDrawn="1"/>
          </p:nvSpPr>
          <p:spPr bwMode="auto">
            <a:xfrm>
              <a:off x="1428" y="1657"/>
              <a:ext cx="214" cy="576"/>
            </a:xfrm>
            <a:custGeom>
              <a:avLst/>
              <a:gdLst>
                <a:gd name="T0" fmla="*/ 0 w 214"/>
                <a:gd name="T1" fmla="*/ 0 h 576"/>
                <a:gd name="T2" fmla="*/ 214 w 214"/>
                <a:gd name="T3" fmla="*/ 0 h 576"/>
                <a:gd name="T4" fmla="*/ 214 w 214"/>
                <a:gd name="T5" fmla="*/ 72 h 576"/>
                <a:gd name="T6" fmla="*/ 112 w 214"/>
                <a:gd name="T7" fmla="*/ 72 h 576"/>
                <a:gd name="T8" fmla="*/ 112 w 214"/>
                <a:gd name="T9" fmla="*/ 576 h 576"/>
                <a:gd name="T10" fmla="*/ 0 w 214"/>
                <a:gd name="T11" fmla="*/ 576 h 576"/>
                <a:gd name="T12" fmla="*/ 0 w 214"/>
                <a:gd name="T13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4" h="576">
                  <a:moveTo>
                    <a:pt x="0" y="0"/>
                  </a:moveTo>
                  <a:lnTo>
                    <a:pt x="214" y="0"/>
                  </a:lnTo>
                  <a:lnTo>
                    <a:pt x="214" y="72"/>
                  </a:lnTo>
                  <a:lnTo>
                    <a:pt x="112" y="72"/>
                  </a:lnTo>
                  <a:lnTo>
                    <a:pt x="112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4" name="Freeform 10"/>
            <p:cNvSpPr>
              <a:spLocks noEditPoints="1"/>
            </p:cNvSpPr>
            <p:nvPr userDrawn="1"/>
          </p:nvSpPr>
          <p:spPr bwMode="auto">
            <a:xfrm>
              <a:off x="1658" y="1657"/>
              <a:ext cx="292" cy="576"/>
            </a:xfrm>
            <a:custGeom>
              <a:avLst/>
              <a:gdLst>
                <a:gd name="T0" fmla="*/ 0 w 292"/>
                <a:gd name="T1" fmla="*/ 576 h 576"/>
                <a:gd name="T2" fmla="*/ 110 w 292"/>
                <a:gd name="T3" fmla="*/ 576 h 576"/>
                <a:gd name="T4" fmla="*/ 120 w 292"/>
                <a:gd name="T5" fmla="*/ 422 h 576"/>
                <a:gd name="T6" fmla="*/ 172 w 292"/>
                <a:gd name="T7" fmla="*/ 422 h 576"/>
                <a:gd name="T8" fmla="*/ 182 w 292"/>
                <a:gd name="T9" fmla="*/ 576 h 576"/>
                <a:gd name="T10" fmla="*/ 292 w 292"/>
                <a:gd name="T11" fmla="*/ 576 h 576"/>
                <a:gd name="T12" fmla="*/ 234 w 292"/>
                <a:gd name="T13" fmla="*/ 0 h 576"/>
                <a:gd name="T14" fmla="*/ 58 w 292"/>
                <a:gd name="T15" fmla="*/ 0 h 576"/>
                <a:gd name="T16" fmla="*/ 0 w 292"/>
                <a:gd name="T17" fmla="*/ 576 h 576"/>
                <a:gd name="T18" fmla="*/ 124 w 292"/>
                <a:gd name="T19" fmla="*/ 360 h 576"/>
                <a:gd name="T20" fmla="*/ 144 w 292"/>
                <a:gd name="T21" fmla="*/ 72 h 576"/>
                <a:gd name="T22" fmla="*/ 150 w 292"/>
                <a:gd name="T23" fmla="*/ 72 h 576"/>
                <a:gd name="T24" fmla="*/ 168 w 292"/>
                <a:gd name="T25" fmla="*/ 360 h 576"/>
                <a:gd name="T26" fmla="*/ 124 w 292"/>
                <a:gd name="T27" fmla="*/ 36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92" h="576">
                  <a:moveTo>
                    <a:pt x="0" y="576"/>
                  </a:moveTo>
                  <a:lnTo>
                    <a:pt x="110" y="576"/>
                  </a:lnTo>
                  <a:lnTo>
                    <a:pt x="120" y="422"/>
                  </a:lnTo>
                  <a:lnTo>
                    <a:pt x="172" y="422"/>
                  </a:lnTo>
                  <a:lnTo>
                    <a:pt x="182" y="576"/>
                  </a:lnTo>
                  <a:lnTo>
                    <a:pt x="292" y="576"/>
                  </a:lnTo>
                  <a:lnTo>
                    <a:pt x="234" y="0"/>
                  </a:lnTo>
                  <a:lnTo>
                    <a:pt x="58" y="0"/>
                  </a:lnTo>
                  <a:lnTo>
                    <a:pt x="0" y="576"/>
                  </a:lnTo>
                  <a:close/>
                  <a:moveTo>
                    <a:pt x="124" y="360"/>
                  </a:moveTo>
                  <a:lnTo>
                    <a:pt x="144" y="72"/>
                  </a:lnTo>
                  <a:lnTo>
                    <a:pt x="150" y="72"/>
                  </a:lnTo>
                  <a:lnTo>
                    <a:pt x="168" y="360"/>
                  </a:lnTo>
                  <a:lnTo>
                    <a:pt x="124" y="3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1998" y="1657"/>
              <a:ext cx="260" cy="576"/>
            </a:xfrm>
            <a:custGeom>
              <a:avLst/>
              <a:gdLst>
                <a:gd name="T0" fmla="*/ 112 w 260"/>
                <a:gd name="T1" fmla="*/ 482 h 576"/>
                <a:gd name="T2" fmla="*/ 114 w 260"/>
                <a:gd name="T3" fmla="*/ 492 h 576"/>
                <a:gd name="T4" fmla="*/ 124 w 260"/>
                <a:gd name="T5" fmla="*/ 500 h 576"/>
                <a:gd name="T6" fmla="*/ 130 w 260"/>
                <a:gd name="T7" fmla="*/ 502 h 576"/>
                <a:gd name="T8" fmla="*/ 142 w 260"/>
                <a:gd name="T9" fmla="*/ 496 h 576"/>
                <a:gd name="T10" fmla="*/ 148 w 260"/>
                <a:gd name="T11" fmla="*/ 482 h 576"/>
                <a:gd name="T12" fmla="*/ 148 w 260"/>
                <a:gd name="T13" fmla="*/ 348 h 576"/>
                <a:gd name="T14" fmla="*/ 144 w 260"/>
                <a:gd name="T15" fmla="*/ 328 h 576"/>
                <a:gd name="T16" fmla="*/ 136 w 260"/>
                <a:gd name="T17" fmla="*/ 318 h 576"/>
                <a:gd name="T18" fmla="*/ 116 w 260"/>
                <a:gd name="T19" fmla="*/ 312 h 576"/>
                <a:gd name="T20" fmla="*/ 58 w 260"/>
                <a:gd name="T21" fmla="*/ 310 h 576"/>
                <a:gd name="T22" fmla="*/ 104 w 260"/>
                <a:gd name="T23" fmla="*/ 248 h 576"/>
                <a:gd name="T24" fmla="*/ 124 w 260"/>
                <a:gd name="T25" fmla="*/ 246 h 576"/>
                <a:gd name="T26" fmla="*/ 138 w 260"/>
                <a:gd name="T27" fmla="*/ 240 h 576"/>
                <a:gd name="T28" fmla="*/ 146 w 260"/>
                <a:gd name="T29" fmla="*/ 226 h 576"/>
                <a:gd name="T30" fmla="*/ 148 w 260"/>
                <a:gd name="T31" fmla="*/ 204 h 576"/>
                <a:gd name="T32" fmla="*/ 148 w 260"/>
                <a:gd name="T33" fmla="*/ 90 h 576"/>
                <a:gd name="T34" fmla="*/ 142 w 260"/>
                <a:gd name="T35" fmla="*/ 78 h 576"/>
                <a:gd name="T36" fmla="*/ 130 w 260"/>
                <a:gd name="T37" fmla="*/ 72 h 576"/>
                <a:gd name="T38" fmla="*/ 124 w 260"/>
                <a:gd name="T39" fmla="*/ 72 h 576"/>
                <a:gd name="T40" fmla="*/ 114 w 260"/>
                <a:gd name="T41" fmla="*/ 82 h 576"/>
                <a:gd name="T42" fmla="*/ 112 w 260"/>
                <a:gd name="T43" fmla="*/ 184 h 576"/>
                <a:gd name="T44" fmla="*/ 0 w 260"/>
                <a:gd name="T45" fmla="*/ 102 h 576"/>
                <a:gd name="T46" fmla="*/ 0 w 260"/>
                <a:gd name="T47" fmla="*/ 86 h 576"/>
                <a:gd name="T48" fmla="*/ 6 w 260"/>
                <a:gd name="T49" fmla="*/ 52 h 576"/>
                <a:gd name="T50" fmla="*/ 18 w 260"/>
                <a:gd name="T51" fmla="*/ 28 h 576"/>
                <a:gd name="T52" fmla="*/ 30 w 260"/>
                <a:gd name="T53" fmla="*/ 16 h 576"/>
                <a:gd name="T54" fmla="*/ 46 w 260"/>
                <a:gd name="T55" fmla="*/ 6 h 576"/>
                <a:gd name="T56" fmla="*/ 70 w 260"/>
                <a:gd name="T57" fmla="*/ 0 h 576"/>
                <a:gd name="T58" fmla="*/ 176 w 260"/>
                <a:gd name="T59" fmla="*/ 0 h 576"/>
                <a:gd name="T60" fmla="*/ 190 w 260"/>
                <a:gd name="T61" fmla="*/ 0 h 576"/>
                <a:gd name="T62" fmla="*/ 214 w 260"/>
                <a:gd name="T63" fmla="*/ 6 h 576"/>
                <a:gd name="T64" fmla="*/ 230 w 260"/>
                <a:gd name="T65" fmla="*/ 16 h 576"/>
                <a:gd name="T66" fmla="*/ 242 w 260"/>
                <a:gd name="T67" fmla="*/ 28 h 576"/>
                <a:gd name="T68" fmla="*/ 254 w 260"/>
                <a:gd name="T69" fmla="*/ 52 h 576"/>
                <a:gd name="T70" fmla="*/ 260 w 260"/>
                <a:gd name="T71" fmla="*/ 86 h 576"/>
                <a:gd name="T72" fmla="*/ 260 w 260"/>
                <a:gd name="T73" fmla="*/ 194 h 576"/>
                <a:gd name="T74" fmla="*/ 258 w 260"/>
                <a:gd name="T75" fmla="*/ 216 h 576"/>
                <a:gd name="T76" fmla="*/ 244 w 260"/>
                <a:gd name="T77" fmla="*/ 248 h 576"/>
                <a:gd name="T78" fmla="*/ 222 w 260"/>
                <a:gd name="T79" fmla="*/ 266 h 576"/>
                <a:gd name="T80" fmla="*/ 196 w 260"/>
                <a:gd name="T81" fmla="*/ 272 h 576"/>
                <a:gd name="T82" fmla="*/ 184 w 260"/>
                <a:gd name="T83" fmla="*/ 278 h 576"/>
                <a:gd name="T84" fmla="*/ 196 w 260"/>
                <a:gd name="T85" fmla="*/ 280 h 576"/>
                <a:gd name="T86" fmla="*/ 218 w 260"/>
                <a:gd name="T87" fmla="*/ 284 h 576"/>
                <a:gd name="T88" fmla="*/ 234 w 260"/>
                <a:gd name="T89" fmla="*/ 292 h 576"/>
                <a:gd name="T90" fmla="*/ 250 w 260"/>
                <a:gd name="T91" fmla="*/ 310 h 576"/>
                <a:gd name="T92" fmla="*/ 258 w 260"/>
                <a:gd name="T93" fmla="*/ 336 h 576"/>
                <a:gd name="T94" fmla="*/ 260 w 260"/>
                <a:gd name="T95" fmla="*/ 472 h 576"/>
                <a:gd name="T96" fmla="*/ 260 w 260"/>
                <a:gd name="T97" fmla="*/ 488 h 576"/>
                <a:gd name="T98" fmla="*/ 254 w 260"/>
                <a:gd name="T99" fmla="*/ 522 h 576"/>
                <a:gd name="T100" fmla="*/ 242 w 260"/>
                <a:gd name="T101" fmla="*/ 546 h 576"/>
                <a:gd name="T102" fmla="*/ 230 w 260"/>
                <a:gd name="T103" fmla="*/ 560 h 576"/>
                <a:gd name="T104" fmla="*/ 214 w 260"/>
                <a:gd name="T105" fmla="*/ 570 h 576"/>
                <a:gd name="T106" fmla="*/ 190 w 260"/>
                <a:gd name="T107" fmla="*/ 574 h 576"/>
                <a:gd name="T108" fmla="*/ 84 w 260"/>
                <a:gd name="T109" fmla="*/ 576 h 576"/>
                <a:gd name="T110" fmla="*/ 70 w 260"/>
                <a:gd name="T111" fmla="*/ 574 h 576"/>
                <a:gd name="T112" fmla="*/ 46 w 260"/>
                <a:gd name="T113" fmla="*/ 570 h 576"/>
                <a:gd name="T114" fmla="*/ 30 w 260"/>
                <a:gd name="T115" fmla="*/ 560 h 576"/>
                <a:gd name="T116" fmla="*/ 18 w 260"/>
                <a:gd name="T117" fmla="*/ 546 h 576"/>
                <a:gd name="T118" fmla="*/ 6 w 260"/>
                <a:gd name="T119" fmla="*/ 522 h 576"/>
                <a:gd name="T120" fmla="*/ 0 w 260"/>
                <a:gd name="T121" fmla="*/ 488 h 576"/>
                <a:gd name="T122" fmla="*/ 0 w 260"/>
                <a:gd name="T123" fmla="*/ 374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0" h="576">
                  <a:moveTo>
                    <a:pt x="112" y="374"/>
                  </a:moveTo>
                  <a:lnTo>
                    <a:pt x="112" y="482"/>
                  </a:lnTo>
                  <a:lnTo>
                    <a:pt x="112" y="482"/>
                  </a:lnTo>
                  <a:lnTo>
                    <a:pt x="114" y="492"/>
                  </a:lnTo>
                  <a:lnTo>
                    <a:pt x="118" y="498"/>
                  </a:lnTo>
                  <a:lnTo>
                    <a:pt x="124" y="500"/>
                  </a:lnTo>
                  <a:lnTo>
                    <a:pt x="130" y="502"/>
                  </a:lnTo>
                  <a:lnTo>
                    <a:pt x="130" y="502"/>
                  </a:lnTo>
                  <a:lnTo>
                    <a:pt x="138" y="500"/>
                  </a:lnTo>
                  <a:lnTo>
                    <a:pt x="142" y="496"/>
                  </a:lnTo>
                  <a:lnTo>
                    <a:pt x="146" y="490"/>
                  </a:lnTo>
                  <a:lnTo>
                    <a:pt x="148" y="482"/>
                  </a:lnTo>
                  <a:lnTo>
                    <a:pt x="148" y="348"/>
                  </a:lnTo>
                  <a:lnTo>
                    <a:pt x="148" y="348"/>
                  </a:lnTo>
                  <a:lnTo>
                    <a:pt x="146" y="336"/>
                  </a:lnTo>
                  <a:lnTo>
                    <a:pt x="144" y="328"/>
                  </a:lnTo>
                  <a:lnTo>
                    <a:pt x="140" y="322"/>
                  </a:lnTo>
                  <a:lnTo>
                    <a:pt x="136" y="318"/>
                  </a:lnTo>
                  <a:lnTo>
                    <a:pt x="128" y="314"/>
                  </a:lnTo>
                  <a:lnTo>
                    <a:pt x="116" y="312"/>
                  </a:lnTo>
                  <a:lnTo>
                    <a:pt x="102" y="310"/>
                  </a:lnTo>
                  <a:lnTo>
                    <a:pt x="58" y="310"/>
                  </a:lnTo>
                  <a:lnTo>
                    <a:pt x="58" y="248"/>
                  </a:lnTo>
                  <a:lnTo>
                    <a:pt x="104" y="248"/>
                  </a:lnTo>
                  <a:lnTo>
                    <a:pt x="104" y="248"/>
                  </a:lnTo>
                  <a:lnTo>
                    <a:pt x="124" y="246"/>
                  </a:lnTo>
                  <a:lnTo>
                    <a:pt x="132" y="244"/>
                  </a:lnTo>
                  <a:lnTo>
                    <a:pt x="138" y="240"/>
                  </a:lnTo>
                  <a:lnTo>
                    <a:pt x="142" y="234"/>
                  </a:lnTo>
                  <a:lnTo>
                    <a:pt x="146" y="226"/>
                  </a:lnTo>
                  <a:lnTo>
                    <a:pt x="146" y="216"/>
                  </a:lnTo>
                  <a:lnTo>
                    <a:pt x="148" y="204"/>
                  </a:lnTo>
                  <a:lnTo>
                    <a:pt x="148" y="90"/>
                  </a:lnTo>
                  <a:lnTo>
                    <a:pt x="148" y="90"/>
                  </a:lnTo>
                  <a:lnTo>
                    <a:pt x="146" y="84"/>
                  </a:lnTo>
                  <a:lnTo>
                    <a:pt x="142" y="78"/>
                  </a:lnTo>
                  <a:lnTo>
                    <a:pt x="138" y="74"/>
                  </a:lnTo>
                  <a:lnTo>
                    <a:pt x="130" y="72"/>
                  </a:lnTo>
                  <a:lnTo>
                    <a:pt x="130" y="72"/>
                  </a:lnTo>
                  <a:lnTo>
                    <a:pt x="124" y="72"/>
                  </a:lnTo>
                  <a:lnTo>
                    <a:pt x="118" y="76"/>
                  </a:lnTo>
                  <a:lnTo>
                    <a:pt x="114" y="82"/>
                  </a:lnTo>
                  <a:lnTo>
                    <a:pt x="112" y="90"/>
                  </a:lnTo>
                  <a:lnTo>
                    <a:pt x="112" y="184"/>
                  </a:lnTo>
                  <a:lnTo>
                    <a:pt x="0" y="184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0" y="86"/>
                  </a:lnTo>
                  <a:lnTo>
                    <a:pt x="2" y="70"/>
                  </a:lnTo>
                  <a:lnTo>
                    <a:pt x="6" y="52"/>
                  </a:lnTo>
                  <a:lnTo>
                    <a:pt x="12" y="36"/>
                  </a:lnTo>
                  <a:lnTo>
                    <a:pt x="18" y="28"/>
                  </a:lnTo>
                  <a:lnTo>
                    <a:pt x="22" y="22"/>
                  </a:lnTo>
                  <a:lnTo>
                    <a:pt x="30" y="16"/>
                  </a:lnTo>
                  <a:lnTo>
                    <a:pt x="38" y="10"/>
                  </a:lnTo>
                  <a:lnTo>
                    <a:pt x="46" y="6"/>
                  </a:lnTo>
                  <a:lnTo>
                    <a:pt x="58" y="2"/>
                  </a:lnTo>
                  <a:lnTo>
                    <a:pt x="70" y="0"/>
                  </a:lnTo>
                  <a:lnTo>
                    <a:pt x="84" y="0"/>
                  </a:lnTo>
                  <a:lnTo>
                    <a:pt x="176" y="0"/>
                  </a:lnTo>
                  <a:lnTo>
                    <a:pt x="176" y="0"/>
                  </a:lnTo>
                  <a:lnTo>
                    <a:pt x="190" y="0"/>
                  </a:lnTo>
                  <a:lnTo>
                    <a:pt x="202" y="2"/>
                  </a:lnTo>
                  <a:lnTo>
                    <a:pt x="214" y="6"/>
                  </a:lnTo>
                  <a:lnTo>
                    <a:pt x="222" y="10"/>
                  </a:lnTo>
                  <a:lnTo>
                    <a:pt x="230" y="16"/>
                  </a:lnTo>
                  <a:lnTo>
                    <a:pt x="238" y="22"/>
                  </a:lnTo>
                  <a:lnTo>
                    <a:pt x="242" y="28"/>
                  </a:lnTo>
                  <a:lnTo>
                    <a:pt x="248" y="36"/>
                  </a:lnTo>
                  <a:lnTo>
                    <a:pt x="254" y="52"/>
                  </a:lnTo>
                  <a:lnTo>
                    <a:pt x="258" y="70"/>
                  </a:lnTo>
                  <a:lnTo>
                    <a:pt x="260" y="86"/>
                  </a:lnTo>
                  <a:lnTo>
                    <a:pt x="260" y="102"/>
                  </a:lnTo>
                  <a:lnTo>
                    <a:pt x="260" y="194"/>
                  </a:lnTo>
                  <a:lnTo>
                    <a:pt x="260" y="194"/>
                  </a:lnTo>
                  <a:lnTo>
                    <a:pt x="258" y="216"/>
                  </a:lnTo>
                  <a:lnTo>
                    <a:pt x="252" y="234"/>
                  </a:lnTo>
                  <a:lnTo>
                    <a:pt x="244" y="248"/>
                  </a:lnTo>
                  <a:lnTo>
                    <a:pt x="234" y="258"/>
                  </a:lnTo>
                  <a:lnTo>
                    <a:pt x="222" y="266"/>
                  </a:lnTo>
                  <a:lnTo>
                    <a:pt x="210" y="270"/>
                  </a:lnTo>
                  <a:lnTo>
                    <a:pt x="196" y="272"/>
                  </a:lnTo>
                  <a:lnTo>
                    <a:pt x="184" y="272"/>
                  </a:lnTo>
                  <a:lnTo>
                    <a:pt x="184" y="278"/>
                  </a:lnTo>
                  <a:lnTo>
                    <a:pt x="184" y="278"/>
                  </a:lnTo>
                  <a:lnTo>
                    <a:pt x="196" y="280"/>
                  </a:lnTo>
                  <a:lnTo>
                    <a:pt x="208" y="280"/>
                  </a:lnTo>
                  <a:lnTo>
                    <a:pt x="218" y="284"/>
                  </a:lnTo>
                  <a:lnTo>
                    <a:pt x="228" y="288"/>
                  </a:lnTo>
                  <a:lnTo>
                    <a:pt x="234" y="292"/>
                  </a:lnTo>
                  <a:lnTo>
                    <a:pt x="240" y="298"/>
                  </a:lnTo>
                  <a:lnTo>
                    <a:pt x="250" y="310"/>
                  </a:lnTo>
                  <a:lnTo>
                    <a:pt x="256" y="322"/>
                  </a:lnTo>
                  <a:lnTo>
                    <a:pt x="258" y="336"/>
                  </a:lnTo>
                  <a:lnTo>
                    <a:pt x="260" y="358"/>
                  </a:lnTo>
                  <a:lnTo>
                    <a:pt x="260" y="472"/>
                  </a:lnTo>
                  <a:lnTo>
                    <a:pt x="260" y="472"/>
                  </a:lnTo>
                  <a:lnTo>
                    <a:pt x="260" y="488"/>
                  </a:lnTo>
                  <a:lnTo>
                    <a:pt x="258" y="506"/>
                  </a:lnTo>
                  <a:lnTo>
                    <a:pt x="254" y="522"/>
                  </a:lnTo>
                  <a:lnTo>
                    <a:pt x="248" y="540"/>
                  </a:lnTo>
                  <a:lnTo>
                    <a:pt x="242" y="546"/>
                  </a:lnTo>
                  <a:lnTo>
                    <a:pt x="238" y="554"/>
                  </a:lnTo>
                  <a:lnTo>
                    <a:pt x="230" y="560"/>
                  </a:lnTo>
                  <a:lnTo>
                    <a:pt x="222" y="566"/>
                  </a:lnTo>
                  <a:lnTo>
                    <a:pt x="214" y="570"/>
                  </a:lnTo>
                  <a:lnTo>
                    <a:pt x="202" y="572"/>
                  </a:lnTo>
                  <a:lnTo>
                    <a:pt x="190" y="574"/>
                  </a:lnTo>
                  <a:lnTo>
                    <a:pt x="176" y="576"/>
                  </a:lnTo>
                  <a:lnTo>
                    <a:pt x="84" y="576"/>
                  </a:lnTo>
                  <a:lnTo>
                    <a:pt x="84" y="576"/>
                  </a:lnTo>
                  <a:lnTo>
                    <a:pt x="70" y="574"/>
                  </a:lnTo>
                  <a:lnTo>
                    <a:pt x="58" y="572"/>
                  </a:lnTo>
                  <a:lnTo>
                    <a:pt x="46" y="570"/>
                  </a:lnTo>
                  <a:lnTo>
                    <a:pt x="38" y="566"/>
                  </a:lnTo>
                  <a:lnTo>
                    <a:pt x="30" y="560"/>
                  </a:lnTo>
                  <a:lnTo>
                    <a:pt x="22" y="554"/>
                  </a:lnTo>
                  <a:lnTo>
                    <a:pt x="18" y="546"/>
                  </a:lnTo>
                  <a:lnTo>
                    <a:pt x="12" y="540"/>
                  </a:lnTo>
                  <a:lnTo>
                    <a:pt x="6" y="522"/>
                  </a:lnTo>
                  <a:lnTo>
                    <a:pt x="2" y="506"/>
                  </a:lnTo>
                  <a:lnTo>
                    <a:pt x="0" y="488"/>
                  </a:lnTo>
                  <a:lnTo>
                    <a:pt x="0" y="472"/>
                  </a:lnTo>
                  <a:lnTo>
                    <a:pt x="0" y="374"/>
                  </a:lnTo>
                  <a:lnTo>
                    <a:pt x="112" y="3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2332" y="1657"/>
              <a:ext cx="258" cy="576"/>
            </a:xfrm>
            <a:custGeom>
              <a:avLst/>
              <a:gdLst>
                <a:gd name="T0" fmla="*/ 0 w 258"/>
                <a:gd name="T1" fmla="*/ 0 h 576"/>
                <a:gd name="T2" fmla="*/ 258 w 258"/>
                <a:gd name="T3" fmla="*/ 0 h 576"/>
                <a:gd name="T4" fmla="*/ 258 w 258"/>
                <a:gd name="T5" fmla="*/ 576 h 576"/>
                <a:gd name="T6" fmla="*/ 154 w 258"/>
                <a:gd name="T7" fmla="*/ 576 h 576"/>
                <a:gd name="T8" fmla="*/ 154 w 258"/>
                <a:gd name="T9" fmla="*/ 72 h 576"/>
                <a:gd name="T10" fmla="*/ 104 w 258"/>
                <a:gd name="T11" fmla="*/ 72 h 576"/>
                <a:gd name="T12" fmla="*/ 104 w 258"/>
                <a:gd name="T13" fmla="*/ 576 h 576"/>
                <a:gd name="T14" fmla="*/ 0 w 258"/>
                <a:gd name="T15" fmla="*/ 576 h 576"/>
                <a:gd name="T16" fmla="*/ 0 w 258"/>
                <a:gd name="T17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8" h="576">
                  <a:moveTo>
                    <a:pt x="0" y="0"/>
                  </a:moveTo>
                  <a:lnTo>
                    <a:pt x="258" y="0"/>
                  </a:lnTo>
                  <a:lnTo>
                    <a:pt x="258" y="576"/>
                  </a:lnTo>
                  <a:lnTo>
                    <a:pt x="154" y="576"/>
                  </a:lnTo>
                  <a:lnTo>
                    <a:pt x="154" y="72"/>
                  </a:lnTo>
                  <a:lnTo>
                    <a:pt x="104" y="72"/>
                  </a:lnTo>
                  <a:lnTo>
                    <a:pt x="104" y="576"/>
                  </a:lnTo>
                  <a:lnTo>
                    <a:pt x="0" y="576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7" name="Freeform 13"/>
            <p:cNvSpPr>
              <a:spLocks noEditPoints="1"/>
            </p:cNvSpPr>
            <p:nvPr userDrawn="1"/>
          </p:nvSpPr>
          <p:spPr bwMode="auto">
            <a:xfrm>
              <a:off x="2670" y="1657"/>
              <a:ext cx="268" cy="576"/>
            </a:xfrm>
            <a:custGeom>
              <a:avLst/>
              <a:gdLst>
                <a:gd name="T0" fmla="*/ 0 w 268"/>
                <a:gd name="T1" fmla="*/ 576 h 576"/>
                <a:gd name="T2" fmla="*/ 112 w 268"/>
                <a:gd name="T3" fmla="*/ 576 h 576"/>
                <a:gd name="T4" fmla="*/ 112 w 268"/>
                <a:gd name="T5" fmla="*/ 380 h 576"/>
                <a:gd name="T6" fmla="*/ 176 w 268"/>
                <a:gd name="T7" fmla="*/ 380 h 576"/>
                <a:gd name="T8" fmla="*/ 176 w 268"/>
                <a:gd name="T9" fmla="*/ 380 h 576"/>
                <a:gd name="T10" fmla="*/ 190 w 268"/>
                <a:gd name="T11" fmla="*/ 380 h 576"/>
                <a:gd name="T12" fmla="*/ 202 w 268"/>
                <a:gd name="T13" fmla="*/ 378 h 576"/>
                <a:gd name="T14" fmla="*/ 214 w 268"/>
                <a:gd name="T15" fmla="*/ 374 h 576"/>
                <a:gd name="T16" fmla="*/ 224 w 268"/>
                <a:gd name="T17" fmla="*/ 370 h 576"/>
                <a:gd name="T18" fmla="*/ 232 w 268"/>
                <a:gd name="T19" fmla="*/ 364 h 576"/>
                <a:gd name="T20" fmla="*/ 240 w 268"/>
                <a:gd name="T21" fmla="*/ 358 h 576"/>
                <a:gd name="T22" fmla="*/ 252 w 268"/>
                <a:gd name="T23" fmla="*/ 344 h 576"/>
                <a:gd name="T24" fmla="*/ 260 w 268"/>
                <a:gd name="T25" fmla="*/ 328 h 576"/>
                <a:gd name="T26" fmla="*/ 264 w 268"/>
                <a:gd name="T27" fmla="*/ 310 h 576"/>
                <a:gd name="T28" fmla="*/ 266 w 268"/>
                <a:gd name="T29" fmla="*/ 294 h 576"/>
                <a:gd name="T30" fmla="*/ 268 w 268"/>
                <a:gd name="T31" fmla="*/ 278 h 576"/>
                <a:gd name="T32" fmla="*/ 268 w 268"/>
                <a:gd name="T33" fmla="*/ 102 h 576"/>
                <a:gd name="T34" fmla="*/ 268 w 268"/>
                <a:gd name="T35" fmla="*/ 102 h 576"/>
                <a:gd name="T36" fmla="*/ 266 w 268"/>
                <a:gd name="T37" fmla="*/ 86 h 576"/>
                <a:gd name="T38" fmla="*/ 264 w 268"/>
                <a:gd name="T39" fmla="*/ 70 h 576"/>
                <a:gd name="T40" fmla="*/ 260 w 268"/>
                <a:gd name="T41" fmla="*/ 52 h 576"/>
                <a:gd name="T42" fmla="*/ 252 w 268"/>
                <a:gd name="T43" fmla="*/ 36 h 576"/>
                <a:gd name="T44" fmla="*/ 240 w 268"/>
                <a:gd name="T45" fmla="*/ 22 h 576"/>
                <a:gd name="T46" fmla="*/ 232 w 268"/>
                <a:gd name="T47" fmla="*/ 16 h 576"/>
                <a:gd name="T48" fmla="*/ 224 w 268"/>
                <a:gd name="T49" fmla="*/ 10 h 576"/>
                <a:gd name="T50" fmla="*/ 214 w 268"/>
                <a:gd name="T51" fmla="*/ 6 h 576"/>
                <a:gd name="T52" fmla="*/ 202 w 268"/>
                <a:gd name="T53" fmla="*/ 2 h 576"/>
                <a:gd name="T54" fmla="*/ 190 w 268"/>
                <a:gd name="T55" fmla="*/ 0 h 576"/>
                <a:gd name="T56" fmla="*/ 176 w 268"/>
                <a:gd name="T57" fmla="*/ 0 h 576"/>
                <a:gd name="T58" fmla="*/ 0 w 268"/>
                <a:gd name="T59" fmla="*/ 0 h 576"/>
                <a:gd name="T60" fmla="*/ 0 w 268"/>
                <a:gd name="T61" fmla="*/ 576 h 576"/>
                <a:gd name="T62" fmla="*/ 112 w 268"/>
                <a:gd name="T63" fmla="*/ 316 h 576"/>
                <a:gd name="T64" fmla="*/ 112 w 268"/>
                <a:gd name="T65" fmla="*/ 72 h 576"/>
                <a:gd name="T66" fmla="*/ 142 w 268"/>
                <a:gd name="T67" fmla="*/ 72 h 576"/>
                <a:gd name="T68" fmla="*/ 142 w 268"/>
                <a:gd name="T69" fmla="*/ 72 h 576"/>
                <a:gd name="T70" fmla="*/ 150 w 268"/>
                <a:gd name="T71" fmla="*/ 74 h 576"/>
                <a:gd name="T72" fmla="*/ 156 w 268"/>
                <a:gd name="T73" fmla="*/ 80 h 576"/>
                <a:gd name="T74" fmla="*/ 162 w 268"/>
                <a:gd name="T75" fmla="*/ 88 h 576"/>
                <a:gd name="T76" fmla="*/ 162 w 268"/>
                <a:gd name="T77" fmla="*/ 100 h 576"/>
                <a:gd name="T78" fmla="*/ 162 w 268"/>
                <a:gd name="T79" fmla="*/ 288 h 576"/>
                <a:gd name="T80" fmla="*/ 162 w 268"/>
                <a:gd name="T81" fmla="*/ 288 h 576"/>
                <a:gd name="T82" fmla="*/ 162 w 268"/>
                <a:gd name="T83" fmla="*/ 300 h 576"/>
                <a:gd name="T84" fmla="*/ 156 w 268"/>
                <a:gd name="T85" fmla="*/ 310 h 576"/>
                <a:gd name="T86" fmla="*/ 150 w 268"/>
                <a:gd name="T87" fmla="*/ 314 h 576"/>
                <a:gd name="T88" fmla="*/ 142 w 268"/>
                <a:gd name="T89" fmla="*/ 316 h 576"/>
                <a:gd name="T90" fmla="*/ 112 w 268"/>
                <a:gd name="T91" fmla="*/ 316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68" h="576">
                  <a:moveTo>
                    <a:pt x="0" y="576"/>
                  </a:moveTo>
                  <a:lnTo>
                    <a:pt x="112" y="576"/>
                  </a:lnTo>
                  <a:lnTo>
                    <a:pt x="112" y="380"/>
                  </a:lnTo>
                  <a:lnTo>
                    <a:pt x="176" y="380"/>
                  </a:lnTo>
                  <a:lnTo>
                    <a:pt x="176" y="380"/>
                  </a:lnTo>
                  <a:lnTo>
                    <a:pt x="190" y="380"/>
                  </a:lnTo>
                  <a:lnTo>
                    <a:pt x="202" y="378"/>
                  </a:lnTo>
                  <a:lnTo>
                    <a:pt x="214" y="374"/>
                  </a:lnTo>
                  <a:lnTo>
                    <a:pt x="224" y="370"/>
                  </a:lnTo>
                  <a:lnTo>
                    <a:pt x="232" y="364"/>
                  </a:lnTo>
                  <a:lnTo>
                    <a:pt x="240" y="358"/>
                  </a:lnTo>
                  <a:lnTo>
                    <a:pt x="252" y="344"/>
                  </a:lnTo>
                  <a:lnTo>
                    <a:pt x="260" y="328"/>
                  </a:lnTo>
                  <a:lnTo>
                    <a:pt x="264" y="310"/>
                  </a:lnTo>
                  <a:lnTo>
                    <a:pt x="266" y="294"/>
                  </a:lnTo>
                  <a:lnTo>
                    <a:pt x="268" y="278"/>
                  </a:lnTo>
                  <a:lnTo>
                    <a:pt x="268" y="102"/>
                  </a:lnTo>
                  <a:lnTo>
                    <a:pt x="268" y="102"/>
                  </a:lnTo>
                  <a:lnTo>
                    <a:pt x="266" y="86"/>
                  </a:lnTo>
                  <a:lnTo>
                    <a:pt x="264" y="70"/>
                  </a:lnTo>
                  <a:lnTo>
                    <a:pt x="260" y="52"/>
                  </a:lnTo>
                  <a:lnTo>
                    <a:pt x="252" y="36"/>
                  </a:lnTo>
                  <a:lnTo>
                    <a:pt x="240" y="22"/>
                  </a:lnTo>
                  <a:lnTo>
                    <a:pt x="232" y="16"/>
                  </a:lnTo>
                  <a:lnTo>
                    <a:pt x="224" y="10"/>
                  </a:lnTo>
                  <a:lnTo>
                    <a:pt x="214" y="6"/>
                  </a:lnTo>
                  <a:lnTo>
                    <a:pt x="202" y="2"/>
                  </a:lnTo>
                  <a:lnTo>
                    <a:pt x="190" y="0"/>
                  </a:lnTo>
                  <a:lnTo>
                    <a:pt x="176" y="0"/>
                  </a:lnTo>
                  <a:lnTo>
                    <a:pt x="0" y="0"/>
                  </a:lnTo>
                  <a:lnTo>
                    <a:pt x="0" y="576"/>
                  </a:lnTo>
                  <a:close/>
                  <a:moveTo>
                    <a:pt x="112" y="316"/>
                  </a:moveTo>
                  <a:lnTo>
                    <a:pt x="112" y="72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50" y="74"/>
                  </a:lnTo>
                  <a:lnTo>
                    <a:pt x="156" y="80"/>
                  </a:lnTo>
                  <a:lnTo>
                    <a:pt x="162" y="88"/>
                  </a:lnTo>
                  <a:lnTo>
                    <a:pt x="162" y="100"/>
                  </a:lnTo>
                  <a:lnTo>
                    <a:pt x="162" y="288"/>
                  </a:lnTo>
                  <a:lnTo>
                    <a:pt x="162" y="288"/>
                  </a:lnTo>
                  <a:lnTo>
                    <a:pt x="162" y="300"/>
                  </a:lnTo>
                  <a:lnTo>
                    <a:pt x="156" y="310"/>
                  </a:lnTo>
                  <a:lnTo>
                    <a:pt x="150" y="314"/>
                  </a:lnTo>
                  <a:lnTo>
                    <a:pt x="142" y="316"/>
                  </a:lnTo>
                  <a:lnTo>
                    <a:pt x="112" y="3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3320" y="1657"/>
              <a:ext cx="436" cy="576"/>
            </a:xfrm>
            <a:custGeom>
              <a:avLst/>
              <a:gdLst>
                <a:gd name="T0" fmla="*/ 292 w 436"/>
                <a:gd name="T1" fmla="*/ 0 h 576"/>
                <a:gd name="T2" fmla="*/ 436 w 436"/>
                <a:gd name="T3" fmla="*/ 0 h 576"/>
                <a:gd name="T4" fmla="*/ 436 w 436"/>
                <a:gd name="T5" fmla="*/ 576 h 576"/>
                <a:gd name="T6" fmla="*/ 324 w 436"/>
                <a:gd name="T7" fmla="*/ 576 h 576"/>
                <a:gd name="T8" fmla="*/ 324 w 436"/>
                <a:gd name="T9" fmla="*/ 214 h 576"/>
                <a:gd name="T10" fmla="*/ 320 w 436"/>
                <a:gd name="T11" fmla="*/ 214 h 576"/>
                <a:gd name="T12" fmla="*/ 262 w 436"/>
                <a:gd name="T13" fmla="*/ 576 h 576"/>
                <a:gd name="T14" fmla="*/ 174 w 436"/>
                <a:gd name="T15" fmla="*/ 576 h 576"/>
                <a:gd name="T16" fmla="*/ 116 w 436"/>
                <a:gd name="T17" fmla="*/ 214 h 576"/>
                <a:gd name="T18" fmla="*/ 112 w 436"/>
                <a:gd name="T19" fmla="*/ 214 h 576"/>
                <a:gd name="T20" fmla="*/ 112 w 436"/>
                <a:gd name="T21" fmla="*/ 576 h 576"/>
                <a:gd name="T22" fmla="*/ 0 w 436"/>
                <a:gd name="T23" fmla="*/ 576 h 576"/>
                <a:gd name="T24" fmla="*/ 0 w 436"/>
                <a:gd name="T25" fmla="*/ 0 h 576"/>
                <a:gd name="T26" fmla="*/ 146 w 436"/>
                <a:gd name="T27" fmla="*/ 0 h 576"/>
                <a:gd name="T28" fmla="*/ 218 w 436"/>
                <a:gd name="T29" fmla="*/ 404 h 576"/>
                <a:gd name="T30" fmla="*/ 292 w 436"/>
                <a:gd name="T31" fmla="*/ 0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36" h="576">
                  <a:moveTo>
                    <a:pt x="292" y="0"/>
                  </a:moveTo>
                  <a:lnTo>
                    <a:pt x="436" y="0"/>
                  </a:lnTo>
                  <a:lnTo>
                    <a:pt x="436" y="576"/>
                  </a:lnTo>
                  <a:lnTo>
                    <a:pt x="324" y="576"/>
                  </a:lnTo>
                  <a:lnTo>
                    <a:pt x="324" y="214"/>
                  </a:lnTo>
                  <a:lnTo>
                    <a:pt x="320" y="214"/>
                  </a:lnTo>
                  <a:lnTo>
                    <a:pt x="262" y="576"/>
                  </a:lnTo>
                  <a:lnTo>
                    <a:pt x="174" y="576"/>
                  </a:lnTo>
                  <a:lnTo>
                    <a:pt x="116" y="214"/>
                  </a:lnTo>
                  <a:lnTo>
                    <a:pt x="112" y="214"/>
                  </a:lnTo>
                  <a:lnTo>
                    <a:pt x="112" y="576"/>
                  </a:lnTo>
                  <a:lnTo>
                    <a:pt x="0" y="576"/>
                  </a:lnTo>
                  <a:lnTo>
                    <a:pt x="0" y="0"/>
                  </a:lnTo>
                  <a:lnTo>
                    <a:pt x="146" y="0"/>
                  </a:lnTo>
                  <a:lnTo>
                    <a:pt x="218" y="404"/>
                  </a:lnTo>
                  <a:lnTo>
                    <a:pt x="292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19" name="Freeform 15"/>
            <p:cNvSpPr>
              <a:spLocks noEditPoints="1"/>
            </p:cNvSpPr>
            <p:nvPr userDrawn="1"/>
          </p:nvSpPr>
          <p:spPr bwMode="auto">
            <a:xfrm>
              <a:off x="900" y="1159"/>
              <a:ext cx="330" cy="1042"/>
            </a:xfrm>
            <a:custGeom>
              <a:avLst/>
              <a:gdLst>
                <a:gd name="T0" fmla="*/ 288 w 330"/>
                <a:gd name="T1" fmla="*/ 600 h 1042"/>
                <a:gd name="T2" fmla="*/ 272 w 330"/>
                <a:gd name="T3" fmla="*/ 714 h 1042"/>
                <a:gd name="T4" fmla="*/ 270 w 330"/>
                <a:gd name="T5" fmla="*/ 604 h 1042"/>
                <a:gd name="T6" fmla="*/ 254 w 330"/>
                <a:gd name="T7" fmla="*/ 490 h 1042"/>
                <a:gd name="T8" fmla="*/ 216 w 330"/>
                <a:gd name="T9" fmla="*/ 364 h 1042"/>
                <a:gd name="T10" fmla="*/ 176 w 330"/>
                <a:gd name="T11" fmla="*/ 272 h 1042"/>
                <a:gd name="T12" fmla="*/ 152 w 330"/>
                <a:gd name="T13" fmla="*/ 272 h 1042"/>
                <a:gd name="T14" fmla="*/ 92 w 330"/>
                <a:gd name="T15" fmla="*/ 422 h 1042"/>
                <a:gd name="T16" fmla="*/ 74 w 330"/>
                <a:gd name="T17" fmla="*/ 490 h 1042"/>
                <a:gd name="T18" fmla="*/ 56 w 330"/>
                <a:gd name="T19" fmla="*/ 624 h 1042"/>
                <a:gd name="T20" fmla="*/ 54 w 330"/>
                <a:gd name="T21" fmla="*/ 716 h 1042"/>
                <a:gd name="T22" fmla="*/ 40 w 330"/>
                <a:gd name="T23" fmla="*/ 568 h 1042"/>
                <a:gd name="T24" fmla="*/ 40 w 330"/>
                <a:gd name="T25" fmla="*/ 498 h 1042"/>
                <a:gd name="T26" fmla="*/ 52 w 330"/>
                <a:gd name="T27" fmla="*/ 382 h 1042"/>
                <a:gd name="T28" fmla="*/ 72 w 330"/>
                <a:gd name="T29" fmla="*/ 298 h 1042"/>
                <a:gd name="T30" fmla="*/ 128 w 330"/>
                <a:gd name="T31" fmla="*/ 148 h 1042"/>
                <a:gd name="T32" fmla="*/ 164 w 330"/>
                <a:gd name="T33" fmla="*/ 80 h 1042"/>
                <a:gd name="T34" fmla="*/ 216 w 330"/>
                <a:gd name="T35" fmla="*/ 186 h 1042"/>
                <a:gd name="T36" fmla="*/ 256 w 330"/>
                <a:gd name="T37" fmla="*/ 296 h 1042"/>
                <a:gd name="T38" fmla="*/ 274 w 330"/>
                <a:gd name="T39" fmla="*/ 372 h 1042"/>
                <a:gd name="T40" fmla="*/ 290 w 330"/>
                <a:gd name="T41" fmla="*/ 506 h 1042"/>
                <a:gd name="T42" fmla="*/ 164 w 330"/>
                <a:gd name="T43" fmla="*/ 1004 h 1042"/>
                <a:gd name="T44" fmla="*/ 134 w 330"/>
                <a:gd name="T45" fmla="*/ 932 h 1042"/>
                <a:gd name="T46" fmla="*/ 120 w 330"/>
                <a:gd name="T47" fmla="*/ 848 h 1042"/>
                <a:gd name="T48" fmla="*/ 118 w 330"/>
                <a:gd name="T49" fmla="*/ 780 h 1042"/>
                <a:gd name="T50" fmla="*/ 136 w 330"/>
                <a:gd name="T51" fmla="*/ 692 h 1042"/>
                <a:gd name="T52" fmla="*/ 164 w 330"/>
                <a:gd name="T53" fmla="*/ 626 h 1042"/>
                <a:gd name="T54" fmla="*/ 182 w 330"/>
                <a:gd name="T55" fmla="*/ 666 h 1042"/>
                <a:gd name="T56" fmla="*/ 202 w 330"/>
                <a:gd name="T57" fmla="*/ 740 h 1042"/>
                <a:gd name="T58" fmla="*/ 210 w 330"/>
                <a:gd name="T59" fmla="*/ 806 h 1042"/>
                <a:gd name="T60" fmla="*/ 202 w 330"/>
                <a:gd name="T61" fmla="*/ 900 h 1042"/>
                <a:gd name="T62" fmla="*/ 180 w 330"/>
                <a:gd name="T63" fmla="*/ 972 h 1042"/>
                <a:gd name="T64" fmla="*/ 300 w 330"/>
                <a:gd name="T65" fmla="*/ 296 h 1042"/>
                <a:gd name="T66" fmla="*/ 266 w 330"/>
                <a:gd name="T67" fmla="*/ 188 h 1042"/>
                <a:gd name="T68" fmla="*/ 204 w 330"/>
                <a:gd name="T69" fmla="*/ 62 h 1042"/>
                <a:gd name="T70" fmla="*/ 164 w 330"/>
                <a:gd name="T71" fmla="*/ 0 h 1042"/>
                <a:gd name="T72" fmla="*/ 88 w 330"/>
                <a:gd name="T73" fmla="*/ 132 h 1042"/>
                <a:gd name="T74" fmla="*/ 38 w 330"/>
                <a:gd name="T75" fmla="*/ 260 h 1042"/>
                <a:gd name="T76" fmla="*/ 14 w 330"/>
                <a:gd name="T77" fmla="*/ 358 h 1042"/>
                <a:gd name="T78" fmla="*/ 0 w 330"/>
                <a:gd name="T79" fmla="*/ 500 h 1042"/>
                <a:gd name="T80" fmla="*/ 6 w 330"/>
                <a:gd name="T81" fmla="*/ 634 h 1042"/>
                <a:gd name="T82" fmla="*/ 22 w 330"/>
                <a:gd name="T83" fmla="*/ 722 h 1042"/>
                <a:gd name="T84" fmla="*/ 62 w 330"/>
                <a:gd name="T85" fmla="*/ 854 h 1042"/>
                <a:gd name="T86" fmla="*/ 94 w 330"/>
                <a:gd name="T87" fmla="*/ 924 h 1042"/>
                <a:gd name="T88" fmla="*/ 164 w 330"/>
                <a:gd name="T89" fmla="*/ 1042 h 1042"/>
                <a:gd name="T90" fmla="*/ 202 w 330"/>
                <a:gd name="T91" fmla="*/ 986 h 1042"/>
                <a:gd name="T92" fmla="*/ 268 w 330"/>
                <a:gd name="T93" fmla="*/ 846 h 1042"/>
                <a:gd name="T94" fmla="*/ 306 w 330"/>
                <a:gd name="T95" fmla="*/ 722 h 1042"/>
                <a:gd name="T96" fmla="*/ 320 w 330"/>
                <a:gd name="T97" fmla="*/ 652 h 1042"/>
                <a:gd name="T98" fmla="*/ 330 w 330"/>
                <a:gd name="T99" fmla="*/ 532 h 1042"/>
                <a:gd name="T100" fmla="*/ 320 w 330"/>
                <a:gd name="T101" fmla="*/ 402 h 10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30" h="1042">
                  <a:moveTo>
                    <a:pt x="290" y="556"/>
                  </a:moveTo>
                  <a:lnTo>
                    <a:pt x="290" y="556"/>
                  </a:lnTo>
                  <a:lnTo>
                    <a:pt x="288" y="600"/>
                  </a:lnTo>
                  <a:lnTo>
                    <a:pt x="284" y="642"/>
                  </a:lnTo>
                  <a:lnTo>
                    <a:pt x="278" y="682"/>
                  </a:lnTo>
                  <a:lnTo>
                    <a:pt x="272" y="714"/>
                  </a:lnTo>
                  <a:lnTo>
                    <a:pt x="272" y="714"/>
                  </a:lnTo>
                  <a:lnTo>
                    <a:pt x="272" y="662"/>
                  </a:lnTo>
                  <a:lnTo>
                    <a:pt x="270" y="604"/>
                  </a:lnTo>
                  <a:lnTo>
                    <a:pt x="262" y="546"/>
                  </a:lnTo>
                  <a:lnTo>
                    <a:pt x="254" y="490"/>
                  </a:lnTo>
                  <a:lnTo>
                    <a:pt x="254" y="490"/>
                  </a:lnTo>
                  <a:lnTo>
                    <a:pt x="246" y="462"/>
                  </a:lnTo>
                  <a:lnTo>
                    <a:pt x="238" y="430"/>
                  </a:lnTo>
                  <a:lnTo>
                    <a:pt x="216" y="364"/>
                  </a:lnTo>
                  <a:lnTo>
                    <a:pt x="202" y="332"/>
                  </a:lnTo>
                  <a:lnTo>
                    <a:pt x="190" y="300"/>
                  </a:lnTo>
                  <a:lnTo>
                    <a:pt x="176" y="272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52" y="272"/>
                  </a:lnTo>
                  <a:lnTo>
                    <a:pt x="140" y="296"/>
                  </a:lnTo>
                  <a:lnTo>
                    <a:pt x="114" y="356"/>
                  </a:lnTo>
                  <a:lnTo>
                    <a:pt x="92" y="422"/>
                  </a:lnTo>
                  <a:lnTo>
                    <a:pt x="82" y="456"/>
                  </a:lnTo>
                  <a:lnTo>
                    <a:pt x="74" y="490"/>
                  </a:lnTo>
                  <a:lnTo>
                    <a:pt x="74" y="490"/>
                  </a:lnTo>
                  <a:lnTo>
                    <a:pt x="68" y="524"/>
                  </a:lnTo>
                  <a:lnTo>
                    <a:pt x="64" y="558"/>
                  </a:lnTo>
                  <a:lnTo>
                    <a:pt x="56" y="624"/>
                  </a:lnTo>
                  <a:lnTo>
                    <a:pt x="54" y="678"/>
                  </a:lnTo>
                  <a:lnTo>
                    <a:pt x="54" y="716"/>
                  </a:lnTo>
                  <a:lnTo>
                    <a:pt x="54" y="716"/>
                  </a:lnTo>
                  <a:lnTo>
                    <a:pt x="50" y="684"/>
                  </a:lnTo>
                  <a:lnTo>
                    <a:pt x="44" y="632"/>
                  </a:lnTo>
                  <a:lnTo>
                    <a:pt x="40" y="568"/>
                  </a:lnTo>
                  <a:lnTo>
                    <a:pt x="38" y="532"/>
                  </a:lnTo>
                  <a:lnTo>
                    <a:pt x="40" y="498"/>
                  </a:lnTo>
                  <a:lnTo>
                    <a:pt x="40" y="498"/>
                  </a:lnTo>
                  <a:lnTo>
                    <a:pt x="42" y="468"/>
                  </a:lnTo>
                  <a:lnTo>
                    <a:pt x="44" y="438"/>
                  </a:lnTo>
                  <a:lnTo>
                    <a:pt x="52" y="382"/>
                  </a:lnTo>
                  <a:lnTo>
                    <a:pt x="62" y="334"/>
                  </a:lnTo>
                  <a:lnTo>
                    <a:pt x="72" y="298"/>
                  </a:lnTo>
                  <a:lnTo>
                    <a:pt x="72" y="298"/>
                  </a:lnTo>
                  <a:lnTo>
                    <a:pt x="86" y="254"/>
                  </a:lnTo>
                  <a:lnTo>
                    <a:pt x="102" y="214"/>
                  </a:lnTo>
                  <a:lnTo>
                    <a:pt x="128" y="148"/>
                  </a:lnTo>
                  <a:lnTo>
                    <a:pt x="150" y="102"/>
                  </a:lnTo>
                  <a:lnTo>
                    <a:pt x="164" y="80"/>
                  </a:lnTo>
                  <a:lnTo>
                    <a:pt x="164" y="80"/>
                  </a:lnTo>
                  <a:lnTo>
                    <a:pt x="178" y="106"/>
                  </a:lnTo>
                  <a:lnTo>
                    <a:pt x="202" y="154"/>
                  </a:lnTo>
                  <a:lnTo>
                    <a:pt x="216" y="186"/>
                  </a:lnTo>
                  <a:lnTo>
                    <a:pt x="230" y="220"/>
                  </a:lnTo>
                  <a:lnTo>
                    <a:pt x="244" y="258"/>
                  </a:lnTo>
                  <a:lnTo>
                    <a:pt x="256" y="296"/>
                  </a:lnTo>
                  <a:lnTo>
                    <a:pt x="256" y="296"/>
                  </a:lnTo>
                  <a:lnTo>
                    <a:pt x="266" y="334"/>
                  </a:lnTo>
                  <a:lnTo>
                    <a:pt x="274" y="372"/>
                  </a:lnTo>
                  <a:lnTo>
                    <a:pt x="280" y="408"/>
                  </a:lnTo>
                  <a:lnTo>
                    <a:pt x="284" y="442"/>
                  </a:lnTo>
                  <a:lnTo>
                    <a:pt x="290" y="506"/>
                  </a:lnTo>
                  <a:lnTo>
                    <a:pt x="290" y="556"/>
                  </a:lnTo>
                  <a:close/>
                  <a:moveTo>
                    <a:pt x="164" y="1004"/>
                  </a:moveTo>
                  <a:lnTo>
                    <a:pt x="164" y="1004"/>
                  </a:lnTo>
                  <a:lnTo>
                    <a:pt x="150" y="974"/>
                  </a:lnTo>
                  <a:lnTo>
                    <a:pt x="142" y="954"/>
                  </a:lnTo>
                  <a:lnTo>
                    <a:pt x="134" y="932"/>
                  </a:lnTo>
                  <a:lnTo>
                    <a:pt x="128" y="908"/>
                  </a:lnTo>
                  <a:lnTo>
                    <a:pt x="122" y="880"/>
                  </a:lnTo>
                  <a:lnTo>
                    <a:pt x="120" y="848"/>
                  </a:lnTo>
                  <a:lnTo>
                    <a:pt x="116" y="814"/>
                  </a:lnTo>
                  <a:lnTo>
                    <a:pt x="116" y="814"/>
                  </a:lnTo>
                  <a:lnTo>
                    <a:pt x="118" y="780"/>
                  </a:lnTo>
                  <a:lnTo>
                    <a:pt x="122" y="748"/>
                  </a:lnTo>
                  <a:lnTo>
                    <a:pt x="128" y="718"/>
                  </a:lnTo>
                  <a:lnTo>
                    <a:pt x="136" y="692"/>
                  </a:lnTo>
                  <a:lnTo>
                    <a:pt x="144" y="670"/>
                  </a:lnTo>
                  <a:lnTo>
                    <a:pt x="152" y="650"/>
                  </a:lnTo>
                  <a:lnTo>
                    <a:pt x="164" y="626"/>
                  </a:lnTo>
                  <a:lnTo>
                    <a:pt x="164" y="626"/>
                  </a:lnTo>
                  <a:lnTo>
                    <a:pt x="176" y="648"/>
                  </a:lnTo>
                  <a:lnTo>
                    <a:pt x="182" y="666"/>
                  </a:lnTo>
                  <a:lnTo>
                    <a:pt x="190" y="688"/>
                  </a:lnTo>
                  <a:lnTo>
                    <a:pt x="196" y="712"/>
                  </a:lnTo>
                  <a:lnTo>
                    <a:pt x="202" y="740"/>
                  </a:lnTo>
                  <a:lnTo>
                    <a:pt x="208" y="772"/>
                  </a:lnTo>
                  <a:lnTo>
                    <a:pt x="210" y="806"/>
                  </a:lnTo>
                  <a:lnTo>
                    <a:pt x="210" y="806"/>
                  </a:lnTo>
                  <a:lnTo>
                    <a:pt x="210" y="840"/>
                  </a:lnTo>
                  <a:lnTo>
                    <a:pt x="206" y="870"/>
                  </a:lnTo>
                  <a:lnTo>
                    <a:pt x="202" y="900"/>
                  </a:lnTo>
                  <a:lnTo>
                    <a:pt x="194" y="926"/>
                  </a:lnTo>
                  <a:lnTo>
                    <a:pt x="188" y="950"/>
                  </a:lnTo>
                  <a:lnTo>
                    <a:pt x="180" y="972"/>
                  </a:lnTo>
                  <a:lnTo>
                    <a:pt x="164" y="1004"/>
                  </a:lnTo>
                  <a:close/>
                  <a:moveTo>
                    <a:pt x="300" y="296"/>
                  </a:moveTo>
                  <a:lnTo>
                    <a:pt x="300" y="296"/>
                  </a:lnTo>
                  <a:lnTo>
                    <a:pt x="292" y="268"/>
                  </a:lnTo>
                  <a:lnTo>
                    <a:pt x="284" y="242"/>
                  </a:lnTo>
                  <a:lnTo>
                    <a:pt x="266" y="188"/>
                  </a:lnTo>
                  <a:lnTo>
                    <a:pt x="244" y="140"/>
                  </a:lnTo>
                  <a:lnTo>
                    <a:pt x="224" y="98"/>
                  </a:lnTo>
                  <a:lnTo>
                    <a:pt x="204" y="62"/>
                  </a:lnTo>
                  <a:lnTo>
                    <a:pt x="186" y="32"/>
                  </a:lnTo>
                  <a:lnTo>
                    <a:pt x="164" y="0"/>
                  </a:lnTo>
                  <a:lnTo>
                    <a:pt x="164" y="0"/>
                  </a:lnTo>
                  <a:lnTo>
                    <a:pt x="142" y="34"/>
                  </a:lnTo>
                  <a:lnTo>
                    <a:pt x="108" y="94"/>
                  </a:lnTo>
                  <a:lnTo>
                    <a:pt x="88" y="132"/>
                  </a:lnTo>
                  <a:lnTo>
                    <a:pt x="70" y="172"/>
                  </a:lnTo>
                  <a:lnTo>
                    <a:pt x="54" y="214"/>
                  </a:lnTo>
                  <a:lnTo>
                    <a:pt x="38" y="260"/>
                  </a:lnTo>
                  <a:lnTo>
                    <a:pt x="38" y="260"/>
                  </a:lnTo>
                  <a:lnTo>
                    <a:pt x="24" y="310"/>
                  </a:lnTo>
                  <a:lnTo>
                    <a:pt x="14" y="358"/>
                  </a:lnTo>
                  <a:lnTo>
                    <a:pt x="8" y="406"/>
                  </a:lnTo>
                  <a:lnTo>
                    <a:pt x="2" y="454"/>
                  </a:lnTo>
                  <a:lnTo>
                    <a:pt x="0" y="500"/>
                  </a:lnTo>
                  <a:lnTo>
                    <a:pt x="0" y="546"/>
                  </a:lnTo>
                  <a:lnTo>
                    <a:pt x="2" y="590"/>
                  </a:lnTo>
                  <a:lnTo>
                    <a:pt x="6" y="634"/>
                  </a:lnTo>
                  <a:lnTo>
                    <a:pt x="6" y="634"/>
                  </a:lnTo>
                  <a:lnTo>
                    <a:pt x="14" y="680"/>
                  </a:lnTo>
                  <a:lnTo>
                    <a:pt x="22" y="722"/>
                  </a:lnTo>
                  <a:lnTo>
                    <a:pt x="32" y="762"/>
                  </a:lnTo>
                  <a:lnTo>
                    <a:pt x="44" y="800"/>
                  </a:lnTo>
                  <a:lnTo>
                    <a:pt x="62" y="854"/>
                  </a:lnTo>
                  <a:lnTo>
                    <a:pt x="70" y="876"/>
                  </a:lnTo>
                  <a:lnTo>
                    <a:pt x="70" y="876"/>
                  </a:lnTo>
                  <a:lnTo>
                    <a:pt x="94" y="924"/>
                  </a:lnTo>
                  <a:lnTo>
                    <a:pt x="118" y="970"/>
                  </a:lnTo>
                  <a:lnTo>
                    <a:pt x="142" y="1010"/>
                  </a:lnTo>
                  <a:lnTo>
                    <a:pt x="164" y="1042"/>
                  </a:lnTo>
                  <a:lnTo>
                    <a:pt x="164" y="1042"/>
                  </a:lnTo>
                  <a:lnTo>
                    <a:pt x="182" y="1018"/>
                  </a:lnTo>
                  <a:lnTo>
                    <a:pt x="202" y="986"/>
                  </a:lnTo>
                  <a:lnTo>
                    <a:pt x="224" y="946"/>
                  </a:lnTo>
                  <a:lnTo>
                    <a:pt x="246" y="900"/>
                  </a:lnTo>
                  <a:lnTo>
                    <a:pt x="268" y="846"/>
                  </a:lnTo>
                  <a:lnTo>
                    <a:pt x="288" y="786"/>
                  </a:lnTo>
                  <a:lnTo>
                    <a:pt x="298" y="754"/>
                  </a:lnTo>
                  <a:lnTo>
                    <a:pt x="306" y="722"/>
                  </a:lnTo>
                  <a:lnTo>
                    <a:pt x="314" y="686"/>
                  </a:lnTo>
                  <a:lnTo>
                    <a:pt x="320" y="652"/>
                  </a:lnTo>
                  <a:lnTo>
                    <a:pt x="320" y="652"/>
                  </a:lnTo>
                  <a:lnTo>
                    <a:pt x="324" y="612"/>
                  </a:lnTo>
                  <a:lnTo>
                    <a:pt x="328" y="572"/>
                  </a:lnTo>
                  <a:lnTo>
                    <a:pt x="330" y="532"/>
                  </a:lnTo>
                  <a:lnTo>
                    <a:pt x="328" y="492"/>
                  </a:lnTo>
                  <a:lnTo>
                    <a:pt x="326" y="448"/>
                  </a:lnTo>
                  <a:lnTo>
                    <a:pt x="320" y="402"/>
                  </a:lnTo>
                  <a:lnTo>
                    <a:pt x="312" y="352"/>
                  </a:lnTo>
                  <a:lnTo>
                    <a:pt x="300" y="2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0" name="Freeform 19"/>
            <p:cNvSpPr>
              <a:spLocks/>
            </p:cNvSpPr>
            <p:nvPr userDrawn="1"/>
          </p:nvSpPr>
          <p:spPr bwMode="auto">
            <a:xfrm>
              <a:off x="264" y="1659"/>
              <a:ext cx="1008" cy="1150"/>
            </a:xfrm>
            <a:custGeom>
              <a:avLst/>
              <a:gdLst>
                <a:gd name="T0" fmla="*/ 584 w 1008"/>
                <a:gd name="T1" fmla="*/ 754 h 1150"/>
                <a:gd name="T2" fmla="*/ 610 w 1008"/>
                <a:gd name="T3" fmla="*/ 734 h 1150"/>
                <a:gd name="T4" fmla="*/ 654 w 1008"/>
                <a:gd name="T5" fmla="*/ 714 h 1150"/>
                <a:gd name="T6" fmla="*/ 700 w 1008"/>
                <a:gd name="T7" fmla="*/ 706 h 1150"/>
                <a:gd name="T8" fmla="*/ 746 w 1008"/>
                <a:gd name="T9" fmla="*/ 714 h 1150"/>
                <a:gd name="T10" fmla="*/ 790 w 1008"/>
                <a:gd name="T11" fmla="*/ 734 h 1150"/>
                <a:gd name="T12" fmla="*/ 816 w 1008"/>
                <a:gd name="T13" fmla="*/ 754 h 1150"/>
                <a:gd name="T14" fmla="*/ 844 w 1008"/>
                <a:gd name="T15" fmla="*/ 792 h 1150"/>
                <a:gd name="T16" fmla="*/ 860 w 1008"/>
                <a:gd name="T17" fmla="*/ 838 h 1150"/>
                <a:gd name="T18" fmla="*/ 862 w 1008"/>
                <a:gd name="T19" fmla="*/ 884 h 1150"/>
                <a:gd name="T20" fmla="*/ 852 w 1008"/>
                <a:gd name="T21" fmla="*/ 928 h 1150"/>
                <a:gd name="T22" fmla="*/ 826 w 1008"/>
                <a:gd name="T23" fmla="*/ 970 h 1150"/>
                <a:gd name="T24" fmla="*/ 814 w 1008"/>
                <a:gd name="T25" fmla="*/ 984 h 1150"/>
                <a:gd name="T26" fmla="*/ 762 w 1008"/>
                <a:gd name="T27" fmla="*/ 1024 h 1150"/>
                <a:gd name="T28" fmla="*/ 676 w 1008"/>
                <a:gd name="T29" fmla="*/ 1064 h 1150"/>
                <a:gd name="T30" fmla="*/ 584 w 1008"/>
                <a:gd name="T31" fmla="*/ 1078 h 1150"/>
                <a:gd name="T32" fmla="*/ 520 w 1008"/>
                <a:gd name="T33" fmla="*/ 1072 h 1150"/>
                <a:gd name="T34" fmla="*/ 432 w 1008"/>
                <a:gd name="T35" fmla="*/ 1040 h 1150"/>
                <a:gd name="T36" fmla="*/ 352 w 1008"/>
                <a:gd name="T37" fmla="*/ 984 h 1150"/>
                <a:gd name="T38" fmla="*/ 314 w 1008"/>
                <a:gd name="T39" fmla="*/ 940 h 1150"/>
                <a:gd name="T40" fmla="*/ 276 w 1008"/>
                <a:gd name="T41" fmla="*/ 864 h 1150"/>
                <a:gd name="T42" fmla="*/ 258 w 1008"/>
                <a:gd name="T43" fmla="*/ 784 h 1150"/>
                <a:gd name="T44" fmla="*/ 260 w 1008"/>
                <a:gd name="T45" fmla="*/ 702 h 1150"/>
                <a:gd name="T46" fmla="*/ 284 w 1008"/>
                <a:gd name="T47" fmla="*/ 624 h 1150"/>
                <a:gd name="T48" fmla="*/ 312 w 1008"/>
                <a:gd name="T49" fmla="*/ 576 h 1150"/>
                <a:gd name="T50" fmla="*/ 352 w 1008"/>
                <a:gd name="T51" fmla="*/ 528 h 1150"/>
                <a:gd name="T52" fmla="*/ 432 w 1008"/>
                <a:gd name="T53" fmla="*/ 470 h 1150"/>
                <a:gd name="T54" fmla="*/ 520 w 1008"/>
                <a:gd name="T55" fmla="*/ 438 h 1150"/>
                <a:gd name="T56" fmla="*/ 584 w 1008"/>
                <a:gd name="T57" fmla="*/ 0 h 1150"/>
                <a:gd name="T58" fmla="*/ 524 w 1008"/>
                <a:gd name="T59" fmla="*/ 4 h 1150"/>
                <a:gd name="T60" fmla="*/ 438 w 1008"/>
                <a:gd name="T61" fmla="*/ 20 h 1150"/>
                <a:gd name="T62" fmla="*/ 356 w 1008"/>
                <a:gd name="T63" fmla="*/ 46 h 1150"/>
                <a:gd name="T64" fmla="*/ 282 w 1008"/>
                <a:gd name="T65" fmla="*/ 84 h 1150"/>
                <a:gd name="T66" fmla="*/ 212 w 1008"/>
                <a:gd name="T67" fmla="*/ 132 h 1150"/>
                <a:gd name="T68" fmla="*/ 152 w 1008"/>
                <a:gd name="T69" fmla="*/ 190 h 1150"/>
                <a:gd name="T70" fmla="*/ 100 w 1008"/>
                <a:gd name="T71" fmla="*/ 254 h 1150"/>
                <a:gd name="T72" fmla="*/ 58 w 1008"/>
                <a:gd name="T73" fmla="*/ 326 h 1150"/>
                <a:gd name="T74" fmla="*/ 26 w 1008"/>
                <a:gd name="T75" fmla="*/ 404 h 1150"/>
                <a:gd name="T76" fmla="*/ 6 w 1008"/>
                <a:gd name="T77" fmla="*/ 488 h 1150"/>
                <a:gd name="T78" fmla="*/ 0 w 1008"/>
                <a:gd name="T79" fmla="*/ 576 h 1150"/>
                <a:gd name="T80" fmla="*/ 4 w 1008"/>
                <a:gd name="T81" fmla="*/ 634 h 1150"/>
                <a:gd name="T82" fmla="*/ 18 w 1008"/>
                <a:gd name="T83" fmla="*/ 718 h 1150"/>
                <a:gd name="T84" fmla="*/ 46 w 1008"/>
                <a:gd name="T85" fmla="*/ 798 h 1150"/>
                <a:gd name="T86" fmla="*/ 84 w 1008"/>
                <a:gd name="T87" fmla="*/ 872 h 1150"/>
                <a:gd name="T88" fmla="*/ 134 w 1008"/>
                <a:gd name="T89" fmla="*/ 940 h 1150"/>
                <a:gd name="T90" fmla="*/ 192 w 1008"/>
                <a:gd name="T91" fmla="*/ 1000 h 1150"/>
                <a:gd name="T92" fmla="*/ 258 w 1008"/>
                <a:gd name="T93" fmla="*/ 1052 h 1150"/>
                <a:gd name="T94" fmla="*/ 330 w 1008"/>
                <a:gd name="T95" fmla="*/ 1092 h 1150"/>
                <a:gd name="T96" fmla="*/ 410 w 1008"/>
                <a:gd name="T97" fmla="*/ 1124 h 1150"/>
                <a:gd name="T98" fmla="*/ 494 w 1008"/>
                <a:gd name="T99" fmla="*/ 1142 h 1150"/>
                <a:gd name="T100" fmla="*/ 584 w 1008"/>
                <a:gd name="T101" fmla="*/ 1150 h 1150"/>
                <a:gd name="T102" fmla="*/ 646 w 1008"/>
                <a:gd name="T103" fmla="*/ 1146 h 1150"/>
                <a:gd name="T104" fmla="*/ 734 w 1008"/>
                <a:gd name="T105" fmla="*/ 1130 h 1150"/>
                <a:gd name="T106" fmla="*/ 818 w 1008"/>
                <a:gd name="T107" fmla="*/ 1100 h 1150"/>
                <a:gd name="T108" fmla="*/ 896 w 1008"/>
                <a:gd name="T109" fmla="*/ 1060 h 1150"/>
                <a:gd name="T110" fmla="*/ 966 w 1008"/>
                <a:gd name="T111" fmla="*/ 1008 h 1150"/>
                <a:gd name="T112" fmla="*/ 1008 w 1008"/>
                <a:gd name="T113" fmla="*/ 574 h 1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8" h="1150">
                  <a:moveTo>
                    <a:pt x="584" y="574"/>
                  </a:moveTo>
                  <a:lnTo>
                    <a:pt x="584" y="754"/>
                  </a:lnTo>
                  <a:lnTo>
                    <a:pt x="584" y="754"/>
                  </a:lnTo>
                  <a:lnTo>
                    <a:pt x="584" y="754"/>
                  </a:lnTo>
                  <a:lnTo>
                    <a:pt x="596" y="742"/>
                  </a:lnTo>
                  <a:lnTo>
                    <a:pt x="610" y="734"/>
                  </a:lnTo>
                  <a:lnTo>
                    <a:pt x="624" y="726"/>
                  </a:lnTo>
                  <a:lnTo>
                    <a:pt x="638" y="718"/>
                  </a:lnTo>
                  <a:lnTo>
                    <a:pt x="654" y="714"/>
                  </a:lnTo>
                  <a:lnTo>
                    <a:pt x="668" y="710"/>
                  </a:lnTo>
                  <a:lnTo>
                    <a:pt x="684" y="708"/>
                  </a:lnTo>
                  <a:lnTo>
                    <a:pt x="700" y="706"/>
                  </a:lnTo>
                  <a:lnTo>
                    <a:pt x="716" y="708"/>
                  </a:lnTo>
                  <a:lnTo>
                    <a:pt x="732" y="710"/>
                  </a:lnTo>
                  <a:lnTo>
                    <a:pt x="746" y="714"/>
                  </a:lnTo>
                  <a:lnTo>
                    <a:pt x="762" y="718"/>
                  </a:lnTo>
                  <a:lnTo>
                    <a:pt x="776" y="726"/>
                  </a:lnTo>
                  <a:lnTo>
                    <a:pt x="790" y="734"/>
                  </a:lnTo>
                  <a:lnTo>
                    <a:pt x="804" y="742"/>
                  </a:lnTo>
                  <a:lnTo>
                    <a:pt x="816" y="754"/>
                  </a:lnTo>
                  <a:lnTo>
                    <a:pt x="816" y="754"/>
                  </a:lnTo>
                  <a:lnTo>
                    <a:pt x="826" y="766"/>
                  </a:lnTo>
                  <a:lnTo>
                    <a:pt x="836" y="780"/>
                  </a:lnTo>
                  <a:lnTo>
                    <a:pt x="844" y="792"/>
                  </a:lnTo>
                  <a:lnTo>
                    <a:pt x="852" y="808"/>
                  </a:lnTo>
                  <a:lnTo>
                    <a:pt x="856" y="822"/>
                  </a:lnTo>
                  <a:lnTo>
                    <a:pt x="860" y="838"/>
                  </a:lnTo>
                  <a:lnTo>
                    <a:pt x="862" y="852"/>
                  </a:lnTo>
                  <a:lnTo>
                    <a:pt x="864" y="868"/>
                  </a:lnTo>
                  <a:lnTo>
                    <a:pt x="862" y="884"/>
                  </a:lnTo>
                  <a:lnTo>
                    <a:pt x="860" y="898"/>
                  </a:lnTo>
                  <a:lnTo>
                    <a:pt x="856" y="914"/>
                  </a:lnTo>
                  <a:lnTo>
                    <a:pt x="852" y="928"/>
                  </a:lnTo>
                  <a:lnTo>
                    <a:pt x="844" y="944"/>
                  </a:lnTo>
                  <a:lnTo>
                    <a:pt x="836" y="956"/>
                  </a:lnTo>
                  <a:lnTo>
                    <a:pt x="826" y="970"/>
                  </a:lnTo>
                  <a:lnTo>
                    <a:pt x="816" y="982"/>
                  </a:lnTo>
                  <a:lnTo>
                    <a:pt x="814" y="982"/>
                  </a:lnTo>
                  <a:lnTo>
                    <a:pt x="814" y="984"/>
                  </a:lnTo>
                  <a:lnTo>
                    <a:pt x="814" y="984"/>
                  </a:lnTo>
                  <a:lnTo>
                    <a:pt x="790" y="1006"/>
                  </a:lnTo>
                  <a:lnTo>
                    <a:pt x="762" y="1024"/>
                  </a:lnTo>
                  <a:lnTo>
                    <a:pt x="734" y="1040"/>
                  </a:lnTo>
                  <a:lnTo>
                    <a:pt x="706" y="1054"/>
                  </a:lnTo>
                  <a:lnTo>
                    <a:pt x="676" y="1064"/>
                  </a:lnTo>
                  <a:lnTo>
                    <a:pt x="646" y="1072"/>
                  </a:lnTo>
                  <a:lnTo>
                    <a:pt x="614" y="1076"/>
                  </a:lnTo>
                  <a:lnTo>
                    <a:pt x="584" y="1078"/>
                  </a:lnTo>
                  <a:lnTo>
                    <a:pt x="584" y="1078"/>
                  </a:lnTo>
                  <a:lnTo>
                    <a:pt x="552" y="1076"/>
                  </a:lnTo>
                  <a:lnTo>
                    <a:pt x="520" y="1072"/>
                  </a:lnTo>
                  <a:lnTo>
                    <a:pt x="490" y="1064"/>
                  </a:lnTo>
                  <a:lnTo>
                    <a:pt x="460" y="1054"/>
                  </a:lnTo>
                  <a:lnTo>
                    <a:pt x="432" y="1040"/>
                  </a:lnTo>
                  <a:lnTo>
                    <a:pt x="404" y="1024"/>
                  </a:lnTo>
                  <a:lnTo>
                    <a:pt x="376" y="1006"/>
                  </a:lnTo>
                  <a:lnTo>
                    <a:pt x="352" y="984"/>
                  </a:lnTo>
                  <a:lnTo>
                    <a:pt x="352" y="984"/>
                  </a:lnTo>
                  <a:lnTo>
                    <a:pt x="332" y="962"/>
                  </a:lnTo>
                  <a:lnTo>
                    <a:pt x="314" y="940"/>
                  </a:lnTo>
                  <a:lnTo>
                    <a:pt x="298" y="916"/>
                  </a:lnTo>
                  <a:lnTo>
                    <a:pt x="286" y="890"/>
                  </a:lnTo>
                  <a:lnTo>
                    <a:pt x="276" y="864"/>
                  </a:lnTo>
                  <a:lnTo>
                    <a:pt x="266" y="838"/>
                  </a:lnTo>
                  <a:lnTo>
                    <a:pt x="260" y="812"/>
                  </a:lnTo>
                  <a:lnTo>
                    <a:pt x="258" y="784"/>
                  </a:lnTo>
                  <a:lnTo>
                    <a:pt x="256" y="758"/>
                  </a:lnTo>
                  <a:lnTo>
                    <a:pt x="256" y="730"/>
                  </a:lnTo>
                  <a:lnTo>
                    <a:pt x="260" y="702"/>
                  </a:lnTo>
                  <a:lnTo>
                    <a:pt x="266" y="676"/>
                  </a:lnTo>
                  <a:lnTo>
                    <a:pt x="274" y="650"/>
                  </a:lnTo>
                  <a:lnTo>
                    <a:pt x="284" y="624"/>
                  </a:lnTo>
                  <a:lnTo>
                    <a:pt x="296" y="600"/>
                  </a:lnTo>
                  <a:lnTo>
                    <a:pt x="312" y="576"/>
                  </a:lnTo>
                  <a:lnTo>
                    <a:pt x="312" y="576"/>
                  </a:lnTo>
                  <a:lnTo>
                    <a:pt x="330" y="550"/>
                  </a:lnTo>
                  <a:lnTo>
                    <a:pt x="352" y="528"/>
                  </a:lnTo>
                  <a:lnTo>
                    <a:pt x="352" y="528"/>
                  </a:lnTo>
                  <a:lnTo>
                    <a:pt x="376" y="506"/>
                  </a:lnTo>
                  <a:lnTo>
                    <a:pt x="404" y="486"/>
                  </a:lnTo>
                  <a:lnTo>
                    <a:pt x="432" y="470"/>
                  </a:lnTo>
                  <a:lnTo>
                    <a:pt x="460" y="456"/>
                  </a:lnTo>
                  <a:lnTo>
                    <a:pt x="490" y="446"/>
                  </a:lnTo>
                  <a:lnTo>
                    <a:pt x="520" y="438"/>
                  </a:lnTo>
                  <a:lnTo>
                    <a:pt x="552" y="434"/>
                  </a:lnTo>
                  <a:lnTo>
                    <a:pt x="584" y="432"/>
                  </a:lnTo>
                  <a:lnTo>
                    <a:pt x="584" y="0"/>
                  </a:lnTo>
                  <a:lnTo>
                    <a:pt x="584" y="0"/>
                  </a:lnTo>
                  <a:lnTo>
                    <a:pt x="554" y="2"/>
                  </a:lnTo>
                  <a:lnTo>
                    <a:pt x="524" y="4"/>
                  </a:lnTo>
                  <a:lnTo>
                    <a:pt x="494" y="8"/>
                  </a:lnTo>
                  <a:lnTo>
                    <a:pt x="466" y="12"/>
                  </a:lnTo>
                  <a:lnTo>
                    <a:pt x="438" y="20"/>
                  </a:lnTo>
                  <a:lnTo>
                    <a:pt x="410" y="26"/>
                  </a:lnTo>
                  <a:lnTo>
                    <a:pt x="382" y="36"/>
                  </a:lnTo>
                  <a:lnTo>
                    <a:pt x="356" y="46"/>
                  </a:lnTo>
                  <a:lnTo>
                    <a:pt x="330" y="58"/>
                  </a:lnTo>
                  <a:lnTo>
                    <a:pt x="306" y="70"/>
                  </a:lnTo>
                  <a:lnTo>
                    <a:pt x="282" y="84"/>
                  </a:lnTo>
                  <a:lnTo>
                    <a:pt x="258" y="100"/>
                  </a:lnTo>
                  <a:lnTo>
                    <a:pt x="234" y="116"/>
                  </a:lnTo>
                  <a:lnTo>
                    <a:pt x="212" y="132"/>
                  </a:lnTo>
                  <a:lnTo>
                    <a:pt x="192" y="150"/>
                  </a:lnTo>
                  <a:lnTo>
                    <a:pt x="172" y="170"/>
                  </a:lnTo>
                  <a:lnTo>
                    <a:pt x="152" y="190"/>
                  </a:lnTo>
                  <a:lnTo>
                    <a:pt x="134" y="210"/>
                  </a:lnTo>
                  <a:lnTo>
                    <a:pt x="116" y="232"/>
                  </a:lnTo>
                  <a:lnTo>
                    <a:pt x="100" y="254"/>
                  </a:lnTo>
                  <a:lnTo>
                    <a:pt x="84" y="278"/>
                  </a:lnTo>
                  <a:lnTo>
                    <a:pt x="70" y="302"/>
                  </a:lnTo>
                  <a:lnTo>
                    <a:pt x="58" y="326"/>
                  </a:lnTo>
                  <a:lnTo>
                    <a:pt x="46" y="352"/>
                  </a:lnTo>
                  <a:lnTo>
                    <a:pt x="36" y="378"/>
                  </a:lnTo>
                  <a:lnTo>
                    <a:pt x="26" y="404"/>
                  </a:lnTo>
                  <a:lnTo>
                    <a:pt x="18" y="432"/>
                  </a:lnTo>
                  <a:lnTo>
                    <a:pt x="12" y="460"/>
                  </a:lnTo>
                  <a:lnTo>
                    <a:pt x="6" y="488"/>
                  </a:lnTo>
                  <a:lnTo>
                    <a:pt x="4" y="516"/>
                  </a:lnTo>
                  <a:lnTo>
                    <a:pt x="2" y="546"/>
                  </a:lnTo>
                  <a:lnTo>
                    <a:pt x="0" y="576"/>
                  </a:lnTo>
                  <a:lnTo>
                    <a:pt x="0" y="576"/>
                  </a:lnTo>
                  <a:lnTo>
                    <a:pt x="2" y="604"/>
                  </a:lnTo>
                  <a:lnTo>
                    <a:pt x="4" y="634"/>
                  </a:lnTo>
                  <a:lnTo>
                    <a:pt x="6" y="662"/>
                  </a:lnTo>
                  <a:lnTo>
                    <a:pt x="12" y="690"/>
                  </a:lnTo>
                  <a:lnTo>
                    <a:pt x="18" y="718"/>
                  </a:lnTo>
                  <a:lnTo>
                    <a:pt x="26" y="746"/>
                  </a:lnTo>
                  <a:lnTo>
                    <a:pt x="36" y="772"/>
                  </a:lnTo>
                  <a:lnTo>
                    <a:pt x="46" y="798"/>
                  </a:lnTo>
                  <a:lnTo>
                    <a:pt x="58" y="824"/>
                  </a:lnTo>
                  <a:lnTo>
                    <a:pt x="70" y="848"/>
                  </a:lnTo>
                  <a:lnTo>
                    <a:pt x="84" y="872"/>
                  </a:lnTo>
                  <a:lnTo>
                    <a:pt x="100" y="896"/>
                  </a:lnTo>
                  <a:lnTo>
                    <a:pt x="116" y="918"/>
                  </a:lnTo>
                  <a:lnTo>
                    <a:pt x="134" y="940"/>
                  </a:lnTo>
                  <a:lnTo>
                    <a:pt x="152" y="962"/>
                  </a:lnTo>
                  <a:lnTo>
                    <a:pt x="172" y="982"/>
                  </a:lnTo>
                  <a:lnTo>
                    <a:pt x="192" y="1000"/>
                  </a:lnTo>
                  <a:lnTo>
                    <a:pt x="212" y="1018"/>
                  </a:lnTo>
                  <a:lnTo>
                    <a:pt x="234" y="1036"/>
                  </a:lnTo>
                  <a:lnTo>
                    <a:pt x="258" y="1052"/>
                  </a:lnTo>
                  <a:lnTo>
                    <a:pt x="282" y="1066"/>
                  </a:lnTo>
                  <a:lnTo>
                    <a:pt x="306" y="1080"/>
                  </a:lnTo>
                  <a:lnTo>
                    <a:pt x="330" y="1092"/>
                  </a:lnTo>
                  <a:lnTo>
                    <a:pt x="356" y="1104"/>
                  </a:lnTo>
                  <a:lnTo>
                    <a:pt x="382" y="1114"/>
                  </a:lnTo>
                  <a:lnTo>
                    <a:pt x="410" y="1124"/>
                  </a:lnTo>
                  <a:lnTo>
                    <a:pt x="438" y="1132"/>
                  </a:lnTo>
                  <a:lnTo>
                    <a:pt x="466" y="1138"/>
                  </a:lnTo>
                  <a:lnTo>
                    <a:pt x="494" y="1142"/>
                  </a:lnTo>
                  <a:lnTo>
                    <a:pt x="524" y="1146"/>
                  </a:lnTo>
                  <a:lnTo>
                    <a:pt x="554" y="1148"/>
                  </a:lnTo>
                  <a:lnTo>
                    <a:pt x="584" y="1150"/>
                  </a:lnTo>
                  <a:lnTo>
                    <a:pt x="584" y="1150"/>
                  </a:lnTo>
                  <a:lnTo>
                    <a:pt x="614" y="1148"/>
                  </a:lnTo>
                  <a:lnTo>
                    <a:pt x="646" y="1146"/>
                  </a:lnTo>
                  <a:lnTo>
                    <a:pt x="676" y="1142"/>
                  </a:lnTo>
                  <a:lnTo>
                    <a:pt x="706" y="1136"/>
                  </a:lnTo>
                  <a:lnTo>
                    <a:pt x="734" y="1130"/>
                  </a:lnTo>
                  <a:lnTo>
                    <a:pt x="764" y="1122"/>
                  </a:lnTo>
                  <a:lnTo>
                    <a:pt x="792" y="1112"/>
                  </a:lnTo>
                  <a:lnTo>
                    <a:pt x="818" y="1100"/>
                  </a:lnTo>
                  <a:lnTo>
                    <a:pt x="846" y="1088"/>
                  </a:lnTo>
                  <a:lnTo>
                    <a:pt x="872" y="1074"/>
                  </a:lnTo>
                  <a:lnTo>
                    <a:pt x="896" y="1060"/>
                  </a:lnTo>
                  <a:lnTo>
                    <a:pt x="920" y="1044"/>
                  </a:lnTo>
                  <a:lnTo>
                    <a:pt x="944" y="1026"/>
                  </a:lnTo>
                  <a:lnTo>
                    <a:pt x="966" y="1008"/>
                  </a:lnTo>
                  <a:lnTo>
                    <a:pt x="988" y="988"/>
                  </a:lnTo>
                  <a:lnTo>
                    <a:pt x="1008" y="968"/>
                  </a:lnTo>
                  <a:lnTo>
                    <a:pt x="1008" y="574"/>
                  </a:lnTo>
                  <a:lnTo>
                    <a:pt x="584" y="57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1" name="Freeform 20"/>
            <p:cNvSpPr>
              <a:spLocks noEditPoints="1"/>
            </p:cNvSpPr>
            <p:nvPr userDrawn="1"/>
          </p:nvSpPr>
          <p:spPr bwMode="auto">
            <a:xfrm>
              <a:off x="1428" y="2425"/>
              <a:ext cx="2328" cy="384"/>
            </a:xfrm>
            <a:custGeom>
              <a:avLst/>
              <a:gdLst>
                <a:gd name="T0" fmla="*/ 2222 w 2328"/>
                <a:gd name="T1" fmla="*/ 266 h 384"/>
                <a:gd name="T2" fmla="*/ 2204 w 2328"/>
                <a:gd name="T3" fmla="*/ 300 h 384"/>
                <a:gd name="T4" fmla="*/ 2156 w 2328"/>
                <a:gd name="T5" fmla="*/ 312 h 384"/>
                <a:gd name="T6" fmla="*/ 2076 w 2328"/>
                <a:gd name="T7" fmla="*/ 62 h 384"/>
                <a:gd name="T8" fmla="*/ 2144 w 2328"/>
                <a:gd name="T9" fmla="*/ 158 h 384"/>
                <a:gd name="T10" fmla="*/ 2182 w 2328"/>
                <a:gd name="T11" fmla="*/ 162 h 384"/>
                <a:gd name="T12" fmla="*/ 2214 w 2328"/>
                <a:gd name="T13" fmla="*/ 180 h 384"/>
                <a:gd name="T14" fmla="*/ 2224 w 2328"/>
                <a:gd name="T15" fmla="*/ 222 h 384"/>
                <a:gd name="T16" fmla="*/ 1686 w 2328"/>
                <a:gd name="T17" fmla="*/ 108 h 384"/>
                <a:gd name="T18" fmla="*/ 1630 w 2328"/>
                <a:gd name="T19" fmla="*/ 108 h 384"/>
                <a:gd name="T20" fmla="*/ 1732 w 2328"/>
                <a:gd name="T21" fmla="*/ 62 h 384"/>
                <a:gd name="T22" fmla="*/ 1278 w 2328"/>
                <a:gd name="T23" fmla="*/ 222 h 384"/>
                <a:gd name="T24" fmla="*/ 1266 w 2328"/>
                <a:gd name="T25" fmla="*/ 266 h 384"/>
                <a:gd name="T26" fmla="*/ 1230 w 2328"/>
                <a:gd name="T27" fmla="*/ 284 h 384"/>
                <a:gd name="T28" fmla="*/ 1194 w 2328"/>
                <a:gd name="T29" fmla="*/ 312 h 384"/>
                <a:gd name="T30" fmla="*/ 1136 w 2328"/>
                <a:gd name="T31" fmla="*/ 286 h 384"/>
                <a:gd name="T32" fmla="*/ 1084 w 2328"/>
                <a:gd name="T33" fmla="*/ 280 h 384"/>
                <a:gd name="T34" fmla="*/ 1056 w 2328"/>
                <a:gd name="T35" fmla="*/ 254 h 384"/>
                <a:gd name="T36" fmla="*/ 1052 w 2328"/>
                <a:gd name="T37" fmla="*/ 144 h 384"/>
                <a:gd name="T38" fmla="*/ 1056 w 2328"/>
                <a:gd name="T39" fmla="*/ 112 h 384"/>
                <a:gd name="T40" fmla="*/ 1082 w 2328"/>
                <a:gd name="T41" fmla="*/ 88 h 384"/>
                <a:gd name="T42" fmla="*/ 1136 w 2328"/>
                <a:gd name="T43" fmla="*/ 80 h 384"/>
                <a:gd name="T44" fmla="*/ 1194 w 2328"/>
                <a:gd name="T45" fmla="*/ 80 h 384"/>
                <a:gd name="T46" fmla="*/ 1232 w 2328"/>
                <a:gd name="T47" fmla="*/ 84 h 384"/>
                <a:gd name="T48" fmla="*/ 1266 w 2328"/>
                <a:gd name="T49" fmla="*/ 102 h 384"/>
                <a:gd name="T50" fmla="*/ 1278 w 2328"/>
                <a:gd name="T51" fmla="*/ 144 h 384"/>
                <a:gd name="T52" fmla="*/ 662 w 2328"/>
                <a:gd name="T53" fmla="*/ 108 h 384"/>
                <a:gd name="T54" fmla="*/ 734 w 2328"/>
                <a:gd name="T55" fmla="*/ 206 h 384"/>
                <a:gd name="T56" fmla="*/ 742 w 2328"/>
                <a:gd name="T57" fmla="*/ 264 h 384"/>
                <a:gd name="T58" fmla="*/ 600 w 2328"/>
                <a:gd name="T59" fmla="*/ 62 h 384"/>
                <a:gd name="T60" fmla="*/ 252 w 2328"/>
                <a:gd name="T61" fmla="*/ 312 h 384"/>
                <a:gd name="T62" fmla="*/ 164 w 2328"/>
                <a:gd name="T63" fmla="*/ 202 h 384"/>
                <a:gd name="T64" fmla="*/ 104 w 2328"/>
                <a:gd name="T65" fmla="*/ 62 h 384"/>
                <a:gd name="T66" fmla="*/ 194 w 2328"/>
                <a:gd name="T67" fmla="*/ 158 h 384"/>
                <a:gd name="T68" fmla="*/ 252 w 2328"/>
                <a:gd name="T69" fmla="*/ 312 h 384"/>
                <a:gd name="T70" fmla="*/ 0 w 2328"/>
                <a:gd name="T71" fmla="*/ 384 h 384"/>
                <a:gd name="T72" fmla="*/ 1108 w 2328"/>
                <a:gd name="T73" fmla="*/ 142 h 384"/>
                <a:gd name="T74" fmla="*/ 1110 w 2328"/>
                <a:gd name="T75" fmla="*/ 232 h 384"/>
                <a:gd name="T76" fmla="*/ 1126 w 2328"/>
                <a:gd name="T77" fmla="*/ 240 h 384"/>
                <a:gd name="T78" fmla="*/ 1126 w 2328"/>
                <a:gd name="T79" fmla="*/ 124 h 384"/>
                <a:gd name="T80" fmla="*/ 1112 w 2328"/>
                <a:gd name="T81" fmla="*/ 128 h 384"/>
                <a:gd name="T82" fmla="*/ 1202 w 2328"/>
                <a:gd name="T83" fmla="*/ 124 h 384"/>
                <a:gd name="T84" fmla="*/ 1202 w 2328"/>
                <a:gd name="T85" fmla="*/ 240 h 384"/>
                <a:gd name="T86" fmla="*/ 1216 w 2328"/>
                <a:gd name="T87" fmla="*/ 238 h 384"/>
                <a:gd name="T88" fmla="*/ 1220 w 2328"/>
                <a:gd name="T89" fmla="*/ 142 h 384"/>
                <a:gd name="T90" fmla="*/ 1216 w 2328"/>
                <a:gd name="T91" fmla="*/ 128 h 384"/>
                <a:gd name="T92" fmla="*/ 2148 w 2328"/>
                <a:gd name="T93" fmla="*/ 202 h 384"/>
                <a:gd name="T94" fmla="*/ 2148 w 2328"/>
                <a:gd name="T95" fmla="*/ 268 h 384"/>
                <a:gd name="T96" fmla="*/ 2162 w 2328"/>
                <a:gd name="T97" fmla="*/ 264 h 384"/>
                <a:gd name="T98" fmla="*/ 2166 w 2328"/>
                <a:gd name="T99" fmla="*/ 220 h 384"/>
                <a:gd name="T100" fmla="*/ 2162 w 2328"/>
                <a:gd name="T101" fmla="*/ 206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328" h="384">
                  <a:moveTo>
                    <a:pt x="2224" y="248"/>
                  </a:moveTo>
                  <a:lnTo>
                    <a:pt x="2224" y="248"/>
                  </a:lnTo>
                  <a:lnTo>
                    <a:pt x="2222" y="266"/>
                  </a:lnTo>
                  <a:lnTo>
                    <a:pt x="2220" y="280"/>
                  </a:lnTo>
                  <a:lnTo>
                    <a:pt x="2212" y="292"/>
                  </a:lnTo>
                  <a:lnTo>
                    <a:pt x="2204" y="300"/>
                  </a:lnTo>
                  <a:lnTo>
                    <a:pt x="2192" y="306"/>
                  </a:lnTo>
                  <a:lnTo>
                    <a:pt x="2176" y="310"/>
                  </a:lnTo>
                  <a:lnTo>
                    <a:pt x="2156" y="312"/>
                  </a:lnTo>
                  <a:lnTo>
                    <a:pt x="2134" y="312"/>
                  </a:lnTo>
                  <a:lnTo>
                    <a:pt x="2076" y="312"/>
                  </a:lnTo>
                  <a:lnTo>
                    <a:pt x="2076" y="62"/>
                  </a:lnTo>
                  <a:lnTo>
                    <a:pt x="2134" y="62"/>
                  </a:lnTo>
                  <a:lnTo>
                    <a:pt x="2134" y="158"/>
                  </a:lnTo>
                  <a:lnTo>
                    <a:pt x="2144" y="158"/>
                  </a:lnTo>
                  <a:lnTo>
                    <a:pt x="2144" y="158"/>
                  </a:lnTo>
                  <a:lnTo>
                    <a:pt x="2164" y="158"/>
                  </a:lnTo>
                  <a:lnTo>
                    <a:pt x="2182" y="162"/>
                  </a:lnTo>
                  <a:lnTo>
                    <a:pt x="2196" y="166"/>
                  </a:lnTo>
                  <a:lnTo>
                    <a:pt x="2206" y="172"/>
                  </a:lnTo>
                  <a:lnTo>
                    <a:pt x="2214" y="180"/>
                  </a:lnTo>
                  <a:lnTo>
                    <a:pt x="2220" y="190"/>
                  </a:lnTo>
                  <a:lnTo>
                    <a:pt x="2224" y="204"/>
                  </a:lnTo>
                  <a:lnTo>
                    <a:pt x="2224" y="222"/>
                  </a:lnTo>
                  <a:lnTo>
                    <a:pt x="2224" y="248"/>
                  </a:lnTo>
                  <a:close/>
                  <a:moveTo>
                    <a:pt x="1732" y="108"/>
                  </a:moveTo>
                  <a:lnTo>
                    <a:pt x="1686" y="108"/>
                  </a:lnTo>
                  <a:lnTo>
                    <a:pt x="1686" y="312"/>
                  </a:lnTo>
                  <a:lnTo>
                    <a:pt x="1630" y="312"/>
                  </a:lnTo>
                  <a:lnTo>
                    <a:pt x="1630" y="108"/>
                  </a:lnTo>
                  <a:lnTo>
                    <a:pt x="1582" y="108"/>
                  </a:lnTo>
                  <a:lnTo>
                    <a:pt x="1582" y="62"/>
                  </a:lnTo>
                  <a:lnTo>
                    <a:pt x="1732" y="62"/>
                  </a:lnTo>
                  <a:lnTo>
                    <a:pt x="1732" y="108"/>
                  </a:lnTo>
                  <a:close/>
                  <a:moveTo>
                    <a:pt x="1278" y="222"/>
                  </a:moveTo>
                  <a:lnTo>
                    <a:pt x="1278" y="222"/>
                  </a:lnTo>
                  <a:lnTo>
                    <a:pt x="1276" y="240"/>
                  </a:lnTo>
                  <a:lnTo>
                    <a:pt x="1272" y="254"/>
                  </a:lnTo>
                  <a:lnTo>
                    <a:pt x="1266" y="266"/>
                  </a:lnTo>
                  <a:lnTo>
                    <a:pt x="1258" y="274"/>
                  </a:lnTo>
                  <a:lnTo>
                    <a:pt x="1246" y="280"/>
                  </a:lnTo>
                  <a:lnTo>
                    <a:pt x="1230" y="284"/>
                  </a:lnTo>
                  <a:lnTo>
                    <a:pt x="1214" y="286"/>
                  </a:lnTo>
                  <a:lnTo>
                    <a:pt x="1194" y="286"/>
                  </a:lnTo>
                  <a:lnTo>
                    <a:pt x="1194" y="312"/>
                  </a:lnTo>
                  <a:lnTo>
                    <a:pt x="1136" y="312"/>
                  </a:lnTo>
                  <a:lnTo>
                    <a:pt x="1136" y="286"/>
                  </a:lnTo>
                  <a:lnTo>
                    <a:pt x="1136" y="286"/>
                  </a:lnTo>
                  <a:lnTo>
                    <a:pt x="1116" y="286"/>
                  </a:lnTo>
                  <a:lnTo>
                    <a:pt x="1098" y="284"/>
                  </a:lnTo>
                  <a:lnTo>
                    <a:pt x="1084" y="280"/>
                  </a:lnTo>
                  <a:lnTo>
                    <a:pt x="1072" y="274"/>
                  </a:lnTo>
                  <a:lnTo>
                    <a:pt x="1062" y="266"/>
                  </a:lnTo>
                  <a:lnTo>
                    <a:pt x="1056" y="254"/>
                  </a:lnTo>
                  <a:lnTo>
                    <a:pt x="1052" y="240"/>
                  </a:lnTo>
                  <a:lnTo>
                    <a:pt x="1052" y="222"/>
                  </a:lnTo>
                  <a:lnTo>
                    <a:pt x="1052" y="144"/>
                  </a:lnTo>
                  <a:lnTo>
                    <a:pt x="1052" y="144"/>
                  </a:lnTo>
                  <a:lnTo>
                    <a:pt x="1052" y="128"/>
                  </a:lnTo>
                  <a:lnTo>
                    <a:pt x="1056" y="112"/>
                  </a:lnTo>
                  <a:lnTo>
                    <a:pt x="1062" y="102"/>
                  </a:lnTo>
                  <a:lnTo>
                    <a:pt x="1072" y="94"/>
                  </a:lnTo>
                  <a:lnTo>
                    <a:pt x="1082" y="88"/>
                  </a:lnTo>
                  <a:lnTo>
                    <a:pt x="1098" y="84"/>
                  </a:lnTo>
                  <a:lnTo>
                    <a:pt x="1116" y="82"/>
                  </a:lnTo>
                  <a:lnTo>
                    <a:pt x="1136" y="80"/>
                  </a:lnTo>
                  <a:lnTo>
                    <a:pt x="1136" y="62"/>
                  </a:lnTo>
                  <a:lnTo>
                    <a:pt x="1194" y="62"/>
                  </a:lnTo>
                  <a:lnTo>
                    <a:pt x="1194" y="80"/>
                  </a:lnTo>
                  <a:lnTo>
                    <a:pt x="1194" y="80"/>
                  </a:lnTo>
                  <a:lnTo>
                    <a:pt x="1214" y="82"/>
                  </a:lnTo>
                  <a:lnTo>
                    <a:pt x="1232" y="84"/>
                  </a:lnTo>
                  <a:lnTo>
                    <a:pt x="1246" y="88"/>
                  </a:lnTo>
                  <a:lnTo>
                    <a:pt x="1258" y="94"/>
                  </a:lnTo>
                  <a:lnTo>
                    <a:pt x="1266" y="102"/>
                  </a:lnTo>
                  <a:lnTo>
                    <a:pt x="1272" y="112"/>
                  </a:lnTo>
                  <a:lnTo>
                    <a:pt x="1276" y="128"/>
                  </a:lnTo>
                  <a:lnTo>
                    <a:pt x="1278" y="144"/>
                  </a:lnTo>
                  <a:lnTo>
                    <a:pt x="1278" y="222"/>
                  </a:lnTo>
                  <a:close/>
                  <a:moveTo>
                    <a:pt x="742" y="108"/>
                  </a:moveTo>
                  <a:lnTo>
                    <a:pt x="662" y="108"/>
                  </a:lnTo>
                  <a:lnTo>
                    <a:pt x="662" y="158"/>
                  </a:lnTo>
                  <a:lnTo>
                    <a:pt x="734" y="158"/>
                  </a:lnTo>
                  <a:lnTo>
                    <a:pt x="734" y="206"/>
                  </a:lnTo>
                  <a:lnTo>
                    <a:pt x="662" y="206"/>
                  </a:lnTo>
                  <a:lnTo>
                    <a:pt x="662" y="264"/>
                  </a:lnTo>
                  <a:lnTo>
                    <a:pt x="742" y="264"/>
                  </a:lnTo>
                  <a:lnTo>
                    <a:pt x="742" y="312"/>
                  </a:lnTo>
                  <a:lnTo>
                    <a:pt x="600" y="312"/>
                  </a:lnTo>
                  <a:lnTo>
                    <a:pt x="600" y="62"/>
                  </a:lnTo>
                  <a:lnTo>
                    <a:pt x="742" y="62"/>
                  </a:lnTo>
                  <a:lnTo>
                    <a:pt x="742" y="108"/>
                  </a:lnTo>
                  <a:close/>
                  <a:moveTo>
                    <a:pt x="252" y="312"/>
                  </a:moveTo>
                  <a:lnTo>
                    <a:pt x="194" y="312"/>
                  </a:lnTo>
                  <a:lnTo>
                    <a:pt x="194" y="202"/>
                  </a:lnTo>
                  <a:lnTo>
                    <a:pt x="164" y="202"/>
                  </a:lnTo>
                  <a:lnTo>
                    <a:pt x="164" y="312"/>
                  </a:lnTo>
                  <a:lnTo>
                    <a:pt x="104" y="312"/>
                  </a:lnTo>
                  <a:lnTo>
                    <a:pt x="104" y="62"/>
                  </a:lnTo>
                  <a:lnTo>
                    <a:pt x="164" y="62"/>
                  </a:lnTo>
                  <a:lnTo>
                    <a:pt x="164" y="158"/>
                  </a:lnTo>
                  <a:lnTo>
                    <a:pt x="194" y="158"/>
                  </a:lnTo>
                  <a:lnTo>
                    <a:pt x="194" y="62"/>
                  </a:lnTo>
                  <a:lnTo>
                    <a:pt x="252" y="62"/>
                  </a:lnTo>
                  <a:lnTo>
                    <a:pt x="252" y="312"/>
                  </a:lnTo>
                  <a:close/>
                  <a:moveTo>
                    <a:pt x="2328" y="0"/>
                  </a:moveTo>
                  <a:lnTo>
                    <a:pt x="0" y="0"/>
                  </a:lnTo>
                  <a:lnTo>
                    <a:pt x="0" y="384"/>
                  </a:lnTo>
                  <a:lnTo>
                    <a:pt x="2328" y="384"/>
                  </a:lnTo>
                  <a:lnTo>
                    <a:pt x="2328" y="0"/>
                  </a:lnTo>
                  <a:close/>
                  <a:moveTo>
                    <a:pt x="1108" y="142"/>
                  </a:moveTo>
                  <a:lnTo>
                    <a:pt x="1108" y="224"/>
                  </a:lnTo>
                  <a:lnTo>
                    <a:pt x="1108" y="224"/>
                  </a:lnTo>
                  <a:lnTo>
                    <a:pt x="1110" y="232"/>
                  </a:lnTo>
                  <a:lnTo>
                    <a:pt x="1112" y="238"/>
                  </a:lnTo>
                  <a:lnTo>
                    <a:pt x="1118" y="240"/>
                  </a:lnTo>
                  <a:lnTo>
                    <a:pt x="1126" y="240"/>
                  </a:lnTo>
                  <a:lnTo>
                    <a:pt x="1136" y="240"/>
                  </a:lnTo>
                  <a:lnTo>
                    <a:pt x="1136" y="124"/>
                  </a:lnTo>
                  <a:lnTo>
                    <a:pt x="1126" y="124"/>
                  </a:lnTo>
                  <a:lnTo>
                    <a:pt x="1126" y="124"/>
                  </a:lnTo>
                  <a:lnTo>
                    <a:pt x="1118" y="126"/>
                  </a:lnTo>
                  <a:lnTo>
                    <a:pt x="1112" y="128"/>
                  </a:lnTo>
                  <a:lnTo>
                    <a:pt x="1110" y="134"/>
                  </a:lnTo>
                  <a:lnTo>
                    <a:pt x="1108" y="142"/>
                  </a:lnTo>
                  <a:close/>
                  <a:moveTo>
                    <a:pt x="1202" y="124"/>
                  </a:moveTo>
                  <a:lnTo>
                    <a:pt x="1194" y="124"/>
                  </a:lnTo>
                  <a:lnTo>
                    <a:pt x="1194" y="240"/>
                  </a:lnTo>
                  <a:lnTo>
                    <a:pt x="1202" y="240"/>
                  </a:lnTo>
                  <a:lnTo>
                    <a:pt x="1202" y="240"/>
                  </a:lnTo>
                  <a:lnTo>
                    <a:pt x="1210" y="240"/>
                  </a:lnTo>
                  <a:lnTo>
                    <a:pt x="1216" y="238"/>
                  </a:lnTo>
                  <a:lnTo>
                    <a:pt x="1220" y="232"/>
                  </a:lnTo>
                  <a:lnTo>
                    <a:pt x="1220" y="222"/>
                  </a:lnTo>
                  <a:lnTo>
                    <a:pt x="1220" y="142"/>
                  </a:lnTo>
                  <a:lnTo>
                    <a:pt x="1220" y="142"/>
                  </a:lnTo>
                  <a:lnTo>
                    <a:pt x="1220" y="134"/>
                  </a:lnTo>
                  <a:lnTo>
                    <a:pt x="1216" y="128"/>
                  </a:lnTo>
                  <a:lnTo>
                    <a:pt x="1210" y="126"/>
                  </a:lnTo>
                  <a:lnTo>
                    <a:pt x="1202" y="124"/>
                  </a:lnTo>
                  <a:close/>
                  <a:moveTo>
                    <a:pt x="2148" y="202"/>
                  </a:moveTo>
                  <a:lnTo>
                    <a:pt x="2134" y="202"/>
                  </a:lnTo>
                  <a:lnTo>
                    <a:pt x="2134" y="268"/>
                  </a:lnTo>
                  <a:lnTo>
                    <a:pt x="2148" y="268"/>
                  </a:lnTo>
                  <a:lnTo>
                    <a:pt x="2148" y="268"/>
                  </a:lnTo>
                  <a:lnTo>
                    <a:pt x="2156" y="266"/>
                  </a:lnTo>
                  <a:lnTo>
                    <a:pt x="2162" y="264"/>
                  </a:lnTo>
                  <a:lnTo>
                    <a:pt x="2164" y="258"/>
                  </a:lnTo>
                  <a:lnTo>
                    <a:pt x="2166" y="250"/>
                  </a:lnTo>
                  <a:lnTo>
                    <a:pt x="2166" y="220"/>
                  </a:lnTo>
                  <a:lnTo>
                    <a:pt x="2166" y="220"/>
                  </a:lnTo>
                  <a:lnTo>
                    <a:pt x="2164" y="212"/>
                  </a:lnTo>
                  <a:lnTo>
                    <a:pt x="2162" y="206"/>
                  </a:lnTo>
                  <a:lnTo>
                    <a:pt x="2156" y="204"/>
                  </a:lnTo>
                  <a:lnTo>
                    <a:pt x="2148" y="2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2" name="Freeform 27"/>
            <p:cNvSpPr>
              <a:spLocks/>
            </p:cNvSpPr>
            <p:nvPr userDrawn="1"/>
          </p:nvSpPr>
          <p:spPr bwMode="auto">
            <a:xfrm>
              <a:off x="2536" y="2549"/>
              <a:ext cx="28" cy="116"/>
            </a:xfrm>
            <a:custGeom>
              <a:avLst/>
              <a:gdLst>
                <a:gd name="T0" fmla="*/ 0 w 28"/>
                <a:gd name="T1" fmla="*/ 18 h 116"/>
                <a:gd name="T2" fmla="*/ 0 w 28"/>
                <a:gd name="T3" fmla="*/ 100 h 116"/>
                <a:gd name="T4" fmla="*/ 0 w 28"/>
                <a:gd name="T5" fmla="*/ 100 h 116"/>
                <a:gd name="T6" fmla="*/ 2 w 28"/>
                <a:gd name="T7" fmla="*/ 108 h 116"/>
                <a:gd name="T8" fmla="*/ 4 w 28"/>
                <a:gd name="T9" fmla="*/ 114 h 116"/>
                <a:gd name="T10" fmla="*/ 10 w 28"/>
                <a:gd name="T11" fmla="*/ 116 h 116"/>
                <a:gd name="T12" fmla="*/ 18 w 28"/>
                <a:gd name="T13" fmla="*/ 116 h 116"/>
                <a:gd name="T14" fmla="*/ 28 w 28"/>
                <a:gd name="T15" fmla="*/ 116 h 116"/>
                <a:gd name="T16" fmla="*/ 28 w 28"/>
                <a:gd name="T17" fmla="*/ 0 h 116"/>
                <a:gd name="T18" fmla="*/ 18 w 28"/>
                <a:gd name="T19" fmla="*/ 0 h 116"/>
                <a:gd name="T20" fmla="*/ 18 w 28"/>
                <a:gd name="T21" fmla="*/ 0 h 116"/>
                <a:gd name="T22" fmla="*/ 10 w 28"/>
                <a:gd name="T23" fmla="*/ 2 h 116"/>
                <a:gd name="T24" fmla="*/ 4 w 28"/>
                <a:gd name="T25" fmla="*/ 4 h 116"/>
                <a:gd name="T26" fmla="*/ 2 w 28"/>
                <a:gd name="T27" fmla="*/ 10 h 116"/>
                <a:gd name="T28" fmla="*/ 0 w 28"/>
                <a:gd name="T29" fmla="*/ 1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8" h="116">
                  <a:moveTo>
                    <a:pt x="0" y="18"/>
                  </a:moveTo>
                  <a:lnTo>
                    <a:pt x="0" y="100"/>
                  </a:lnTo>
                  <a:lnTo>
                    <a:pt x="0" y="100"/>
                  </a:lnTo>
                  <a:lnTo>
                    <a:pt x="2" y="108"/>
                  </a:lnTo>
                  <a:lnTo>
                    <a:pt x="4" y="114"/>
                  </a:lnTo>
                  <a:lnTo>
                    <a:pt x="10" y="116"/>
                  </a:lnTo>
                  <a:lnTo>
                    <a:pt x="18" y="116"/>
                  </a:lnTo>
                  <a:lnTo>
                    <a:pt x="28" y="116"/>
                  </a:lnTo>
                  <a:lnTo>
                    <a:pt x="28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4" y="4"/>
                  </a:lnTo>
                  <a:lnTo>
                    <a:pt x="2" y="10"/>
                  </a:lnTo>
                  <a:lnTo>
                    <a:pt x="0" y="18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3" name="Freeform 28"/>
            <p:cNvSpPr>
              <a:spLocks/>
            </p:cNvSpPr>
            <p:nvPr userDrawn="1"/>
          </p:nvSpPr>
          <p:spPr bwMode="auto">
            <a:xfrm>
              <a:off x="2622" y="2549"/>
              <a:ext cx="26" cy="116"/>
            </a:xfrm>
            <a:custGeom>
              <a:avLst/>
              <a:gdLst>
                <a:gd name="T0" fmla="*/ 8 w 26"/>
                <a:gd name="T1" fmla="*/ 0 h 116"/>
                <a:gd name="T2" fmla="*/ 0 w 26"/>
                <a:gd name="T3" fmla="*/ 0 h 116"/>
                <a:gd name="T4" fmla="*/ 0 w 26"/>
                <a:gd name="T5" fmla="*/ 116 h 116"/>
                <a:gd name="T6" fmla="*/ 8 w 26"/>
                <a:gd name="T7" fmla="*/ 116 h 116"/>
                <a:gd name="T8" fmla="*/ 8 w 26"/>
                <a:gd name="T9" fmla="*/ 116 h 116"/>
                <a:gd name="T10" fmla="*/ 16 w 26"/>
                <a:gd name="T11" fmla="*/ 116 h 116"/>
                <a:gd name="T12" fmla="*/ 22 w 26"/>
                <a:gd name="T13" fmla="*/ 114 h 116"/>
                <a:gd name="T14" fmla="*/ 26 w 26"/>
                <a:gd name="T15" fmla="*/ 108 h 116"/>
                <a:gd name="T16" fmla="*/ 26 w 26"/>
                <a:gd name="T17" fmla="*/ 98 h 116"/>
                <a:gd name="T18" fmla="*/ 26 w 26"/>
                <a:gd name="T19" fmla="*/ 18 h 116"/>
                <a:gd name="T20" fmla="*/ 26 w 26"/>
                <a:gd name="T21" fmla="*/ 18 h 116"/>
                <a:gd name="T22" fmla="*/ 26 w 26"/>
                <a:gd name="T23" fmla="*/ 10 h 116"/>
                <a:gd name="T24" fmla="*/ 22 w 26"/>
                <a:gd name="T25" fmla="*/ 4 h 116"/>
                <a:gd name="T26" fmla="*/ 16 w 26"/>
                <a:gd name="T27" fmla="*/ 2 h 116"/>
                <a:gd name="T28" fmla="*/ 8 w 26"/>
                <a:gd name="T2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6" h="116">
                  <a:moveTo>
                    <a:pt x="8" y="0"/>
                  </a:moveTo>
                  <a:lnTo>
                    <a:pt x="0" y="0"/>
                  </a:lnTo>
                  <a:lnTo>
                    <a:pt x="0" y="116"/>
                  </a:lnTo>
                  <a:lnTo>
                    <a:pt x="8" y="116"/>
                  </a:lnTo>
                  <a:lnTo>
                    <a:pt x="8" y="116"/>
                  </a:lnTo>
                  <a:lnTo>
                    <a:pt x="16" y="116"/>
                  </a:lnTo>
                  <a:lnTo>
                    <a:pt x="22" y="114"/>
                  </a:lnTo>
                  <a:lnTo>
                    <a:pt x="26" y="108"/>
                  </a:lnTo>
                  <a:lnTo>
                    <a:pt x="26" y="98"/>
                  </a:lnTo>
                  <a:lnTo>
                    <a:pt x="26" y="18"/>
                  </a:lnTo>
                  <a:lnTo>
                    <a:pt x="26" y="18"/>
                  </a:lnTo>
                  <a:lnTo>
                    <a:pt x="26" y="10"/>
                  </a:lnTo>
                  <a:lnTo>
                    <a:pt x="22" y="4"/>
                  </a:lnTo>
                  <a:lnTo>
                    <a:pt x="16" y="2"/>
                  </a:lnTo>
                  <a:lnTo>
                    <a:pt x="8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  <p:sp>
          <p:nvSpPr>
            <p:cNvPr id="24" name="Freeform 29"/>
            <p:cNvSpPr>
              <a:spLocks/>
            </p:cNvSpPr>
            <p:nvPr userDrawn="1"/>
          </p:nvSpPr>
          <p:spPr bwMode="auto">
            <a:xfrm>
              <a:off x="3562" y="2627"/>
              <a:ext cx="32" cy="66"/>
            </a:xfrm>
            <a:custGeom>
              <a:avLst/>
              <a:gdLst>
                <a:gd name="T0" fmla="*/ 14 w 32"/>
                <a:gd name="T1" fmla="*/ 0 h 66"/>
                <a:gd name="T2" fmla="*/ 0 w 32"/>
                <a:gd name="T3" fmla="*/ 0 h 66"/>
                <a:gd name="T4" fmla="*/ 0 w 32"/>
                <a:gd name="T5" fmla="*/ 66 h 66"/>
                <a:gd name="T6" fmla="*/ 14 w 32"/>
                <a:gd name="T7" fmla="*/ 66 h 66"/>
                <a:gd name="T8" fmla="*/ 14 w 32"/>
                <a:gd name="T9" fmla="*/ 66 h 66"/>
                <a:gd name="T10" fmla="*/ 22 w 32"/>
                <a:gd name="T11" fmla="*/ 64 h 66"/>
                <a:gd name="T12" fmla="*/ 28 w 32"/>
                <a:gd name="T13" fmla="*/ 62 h 66"/>
                <a:gd name="T14" fmla="*/ 30 w 32"/>
                <a:gd name="T15" fmla="*/ 56 h 66"/>
                <a:gd name="T16" fmla="*/ 32 w 32"/>
                <a:gd name="T17" fmla="*/ 48 h 66"/>
                <a:gd name="T18" fmla="*/ 32 w 32"/>
                <a:gd name="T19" fmla="*/ 18 h 66"/>
                <a:gd name="T20" fmla="*/ 32 w 32"/>
                <a:gd name="T21" fmla="*/ 18 h 66"/>
                <a:gd name="T22" fmla="*/ 30 w 32"/>
                <a:gd name="T23" fmla="*/ 10 h 66"/>
                <a:gd name="T24" fmla="*/ 28 w 32"/>
                <a:gd name="T25" fmla="*/ 4 h 66"/>
                <a:gd name="T26" fmla="*/ 22 w 32"/>
                <a:gd name="T27" fmla="*/ 2 h 66"/>
                <a:gd name="T28" fmla="*/ 14 w 32"/>
                <a:gd name="T29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2" h="66">
                  <a:moveTo>
                    <a:pt x="14" y="0"/>
                  </a:moveTo>
                  <a:lnTo>
                    <a:pt x="0" y="0"/>
                  </a:lnTo>
                  <a:lnTo>
                    <a:pt x="0" y="66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22" y="64"/>
                  </a:lnTo>
                  <a:lnTo>
                    <a:pt x="28" y="62"/>
                  </a:lnTo>
                  <a:lnTo>
                    <a:pt x="30" y="56"/>
                  </a:lnTo>
                  <a:lnTo>
                    <a:pt x="32" y="4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0" y="10"/>
                  </a:lnTo>
                  <a:lnTo>
                    <a:pt x="28" y="4"/>
                  </a:lnTo>
                  <a:lnTo>
                    <a:pt x="22" y="2"/>
                  </a:lnTo>
                  <a:lnTo>
                    <a:pt x="14" y="0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ru-RU">
                <a:solidFill>
                  <a:srgbClr val="3C3C3C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870412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Разделите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87337" y="2528900"/>
            <a:ext cx="8569325" cy="697303"/>
          </a:xfrm>
        </p:spPr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ru-RU" dirty="0" smtClean="0"/>
              <a:t>Введите название раздела (максимум две строки)</a:t>
            </a:r>
            <a:endParaRPr lang="en-US" dirty="0"/>
          </a:p>
        </p:txBody>
      </p:sp>
      <p:cxnSp>
        <p:nvCxnSpPr>
          <p:cNvPr id="4" name="Прямая соединительная линия 7"/>
          <p:cNvCxnSpPr/>
          <p:nvPr/>
        </p:nvCxnSpPr>
        <p:spPr>
          <a:xfrm>
            <a:off x="287338" y="3429000"/>
            <a:ext cx="8569325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9"/>
          <p:cNvCxnSpPr/>
          <p:nvPr/>
        </p:nvCxnSpPr>
        <p:spPr>
          <a:xfrm>
            <a:off x="8566352" y="6522320"/>
            <a:ext cx="0" cy="144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10"/>
          <p:cNvSpPr/>
          <p:nvPr/>
        </p:nvSpPr>
        <p:spPr>
          <a:xfrm>
            <a:off x="8633637" y="6469800"/>
            <a:ext cx="304660" cy="173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pPr algn="l"/>
            <a:fld id="{AF528B6D-1001-487C-8FFE-85B114390330}" type="slidenum">
              <a:rPr lang="ru-RU" sz="1600" b="1" smtClean="0">
                <a:solidFill>
                  <a:schemeClr val="tx1"/>
                </a:solidFill>
              </a:rPr>
              <a:pPr algn="l"/>
              <a:t>‹#›</a:t>
            </a:fld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38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87337" y="3717031"/>
            <a:ext cx="8569325" cy="2304257"/>
          </a:xfrm>
        </p:spPr>
        <p:txBody>
          <a:bodyPr vert="horz" lIns="0" tIns="0" rIns="0" bIns="0" rtlCol="0">
            <a:noAutofit/>
          </a:bodyPr>
          <a:lstStyle>
            <a:lvl1pPr>
              <a:defRPr lang="ru-RU" sz="2200" b="0" dirty="0"/>
            </a:lvl1pPr>
          </a:lstStyle>
          <a:p>
            <a:pPr lvl="0"/>
            <a:r>
              <a:rPr lang="ru-RU" dirty="0" smtClean="0"/>
              <a:t>Текст</a:t>
            </a:r>
            <a:endParaRPr lang="ru-RU" dirty="0"/>
          </a:p>
        </p:txBody>
      </p:sp>
      <p:sp>
        <p:nvSpPr>
          <p:cNvPr id="11" name="LogoRus"/>
          <p:cNvSpPr/>
          <p:nvPr/>
        </p:nvSpPr>
        <p:spPr>
          <a:xfrm>
            <a:off x="5436096" y="6465926"/>
            <a:ext cx="3096717" cy="24686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 algn="r"/>
            <a:r>
              <a:rPr lang="ru-RU" sz="1600" noProof="0" dirty="0" smtClean="0">
                <a:solidFill>
                  <a:schemeClr val="bg2"/>
                </a:solidFill>
              </a:rPr>
              <a:t>Газпром нефть</a:t>
            </a:r>
            <a:endParaRPr lang="ru-RU" sz="1600" noProof="0" dirty="0">
              <a:solidFill>
                <a:schemeClr val="bg2"/>
              </a:solidFill>
            </a:endParaRPr>
          </a:p>
        </p:txBody>
      </p:sp>
      <p:sp>
        <p:nvSpPr>
          <p:cNvPr id="12" name="Footer"/>
          <p:cNvSpPr/>
          <p:nvPr/>
        </p:nvSpPr>
        <p:spPr>
          <a:xfrm>
            <a:off x="298896" y="6440488"/>
            <a:ext cx="5137200" cy="25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/>
            <a:endParaRPr lang="ru-RU" sz="1600" dirty="0" smtClean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36183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Выво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287339" y="2708919"/>
            <a:ext cx="8569324" cy="3631556"/>
          </a:xfrm>
        </p:spPr>
        <p:txBody>
          <a:bodyPr vert="horz" lIns="0" tIns="0" rIns="0" bIns="0" rtlCol="0">
            <a:noAutofit/>
          </a:bodyPr>
          <a:lstStyle>
            <a:lvl1pPr>
              <a:defRPr lang="ru-RU" sz="2200" b="0" dirty="0"/>
            </a:lvl1pPr>
          </a:lstStyle>
          <a:p>
            <a:pPr lvl="0"/>
            <a:r>
              <a:rPr lang="ru-RU" dirty="0" smtClean="0"/>
              <a:t>Текст</a:t>
            </a:r>
            <a:endParaRPr lang="ru-RU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7" y="1952836"/>
            <a:ext cx="8569325" cy="680297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 b="1" cap="all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 smtClean="0"/>
              <a:t>Введите заголовок</a:t>
            </a:r>
            <a:endParaRPr lang="ru-RU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8566352" y="6522320"/>
            <a:ext cx="0" cy="144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Прямоугольник 6"/>
          <p:cNvSpPr/>
          <p:nvPr/>
        </p:nvSpPr>
        <p:spPr>
          <a:xfrm>
            <a:off x="8633637" y="6469800"/>
            <a:ext cx="304660" cy="173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pPr algn="l"/>
            <a:fld id="{AF528B6D-1001-487C-8FFE-85B114390330}" type="slidenum">
              <a:rPr lang="ru-RU" sz="1600" b="1" smtClean="0">
                <a:solidFill>
                  <a:schemeClr val="tx1"/>
                </a:solidFill>
              </a:rPr>
              <a:pPr algn="l"/>
              <a:t>‹#›</a:t>
            </a:fld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12" name="LogoRus"/>
          <p:cNvSpPr/>
          <p:nvPr/>
        </p:nvSpPr>
        <p:spPr>
          <a:xfrm>
            <a:off x="5436096" y="6465926"/>
            <a:ext cx="3096717" cy="24686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 algn="r"/>
            <a:r>
              <a:rPr lang="ru-RU" sz="1600" noProof="0" dirty="0" smtClean="0">
                <a:solidFill>
                  <a:schemeClr val="bg2"/>
                </a:solidFill>
              </a:rPr>
              <a:t>Газпром нефть</a:t>
            </a:r>
            <a:endParaRPr lang="ru-RU" sz="1600" noProof="0" dirty="0">
              <a:solidFill>
                <a:schemeClr val="bg2"/>
              </a:solidFill>
            </a:endParaRPr>
          </a:p>
        </p:txBody>
      </p:sp>
      <p:sp>
        <p:nvSpPr>
          <p:cNvPr id="8" name="Footer"/>
          <p:cNvSpPr/>
          <p:nvPr/>
        </p:nvSpPr>
        <p:spPr>
          <a:xfrm>
            <a:off x="298896" y="6440488"/>
            <a:ext cx="5137200" cy="25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/>
            <a:endParaRPr lang="ru-RU" sz="1600" dirty="0" smtClean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2101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ru-RU" dirty="0" smtClean="0"/>
              <a:t>Введите заголовок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523880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2600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quarter" idx="11"/>
          </p:nvPr>
        </p:nvSpPr>
        <p:spPr>
          <a:xfrm>
            <a:off x="287338" y="1268413"/>
            <a:ext cx="8569325" cy="50768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679855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9" name="Объект 3"/>
          <p:cNvSpPr>
            <a:spLocks noGrp="1"/>
          </p:cNvSpPr>
          <p:nvPr>
            <p:ph sz="quarter" idx="12"/>
          </p:nvPr>
        </p:nvSpPr>
        <p:spPr>
          <a:xfrm>
            <a:off x="287339" y="1268413"/>
            <a:ext cx="4140200" cy="50768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0" name="Объект 3"/>
          <p:cNvSpPr>
            <a:spLocks noGrp="1"/>
          </p:cNvSpPr>
          <p:nvPr>
            <p:ph sz="quarter" idx="13"/>
          </p:nvPr>
        </p:nvSpPr>
        <p:spPr>
          <a:xfrm>
            <a:off x="4702630" y="1268413"/>
            <a:ext cx="4140200" cy="50768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24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 (верси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87339" y="260350"/>
            <a:ext cx="8569324" cy="60840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2" name="Объект 3"/>
          <p:cNvSpPr>
            <a:spLocks noGrp="1"/>
          </p:cNvSpPr>
          <p:nvPr>
            <p:ph sz="quarter" idx="11"/>
          </p:nvPr>
        </p:nvSpPr>
        <p:spPr>
          <a:xfrm>
            <a:off x="287338" y="1268414"/>
            <a:ext cx="8569325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3"/>
          </p:nvPr>
        </p:nvSpPr>
        <p:spPr>
          <a:xfrm>
            <a:off x="287338" y="3911600"/>
            <a:ext cx="8569325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312957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текст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vert="horz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8" y="4797425"/>
            <a:ext cx="8569325" cy="1543050"/>
          </a:xfrm>
        </p:spPr>
        <p:txBody>
          <a:bodyPr anchor="t">
            <a:noAutofit/>
          </a:bodyPr>
          <a:lstStyle>
            <a:lvl1pPr algn="ctr">
              <a:spcBef>
                <a:spcPts val="0"/>
              </a:spcBef>
              <a:defRPr sz="2200" b="0" baseline="0">
                <a:solidFill>
                  <a:schemeClr val="accent3"/>
                </a:solidFill>
              </a:defRPr>
            </a:lvl1pPr>
          </a:lstStyle>
          <a:p>
            <a:r>
              <a:rPr lang="ru-RU" dirty="0" smtClean="0"/>
              <a:t>Текст</a:t>
            </a:r>
            <a:endParaRPr lang="ru-RU" dirty="0"/>
          </a:p>
        </p:txBody>
      </p:sp>
      <p:sp>
        <p:nvSpPr>
          <p:cNvPr id="6" name="Rectangle 5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0" name="Объект 3"/>
          <p:cNvSpPr>
            <a:spLocks noGrp="1"/>
          </p:cNvSpPr>
          <p:nvPr>
            <p:ph sz="quarter" idx="11"/>
          </p:nvPr>
        </p:nvSpPr>
        <p:spPr>
          <a:xfrm>
            <a:off x="287338" y="1268414"/>
            <a:ext cx="8569325" cy="280828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09922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лева и два объект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 hasCustomPrompt="1"/>
          </p:nvPr>
        </p:nvSpPr>
        <p:spPr>
          <a:xfrm>
            <a:off x="287340" y="260350"/>
            <a:ext cx="8569324" cy="605514"/>
          </a:xfrm>
        </p:spPr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2" name="Объект 3"/>
          <p:cNvSpPr>
            <a:spLocks noGrp="1"/>
          </p:cNvSpPr>
          <p:nvPr>
            <p:ph sz="quarter" idx="15"/>
          </p:nvPr>
        </p:nvSpPr>
        <p:spPr>
          <a:xfrm>
            <a:off x="287339" y="1268413"/>
            <a:ext cx="4140200" cy="50768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1"/>
          </p:nvPr>
        </p:nvSpPr>
        <p:spPr>
          <a:xfrm>
            <a:off x="4716463" y="1268414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5" name="Объект 3"/>
          <p:cNvSpPr>
            <a:spLocks noGrp="1"/>
          </p:cNvSpPr>
          <p:nvPr>
            <p:ph sz="quarter" idx="13"/>
          </p:nvPr>
        </p:nvSpPr>
        <p:spPr>
          <a:xfrm>
            <a:off x="4716463" y="3911600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857324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права и два объекта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 hasCustomPrompt="1"/>
          </p:nvPr>
        </p:nvSpPr>
        <p:spPr>
          <a:xfrm>
            <a:off x="287339" y="260350"/>
            <a:ext cx="8569324" cy="605514"/>
          </a:xfrm>
        </p:spPr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2" name="Объект 3"/>
          <p:cNvSpPr>
            <a:spLocks noGrp="1"/>
          </p:cNvSpPr>
          <p:nvPr>
            <p:ph sz="quarter" idx="11"/>
          </p:nvPr>
        </p:nvSpPr>
        <p:spPr>
          <a:xfrm>
            <a:off x="287339" y="1268414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3"/>
          </p:nvPr>
        </p:nvSpPr>
        <p:spPr>
          <a:xfrm>
            <a:off x="287339" y="3911600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5"/>
          </p:nvPr>
        </p:nvSpPr>
        <p:spPr>
          <a:xfrm>
            <a:off x="4716463" y="1268413"/>
            <a:ext cx="4140200" cy="50768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13872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 hasCustomPrompt="1"/>
          </p:nvPr>
        </p:nvSpPr>
        <p:spPr>
          <a:xfrm>
            <a:off x="287337" y="260350"/>
            <a:ext cx="8569326" cy="607021"/>
          </a:xfrm>
        </p:spPr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2" name="Объект 3"/>
          <p:cNvSpPr>
            <a:spLocks noGrp="1"/>
          </p:cNvSpPr>
          <p:nvPr>
            <p:ph sz="quarter" idx="16"/>
          </p:nvPr>
        </p:nvSpPr>
        <p:spPr>
          <a:xfrm>
            <a:off x="287339" y="1268413"/>
            <a:ext cx="2663824" cy="50768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7"/>
          </p:nvPr>
        </p:nvSpPr>
        <p:spPr>
          <a:xfrm>
            <a:off x="3240089" y="1268413"/>
            <a:ext cx="2663824" cy="50768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8"/>
          </p:nvPr>
        </p:nvSpPr>
        <p:spPr>
          <a:xfrm>
            <a:off x="6192839" y="1268413"/>
            <a:ext cx="2663824" cy="507682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750015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низу и два объекта сверх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 hasCustomPrompt="1"/>
          </p:nvPr>
        </p:nvSpPr>
        <p:spPr>
          <a:xfrm>
            <a:off x="288000" y="260350"/>
            <a:ext cx="8568000" cy="608400"/>
          </a:xfrm>
        </p:spPr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2" name="Объект 3"/>
          <p:cNvSpPr>
            <a:spLocks noGrp="1"/>
          </p:cNvSpPr>
          <p:nvPr>
            <p:ph sz="quarter" idx="11"/>
          </p:nvPr>
        </p:nvSpPr>
        <p:spPr>
          <a:xfrm>
            <a:off x="4716463" y="1268414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6"/>
          </p:nvPr>
        </p:nvSpPr>
        <p:spPr>
          <a:xfrm>
            <a:off x="287338" y="1268414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7"/>
          </p:nvPr>
        </p:nvSpPr>
        <p:spPr>
          <a:xfrm>
            <a:off x="287337" y="3911600"/>
            <a:ext cx="8569325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535191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сверху и два объекта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>
          <a:xfrm>
            <a:off x="288000" y="260350"/>
            <a:ext cx="8568000" cy="608400"/>
          </a:xfrm>
        </p:spPr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2" name="Объект 3"/>
          <p:cNvSpPr>
            <a:spLocks noGrp="1"/>
          </p:cNvSpPr>
          <p:nvPr>
            <p:ph sz="quarter" idx="17"/>
          </p:nvPr>
        </p:nvSpPr>
        <p:spPr>
          <a:xfrm>
            <a:off x="287337" y="1268413"/>
            <a:ext cx="8569325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1"/>
          </p:nvPr>
        </p:nvSpPr>
        <p:spPr>
          <a:xfrm>
            <a:off x="4716463" y="3911600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6"/>
          </p:nvPr>
        </p:nvSpPr>
        <p:spPr>
          <a:xfrm>
            <a:off x="287338" y="3911600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3119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етыре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 hasCustomPrompt="1"/>
          </p:nvPr>
        </p:nvSpPr>
        <p:spPr>
          <a:xfrm>
            <a:off x="288000" y="260350"/>
            <a:ext cx="8568000" cy="608400"/>
          </a:xfrm>
        </p:spPr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1"/>
          </p:nvPr>
        </p:nvSpPr>
        <p:spPr>
          <a:xfrm>
            <a:off x="4716463" y="1268414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5" name="Объект 3"/>
          <p:cNvSpPr>
            <a:spLocks noGrp="1"/>
          </p:cNvSpPr>
          <p:nvPr>
            <p:ph sz="quarter" idx="16"/>
          </p:nvPr>
        </p:nvSpPr>
        <p:spPr>
          <a:xfrm>
            <a:off x="287338" y="1268414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quarter" idx="17"/>
          </p:nvPr>
        </p:nvSpPr>
        <p:spPr>
          <a:xfrm>
            <a:off x="4716463" y="3911600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quarter" idx="18"/>
          </p:nvPr>
        </p:nvSpPr>
        <p:spPr>
          <a:xfrm>
            <a:off x="287338" y="3911600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404009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исун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4"/>
          <p:cNvSpPr>
            <a:spLocks noGrp="1"/>
          </p:cNvSpPr>
          <p:nvPr>
            <p:ph type="pic" sz="quarter" idx="10" hasCustomPrompt="1"/>
          </p:nvPr>
        </p:nvSpPr>
        <p:spPr>
          <a:xfrm>
            <a:off x="287338" y="1268760"/>
            <a:ext cx="8569325" cy="50616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  <a:endParaRPr lang="ru-RU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9623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рисунок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Рисунок 5"/>
          <p:cNvSpPr>
            <a:spLocks noGrp="1"/>
          </p:cNvSpPr>
          <p:nvPr>
            <p:ph type="pic" sz="quarter" idx="11" hasCustomPrompt="1"/>
          </p:nvPr>
        </p:nvSpPr>
        <p:spPr>
          <a:xfrm>
            <a:off x="4696856" y="1268759"/>
            <a:ext cx="4159807" cy="50616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 baseline="0"/>
            </a:lvl1pPr>
          </a:lstStyle>
          <a:p>
            <a:r>
              <a:rPr lang="ru-RU" dirty="0" smtClean="0"/>
              <a:t>Вставьте рисунок</a:t>
            </a: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9" name="Объект 3"/>
          <p:cNvSpPr>
            <a:spLocks noGrp="1"/>
          </p:cNvSpPr>
          <p:nvPr>
            <p:ph sz="quarter" idx="16"/>
          </p:nvPr>
        </p:nvSpPr>
        <p:spPr>
          <a:xfrm>
            <a:off x="287338" y="1268414"/>
            <a:ext cx="4140200" cy="507682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166981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рисунок сле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288925" y="1268412"/>
            <a:ext cx="4156075" cy="5076825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 hasCustomPrompt="1"/>
          </p:nvPr>
        </p:nvSpPr>
        <p:spPr>
          <a:xfrm>
            <a:off x="287337" y="260350"/>
            <a:ext cx="8569326" cy="607021"/>
          </a:xfrm>
        </p:spPr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9" name="Объект 3"/>
          <p:cNvSpPr>
            <a:spLocks noGrp="1"/>
          </p:cNvSpPr>
          <p:nvPr>
            <p:ph sz="quarter" idx="16"/>
          </p:nvPr>
        </p:nvSpPr>
        <p:spPr>
          <a:xfrm>
            <a:off x="4716463" y="1268414"/>
            <a:ext cx="4140200" cy="507682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828046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рисунок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2" hasCustomPrompt="1"/>
          </p:nvPr>
        </p:nvSpPr>
        <p:spPr>
          <a:xfrm>
            <a:off x="287337" y="3926849"/>
            <a:ext cx="8569325" cy="24048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</p:txBody>
      </p:sp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Объект 3"/>
          <p:cNvSpPr>
            <a:spLocks noGrp="1"/>
          </p:cNvSpPr>
          <p:nvPr>
            <p:ph sz="quarter" idx="17"/>
          </p:nvPr>
        </p:nvSpPr>
        <p:spPr>
          <a:xfrm>
            <a:off x="287337" y="1268413"/>
            <a:ext cx="8569325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24773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три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2" hasCustomPrompt="1"/>
          </p:nvPr>
        </p:nvSpPr>
        <p:spPr>
          <a:xfrm>
            <a:off x="288130" y="3924300"/>
            <a:ext cx="2664000" cy="242093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</p:txBody>
      </p:sp>
      <p:sp>
        <p:nvSpPr>
          <p:cNvPr id="11" name="Рисунок 3"/>
          <p:cNvSpPr>
            <a:spLocks noGrp="1"/>
          </p:cNvSpPr>
          <p:nvPr>
            <p:ph type="pic" sz="quarter" idx="14" hasCustomPrompt="1"/>
          </p:nvPr>
        </p:nvSpPr>
        <p:spPr>
          <a:xfrm>
            <a:off x="3235893" y="3924299"/>
            <a:ext cx="2664000" cy="242093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  <a:p>
            <a:endParaRPr lang="ru-RU" dirty="0"/>
          </a:p>
        </p:txBody>
      </p:sp>
      <p:sp>
        <p:nvSpPr>
          <p:cNvPr id="12" name="Рисунок 3"/>
          <p:cNvSpPr>
            <a:spLocks noGrp="1"/>
          </p:cNvSpPr>
          <p:nvPr>
            <p:ph type="pic" sz="quarter" idx="15" hasCustomPrompt="1"/>
          </p:nvPr>
        </p:nvSpPr>
        <p:spPr>
          <a:xfrm>
            <a:off x="6183656" y="3924299"/>
            <a:ext cx="2664000" cy="242093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  <a:p>
            <a:endParaRPr lang="ru-RU" dirty="0"/>
          </a:p>
        </p:txBody>
      </p:sp>
      <p:sp>
        <p:nvSpPr>
          <p:cNvPr id="5" name="Заголовок 4"/>
          <p:cNvSpPr>
            <a:spLocks noGrp="1"/>
          </p:cNvSpPr>
          <p:nvPr>
            <p:ph type="title" hasCustomPrompt="1"/>
          </p:nvPr>
        </p:nvSpPr>
        <p:spPr>
          <a:xfrm>
            <a:off x="288000" y="260350"/>
            <a:ext cx="8568000" cy="608400"/>
          </a:xfrm>
        </p:spPr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0" name="Объект 3"/>
          <p:cNvSpPr>
            <a:spLocks noGrp="1"/>
          </p:cNvSpPr>
          <p:nvPr>
            <p:ph sz="quarter" idx="17"/>
          </p:nvPr>
        </p:nvSpPr>
        <p:spPr>
          <a:xfrm>
            <a:off x="287337" y="1268413"/>
            <a:ext cx="8569325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86150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 и рисунок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5"/>
          <p:cNvSpPr>
            <a:spLocks noGrp="1"/>
          </p:cNvSpPr>
          <p:nvPr>
            <p:ph type="pic" sz="quarter" idx="12" hasCustomPrompt="1"/>
          </p:nvPr>
        </p:nvSpPr>
        <p:spPr>
          <a:xfrm>
            <a:off x="4696856" y="1268759"/>
            <a:ext cx="4150800" cy="50616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1" name="Объект 3"/>
          <p:cNvSpPr>
            <a:spLocks noGrp="1"/>
          </p:cNvSpPr>
          <p:nvPr>
            <p:ph sz="quarter" idx="16"/>
          </p:nvPr>
        </p:nvSpPr>
        <p:spPr>
          <a:xfrm>
            <a:off x="287338" y="1268414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2" name="Объект 3"/>
          <p:cNvSpPr>
            <a:spLocks noGrp="1"/>
          </p:cNvSpPr>
          <p:nvPr>
            <p:ph sz="quarter" idx="18"/>
          </p:nvPr>
        </p:nvSpPr>
        <p:spPr>
          <a:xfrm>
            <a:off x="287338" y="3911600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788649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объекта и два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4" hasCustomPrompt="1"/>
          </p:nvPr>
        </p:nvSpPr>
        <p:spPr>
          <a:xfrm>
            <a:off x="4696856" y="1268759"/>
            <a:ext cx="4150800" cy="24048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5" hasCustomPrompt="1"/>
          </p:nvPr>
        </p:nvSpPr>
        <p:spPr>
          <a:xfrm>
            <a:off x="4696856" y="3933055"/>
            <a:ext cx="4150800" cy="2394843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6"/>
          </p:nvPr>
        </p:nvSpPr>
        <p:spPr>
          <a:xfrm>
            <a:off x="287338" y="1268414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4" name="Объект 3"/>
          <p:cNvSpPr>
            <a:spLocks noGrp="1"/>
          </p:cNvSpPr>
          <p:nvPr>
            <p:ph sz="quarter" idx="18"/>
          </p:nvPr>
        </p:nvSpPr>
        <p:spPr>
          <a:xfrm>
            <a:off x="287338" y="3911600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7853120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ъект и два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4" hasCustomPrompt="1"/>
          </p:nvPr>
        </p:nvSpPr>
        <p:spPr>
          <a:xfrm>
            <a:off x="4696856" y="1268759"/>
            <a:ext cx="4150800" cy="24048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5" hasCustomPrompt="1"/>
          </p:nvPr>
        </p:nvSpPr>
        <p:spPr>
          <a:xfrm>
            <a:off x="4696856" y="3935675"/>
            <a:ext cx="4150800" cy="24048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</p:txBody>
      </p:sp>
      <p:sp>
        <p:nvSpPr>
          <p:cNvPr id="6" name="Заголовок 5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1" name="Объект 3"/>
          <p:cNvSpPr>
            <a:spLocks noGrp="1"/>
          </p:cNvSpPr>
          <p:nvPr>
            <p:ph sz="quarter" idx="16"/>
          </p:nvPr>
        </p:nvSpPr>
        <p:spPr>
          <a:xfrm>
            <a:off x="287338" y="1268414"/>
            <a:ext cx="4140200" cy="507682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739476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етыре рисун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4" hasCustomPrompt="1"/>
          </p:nvPr>
        </p:nvSpPr>
        <p:spPr>
          <a:xfrm>
            <a:off x="4696856" y="1268759"/>
            <a:ext cx="4150800" cy="24048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  <a:p>
            <a:endParaRPr lang="en-US" dirty="0"/>
          </a:p>
        </p:txBody>
      </p:sp>
      <p:sp>
        <p:nvSpPr>
          <p:cNvPr id="9" name="Рисунок 7"/>
          <p:cNvSpPr>
            <a:spLocks noGrp="1"/>
          </p:cNvSpPr>
          <p:nvPr>
            <p:ph type="pic" sz="quarter" idx="15" hasCustomPrompt="1"/>
          </p:nvPr>
        </p:nvSpPr>
        <p:spPr>
          <a:xfrm>
            <a:off x="4696856" y="3933824"/>
            <a:ext cx="4150800" cy="241149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  <a:p>
            <a:endParaRPr lang="en-US" dirty="0"/>
          </a:p>
        </p:txBody>
      </p:sp>
      <p:sp>
        <p:nvSpPr>
          <p:cNvPr id="7" name="Рисунок 7"/>
          <p:cNvSpPr>
            <a:spLocks noGrp="1"/>
          </p:cNvSpPr>
          <p:nvPr>
            <p:ph type="pic" sz="quarter" idx="16" hasCustomPrompt="1"/>
          </p:nvPr>
        </p:nvSpPr>
        <p:spPr>
          <a:xfrm>
            <a:off x="289110" y="1268759"/>
            <a:ext cx="4150800" cy="24048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  <a:p>
            <a:endParaRPr lang="en-US" dirty="0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7" hasCustomPrompt="1"/>
          </p:nvPr>
        </p:nvSpPr>
        <p:spPr>
          <a:xfrm>
            <a:off x="289110" y="3933824"/>
            <a:ext cx="4150800" cy="2411499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  <a:p>
            <a:endParaRPr lang="en-US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6462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 и текст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87337" y="260350"/>
            <a:ext cx="8569326" cy="607021"/>
          </a:xfrm>
        </p:spPr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1268413"/>
            <a:ext cx="5040312" cy="50403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Объект 3"/>
          <p:cNvSpPr>
            <a:spLocks noGrp="1"/>
          </p:cNvSpPr>
          <p:nvPr>
            <p:ph sz="quarter" idx="16"/>
          </p:nvPr>
        </p:nvSpPr>
        <p:spPr>
          <a:xfrm>
            <a:off x="5616575" y="1268414"/>
            <a:ext cx="3240087" cy="507682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20837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 и два блока текст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1" hasCustomPrompt="1"/>
          </p:nvPr>
        </p:nvSpPr>
        <p:spPr>
          <a:xfrm>
            <a:off x="287338" y="1987020"/>
            <a:ext cx="5040312" cy="4355888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текст, или вставьте объект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6" hasCustomPrompt="1"/>
          </p:nvPr>
        </p:nvSpPr>
        <p:spPr>
          <a:xfrm>
            <a:off x="287338" y="1267003"/>
            <a:ext cx="5040745" cy="576001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400" b="1" baseline="0"/>
            </a:lvl1pPr>
          </a:lstStyle>
          <a:p>
            <a:pPr lvl="0"/>
            <a:r>
              <a:rPr lang="ru-RU" dirty="0" smtClean="0"/>
              <a:t>Вставьте заголовок</a:t>
            </a:r>
          </a:p>
        </p:txBody>
      </p:sp>
      <p:cxnSp>
        <p:nvCxnSpPr>
          <p:cNvPr id="16" name="Прямая соединительная линия 15"/>
          <p:cNvCxnSpPr/>
          <p:nvPr/>
        </p:nvCxnSpPr>
        <p:spPr>
          <a:xfrm>
            <a:off x="287338" y="1931946"/>
            <a:ext cx="504074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0" name="Объект 3"/>
          <p:cNvSpPr>
            <a:spLocks noGrp="1"/>
          </p:cNvSpPr>
          <p:nvPr>
            <p:ph sz="quarter" idx="18"/>
          </p:nvPr>
        </p:nvSpPr>
        <p:spPr>
          <a:xfrm>
            <a:off x="5616575" y="1268414"/>
            <a:ext cx="3240087" cy="334803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1" name="Объект 3"/>
          <p:cNvSpPr>
            <a:spLocks noGrp="1"/>
          </p:cNvSpPr>
          <p:nvPr>
            <p:ph sz="quarter" idx="19"/>
          </p:nvPr>
        </p:nvSpPr>
        <p:spPr>
          <a:xfrm>
            <a:off x="5616575" y="4833938"/>
            <a:ext cx="3240087" cy="15113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11781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87337" y="260350"/>
            <a:ext cx="8569326" cy="607021"/>
          </a:xfrm>
        </p:spPr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8" name="Rectangle 7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9" name="Объект 3"/>
          <p:cNvSpPr>
            <a:spLocks noGrp="1"/>
          </p:cNvSpPr>
          <p:nvPr>
            <p:ph sz="quarter" idx="16"/>
          </p:nvPr>
        </p:nvSpPr>
        <p:spPr>
          <a:xfrm>
            <a:off x="287338" y="1268414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1" name="Объект 3"/>
          <p:cNvSpPr>
            <a:spLocks noGrp="1"/>
          </p:cNvSpPr>
          <p:nvPr>
            <p:ph sz="quarter" idx="20"/>
          </p:nvPr>
        </p:nvSpPr>
        <p:spPr>
          <a:xfrm>
            <a:off x="287338" y="3911600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21"/>
          </p:nvPr>
        </p:nvSpPr>
        <p:spPr>
          <a:xfrm>
            <a:off x="4716463" y="1268414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quarter" idx="22"/>
          </p:nvPr>
        </p:nvSpPr>
        <p:spPr>
          <a:xfrm>
            <a:off x="4716463" y="3911600"/>
            <a:ext cx="4140200" cy="2413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0548868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1268413"/>
            <a:ext cx="8569325" cy="5040312"/>
          </a:xfrm>
        </p:spPr>
        <p:txBody>
          <a:bodyPr>
            <a:noAutofit/>
          </a:bodyPr>
          <a:lstStyle>
            <a:lvl1pPr>
              <a:defRPr sz="2200" b="0"/>
            </a:lvl1pPr>
          </a:lstStyle>
          <a:p>
            <a:r>
              <a:rPr lang="ru-RU" dirty="0" smtClean="0"/>
              <a:t>Вставьте рисунок</a:t>
            </a:r>
            <a:endParaRPr lang="ru-RU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2" hasCustomPrompt="1"/>
          </p:nvPr>
        </p:nvSpPr>
        <p:spPr>
          <a:xfrm>
            <a:off x="467148" y="4545014"/>
            <a:ext cx="5581227" cy="1583418"/>
          </a:xfrm>
          <a:solidFill>
            <a:srgbClr val="FFFFFF">
              <a:alpha val="80000"/>
            </a:srgbClr>
          </a:solidFill>
        </p:spPr>
        <p:txBody>
          <a:bodyPr lIns="144000" tIns="108000" rIns="72000" bIns="72000">
            <a:noAutofit/>
          </a:bodyPr>
          <a:lstStyle>
            <a:lvl1pPr>
              <a:spcBef>
                <a:spcPts val="0"/>
              </a:spcBef>
              <a:defRPr sz="2200" b="0" baseline="0"/>
            </a:lvl1pPr>
          </a:lstStyle>
          <a:p>
            <a:r>
              <a:rPr lang="ru-RU" dirty="0" smtClean="0"/>
              <a:t>Введите текст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78233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Два рисунка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5" name="Рисунок 4"/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1268413"/>
            <a:ext cx="4157662" cy="33131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  <a:p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2" hasCustomPrompt="1"/>
          </p:nvPr>
        </p:nvSpPr>
        <p:spPr>
          <a:xfrm>
            <a:off x="4699000" y="1268413"/>
            <a:ext cx="4157663" cy="3313112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  <a:p>
            <a:endParaRPr lang="ru-RU" dirty="0"/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 hasCustomPrompt="1"/>
          </p:nvPr>
        </p:nvSpPr>
        <p:spPr>
          <a:xfrm>
            <a:off x="287338" y="4830564"/>
            <a:ext cx="4157662" cy="151130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200" b="0"/>
            </a:lvl1pPr>
          </a:lstStyle>
          <a:p>
            <a:r>
              <a:rPr lang="ru-RU" dirty="0" smtClean="0"/>
              <a:t>Введите текст</a:t>
            </a:r>
            <a:endParaRPr lang="ru-RU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0" y="4830564"/>
            <a:ext cx="4157663" cy="151130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200" b="0"/>
            </a:lvl1pPr>
          </a:lstStyle>
          <a:p>
            <a:r>
              <a:rPr lang="ru-RU" dirty="0" smtClean="0"/>
              <a:t>Введите текст</a:t>
            </a:r>
            <a:endParaRPr lang="ru-RU" dirty="0"/>
          </a:p>
        </p:txBody>
      </p:sp>
      <p:sp>
        <p:nvSpPr>
          <p:cNvPr id="10" name="Rectangle 9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9941633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ри рисунка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20" name="Рисунок 19"/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1268413"/>
            <a:ext cx="2681287" cy="33131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  <a:p>
            <a:endParaRPr lang="ru-RU" dirty="0"/>
          </a:p>
        </p:txBody>
      </p:sp>
      <p:sp>
        <p:nvSpPr>
          <p:cNvPr id="22" name="Рисунок 21"/>
          <p:cNvSpPr>
            <a:spLocks noGrp="1"/>
          </p:cNvSpPr>
          <p:nvPr>
            <p:ph type="pic" sz="quarter" idx="12" hasCustomPrompt="1"/>
          </p:nvPr>
        </p:nvSpPr>
        <p:spPr>
          <a:xfrm>
            <a:off x="3240088" y="1268413"/>
            <a:ext cx="2663825" cy="33131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  <a:p>
            <a:endParaRPr lang="ru-RU" dirty="0"/>
          </a:p>
        </p:txBody>
      </p:sp>
      <p:sp>
        <p:nvSpPr>
          <p:cNvPr id="24" name="Рисунок 23"/>
          <p:cNvSpPr>
            <a:spLocks noGrp="1"/>
          </p:cNvSpPr>
          <p:nvPr>
            <p:ph type="pic" sz="quarter" idx="13" hasCustomPrompt="1"/>
          </p:nvPr>
        </p:nvSpPr>
        <p:spPr>
          <a:xfrm>
            <a:off x="6175375" y="1268413"/>
            <a:ext cx="2681288" cy="3313112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</a:lstStyle>
          <a:p>
            <a:r>
              <a:rPr lang="ru-RU" dirty="0" smtClean="0"/>
              <a:t>Вставьте рисунок</a:t>
            </a:r>
          </a:p>
          <a:p>
            <a:endParaRPr lang="ru-RU" dirty="0"/>
          </a:p>
        </p:txBody>
      </p:sp>
      <p:sp>
        <p:nvSpPr>
          <p:cNvPr id="26" name="Текст 25"/>
          <p:cNvSpPr>
            <a:spLocks noGrp="1"/>
          </p:cNvSpPr>
          <p:nvPr>
            <p:ph type="body" sz="quarter" idx="14" hasCustomPrompt="1"/>
          </p:nvPr>
        </p:nvSpPr>
        <p:spPr>
          <a:xfrm>
            <a:off x="287338" y="4833938"/>
            <a:ext cx="2681287" cy="1511299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2200" b="0"/>
            </a:lvl1pPr>
          </a:lstStyle>
          <a:p>
            <a:r>
              <a:rPr lang="ru-RU" dirty="0" smtClean="0"/>
              <a:t>Введите текст</a:t>
            </a:r>
            <a:endParaRPr lang="ru-RU" dirty="0"/>
          </a:p>
        </p:txBody>
      </p:sp>
      <p:sp>
        <p:nvSpPr>
          <p:cNvPr id="28" name="Текст 27"/>
          <p:cNvSpPr>
            <a:spLocks noGrp="1"/>
          </p:cNvSpPr>
          <p:nvPr>
            <p:ph type="body" sz="quarter" idx="15" hasCustomPrompt="1"/>
          </p:nvPr>
        </p:nvSpPr>
        <p:spPr>
          <a:xfrm>
            <a:off x="3240088" y="4833938"/>
            <a:ext cx="2663825" cy="1511299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2200" b="0"/>
            </a:lvl1pPr>
          </a:lstStyle>
          <a:p>
            <a:r>
              <a:rPr lang="ru-RU" dirty="0" smtClean="0"/>
              <a:t>Введите текст</a:t>
            </a:r>
            <a:endParaRPr lang="ru-RU" dirty="0"/>
          </a:p>
        </p:txBody>
      </p:sp>
      <p:sp>
        <p:nvSpPr>
          <p:cNvPr id="30" name="Текст 29"/>
          <p:cNvSpPr>
            <a:spLocks noGrp="1"/>
          </p:cNvSpPr>
          <p:nvPr>
            <p:ph type="body" sz="quarter" idx="16" hasCustomPrompt="1"/>
          </p:nvPr>
        </p:nvSpPr>
        <p:spPr>
          <a:xfrm>
            <a:off x="6175375" y="4833938"/>
            <a:ext cx="2681288" cy="1511299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2200" b="0" baseline="0"/>
            </a:lvl1pPr>
          </a:lstStyle>
          <a:p>
            <a:r>
              <a:rPr lang="ru-RU" dirty="0" smtClean="0"/>
              <a:t>Введите текст</a:t>
            </a:r>
            <a:endParaRPr lang="ru-RU" dirty="0"/>
          </a:p>
        </p:txBody>
      </p:sp>
      <p:sp>
        <p:nvSpPr>
          <p:cNvPr id="11" name="Rectangle 10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6991182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 блоков текс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1268412"/>
            <a:ext cx="4157662" cy="15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8" y="3051174"/>
            <a:ext cx="4157662" cy="15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 hasCustomPrompt="1"/>
          </p:nvPr>
        </p:nvSpPr>
        <p:spPr>
          <a:xfrm>
            <a:off x="287338" y="4833937"/>
            <a:ext cx="4157662" cy="15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</a:t>
            </a: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0" y="1268412"/>
            <a:ext cx="4157663" cy="15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</a:t>
            </a: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15" hasCustomPrompt="1"/>
          </p:nvPr>
        </p:nvSpPr>
        <p:spPr>
          <a:xfrm>
            <a:off x="4699000" y="3051174"/>
            <a:ext cx="4157663" cy="15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</a:t>
            </a: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0" y="4833936"/>
            <a:ext cx="4157663" cy="1512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</a:t>
            </a:r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287338" y="2915793"/>
            <a:ext cx="4140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4716463" y="2915793"/>
            <a:ext cx="4140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287338" y="4698555"/>
            <a:ext cx="4140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4716463" y="4698555"/>
            <a:ext cx="4140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707954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 Тези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1253545"/>
            <a:ext cx="8569325" cy="1080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</a:t>
            </a: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8" y="2586789"/>
            <a:ext cx="8569325" cy="1081088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</a:t>
            </a:r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3" hasCustomPrompt="1"/>
          </p:nvPr>
        </p:nvSpPr>
        <p:spPr>
          <a:xfrm>
            <a:off x="287338" y="3921121"/>
            <a:ext cx="8569325" cy="1080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</a:t>
            </a:r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14" hasCustomPrompt="1"/>
          </p:nvPr>
        </p:nvSpPr>
        <p:spPr>
          <a:xfrm>
            <a:off x="287338" y="5254363"/>
            <a:ext cx="8569325" cy="1080000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87338" y="2460167"/>
            <a:ext cx="85693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287338" y="3794499"/>
            <a:ext cx="85693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287338" y="5127743"/>
            <a:ext cx="85693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44252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, текст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3221038" y="1268413"/>
            <a:ext cx="5635625" cy="5760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400" b="1"/>
            </a:lvl1pPr>
          </a:lstStyle>
          <a:p>
            <a:pPr lvl="0"/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9" name="Объект 8"/>
          <p:cNvSpPr>
            <a:spLocks noGrp="1"/>
          </p:cNvSpPr>
          <p:nvPr>
            <p:ph sz="quarter" idx="13" hasCustomPrompt="1"/>
          </p:nvPr>
        </p:nvSpPr>
        <p:spPr>
          <a:xfrm>
            <a:off x="3240088" y="1988430"/>
            <a:ext cx="5616575" cy="3348745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  <a:lvl2pPr>
              <a:defRPr sz="2200" b="0"/>
            </a:lvl2pPr>
            <a:lvl3pPr>
              <a:defRPr sz="2200" b="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текст, или вставьте объект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3221038" y="1933356"/>
            <a:ext cx="5635625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3240088" y="5589240"/>
            <a:ext cx="5616575" cy="7565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0"/>
            </a:lvl1pPr>
          </a:lstStyle>
          <a:p>
            <a:r>
              <a:rPr lang="ru-RU" dirty="0" smtClean="0"/>
              <a:t>Текст</a:t>
            </a:r>
            <a:endParaRPr lang="ru-RU" dirty="0"/>
          </a:p>
        </p:txBody>
      </p:sp>
      <p:sp>
        <p:nvSpPr>
          <p:cNvPr id="11" name="Rectangle 10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0" name="Объект 3"/>
          <p:cNvSpPr>
            <a:spLocks noGrp="1"/>
          </p:cNvSpPr>
          <p:nvPr>
            <p:ph sz="quarter" idx="16"/>
          </p:nvPr>
        </p:nvSpPr>
        <p:spPr>
          <a:xfrm>
            <a:off x="287338" y="1268414"/>
            <a:ext cx="2663825" cy="507682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092058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, текст и подпись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287338" y="5589240"/>
            <a:ext cx="8569325" cy="7565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0"/>
            </a:lvl1pPr>
          </a:lstStyle>
          <a:p>
            <a:r>
              <a:rPr lang="ru-RU" dirty="0" smtClean="0"/>
              <a:t>Текст</a:t>
            </a:r>
            <a:endParaRPr lang="ru-RU" dirty="0"/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Объект 3"/>
          <p:cNvSpPr>
            <a:spLocks noGrp="1"/>
          </p:cNvSpPr>
          <p:nvPr>
            <p:ph sz="quarter" idx="16"/>
          </p:nvPr>
        </p:nvSpPr>
        <p:spPr>
          <a:xfrm>
            <a:off x="287338" y="1268414"/>
            <a:ext cx="5616575" cy="410527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9" name="Объект 3"/>
          <p:cNvSpPr>
            <a:spLocks noGrp="1"/>
          </p:cNvSpPr>
          <p:nvPr>
            <p:ph sz="quarter" idx="17"/>
          </p:nvPr>
        </p:nvSpPr>
        <p:spPr>
          <a:xfrm>
            <a:off x="6175376" y="1268414"/>
            <a:ext cx="2681288" cy="410527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2334282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Объект и подпись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4" hasCustomPrompt="1"/>
          </p:nvPr>
        </p:nvSpPr>
        <p:spPr>
          <a:xfrm>
            <a:off x="287338" y="5588724"/>
            <a:ext cx="8569325" cy="75651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200" b="0"/>
            </a:lvl1pPr>
          </a:lstStyle>
          <a:p>
            <a:r>
              <a:rPr lang="ru-RU" dirty="0" smtClean="0"/>
              <a:t>Текст</a:t>
            </a:r>
            <a:endParaRPr lang="ru-RU" dirty="0"/>
          </a:p>
        </p:txBody>
      </p:sp>
      <p:sp>
        <p:nvSpPr>
          <p:cNvPr id="6" name="Rectangle 5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8" name="Объект 3"/>
          <p:cNvSpPr>
            <a:spLocks noGrp="1"/>
          </p:cNvSpPr>
          <p:nvPr>
            <p:ph sz="quarter" idx="16"/>
          </p:nvPr>
        </p:nvSpPr>
        <p:spPr>
          <a:xfrm>
            <a:off x="287338" y="1268414"/>
            <a:ext cx="8569325" cy="4105274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169217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Два объекта и две подписи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1267200"/>
            <a:ext cx="4157662" cy="568800"/>
          </a:xfrm>
        </p:spPr>
        <p:txBody>
          <a:bodyPr bIns="0"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200" b="1"/>
            </a:lvl1pPr>
          </a:lstStyle>
          <a:p>
            <a:pPr lvl="0"/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4699000" y="1267200"/>
            <a:ext cx="4157663" cy="568800"/>
          </a:xfrm>
        </p:spPr>
        <p:txBody>
          <a:bodyPr bIns="0"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200" b="1"/>
            </a:lvl1pPr>
          </a:lstStyle>
          <a:p>
            <a:pPr lvl="0"/>
            <a:r>
              <a:rPr lang="ru-RU" dirty="0" smtClean="0"/>
              <a:t>Введите заголовок</a:t>
            </a:r>
            <a:endParaRPr lang="ru-RU" dirty="0"/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287338" y="1935862"/>
            <a:ext cx="41402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699000" y="1935862"/>
            <a:ext cx="415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Объект 14"/>
          <p:cNvSpPr>
            <a:spLocks noGrp="1"/>
          </p:cNvSpPr>
          <p:nvPr>
            <p:ph sz="quarter" idx="13" hasCustomPrompt="1"/>
          </p:nvPr>
        </p:nvSpPr>
        <p:spPr>
          <a:xfrm>
            <a:off x="287338" y="1990936"/>
            <a:ext cx="4157662" cy="298833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  <a:lvl2pPr>
              <a:defRPr sz="2200" b="0"/>
            </a:lvl2pPr>
            <a:lvl3pPr>
              <a:defRPr sz="2200" b="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текст, или вставьте объект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  <p:sp>
        <p:nvSpPr>
          <p:cNvPr id="17" name="Объект 16"/>
          <p:cNvSpPr>
            <a:spLocks noGrp="1"/>
          </p:cNvSpPr>
          <p:nvPr>
            <p:ph sz="quarter" idx="14" hasCustomPrompt="1"/>
          </p:nvPr>
        </p:nvSpPr>
        <p:spPr>
          <a:xfrm>
            <a:off x="4699000" y="1990936"/>
            <a:ext cx="4157663" cy="2988332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  <a:lvl2pPr>
              <a:defRPr sz="2200" b="0"/>
            </a:lvl2pPr>
            <a:lvl3pPr>
              <a:defRPr sz="2200" b="0"/>
            </a:lvl3pPr>
            <a:lvl4pPr marL="1371600" indent="0">
              <a:buNone/>
              <a:defRPr/>
            </a:lvl4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текст, или вставьте объект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15" hasCustomPrompt="1"/>
          </p:nvPr>
        </p:nvSpPr>
        <p:spPr>
          <a:xfrm>
            <a:off x="287338" y="5229200"/>
            <a:ext cx="4157662" cy="1116037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smtClean="0"/>
              <a:t>Текст</a:t>
            </a:r>
            <a:endParaRPr lang="ru-RU" dirty="0" smtClean="0"/>
          </a:p>
        </p:txBody>
      </p:sp>
      <p:sp>
        <p:nvSpPr>
          <p:cNvPr id="21" name="Текст 20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0" y="5229200"/>
            <a:ext cx="4157663" cy="1116037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smtClean="0"/>
              <a:t>Текст</a:t>
            </a:r>
            <a:endParaRPr lang="ru-RU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654296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Два объекта и два блока текста справ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sz="quarter" idx="11" hasCustomPrompt="1"/>
          </p:nvPr>
        </p:nvSpPr>
        <p:spPr>
          <a:xfrm>
            <a:off x="287338" y="1268413"/>
            <a:ext cx="2681287" cy="2413000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sz="2200" b="0"/>
            </a:lvl1pPr>
            <a:lvl2pPr>
              <a:defRPr sz="2200" b="0"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 smtClean="0"/>
              <a:t>Введите текст, или вставьте объект</a:t>
            </a:r>
          </a:p>
        </p:txBody>
      </p:sp>
      <p:sp>
        <p:nvSpPr>
          <p:cNvPr id="9" name="Объект 8"/>
          <p:cNvSpPr>
            <a:spLocks noGrp="1"/>
          </p:cNvSpPr>
          <p:nvPr>
            <p:ph sz="quarter" idx="12" hasCustomPrompt="1"/>
          </p:nvPr>
        </p:nvSpPr>
        <p:spPr>
          <a:xfrm>
            <a:off x="287338" y="3933825"/>
            <a:ext cx="2681287" cy="2403475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sz="2200" b="0"/>
            </a:lvl1pPr>
            <a:lvl2pPr>
              <a:defRPr sz="2200" b="0"/>
            </a:lvl2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текст, или вставьте объект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11" name="Объект 3"/>
          <p:cNvSpPr>
            <a:spLocks noGrp="1"/>
          </p:cNvSpPr>
          <p:nvPr>
            <p:ph sz="quarter" idx="16"/>
          </p:nvPr>
        </p:nvSpPr>
        <p:spPr>
          <a:xfrm>
            <a:off x="3239852" y="1268413"/>
            <a:ext cx="5616811" cy="241299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  <p:sp>
        <p:nvSpPr>
          <p:cNvPr id="13" name="Объект 3"/>
          <p:cNvSpPr>
            <a:spLocks noGrp="1"/>
          </p:cNvSpPr>
          <p:nvPr>
            <p:ph sz="quarter" idx="17"/>
          </p:nvPr>
        </p:nvSpPr>
        <p:spPr>
          <a:xfrm>
            <a:off x="3239852" y="3924301"/>
            <a:ext cx="5616811" cy="2412999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0063868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Рисун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12" name="Рисунок 11"/>
          <p:cNvSpPr>
            <a:spLocks noGrp="1"/>
          </p:cNvSpPr>
          <p:nvPr>
            <p:ph type="pic" sz="quarter" idx="11" hasCustomPrompt="1"/>
          </p:nvPr>
        </p:nvSpPr>
        <p:spPr>
          <a:xfrm>
            <a:off x="287053" y="1268413"/>
            <a:ext cx="2681566" cy="1765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sz="22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 smtClean="0"/>
              <a:t>Рисунок</a:t>
            </a:r>
          </a:p>
          <a:p>
            <a:pPr lvl="0"/>
            <a:endParaRPr lang="ru-RU" dirty="0"/>
          </a:p>
        </p:txBody>
      </p:sp>
      <p:sp>
        <p:nvSpPr>
          <p:cNvPr id="14" name="Текст 13"/>
          <p:cNvSpPr>
            <a:spLocks noGrp="1"/>
          </p:cNvSpPr>
          <p:nvPr>
            <p:ph type="body" sz="quarter" idx="12" hasCustomPrompt="1"/>
          </p:nvPr>
        </p:nvSpPr>
        <p:spPr>
          <a:xfrm>
            <a:off x="287338" y="3284983"/>
            <a:ext cx="2681287" cy="3060255"/>
          </a:xfrm>
        </p:spPr>
        <p:txBody>
          <a:bodyPr>
            <a:noAutofit/>
          </a:bodyPr>
          <a:lstStyle>
            <a:lvl1pPr>
              <a:defRPr sz="2200" b="0"/>
            </a:lvl1pPr>
          </a:lstStyle>
          <a:p>
            <a:r>
              <a:rPr lang="ru-RU" dirty="0" smtClean="0"/>
              <a:t>Текст</a:t>
            </a:r>
            <a:endParaRPr lang="ru-RU" dirty="0"/>
          </a:p>
        </p:txBody>
      </p:sp>
      <p:sp>
        <p:nvSpPr>
          <p:cNvPr id="7" name="Rectangle 6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  <p:sp>
        <p:nvSpPr>
          <p:cNvPr id="9" name="Объект 3"/>
          <p:cNvSpPr>
            <a:spLocks noGrp="1"/>
          </p:cNvSpPr>
          <p:nvPr>
            <p:ph sz="quarter" idx="17"/>
          </p:nvPr>
        </p:nvSpPr>
        <p:spPr>
          <a:xfrm>
            <a:off x="3239852" y="1268413"/>
            <a:ext cx="5616811" cy="50688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7483818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 рисунков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1268413"/>
            <a:ext cx="8569325" cy="1512887"/>
          </a:xfrm>
        </p:spPr>
        <p:txBody>
          <a:bodyPr>
            <a:noAutofit/>
          </a:bodyPr>
          <a:lstStyle>
            <a:lvl1pPr>
              <a:defRPr sz="2200" b="0"/>
            </a:lvl1pPr>
          </a:lstStyle>
          <a:p>
            <a:r>
              <a:rPr lang="ru-RU" dirty="0" smtClean="0"/>
              <a:t>Текст</a:t>
            </a:r>
            <a:endParaRPr lang="ru-RU" dirty="0"/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2" hasCustomPrompt="1"/>
          </p:nvPr>
        </p:nvSpPr>
        <p:spPr>
          <a:xfrm>
            <a:off x="287338" y="3052012"/>
            <a:ext cx="2671200" cy="1511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sz="22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 smtClean="0"/>
              <a:t>Рисунок</a:t>
            </a:r>
          </a:p>
          <a:p>
            <a:pPr lvl="0"/>
            <a:endParaRPr lang="ru-RU" dirty="0"/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 hasCustomPrompt="1"/>
          </p:nvPr>
        </p:nvSpPr>
        <p:spPr>
          <a:xfrm>
            <a:off x="3235202" y="3052012"/>
            <a:ext cx="2671200" cy="1511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sz="22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 smtClean="0"/>
              <a:t>Рисунок</a:t>
            </a:r>
          </a:p>
          <a:p>
            <a:pPr lvl="0"/>
            <a:endParaRPr lang="ru-RU" dirty="0"/>
          </a:p>
        </p:txBody>
      </p:sp>
      <p:sp>
        <p:nvSpPr>
          <p:cNvPr id="11" name="Рисунок 10"/>
          <p:cNvSpPr>
            <a:spLocks noGrp="1"/>
          </p:cNvSpPr>
          <p:nvPr>
            <p:ph type="pic" sz="quarter" idx="14" hasCustomPrompt="1"/>
          </p:nvPr>
        </p:nvSpPr>
        <p:spPr>
          <a:xfrm>
            <a:off x="6178302" y="3052012"/>
            <a:ext cx="2671200" cy="1511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sz="22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 smtClean="0"/>
              <a:t>Рисунок</a:t>
            </a:r>
          </a:p>
          <a:p>
            <a:pPr lvl="0"/>
            <a:endParaRPr lang="ru-RU" dirty="0"/>
          </a:p>
        </p:txBody>
      </p:sp>
      <p:sp>
        <p:nvSpPr>
          <p:cNvPr id="14" name="Рисунок 13"/>
          <p:cNvSpPr>
            <a:spLocks noGrp="1"/>
          </p:cNvSpPr>
          <p:nvPr>
            <p:ph type="pic" sz="quarter" idx="15" hasCustomPrompt="1"/>
          </p:nvPr>
        </p:nvSpPr>
        <p:spPr>
          <a:xfrm>
            <a:off x="287338" y="4834024"/>
            <a:ext cx="2671200" cy="1511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sz="22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 smtClean="0"/>
              <a:t>Рисунок</a:t>
            </a:r>
          </a:p>
          <a:p>
            <a:pPr lvl="0"/>
            <a:endParaRPr lang="ru-RU" dirty="0"/>
          </a:p>
        </p:txBody>
      </p:sp>
      <p:sp>
        <p:nvSpPr>
          <p:cNvPr id="16" name="Рисунок 15"/>
          <p:cNvSpPr>
            <a:spLocks noGrp="1"/>
          </p:cNvSpPr>
          <p:nvPr>
            <p:ph type="pic" sz="quarter" idx="16" hasCustomPrompt="1"/>
          </p:nvPr>
        </p:nvSpPr>
        <p:spPr>
          <a:xfrm>
            <a:off x="3235201" y="4834024"/>
            <a:ext cx="2671200" cy="1511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sz="22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 smtClean="0"/>
              <a:t>Рисунок</a:t>
            </a:r>
          </a:p>
          <a:p>
            <a:pPr lvl="0"/>
            <a:endParaRPr lang="ru-RU" dirty="0"/>
          </a:p>
        </p:txBody>
      </p:sp>
      <p:sp>
        <p:nvSpPr>
          <p:cNvPr id="18" name="Рисунок 17"/>
          <p:cNvSpPr>
            <a:spLocks noGrp="1"/>
          </p:cNvSpPr>
          <p:nvPr>
            <p:ph type="pic" sz="quarter" idx="17" hasCustomPrompt="1"/>
          </p:nvPr>
        </p:nvSpPr>
        <p:spPr>
          <a:xfrm>
            <a:off x="6178301" y="4834024"/>
            <a:ext cx="2671200" cy="1511300"/>
          </a:xfrm>
        </p:spPr>
        <p:txBody>
          <a:bodyPr vert="horz" lIns="0" tIns="0" rIns="0" bIns="0" rtlCol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 lang="ru-RU" sz="2200" b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lang="ru-RU" dirty="0" smtClean="0"/>
              <a:t>Рисунок</a:t>
            </a:r>
          </a:p>
          <a:p>
            <a:pPr lvl="0"/>
            <a:endParaRPr lang="ru-RU" dirty="0"/>
          </a:p>
        </p:txBody>
      </p:sp>
      <p:sp>
        <p:nvSpPr>
          <p:cNvPr id="12" name="Rectangle 11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92564029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Два объекта и текст сниз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/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sz="quarter" idx="11" hasCustomPrompt="1"/>
          </p:nvPr>
        </p:nvSpPr>
        <p:spPr>
          <a:xfrm>
            <a:off x="287338" y="1988095"/>
            <a:ext cx="4157662" cy="259217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sz="2200" b="0" dirty="0" smtClean="0"/>
            </a:lvl1pPr>
            <a:lvl2pPr>
              <a:defRPr lang="ru-RU" sz="2200" dirty="0" smtClean="0"/>
            </a:lvl2pPr>
            <a:lvl3pPr>
              <a:defRPr lang="ru-RU" sz="2200" dirty="0" smtClean="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текст, или вставьте объект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2" hasCustomPrompt="1"/>
          </p:nvPr>
        </p:nvSpPr>
        <p:spPr>
          <a:xfrm>
            <a:off x="4699000" y="1988095"/>
            <a:ext cx="4157663" cy="259217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sz="2200" b="0" dirty="0" smtClean="0"/>
            </a:lvl1pPr>
            <a:lvl2pPr>
              <a:defRPr lang="ru-RU" sz="2200" dirty="0" smtClean="0"/>
            </a:lvl2pPr>
            <a:lvl3pPr>
              <a:defRPr lang="ru-RU" sz="2200" dirty="0" smtClean="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текст, или вставьте объект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4" hasCustomPrompt="1"/>
          </p:nvPr>
        </p:nvSpPr>
        <p:spPr>
          <a:xfrm>
            <a:off x="287338" y="1268413"/>
            <a:ext cx="4140200" cy="568800"/>
          </a:xfrm>
        </p:spPr>
        <p:txBody>
          <a:bodyPr vert="horz" lIns="0" tIns="0" rIns="0" bIns="0" rtlCol="0" anchor="b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5" hasCustomPrompt="1"/>
          </p:nvPr>
        </p:nvSpPr>
        <p:spPr>
          <a:xfrm>
            <a:off x="4699000" y="1268413"/>
            <a:ext cx="4157663" cy="5688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400"/>
            </a:lvl1pPr>
          </a:lstStyle>
          <a:p>
            <a:pPr lvl="0"/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15" name="Объект 6"/>
          <p:cNvSpPr>
            <a:spLocks noGrp="1"/>
          </p:cNvSpPr>
          <p:nvPr>
            <p:ph sz="quarter" idx="16" hasCustomPrompt="1"/>
          </p:nvPr>
        </p:nvSpPr>
        <p:spPr>
          <a:xfrm>
            <a:off x="273161" y="4833938"/>
            <a:ext cx="8583501" cy="15113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sz="2200" b="0" dirty="0" smtClean="0"/>
            </a:lvl1pPr>
            <a:lvl2pPr>
              <a:defRPr lang="ru-RU" sz="2200" dirty="0" smtClean="0"/>
            </a:lvl2pPr>
            <a:lvl3pPr>
              <a:defRPr lang="ru-RU" sz="2200" dirty="0" smtClean="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текст, или вставьте объект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4698663" y="1927131"/>
            <a:ext cx="415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0"/>
          <p:cNvCxnSpPr/>
          <p:nvPr/>
        </p:nvCxnSpPr>
        <p:spPr>
          <a:xfrm>
            <a:off x="287338" y="1927131"/>
            <a:ext cx="4158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60139081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Два подзаголовка и два объекта (версия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baseline="0"/>
            </a:lvl1pPr>
          </a:lstStyle>
          <a:p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>
          <a:xfrm>
            <a:off x="287338" y="1268538"/>
            <a:ext cx="5616576" cy="56880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400" b="1"/>
            </a:lvl1pPr>
          </a:lstStyle>
          <a:p>
            <a:pPr lvl="0"/>
            <a:r>
              <a:rPr lang="ru-RU" dirty="0" smtClean="0"/>
              <a:t>Введите заголовок</a:t>
            </a:r>
            <a:endParaRPr lang="ru-RU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2" hasCustomPrompt="1"/>
          </p:nvPr>
        </p:nvSpPr>
        <p:spPr>
          <a:xfrm>
            <a:off x="6175375" y="1268421"/>
            <a:ext cx="2681288" cy="569767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2400" b="1"/>
            </a:lvl1pPr>
          </a:lstStyle>
          <a:p>
            <a:pPr lvl="0"/>
            <a:r>
              <a:rPr lang="ru-RU" dirty="0" smtClean="0"/>
              <a:t>Введите заголовок</a:t>
            </a:r>
            <a:endParaRPr lang="ru-RU" dirty="0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87338" y="1933481"/>
            <a:ext cx="5616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6172992" y="1927131"/>
            <a:ext cx="26820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бъект 12"/>
          <p:cNvSpPr>
            <a:spLocks noGrp="1"/>
          </p:cNvSpPr>
          <p:nvPr>
            <p:ph sz="quarter" idx="13" hasCustomPrompt="1"/>
          </p:nvPr>
        </p:nvSpPr>
        <p:spPr>
          <a:xfrm>
            <a:off x="287338" y="1988556"/>
            <a:ext cx="5616576" cy="4354302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sz="2200" b="0" dirty="0" smtClean="0"/>
            </a:lvl1pPr>
            <a:lvl2pPr>
              <a:defRPr lang="ru-RU" sz="2200" dirty="0" smtClean="0"/>
            </a:lvl2pPr>
            <a:lvl3pPr>
              <a:defRPr lang="ru-RU" sz="2200" dirty="0" smtClean="0"/>
            </a:lvl3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текст, или вставьте объект</a:t>
            </a:r>
          </a:p>
          <a:p>
            <a:pPr lvl="1"/>
            <a:r>
              <a:rPr lang="ru-RU" dirty="0" smtClean="0"/>
              <a:t>Второй уровень</a:t>
            </a:r>
          </a:p>
          <a:p>
            <a:pPr lvl="2"/>
            <a:r>
              <a:rPr lang="ru-RU" dirty="0" smtClean="0"/>
              <a:t>Третий уровень</a:t>
            </a:r>
          </a:p>
        </p:txBody>
      </p:sp>
      <p:sp>
        <p:nvSpPr>
          <p:cNvPr id="15" name="Объект 14"/>
          <p:cNvSpPr>
            <a:spLocks noGrp="1"/>
          </p:cNvSpPr>
          <p:nvPr>
            <p:ph sz="quarter" idx="14" hasCustomPrompt="1"/>
          </p:nvPr>
        </p:nvSpPr>
        <p:spPr>
          <a:xfrm>
            <a:off x="6175375" y="1982205"/>
            <a:ext cx="2681287" cy="4360651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buFont typeface="Wingdings" pitchFamily="2" charset="2"/>
              <a:defRPr lang="ru-RU" sz="2200" b="0" dirty="0" smtClean="0"/>
            </a:lvl1pPr>
          </a:lstStyle>
          <a:p>
            <a:pPr lvl="0">
              <a:spcBef>
                <a:spcPts val="0"/>
              </a:spcBef>
              <a:buFont typeface="Wingdings" pitchFamily="2" charset="2"/>
            </a:pPr>
            <a:r>
              <a:rPr lang="ru-RU" dirty="0" smtClean="0"/>
              <a:t>Введите текст, или вставьте объект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-25400"/>
            <a:ext cx="1930500" cy="5143500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Используйте выделение+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Tab</a:t>
            </a: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/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смены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стилей текста.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Для возврата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на предыдущий</a:t>
            </a:r>
            <a:b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</a:b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уровень выделите строку и нажмите </a:t>
            </a:r>
            <a:r>
              <a:rPr kumimoji="0" 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Shift+Tab.</a:t>
            </a:r>
            <a:endParaRPr kumimoji="0" lang="ru-RU" sz="1200" b="0" i="0" u="none" strike="noStrike" kern="1200" cap="none" spc="0" normalizeH="0" baseline="0" noProof="0" dirty="0" smtClean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4077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ru-RU" sz="1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Первый уровень</a:t>
            </a:r>
          </a:p>
          <a:p>
            <a:pPr marL="269875" marR="0" lvl="1" indent="-269875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4077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Второй уровень</a:t>
            </a:r>
          </a:p>
          <a:p>
            <a:pPr marL="541338" marR="0" lvl="2" indent="-271463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70BA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+mn-lt"/>
              </a:rPr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0290093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65200"/>
          </a:xfrm>
        </p:spPr>
        <p:txBody>
          <a:bodyPr/>
          <a:lstStyle/>
          <a:p>
            <a:endParaRPr lang="ru-RU"/>
          </a:p>
        </p:txBody>
      </p:sp>
      <p:sp>
        <p:nvSpPr>
          <p:cNvPr id="5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87337" y="2528900"/>
            <a:ext cx="8569325" cy="697303"/>
          </a:xfrm>
        </p:spPr>
        <p:txBody>
          <a:bodyPr>
            <a:noAutofit/>
          </a:bodyPr>
          <a:lstStyle>
            <a:lvl1pPr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ru-RU" dirty="0" smtClean="0"/>
              <a:t>Введите название раздела (максимум две строки)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6501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406" y="53580"/>
            <a:ext cx="8679605" cy="834431"/>
          </a:xfrm>
          <a:prstGeom prst="rect">
            <a:avLst/>
          </a:prstGeom>
        </p:spPr>
        <p:txBody>
          <a:bodyPr lIns="87179" tIns="43589" rIns="87179" bIns="43589"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519087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BEEA5C5-9845-4120-82B6-532AD7934171}" type="datetimeFigureOut">
              <a:rPr lang="ru-RU" smtClean="0"/>
              <a:t>20.06.2016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C541ED9-AFBC-4083-B156-945CD8AE4B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260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7451" y="260350"/>
            <a:ext cx="7669212" cy="607021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ru-RU" dirty="0" smtClean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287339" y="1268414"/>
            <a:ext cx="8560316" cy="506095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 smtClean="0"/>
              <a:t>Образец текста</a:t>
            </a:r>
          </a:p>
          <a:p>
            <a:pPr lvl="1"/>
            <a:r>
              <a:rPr lang="ru-RU" dirty="0" smtClean="0"/>
              <a:t>Первый уровень</a:t>
            </a:r>
          </a:p>
          <a:p>
            <a:pPr lvl="2"/>
            <a:r>
              <a:rPr lang="ru-RU" dirty="0" smtClean="0"/>
              <a:t>Второй уровень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297656" y="1042103"/>
            <a:ext cx="8559007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8566352" y="6522318"/>
            <a:ext cx="0" cy="144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8633636" y="6469798"/>
            <a:ext cx="510363" cy="173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>
            <a:noAutofit/>
          </a:bodyPr>
          <a:lstStyle/>
          <a:p>
            <a:pPr algn="l"/>
            <a:fld id="{AF528B6D-1001-487C-8FFE-85B114390330}" type="slidenum">
              <a:rPr lang="ru-RU" sz="1600" b="1" smtClean="0">
                <a:solidFill>
                  <a:schemeClr val="tx1"/>
                </a:solidFill>
              </a:rPr>
              <a:pPr algn="l"/>
              <a:t>‹#›</a:t>
            </a:fld>
            <a:endParaRPr lang="ru-RU" sz="1600" b="1" dirty="0">
              <a:solidFill>
                <a:schemeClr val="tx1"/>
              </a:solidFill>
            </a:endParaRPr>
          </a:p>
        </p:txBody>
      </p:sp>
      <p:sp>
        <p:nvSpPr>
          <p:cNvPr id="13" name="LogoRus"/>
          <p:cNvSpPr/>
          <p:nvPr/>
        </p:nvSpPr>
        <p:spPr>
          <a:xfrm>
            <a:off x="5436096" y="6465926"/>
            <a:ext cx="3096717" cy="24686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 algn="r"/>
            <a:r>
              <a:rPr lang="ru-RU" sz="1600" noProof="0" dirty="0" smtClean="0">
                <a:solidFill>
                  <a:schemeClr val="bg2"/>
                </a:solidFill>
              </a:rPr>
              <a:t>Газпром нефть</a:t>
            </a:r>
            <a:endParaRPr lang="ru-RU" sz="1600" noProof="0" dirty="0">
              <a:solidFill>
                <a:schemeClr val="bg2"/>
              </a:solidFill>
            </a:endParaRPr>
          </a:p>
        </p:txBody>
      </p:sp>
      <p:sp>
        <p:nvSpPr>
          <p:cNvPr id="4" name="Footer"/>
          <p:cNvSpPr/>
          <p:nvPr/>
        </p:nvSpPr>
        <p:spPr>
          <a:xfrm>
            <a:off x="298896" y="6440488"/>
            <a:ext cx="5137200" cy="2520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lvl="0"/>
            <a:endParaRPr lang="ru-RU" sz="1600" dirty="0" smtClean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788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4003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  <p:sldLayoutId id="2147483970" r:id="rId14"/>
    <p:sldLayoutId id="2147483971" r:id="rId15"/>
    <p:sldLayoutId id="2147483972" r:id="rId16"/>
    <p:sldLayoutId id="2147483973" r:id="rId17"/>
    <p:sldLayoutId id="2147483974" r:id="rId18"/>
    <p:sldLayoutId id="2147483975" r:id="rId19"/>
    <p:sldLayoutId id="2147483976" r:id="rId20"/>
    <p:sldLayoutId id="2147483977" r:id="rId21"/>
    <p:sldLayoutId id="2147483978" r:id="rId22"/>
    <p:sldLayoutId id="2147483979" r:id="rId23"/>
    <p:sldLayoutId id="2147483980" r:id="rId24"/>
    <p:sldLayoutId id="2147483981" r:id="rId25"/>
    <p:sldLayoutId id="2147483982" r:id="rId26"/>
    <p:sldLayoutId id="2147483983" r:id="rId27"/>
    <p:sldLayoutId id="2147483984" r:id="rId28"/>
    <p:sldLayoutId id="2147483985" r:id="rId29"/>
    <p:sldLayoutId id="2147483986" r:id="rId30"/>
    <p:sldLayoutId id="2147483987" r:id="rId31"/>
    <p:sldLayoutId id="2147483988" r:id="rId32"/>
    <p:sldLayoutId id="2147483989" r:id="rId33"/>
    <p:sldLayoutId id="2147483990" r:id="rId34"/>
    <p:sldLayoutId id="2147483991" r:id="rId35"/>
    <p:sldLayoutId id="2147483992" r:id="rId36"/>
    <p:sldLayoutId id="2147483993" r:id="rId37"/>
    <p:sldLayoutId id="2147483994" r:id="rId38"/>
    <p:sldLayoutId id="2147483995" r:id="rId39"/>
    <p:sldLayoutId id="2147483996" r:id="rId40"/>
    <p:sldLayoutId id="2147483997" r:id="rId41"/>
    <p:sldLayoutId id="2147483998" r:id="rId42"/>
    <p:sldLayoutId id="2147483999" r:id="rId43"/>
    <p:sldLayoutId id="2147484000" r:id="rId44"/>
    <p:sldLayoutId id="2147484004" r:id="rId4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SzPct val="90000"/>
        <a:buFont typeface="Wingdings" pitchFamily="2" charset="2"/>
        <a:buNone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265113" marR="0" indent="-265113" algn="l" defTabSz="914400" rtl="0" eaLnBrk="1" fontAlgn="auto" latinLnBrk="0" hangingPunct="1">
        <a:lnSpc>
          <a:spcPct val="100000"/>
        </a:lnSpc>
        <a:spcBef>
          <a:spcPts val="1200"/>
        </a:spcBef>
        <a:spcAft>
          <a:spcPts val="0"/>
        </a:spcAft>
        <a:buClr>
          <a:schemeClr val="accent1"/>
        </a:buClr>
        <a:buSzPct val="100000"/>
        <a:buFont typeface="Wingdings" pitchFamily="2" charset="2"/>
        <a:buChar char="§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266700" algn="l" defTabSz="914400" rtl="0" eaLnBrk="1" latinLnBrk="0" hangingPunct="1">
        <a:spcBef>
          <a:spcPts val="600"/>
        </a:spcBef>
        <a:buClr>
          <a:schemeClr val="accent3"/>
        </a:buClr>
        <a:buFont typeface="Wingdings" pitchFamily="2" charset="2"/>
        <a:buChar char="§"/>
        <a:tabLst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0" Type="http://schemas.openxmlformats.org/officeDocument/2006/relationships/tags" Target="../tags/tag11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9.xml"/><Relationship Id="rId13" Type="http://schemas.openxmlformats.org/officeDocument/2006/relationships/tags" Target="../tags/tag24.xml"/><Relationship Id="rId18" Type="http://schemas.openxmlformats.org/officeDocument/2006/relationships/diagramData" Target="../diagrams/data1.xml"/><Relationship Id="rId26" Type="http://schemas.openxmlformats.org/officeDocument/2006/relationships/diagramColors" Target="../diagrams/colors2.xml"/><Relationship Id="rId3" Type="http://schemas.openxmlformats.org/officeDocument/2006/relationships/tags" Target="../tags/tag14.xml"/><Relationship Id="rId21" Type="http://schemas.openxmlformats.org/officeDocument/2006/relationships/diagramColors" Target="../diagrams/colors1.xml"/><Relationship Id="rId7" Type="http://schemas.openxmlformats.org/officeDocument/2006/relationships/tags" Target="../tags/tag18.xml"/><Relationship Id="rId12" Type="http://schemas.openxmlformats.org/officeDocument/2006/relationships/tags" Target="../tags/tag23.xml"/><Relationship Id="rId17" Type="http://schemas.openxmlformats.org/officeDocument/2006/relationships/image" Target="../media/image3.emf"/><Relationship Id="rId25" Type="http://schemas.openxmlformats.org/officeDocument/2006/relationships/diagramQuickStyle" Target="../diagrams/quickStyle2.xml"/><Relationship Id="rId2" Type="http://schemas.openxmlformats.org/officeDocument/2006/relationships/tags" Target="../tags/tag13.xml"/><Relationship Id="rId16" Type="http://schemas.openxmlformats.org/officeDocument/2006/relationships/oleObject" Target="../embeddings/oleObject1.bin"/><Relationship Id="rId20" Type="http://schemas.openxmlformats.org/officeDocument/2006/relationships/diagramQuickStyle" Target="../diagrams/quickStyle1.xml"/><Relationship Id="rId1" Type="http://schemas.openxmlformats.org/officeDocument/2006/relationships/vmlDrawing" Target="../drawings/vmlDrawing1.vml"/><Relationship Id="rId6" Type="http://schemas.openxmlformats.org/officeDocument/2006/relationships/tags" Target="../tags/tag17.xml"/><Relationship Id="rId11" Type="http://schemas.openxmlformats.org/officeDocument/2006/relationships/tags" Target="../tags/tag22.xml"/><Relationship Id="rId24" Type="http://schemas.openxmlformats.org/officeDocument/2006/relationships/diagramLayout" Target="../diagrams/layout2.xml"/><Relationship Id="rId5" Type="http://schemas.openxmlformats.org/officeDocument/2006/relationships/tags" Target="../tags/tag16.xml"/><Relationship Id="rId15" Type="http://schemas.openxmlformats.org/officeDocument/2006/relationships/notesSlide" Target="../notesSlides/notesSlide2.xml"/><Relationship Id="rId23" Type="http://schemas.openxmlformats.org/officeDocument/2006/relationships/diagramData" Target="../diagrams/data2.xml"/><Relationship Id="rId28" Type="http://schemas.openxmlformats.org/officeDocument/2006/relationships/chart" Target="../charts/chart1.xml"/><Relationship Id="rId10" Type="http://schemas.openxmlformats.org/officeDocument/2006/relationships/tags" Target="../tags/tag21.xml"/><Relationship Id="rId19" Type="http://schemas.openxmlformats.org/officeDocument/2006/relationships/diagramLayout" Target="../diagrams/layout1.xml"/><Relationship Id="rId4" Type="http://schemas.openxmlformats.org/officeDocument/2006/relationships/tags" Target="../tags/tag15.xml"/><Relationship Id="rId9" Type="http://schemas.openxmlformats.org/officeDocument/2006/relationships/tags" Target="../tags/tag20.xml"/><Relationship Id="rId14" Type="http://schemas.openxmlformats.org/officeDocument/2006/relationships/slideLayout" Target="../slideLayouts/slideLayout7.xml"/><Relationship Id="rId22" Type="http://schemas.microsoft.com/office/2007/relationships/diagramDrawing" Target="../diagrams/drawing1.xml"/><Relationship Id="rId27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4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notesSlide" Target="../notesSlides/notesSlide3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5" Type="http://schemas.openxmlformats.org/officeDocument/2006/relationships/chart" Target="../charts/chart3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13" Type="http://schemas.openxmlformats.org/officeDocument/2006/relationships/notesSlide" Target="../notesSlides/notesSlide4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11" Type="http://schemas.openxmlformats.org/officeDocument/2006/relationships/tags" Target="../tags/tag49.xml"/><Relationship Id="rId5" Type="http://schemas.openxmlformats.org/officeDocument/2006/relationships/tags" Target="../tags/tag43.xml"/><Relationship Id="rId15" Type="http://schemas.openxmlformats.org/officeDocument/2006/relationships/chart" Target="../charts/chart5.xml"/><Relationship Id="rId10" Type="http://schemas.openxmlformats.org/officeDocument/2006/relationships/tags" Target="../tags/tag48.xml"/><Relationship Id="rId4" Type="http://schemas.openxmlformats.org/officeDocument/2006/relationships/tags" Target="../tags/tag42.xml"/><Relationship Id="rId9" Type="http://schemas.openxmlformats.org/officeDocument/2006/relationships/tags" Target="../tags/tag47.xml"/><Relationship Id="rId1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26" Type="http://schemas.openxmlformats.org/officeDocument/2006/relationships/tags" Target="../tags/tag75.xml"/><Relationship Id="rId39" Type="http://schemas.openxmlformats.org/officeDocument/2006/relationships/tags" Target="../tags/tag88.xml"/><Relationship Id="rId21" Type="http://schemas.openxmlformats.org/officeDocument/2006/relationships/tags" Target="../tags/tag70.xml"/><Relationship Id="rId34" Type="http://schemas.openxmlformats.org/officeDocument/2006/relationships/tags" Target="../tags/tag83.xml"/><Relationship Id="rId42" Type="http://schemas.openxmlformats.org/officeDocument/2006/relationships/chart" Target="../charts/chart6.xml"/><Relationship Id="rId47" Type="http://schemas.openxmlformats.org/officeDocument/2006/relationships/chart" Target="../charts/chart11.xml"/><Relationship Id="rId50" Type="http://schemas.openxmlformats.org/officeDocument/2006/relationships/chart" Target="../charts/chart14.xml"/><Relationship Id="rId7" Type="http://schemas.openxmlformats.org/officeDocument/2006/relationships/tags" Target="../tags/tag56.xml"/><Relationship Id="rId2" Type="http://schemas.openxmlformats.org/officeDocument/2006/relationships/tags" Target="../tags/tag51.xml"/><Relationship Id="rId16" Type="http://schemas.openxmlformats.org/officeDocument/2006/relationships/tags" Target="../tags/tag65.xml"/><Relationship Id="rId29" Type="http://schemas.openxmlformats.org/officeDocument/2006/relationships/tags" Target="../tags/tag78.xml"/><Relationship Id="rId11" Type="http://schemas.openxmlformats.org/officeDocument/2006/relationships/tags" Target="../tags/tag60.xml"/><Relationship Id="rId24" Type="http://schemas.openxmlformats.org/officeDocument/2006/relationships/tags" Target="../tags/tag73.xml"/><Relationship Id="rId32" Type="http://schemas.openxmlformats.org/officeDocument/2006/relationships/tags" Target="../tags/tag81.xml"/><Relationship Id="rId37" Type="http://schemas.openxmlformats.org/officeDocument/2006/relationships/tags" Target="../tags/tag86.xml"/><Relationship Id="rId40" Type="http://schemas.openxmlformats.org/officeDocument/2006/relationships/tags" Target="../tags/tag89.xml"/><Relationship Id="rId45" Type="http://schemas.openxmlformats.org/officeDocument/2006/relationships/chart" Target="../charts/chart9.xml"/><Relationship Id="rId53" Type="http://schemas.openxmlformats.org/officeDocument/2006/relationships/chart" Target="../charts/chart17.xml"/><Relationship Id="rId5" Type="http://schemas.openxmlformats.org/officeDocument/2006/relationships/tags" Target="../tags/tag54.xml"/><Relationship Id="rId10" Type="http://schemas.openxmlformats.org/officeDocument/2006/relationships/tags" Target="../tags/tag59.xml"/><Relationship Id="rId19" Type="http://schemas.openxmlformats.org/officeDocument/2006/relationships/tags" Target="../tags/tag68.xml"/><Relationship Id="rId31" Type="http://schemas.openxmlformats.org/officeDocument/2006/relationships/tags" Target="../tags/tag80.xml"/><Relationship Id="rId44" Type="http://schemas.openxmlformats.org/officeDocument/2006/relationships/chart" Target="../charts/chart8.xml"/><Relationship Id="rId52" Type="http://schemas.openxmlformats.org/officeDocument/2006/relationships/chart" Target="../charts/chart16.xml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4" Type="http://schemas.openxmlformats.org/officeDocument/2006/relationships/tags" Target="../tags/tag63.xml"/><Relationship Id="rId22" Type="http://schemas.openxmlformats.org/officeDocument/2006/relationships/tags" Target="../tags/tag71.xml"/><Relationship Id="rId27" Type="http://schemas.openxmlformats.org/officeDocument/2006/relationships/tags" Target="../tags/tag76.xml"/><Relationship Id="rId30" Type="http://schemas.openxmlformats.org/officeDocument/2006/relationships/tags" Target="../tags/tag79.xml"/><Relationship Id="rId35" Type="http://schemas.openxmlformats.org/officeDocument/2006/relationships/tags" Target="../tags/tag84.xml"/><Relationship Id="rId43" Type="http://schemas.openxmlformats.org/officeDocument/2006/relationships/chart" Target="../charts/chart7.xml"/><Relationship Id="rId48" Type="http://schemas.openxmlformats.org/officeDocument/2006/relationships/chart" Target="../charts/chart12.xml"/><Relationship Id="rId8" Type="http://schemas.openxmlformats.org/officeDocument/2006/relationships/tags" Target="../tags/tag57.xml"/><Relationship Id="rId51" Type="http://schemas.openxmlformats.org/officeDocument/2006/relationships/chart" Target="../charts/chart15.xml"/><Relationship Id="rId3" Type="http://schemas.openxmlformats.org/officeDocument/2006/relationships/tags" Target="../tags/tag52.xml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25" Type="http://schemas.openxmlformats.org/officeDocument/2006/relationships/tags" Target="../tags/tag74.xml"/><Relationship Id="rId33" Type="http://schemas.openxmlformats.org/officeDocument/2006/relationships/tags" Target="../tags/tag82.xml"/><Relationship Id="rId38" Type="http://schemas.openxmlformats.org/officeDocument/2006/relationships/tags" Target="../tags/tag87.xml"/><Relationship Id="rId46" Type="http://schemas.openxmlformats.org/officeDocument/2006/relationships/chart" Target="../charts/chart10.xml"/><Relationship Id="rId20" Type="http://schemas.openxmlformats.org/officeDocument/2006/relationships/tags" Target="../tags/tag69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tags" Target="../tags/tag77.xml"/><Relationship Id="rId36" Type="http://schemas.openxmlformats.org/officeDocument/2006/relationships/tags" Target="../tags/tag85.xml"/><Relationship Id="rId49" Type="http://schemas.openxmlformats.org/officeDocument/2006/relationships/chart" Target="../charts/chart13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102.xml"/><Relationship Id="rId18" Type="http://schemas.openxmlformats.org/officeDocument/2006/relationships/tags" Target="../tags/tag107.xml"/><Relationship Id="rId26" Type="http://schemas.openxmlformats.org/officeDocument/2006/relationships/tags" Target="../tags/tag115.xml"/><Relationship Id="rId39" Type="http://schemas.openxmlformats.org/officeDocument/2006/relationships/tags" Target="../tags/tag128.xml"/><Relationship Id="rId21" Type="http://schemas.openxmlformats.org/officeDocument/2006/relationships/tags" Target="../tags/tag110.xml"/><Relationship Id="rId34" Type="http://schemas.openxmlformats.org/officeDocument/2006/relationships/tags" Target="../tags/tag123.xml"/><Relationship Id="rId42" Type="http://schemas.openxmlformats.org/officeDocument/2006/relationships/notesSlide" Target="../notesSlides/notesSlide5.xml"/><Relationship Id="rId47" Type="http://schemas.openxmlformats.org/officeDocument/2006/relationships/chart" Target="../charts/chart22.xml"/><Relationship Id="rId50" Type="http://schemas.openxmlformats.org/officeDocument/2006/relationships/chart" Target="../charts/chart25.xml"/><Relationship Id="rId7" Type="http://schemas.openxmlformats.org/officeDocument/2006/relationships/tags" Target="../tags/tag96.xml"/><Relationship Id="rId2" Type="http://schemas.openxmlformats.org/officeDocument/2006/relationships/tags" Target="../tags/tag91.xml"/><Relationship Id="rId16" Type="http://schemas.openxmlformats.org/officeDocument/2006/relationships/tags" Target="../tags/tag105.xml"/><Relationship Id="rId29" Type="http://schemas.openxmlformats.org/officeDocument/2006/relationships/tags" Target="../tags/tag118.xml"/><Relationship Id="rId11" Type="http://schemas.openxmlformats.org/officeDocument/2006/relationships/tags" Target="../tags/tag100.xml"/><Relationship Id="rId24" Type="http://schemas.openxmlformats.org/officeDocument/2006/relationships/tags" Target="../tags/tag113.xml"/><Relationship Id="rId32" Type="http://schemas.openxmlformats.org/officeDocument/2006/relationships/tags" Target="../tags/tag121.xml"/><Relationship Id="rId37" Type="http://schemas.openxmlformats.org/officeDocument/2006/relationships/tags" Target="../tags/tag126.xml"/><Relationship Id="rId40" Type="http://schemas.openxmlformats.org/officeDocument/2006/relationships/tags" Target="../tags/tag129.xml"/><Relationship Id="rId45" Type="http://schemas.openxmlformats.org/officeDocument/2006/relationships/chart" Target="../charts/chart20.xml"/><Relationship Id="rId53" Type="http://schemas.openxmlformats.org/officeDocument/2006/relationships/chart" Target="../charts/chart28.xml"/><Relationship Id="rId5" Type="http://schemas.openxmlformats.org/officeDocument/2006/relationships/tags" Target="../tags/tag94.xml"/><Relationship Id="rId10" Type="http://schemas.openxmlformats.org/officeDocument/2006/relationships/tags" Target="../tags/tag99.xml"/><Relationship Id="rId19" Type="http://schemas.openxmlformats.org/officeDocument/2006/relationships/tags" Target="../tags/tag108.xml"/><Relationship Id="rId31" Type="http://schemas.openxmlformats.org/officeDocument/2006/relationships/tags" Target="../tags/tag120.xml"/><Relationship Id="rId44" Type="http://schemas.openxmlformats.org/officeDocument/2006/relationships/chart" Target="../charts/chart19.xml"/><Relationship Id="rId52" Type="http://schemas.openxmlformats.org/officeDocument/2006/relationships/chart" Target="../charts/chart27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Relationship Id="rId22" Type="http://schemas.openxmlformats.org/officeDocument/2006/relationships/tags" Target="../tags/tag111.xml"/><Relationship Id="rId27" Type="http://schemas.openxmlformats.org/officeDocument/2006/relationships/tags" Target="../tags/tag116.xml"/><Relationship Id="rId30" Type="http://schemas.openxmlformats.org/officeDocument/2006/relationships/tags" Target="../tags/tag119.xml"/><Relationship Id="rId35" Type="http://schemas.openxmlformats.org/officeDocument/2006/relationships/tags" Target="../tags/tag124.xml"/><Relationship Id="rId43" Type="http://schemas.openxmlformats.org/officeDocument/2006/relationships/chart" Target="../charts/chart18.xml"/><Relationship Id="rId48" Type="http://schemas.openxmlformats.org/officeDocument/2006/relationships/chart" Target="../charts/chart23.xml"/><Relationship Id="rId8" Type="http://schemas.openxmlformats.org/officeDocument/2006/relationships/tags" Target="../tags/tag97.xml"/><Relationship Id="rId51" Type="http://schemas.openxmlformats.org/officeDocument/2006/relationships/chart" Target="../charts/chart26.xml"/><Relationship Id="rId3" Type="http://schemas.openxmlformats.org/officeDocument/2006/relationships/tags" Target="../tags/tag92.xml"/><Relationship Id="rId12" Type="http://schemas.openxmlformats.org/officeDocument/2006/relationships/tags" Target="../tags/tag101.xml"/><Relationship Id="rId17" Type="http://schemas.openxmlformats.org/officeDocument/2006/relationships/tags" Target="../tags/tag106.xml"/><Relationship Id="rId25" Type="http://schemas.openxmlformats.org/officeDocument/2006/relationships/tags" Target="../tags/tag114.xml"/><Relationship Id="rId33" Type="http://schemas.openxmlformats.org/officeDocument/2006/relationships/tags" Target="../tags/tag122.xml"/><Relationship Id="rId38" Type="http://schemas.openxmlformats.org/officeDocument/2006/relationships/tags" Target="../tags/tag127.xml"/><Relationship Id="rId46" Type="http://schemas.openxmlformats.org/officeDocument/2006/relationships/chart" Target="../charts/chart21.xml"/><Relationship Id="rId20" Type="http://schemas.openxmlformats.org/officeDocument/2006/relationships/tags" Target="../tags/tag109.xml"/><Relationship Id="rId41" Type="http://schemas.openxmlformats.org/officeDocument/2006/relationships/slideLayout" Target="../slideLayouts/slideLayout7.xml"/><Relationship Id="rId54" Type="http://schemas.openxmlformats.org/officeDocument/2006/relationships/chart" Target="../charts/chart29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5" Type="http://schemas.openxmlformats.org/officeDocument/2006/relationships/tags" Target="../tags/tag104.xml"/><Relationship Id="rId23" Type="http://schemas.openxmlformats.org/officeDocument/2006/relationships/tags" Target="../tags/tag112.xml"/><Relationship Id="rId28" Type="http://schemas.openxmlformats.org/officeDocument/2006/relationships/tags" Target="../tags/tag117.xml"/><Relationship Id="rId36" Type="http://schemas.openxmlformats.org/officeDocument/2006/relationships/tags" Target="../tags/tag125.xml"/><Relationship Id="rId49" Type="http://schemas.openxmlformats.org/officeDocument/2006/relationships/chart" Target="../charts/chart24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142.xml"/><Relationship Id="rId18" Type="http://schemas.openxmlformats.org/officeDocument/2006/relationships/tags" Target="../tags/tag147.xml"/><Relationship Id="rId26" Type="http://schemas.openxmlformats.org/officeDocument/2006/relationships/tags" Target="../tags/tag155.xml"/><Relationship Id="rId39" Type="http://schemas.openxmlformats.org/officeDocument/2006/relationships/tags" Target="../tags/tag168.xml"/><Relationship Id="rId21" Type="http://schemas.openxmlformats.org/officeDocument/2006/relationships/tags" Target="../tags/tag150.xml"/><Relationship Id="rId34" Type="http://schemas.openxmlformats.org/officeDocument/2006/relationships/tags" Target="../tags/tag163.xml"/><Relationship Id="rId42" Type="http://schemas.openxmlformats.org/officeDocument/2006/relationships/slideLayout" Target="../slideLayouts/slideLayout7.xml"/><Relationship Id="rId47" Type="http://schemas.openxmlformats.org/officeDocument/2006/relationships/chart" Target="../charts/chart33.xml"/><Relationship Id="rId50" Type="http://schemas.openxmlformats.org/officeDocument/2006/relationships/chart" Target="../charts/chart36.xml"/><Relationship Id="rId55" Type="http://schemas.openxmlformats.org/officeDocument/2006/relationships/chart" Target="../charts/chart41.xml"/><Relationship Id="rId7" Type="http://schemas.openxmlformats.org/officeDocument/2006/relationships/tags" Target="../tags/tag136.xml"/><Relationship Id="rId2" Type="http://schemas.openxmlformats.org/officeDocument/2006/relationships/tags" Target="../tags/tag131.xml"/><Relationship Id="rId16" Type="http://schemas.openxmlformats.org/officeDocument/2006/relationships/tags" Target="../tags/tag145.xml"/><Relationship Id="rId29" Type="http://schemas.openxmlformats.org/officeDocument/2006/relationships/tags" Target="../tags/tag158.xml"/><Relationship Id="rId11" Type="http://schemas.openxmlformats.org/officeDocument/2006/relationships/tags" Target="../tags/tag140.xml"/><Relationship Id="rId24" Type="http://schemas.openxmlformats.org/officeDocument/2006/relationships/tags" Target="../tags/tag153.xml"/><Relationship Id="rId32" Type="http://schemas.openxmlformats.org/officeDocument/2006/relationships/tags" Target="../tags/tag161.xml"/><Relationship Id="rId37" Type="http://schemas.openxmlformats.org/officeDocument/2006/relationships/tags" Target="../tags/tag166.xml"/><Relationship Id="rId40" Type="http://schemas.openxmlformats.org/officeDocument/2006/relationships/tags" Target="../tags/tag169.xml"/><Relationship Id="rId45" Type="http://schemas.openxmlformats.org/officeDocument/2006/relationships/chart" Target="../charts/chart31.xml"/><Relationship Id="rId53" Type="http://schemas.openxmlformats.org/officeDocument/2006/relationships/chart" Target="../charts/chart39.xml"/><Relationship Id="rId5" Type="http://schemas.openxmlformats.org/officeDocument/2006/relationships/tags" Target="../tags/tag134.xml"/><Relationship Id="rId10" Type="http://schemas.openxmlformats.org/officeDocument/2006/relationships/tags" Target="../tags/tag139.xml"/><Relationship Id="rId19" Type="http://schemas.openxmlformats.org/officeDocument/2006/relationships/tags" Target="../tags/tag148.xml"/><Relationship Id="rId31" Type="http://schemas.openxmlformats.org/officeDocument/2006/relationships/tags" Target="../tags/tag160.xml"/><Relationship Id="rId44" Type="http://schemas.openxmlformats.org/officeDocument/2006/relationships/chart" Target="../charts/chart30.xml"/><Relationship Id="rId52" Type="http://schemas.openxmlformats.org/officeDocument/2006/relationships/chart" Target="../charts/chart38.xml"/><Relationship Id="rId4" Type="http://schemas.openxmlformats.org/officeDocument/2006/relationships/tags" Target="../tags/tag133.xml"/><Relationship Id="rId9" Type="http://schemas.openxmlformats.org/officeDocument/2006/relationships/tags" Target="../tags/tag138.xml"/><Relationship Id="rId14" Type="http://schemas.openxmlformats.org/officeDocument/2006/relationships/tags" Target="../tags/tag143.xml"/><Relationship Id="rId22" Type="http://schemas.openxmlformats.org/officeDocument/2006/relationships/tags" Target="../tags/tag151.xml"/><Relationship Id="rId27" Type="http://schemas.openxmlformats.org/officeDocument/2006/relationships/tags" Target="../tags/tag156.xml"/><Relationship Id="rId30" Type="http://schemas.openxmlformats.org/officeDocument/2006/relationships/tags" Target="../tags/tag159.xml"/><Relationship Id="rId35" Type="http://schemas.openxmlformats.org/officeDocument/2006/relationships/tags" Target="../tags/tag164.xml"/><Relationship Id="rId43" Type="http://schemas.openxmlformats.org/officeDocument/2006/relationships/notesSlide" Target="../notesSlides/notesSlide6.xml"/><Relationship Id="rId48" Type="http://schemas.openxmlformats.org/officeDocument/2006/relationships/chart" Target="../charts/chart34.xml"/><Relationship Id="rId8" Type="http://schemas.openxmlformats.org/officeDocument/2006/relationships/tags" Target="../tags/tag137.xml"/><Relationship Id="rId51" Type="http://schemas.openxmlformats.org/officeDocument/2006/relationships/chart" Target="../charts/chart37.xml"/><Relationship Id="rId3" Type="http://schemas.openxmlformats.org/officeDocument/2006/relationships/tags" Target="../tags/tag132.xml"/><Relationship Id="rId12" Type="http://schemas.openxmlformats.org/officeDocument/2006/relationships/tags" Target="../tags/tag141.xml"/><Relationship Id="rId17" Type="http://schemas.openxmlformats.org/officeDocument/2006/relationships/tags" Target="../tags/tag146.xml"/><Relationship Id="rId25" Type="http://schemas.openxmlformats.org/officeDocument/2006/relationships/tags" Target="../tags/tag154.xml"/><Relationship Id="rId33" Type="http://schemas.openxmlformats.org/officeDocument/2006/relationships/tags" Target="../tags/tag162.xml"/><Relationship Id="rId38" Type="http://schemas.openxmlformats.org/officeDocument/2006/relationships/tags" Target="../tags/tag167.xml"/><Relationship Id="rId46" Type="http://schemas.openxmlformats.org/officeDocument/2006/relationships/chart" Target="../charts/chart32.xml"/><Relationship Id="rId20" Type="http://schemas.openxmlformats.org/officeDocument/2006/relationships/tags" Target="../tags/tag149.xml"/><Relationship Id="rId41" Type="http://schemas.openxmlformats.org/officeDocument/2006/relationships/tags" Target="../tags/tag170.xml"/><Relationship Id="rId54" Type="http://schemas.openxmlformats.org/officeDocument/2006/relationships/chart" Target="../charts/chart40.xml"/><Relationship Id="rId1" Type="http://schemas.openxmlformats.org/officeDocument/2006/relationships/tags" Target="../tags/tag130.xml"/><Relationship Id="rId6" Type="http://schemas.openxmlformats.org/officeDocument/2006/relationships/tags" Target="../tags/tag135.xml"/><Relationship Id="rId15" Type="http://schemas.openxmlformats.org/officeDocument/2006/relationships/tags" Target="../tags/tag144.xml"/><Relationship Id="rId23" Type="http://schemas.openxmlformats.org/officeDocument/2006/relationships/tags" Target="../tags/tag152.xml"/><Relationship Id="rId28" Type="http://schemas.openxmlformats.org/officeDocument/2006/relationships/tags" Target="../tags/tag157.xml"/><Relationship Id="rId36" Type="http://schemas.openxmlformats.org/officeDocument/2006/relationships/tags" Target="../tags/tag165.xml"/><Relationship Id="rId49" Type="http://schemas.openxmlformats.org/officeDocument/2006/relationships/chart" Target="../charts/chart35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83.xml"/><Relationship Id="rId18" Type="http://schemas.openxmlformats.org/officeDocument/2006/relationships/tags" Target="../tags/tag188.xml"/><Relationship Id="rId26" Type="http://schemas.openxmlformats.org/officeDocument/2006/relationships/tags" Target="../tags/tag196.xml"/><Relationship Id="rId39" Type="http://schemas.openxmlformats.org/officeDocument/2006/relationships/tags" Target="../tags/tag209.xml"/><Relationship Id="rId21" Type="http://schemas.openxmlformats.org/officeDocument/2006/relationships/tags" Target="../tags/tag191.xml"/><Relationship Id="rId34" Type="http://schemas.openxmlformats.org/officeDocument/2006/relationships/tags" Target="../tags/tag204.xml"/><Relationship Id="rId42" Type="http://schemas.openxmlformats.org/officeDocument/2006/relationships/chart" Target="../charts/chart42.xml"/><Relationship Id="rId47" Type="http://schemas.openxmlformats.org/officeDocument/2006/relationships/chart" Target="../charts/chart47.xml"/><Relationship Id="rId50" Type="http://schemas.openxmlformats.org/officeDocument/2006/relationships/chart" Target="../charts/chart50.xml"/><Relationship Id="rId7" Type="http://schemas.openxmlformats.org/officeDocument/2006/relationships/tags" Target="../tags/tag177.xml"/><Relationship Id="rId2" Type="http://schemas.openxmlformats.org/officeDocument/2006/relationships/tags" Target="../tags/tag172.xml"/><Relationship Id="rId16" Type="http://schemas.openxmlformats.org/officeDocument/2006/relationships/tags" Target="../tags/tag186.xml"/><Relationship Id="rId29" Type="http://schemas.openxmlformats.org/officeDocument/2006/relationships/tags" Target="../tags/tag199.xml"/><Relationship Id="rId11" Type="http://schemas.openxmlformats.org/officeDocument/2006/relationships/tags" Target="../tags/tag181.xml"/><Relationship Id="rId24" Type="http://schemas.openxmlformats.org/officeDocument/2006/relationships/tags" Target="../tags/tag194.xml"/><Relationship Id="rId32" Type="http://schemas.openxmlformats.org/officeDocument/2006/relationships/tags" Target="../tags/tag202.xml"/><Relationship Id="rId37" Type="http://schemas.openxmlformats.org/officeDocument/2006/relationships/tags" Target="../tags/tag207.xml"/><Relationship Id="rId40" Type="http://schemas.openxmlformats.org/officeDocument/2006/relationships/tags" Target="../tags/tag210.xml"/><Relationship Id="rId45" Type="http://schemas.openxmlformats.org/officeDocument/2006/relationships/chart" Target="../charts/chart45.xml"/><Relationship Id="rId53" Type="http://schemas.openxmlformats.org/officeDocument/2006/relationships/chart" Target="../charts/chart53.xml"/><Relationship Id="rId5" Type="http://schemas.openxmlformats.org/officeDocument/2006/relationships/tags" Target="../tags/tag175.xml"/><Relationship Id="rId10" Type="http://schemas.openxmlformats.org/officeDocument/2006/relationships/tags" Target="../tags/tag180.xml"/><Relationship Id="rId19" Type="http://schemas.openxmlformats.org/officeDocument/2006/relationships/tags" Target="../tags/tag189.xml"/><Relationship Id="rId31" Type="http://schemas.openxmlformats.org/officeDocument/2006/relationships/tags" Target="../tags/tag201.xml"/><Relationship Id="rId44" Type="http://schemas.openxmlformats.org/officeDocument/2006/relationships/chart" Target="../charts/chart44.xml"/><Relationship Id="rId52" Type="http://schemas.openxmlformats.org/officeDocument/2006/relationships/chart" Target="../charts/chart52.xml"/><Relationship Id="rId4" Type="http://schemas.openxmlformats.org/officeDocument/2006/relationships/tags" Target="../tags/tag174.xml"/><Relationship Id="rId9" Type="http://schemas.openxmlformats.org/officeDocument/2006/relationships/tags" Target="../tags/tag179.xml"/><Relationship Id="rId14" Type="http://schemas.openxmlformats.org/officeDocument/2006/relationships/tags" Target="../tags/tag184.xml"/><Relationship Id="rId22" Type="http://schemas.openxmlformats.org/officeDocument/2006/relationships/tags" Target="../tags/tag192.xml"/><Relationship Id="rId27" Type="http://schemas.openxmlformats.org/officeDocument/2006/relationships/tags" Target="../tags/tag197.xml"/><Relationship Id="rId30" Type="http://schemas.openxmlformats.org/officeDocument/2006/relationships/tags" Target="../tags/tag200.xml"/><Relationship Id="rId35" Type="http://schemas.openxmlformats.org/officeDocument/2006/relationships/tags" Target="../tags/tag205.xml"/><Relationship Id="rId43" Type="http://schemas.openxmlformats.org/officeDocument/2006/relationships/chart" Target="../charts/chart43.xml"/><Relationship Id="rId48" Type="http://schemas.openxmlformats.org/officeDocument/2006/relationships/chart" Target="../charts/chart48.xml"/><Relationship Id="rId8" Type="http://schemas.openxmlformats.org/officeDocument/2006/relationships/tags" Target="../tags/tag178.xml"/><Relationship Id="rId51" Type="http://schemas.openxmlformats.org/officeDocument/2006/relationships/chart" Target="../charts/chart51.xml"/><Relationship Id="rId3" Type="http://schemas.openxmlformats.org/officeDocument/2006/relationships/tags" Target="../tags/tag173.xml"/><Relationship Id="rId12" Type="http://schemas.openxmlformats.org/officeDocument/2006/relationships/tags" Target="../tags/tag182.xml"/><Relationship Id="rId17" Type="http://schemas.openxmlformats.org/officeDocument/2006/relationships/tags" Target="../tags/tag187.xml"/><Relationship Id="rId25" Type="http://schemas.openxmlformats.org/officeDocument/2006/relationships/tags" Target="../tags/tag195.xml"/><Relationship Id="rId33" Type="http://schemas.openxmlformats.org/officeDocument/2006/relationships/tags" Target="../tags/tag203.xml"/><Relationship Id="rId38" Type="http://schemas.openxmlformats.org/officeDocument/2006/relationships/tags" Target="../tags/tag208.xml"/><Relationship Id="rId46" Type="http://schemas.openxmlformats.org/officeDocument/2006/relationships/chart" Target="../charts/chart46.xml"/><Relationship Id="rId20" Type="http://schemas.openxmlformats.org/officeDocument/2006/relationships/tags" Target="../tags/tag190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5" Type="http://schemas.openxmlformats.org/officeDocument/2006/relationships/tags" Target="../tags/tag185.xml"/><Relationship Id="rId23" Type="http://schemas.openxmlformats.org/officeDocument/2006/relationships/tags" Target="../tags/tag193.xml"/><Relationship Id="rId28" Type="http://schemas.openxmlformats.org/officeDocument/2006/relationships/tags" Target="../tags/tag198.xml"/><Relationship Id="rId36" Type="http://schemas.openxmlformats.org/officeDocument/2006/relationships/tags" Target="../tags/tag206.xml"/><Relationship Id="rId49" Type="http://schemas.openxmlformats.org/officeDocument/2006/relationships/chart" Target="../charts/chart4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218.xml"/><Relationship Id="rId13" Type="http://schemas.openxmlformats.org/officeDocument/2006/relationships/tags" Target="../tags/tag223.xml"/><Relationship Id="rId18" Type="http://schemas.openxmlformats.org/officeDocument/2006/relationships/chart" Target="../charts/chart55.xml"/><Relationship Id="rId3" Type="http://schemas.openxmlformats.org/officeDocument/2006/relationships/tags" Target="../tags/tag213.xml"/><Relationship Id="rId7" Type="http://schemas.openxmlformats.org/officeDocument/2006/relationships/tags" Target="../tags/tag217.xml"/><Relationship Id="rId12" Type="http://schemas.openxmlformats.org/officeDocument/2006/relationships/tags" Target="../tags/tag222.xml"/><Relationship Id="rId17" Type="http://schemas.openxmlformats.org/officeDocument/2006/relationships/chart" Target="../charts/chart54.xml"/><Relationship Id="rId2" Type="http://schemas.openxmlformats.org/officeDocument/2006/relationships/tags" Target="../tags/tag212.xml"/><Relationship Id="rId16" Type="http://schemas.openxmlformats.org/officeDocument/2006/relationships/notesSlide" Target="../notesSlides/notesSlide7.xml"/><Relationship Id="rId20" Type="http://schemas.openxmlformats.org/officeDocument/2006/relationships/chart" Target="../charts/chart57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11" Type="http://schemas.openxmlformats.org/officeDocument/2006/relationships/tags" Target="../tags/tag221.xml"/><Relationship Id="rId5" Type="http://schemas.openxmlformats.org/officeDocument/2006/relationships/tags" Target="../tags/tag215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220.xml"/><Relationship Id="rId19" Type="http://schemas.openxmlformats.org/officeDocument/2006/relationships/chart" Target="../charts/chart56.xml"/><Relationship Id="rId4" Type="http://schemas.openxmlformats.org/officeDocument/2006/relationships/tags" Target="../tags/tag214.xml"/><Relationship Id="rId9" Type="http://schemas.openxmlformats.org/officeDocument/2006/relationships/tags" Target="../tags/tag219.xml"/><Relationship Id="rId14" Type="http://schemas.openxmlformats.org/officeDocument/2006/relationships/tags" Target="../tags/tag22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232.xml"/><Relationship Id="rId13" Type="http://schemas.openxmlformats.org/officeDocument/2006/relationships/tags" Target="../tags/tag237.xml"/><Relationship Id="rId18" Type="http://schemas.openxmlformats.org/officeDocument/2006/relationships/chart" Target="../charts/chart60.xml"/><Relationship Id="rId3" Type="http://schemas.openxmlformats.org/officeDocument/2006/relationships/tags" Target="../tags/tag227.xml"/><Relationship Id="rId21" Type="http://schemas.openxmlformats.org/officeDocument/2006/relationships/chart" Target="../charts/chart63.xml"/><Relationship Id="rId7" Type="http://schemas.openxmlformats.org/officeDocument/2006/relationships/tags" Target="../tags/tag231.xml"/><Relationship Id="rId12" Type="http://schemas.openxmlformats.org/officeDocument/2006/relationships/tags" Target="../tags/tag236.xml"/><Relationship Id="rId17" Type="http://schemas.openxmlformats.org/officeDocument/2006/relationships/chart" Target="../charts/chart59.xml"/><Relationship Id="rId2" Type="http://schemas.openxmlformats.org/officeDocument/2006/relationships/tags" Target="../tags/tag226.xml"/><Relationship Id="rId16" Type="http://schemas.openxmlformats.org/officeDocument/2006/relationships/chart" Target="../charts/chart58.xml"/><Relationship Id="rId20" Type="http://schemas.openxmlformats.org/officeDocument/2006/relationships/chart" Target="../charts/chart62.xml"/><Relationship Id="rId1" Type="http://schemas.openxmlformats.org/officeDocument/2006/relationships/tags" Target="../tags/tag225.xml"/><Relationship Id="rId6" Type="http://schemas.openxmlformats.org/officeDocument/2006/relationships/tags" Target="../tags/tag230.xml"/><Relationship Id="rId11" Type="http://schemas.openxmlformats.org/officeDocument/2006/relationships/tags" Target="../tags/tag235.xml"/><Relationship Id="rId5" Type="http://schemas.openxmlformats.org/officeDocument/2006/relationships/tags" Target="../tags/tag229.xml"/><Relationship Id="rId15" Type="http://schemas.openxmlformats.org/officeDocument/2006/relationships/notesSlide" Target="../notesSlides/notesSlide8.xml"/><Relationship Id="rId10" Type="http://schemas.openxmlformats.org/officeDocument/2006/relationships/tags" Target="../tags/tag234.xml"/><Relationship Id="rId19" Type="http://schemas.openxmlformats.org/officeDocument/2006/relationships/chart" Target="../charts/chart61.xml"/><Relationship Id="rId4" Type="http://schemas.openxmlformats.org/officeDocument/2006/relationships/tags" Target="../tags/tag228.xml"/><Relationship Id="rId9" Type="http://schemas.openxmlformats.org/officeDocument/2006/relationships/tags" Target="../tags/tag233.xml"/><Relationship Id="rId14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45.xml"/><Relationship Id="rId13" Type="http://schemas.openxmlformats.org/officeDocument/2006/relationships/tags" Target="../tags/tag250.xml"/><Relationship Id="rId18" Type="http://schemas.openxmlformats.org/officeDocument/2006/relationships/chart" Target="../charts/chart66.xml"/><Relationship Id="rId3" Type="http://schemas.openxmlformats.org/officeDocument/2006/relationships/tags" Target="../tags/tag240.xml"/><Relationship Id="rId21" Type="http://schemas.openxmlformats.org/officeDocument/2006/relationships/chart" Target="../charts/chart69.xml"/><Relationship Id="rId7" Type="http://schemas.openxmlformats.org/officeDocument/2006/relationships/tags" Target="../tags/tag244.xml"/><Relationship Id="rId12" Type="http://schemas.openxmlformats.org/officeDocument/2006/relationships/tags" Target="../tags/tag249.xml"/><Relationship Id="rId17" Type="http://schemas.openxmlformats.org/officeDocument/2006/relationships/chart" Target="../charts/chart65.xml"/><Relationship Id="rId2" Type="http://schemas.openxmlformats.org/officeDocument/2006/relationships/tags" Target="../tags/tag239.xml"/><Relationship Id="rId16" Type="http://schemas.openxmlformats.org/officeDocument/2006/relationships/chart" Target="../charts/chart64.xml"/><Relationship Id="rId20" Type="http://schemas.openxmlformats.org/officeDocument/2006/relationships/chart" Target="../charts/chart68.xml"/><Relationship Id="rId1" Type="http://schemas.openxmlformats.org/officeDocument/2006/relationships/tags" Target="../tags/tag238.xml"/><Relationship Id="rId6" Type="http://schemas.openxmlformats.org/officeDocument/2006/relationships/tags" Target="../tags/tag243.xml"/><Relationship Id="rId11" Type="http://schemas.openxmlformats.org/officeDocument/2006/relationships/tags" Target="../tags/tag248.xml"/><Relationship Id="rId5" Type="http://schemas.openxmlformats.org/officeDocument/2006/relationships/tags" Target="../tags/tag242.xml"/><Relationship Id="rId15" Type="http://schemas.openxmlformats.org/officeDocument/2006/relationships/notesSlide" Target="../notesSlides/notesSlide9.xml"/><Relationship Id="rId10" Type="http://schemas.openxmlformats.org/officeDocument/2006/relationships/tags" Target="../tags/tag247.xml"/><Relationship Id="rId19" Type="http://schemas.openxmlformats.org/officeDocument/2006/relationships/chart" Target="../charts/chart67.xml"/><Relationship Id="rId4" Type="http://schemas.openxmlformats.org/officeDocument/2006/relationships/tags" Target="../tags/tag241.xml"/><Relationship Id="rId9" Type="http://schemas.openxmlformats.org/officeDocument/2006/relationships/tags" Target="../tags/tag246.xml"/><Relationship Id="rId14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58.xml"/><Relationship Id="rId13" Type="http://schemas.openxmlformats.org/officeDocument/2006/relationships/chart" Target="../charts/chart70.xml"/><Relationship Id="rId3" Type="http://schemas.openxmlformats.org/officeDocument/2006/relationships/tags" Target="../tags/tag253.xml"/><Relationship Id="rId7" Type="http://schemas.openxmlformats.org/officeDocument/2006/relationships/tags" Target="../tags/tag257.xml"/><Relationship Id="rId12" Type="http://schemas.openxmlformats.org/officeDocument/2006/relationships/slideLayout" Target="../slideLayouts/slideLayout7.xml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11" Type="http://schemas.openxmlformats.org/officeDocument/2006/relationships/tags" Target="../tags/tag261.xml"/><Relationship Id="rId5" Type="http://schemas.openxmlformats.org/officeDocument/2006/relationships/tags" Target="../tags/tag255.xml"/><Relationship Id="rId10" Type="http://schemas.openxmlformats.org/officeDocument/2006/relationships/tags" Target="../tags/tag260.xml"/><Relationship Id="rId4" Type="http://schemas.openxmlformats.org/officeDocument/2006/relationships/tags" Target="../tags/tag254.xml"/><Relationship Id="rId9" Type="http://schemas.openxmlformats.org/officeDocument/2006/relationships/tags" Target="../tags/tag259.xml"/><Relationship Id="rId14" Type="http://schemas.openxmlformats.org/officeDocument/2006/relationships/chart" Target="../charts/chart7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69.xml"/><Relationship Id="rId13" Type="http://schemas.openxmlformats.org/officeDocument/2006/relationships/tags" Target="../tags/tag274.xml"/><Relationship Id="rId18" Type="http://schemas.openxmlformats.org/officeDocument/2006/relationships/chart" Target="../charts/chart73.xml"/><Relationship Id="rId3" Type="http://schemas.openxmlformats.org/officeDocument/2006/relationships/tags" Target="../tags/tag264.xml"/><Relationship Id="rId7" Type="http://schemas.openxmlformats.org/officeDocument/2006/relationships/tags" Target="../tags/tag268.xml"/><Relationship Id="rId12" Type="http://schemas.openxmlformats.org/officeDocument/2006/relationships/tags" Target="../tags/tag273.xml"/><Relationship Id="rId17" Type="http://schemas.openxmlformats.org/officeDocument/2006/relationships/chart" Target="../charts/chart72.xml"/><Relationship Id="rId2" Type="http://schemas.openxmlformats.org/officeDocument/2006/relationships/tags" Target="../tags/tag263.xml"/><Relationship Id="rId16" Type="http://schemas.openxmlformats.org/officeDocument/2006/relationships/notesSlide" Target="../notesSlides/notesSlide10.xml"/><Relationship Id="rId20" Type="http://schemas.openxmlformats.org/officeDocument/2006/relationships/chart" Target="../charts/chart75.xml"/><Relationship Id="rId1" Type="http://schemas.openxmlformats.org/officeDocument/2006/relationships/tags" Target="../tags/tag262.xml"/><Relationship Id="rId6" Type="http://schemas.openxmlformats.org/officeDocument/2006/relationships/tags" Target="../tags/tag267.xml"/><Relationship Id="rId11" Type="http://schemas.openxmlformats.org/officeDocument/2006/relationships/tags" Target="../tags/tag272.xml"/><Relationship Id="rId5" Type="http://schemas.openxmlformats.org/officeDocument/2006/relationships/tags" Target="../tags/tag266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271.xml"/><Relationship Id="rId19" Type="http://schemas.openxmlformats.org/officeDocument/2006/relationships/chart" Target="../charts/chart74.xml"/><Relationship Id="rId4" Type="http://schemas.openxmlformats.org/officeDocument/2006/relationships/tags" Target="../tags/tag265.xml"/><Relationship Id="rId9" Type="http://schemas.openxmlformats.org/officeDocument/2006/relationships/tags" Target="../tags/tag270.xml"/><Relationship Id="rId14" Type="http://schemas.openxmlformats.org/officeDocument/2006/relationships/tags" Target="../tags/tag27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278.xml"/><Relationship Id="rId7" Type="http://schemas.openxmlformats.org/officeDocument/2006/relationships/tags" Target="../tags/tag282.xml"/><Relationship Id="rId2" Type="http://schemas.openxmlformats.org/officeDocument/2006/relationships/tags" Target="../tags/tag277.xml"/><Relationship Id="rId1" Type="http://schemas.openxmlformats.org/officeDocument/2006/relationships/tags" Target="../tags/tag276.xml"/><Relationship Id="rId6" Type="http://schemas.openxmlformats.org/officeDocument/2006/relationships/tags" Target="../tags/tag281.xml"/><Relationship Id="rId11" Type="http://schemas.openxmlformats.org/officeDocument/2006/relationships/chart" Target="../charts/chart77.xml"/><Relationship Id="rId5" Type="http://schemas.openxmlformats.org/officeDocument/2006/relationships/tags" Target="../tags/tag280.xml"/><Relationship Id="rId10" Type="http://schemas.openxmlformats.org/officeDocument/2006/relationships/chart" Target="../charts/chart76.xml"/><Relationship Id="rId4" Type="http://schemas.openxmlformats.org/officeDocument/2006/relationships/tags" Target="../tags/tag279.xml"/><Relationship Id="rId9" Type="http://schemas.openxmlformats.org/officeDocument/2006/relationships/notesSlide" Target="../notesSlides/notesSlide1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290.xml"/><Relationship Id="rId3" Type="http://schemas.openxmlformats.org/officeDocument/2006/relationships/tags" Target="../tags/tag285.xml"/><Relationship Id="rId7" Type="http://schemas.openxmlformats.org/officeDocument/2006/relationships/tags" Target="../tags/tag289.xml"/><Relationship Id="rId12" Type="http://schemas.openxmlformats.org/officeDocument/2006/relationships/chart" Target="../charts/chart79.xml"/><Relationship Id="rId2" Type="http://schemas.openxmlformats.org/officeDocument/2006/relationships/tags" Target="../tags/tag284.xml"/><Relationship Id="rId1" Type="http://schemas.openxmlformats.org/officeDocument/2006/relationships/tags" Target="../tags/tag283.xml"/><Relationship Id="rId6" Type="http://schemas.openxmlformats.org/officeDocument/2006/relationships/tags" Target="../tags/tag288.xml"/><Relationship Id="rId11" Type="http://schemas.openxmlformats.org/officeDocument/2006/relationships/chart" Target="../charts/chart78.xml"/><Relationship Id="rId5" Type="http://schemas.openxmlformats.org/officeDocument/2006/relationships/tags" Target="../tags/tag287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86.xml"/><Relationship Id="rId9" Type="http://schemas.openxmlformats.org/officeDocument/2006/relationships/tags" Target="../tags/tag29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3" Type="http://schemas.openxmlformats.org/officeDocument/2006/relationships/tags" Target="../tags/tag294.xml"/><Relationship Id="rId7" Type="http://schemas.openxmlformats.org/officeDocument/2006/relationships/slideLayout" Target="../slideLayouts/slideLayout5.xml"/><Relationship Id="rId2" Type="http://schemas.openxmlformats.org/officeDocument/2006/relationships/tags" Target="../tags/tag293.xml"/><Relationship Id="rId1" Type="http://schemas.openxmlformats.org/officeDocument/2006/relationships/tags" Target="../tags/tag292.xml"/><Relationship Id="rId6" Type="http://schemas.openxmlformats.org/officeDocument/2006/relationships/tags" Target="../tags/tag297.xml"/><Relationship Id="rId5" Type="http://schemas.openxmlformats.org/officeDocument/2006/relationships/tags" Target="../tags/tag296.xml"/><Relationship Id="rId10" Type="http://schemas.openxmlformats.org/officeDocument/2006/relationships/chart" Target="../charts/chart81.xml"/><Relationship Id="rId4" Type="http://schemas.openxmlformats.org/officeDocument/2006/relationships/tags" Target="../tags/tag295.xml"/><Relationship Id="rId9" Type="http://schemas.openxmlformats.org/officeDocument/2006/relationships/chart" Target="../charts/chart80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305.xml"/><Relationship Id="rId3" Type="http://schemas.openxmlformats.org/officeDocument/2006/relationships/tags" Target="../tags/tag300.xml"/><Relationship Id="rId7" Type="http://schemas.openxmlformats.org/officeDocument/2006/relationships/tags" Target="../tags/tag304.xml"/><Relationship Id="rId12" Type="http://schemas.openxmlformats.org/officeDocument/2006/relationships/chart" Target="../charts/chart83.xml"/><Relationship Id="rId2" Type="http://schemas.openxmlformats.org/officeDocument/2006/relationships/tags" Target="../tags/tag299.xml"/><Relationship Id="rId1" Type="http://schemas.openxmlformats.org/officeDocument/2006/relationships/tags" Target="../tags/tag298.xml"/><Relationship Id="rId6" Type="http://schemas.openxmlformats.org/officeDocument/2006/relationships/tags" Target="../tags/tag303.xml"/><Relationship Id="rId11" Type="http://schemas.openxmlformats.org/officeDocument/2006/relationships/chart" Target="../charts/chart82.xml"/><Relationship Id="rId5" Type="http://schemas.openxmlformats.org/officeDocument/2006/relationships/tags" Target="../tags/tag302.xml"/><Relationship Id="rId10" Type="http://schemas.openxmlformats.org/officeDocument/2006/relationships/notesSlide" Target="../notesSlides/notesSlide13.xml"/><Relationship Id="rId4" Type="http://schemas.openxmlformats.org/officeDocument/2006/relationships/tags" Target="../tags/tag301.xml"/><Relationship Id="rId9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4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06.xml"/><Relationship Id="rId4" Type="http://schemas.openxmlformats.org/officeDocument/2006/relationships/chart" Target="../charts/chart8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6.xml"/><Relationship Id="rId2" Type="http://schemas.openxmlformats.org/officeDocument/2006/relationships/slideLayout" Target="../slideLayouts/slideLayout9.xml"/><Relationship Id="rId1" Type="http://schemas.openxmlformats.org/officeDocument/2006/relationships/tags" Target="../tags/tag307.xml"/><Relationship Id="rId4" Type="http://schemas.openxmlformats.org/officeDocument/2006/relationships/chart" Target="../charts/chart8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315.xml"/><Relationship Id="rId13" Type="http://schemas.openxmlformats.org/officeDocument/2006/relationships/tags" Target="../tags/tag320.xml"/><Relationship Id="rId18" Type="http://schemas.openxmlformats.org/officeDocument/2006/relationships/chart" Target="../charts/chart88.xml"/><Relationship Id="rId3" Type="http://schemas.openxmlformats.org/officeDocument/2006/relationships/tags" Target="../tags/tag310.xml"/><Relationship Id="rId21" Type="http://schemas.openxmlformats.org/officeDocument/2006/relationships/chart" Target="../charts/chart91.xml"/><Relationship Id="rId7" Type="http://schemas.openxmlformats.org/officeDocument/2006/relationships/tags" Target="../tags/tag314.xml"/><Relationship Id="rId12" Type="http://schemas.openxmlformats.org/officeDocument/2006/relationships/tags" Target="../tags/tag319.xml"/><Relationship Id="rId17" Type="http://schemas.openxmlformats.org/officeDocument/2006/relationships/notesSlide" Target="../notesSlides/notesSlide14.xml"/><Relationship Id="rId2" Type="http://schemas.openxmlformats.org/officeDocument/2006/relationships/tags" Target="../tags/tag309.xml"/><Relationship Id="rId16" Type="http://schemas.openxmlformats.org/officeDocument/2006/relationships/slideLayout" Target="../slideLayouts/slideLayout7.xml"/><Relationship Id="rId20" Type="http://schemas.openxmlformats.org/officeDocument/2006/relationships/chart" Target="../charts/chart90.xml"/><Relationship Id="rId1" Type="http://schemas.openxmlformats.org/officeDocument/2006/relationships/tags" Target="../tags/tag308.xml"/><Relationship Id="rId6" Type="http://schemas.openxmlformats.org/officeDocument/2006/relationships/tags" Target="../tags/tag313.xml"/><Relationship Id="rId11" Type="http://schemas.openxmlformats.org/officeDocument/2006/relationships/tags" Target="../tags/tag318.xml"/><Relationship Id="rId5" Type="http://schemas.openxmlformats.org/officeDocument/2006/relationships/tags" Target="../tags/tag312.xml"/><Relationship Id="rId15" Type="http://schemas.openxmlformats.org/officeDocument/2006/relationships/tags" Target="../tags/tag322.xml"/><Relationship Id="rId10" Type="http://schemas.openxmlformats.org/officeDocument/2006/relationships/tags" Target="../tags/tag317.xml"/><Relationship Id="rId19" Type="http://schemas.openxmlformats.org/officeDocument/2006/relationships/chart" Target="../charts/chart89.xml"/><Relationship Id="rId4" Type="http://schemas.openxmlformats.org/officeDocument/2006/relationships/tags" Target="../tags/tag311.xml"/><Relationship Id="rId9" Type="http://schemas.openxmlformats.org/officeDocument/2006/relationships/tags" Target="../tags/tag316.xml"/><Relationship Id="rId14" Type="http://schemas.openxmlformats.org/officeDocument/2006/relationships/tags" Target="../tags/tag3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line"/>
          <p:cNvSpPr>
            <a:spLocks noGrp="1"/>
          </p:cNvSpPr>
          <p:nvPr>
            <p:ph type="ctrTitle"/>
          </p:nvPr>
        </p:nvSpPr>
        <p:spPr>
          <a:xfrm>
            <a:off x="4572000" y="3897052"/>
            <a:ext cx="4284663" cy="1871923"/>
          </a:xfrm>
        </p:spPr>
        <p:txBody>
          <a:bodyPr/>
          <a:lstStyle/>
          <a:p>
            <a:r>
              <a:rPr lang="ru-RU" sz="2400" dirty="0" smtClean="0">
                <a:solidFill>
                  <a:srgbClr val="545353"/>
                </a:solidFill>
              </a:rPr>
              <a:t>ОТЧЁТ </a:t>
            </a:r>
            <a:br>
              <a:rPr lang="ru-RU" sz="2400" dirty="0" smtClean="0">
                <a:solidFill>
                  <a:srgbClr val="545353"/>
                </a:solidFill>
              </a:rPr>
            </a:br>
            <a:r>
              <a:rPr lang="ru-RU" sz="1800" dirty="0" smtClean="0">
                <a:solidFill>
                  <a:srgbClr val="545353"/>
                </a:solidFill>
              </a:rPr>
              <a:t>Функции Бурения и Внутрискважинных работ за </a:t>
            </a:r>
            <a:r>
              <a:rPr lang="en-US" sz="1800" dirty="0" err="1" smtClean="0">
                <a:solidFill>
                  <a:srgbClr val="545353"/>
                </a:solidFill>
              </a:rPr>
              <a:t>monthes</a:t>
            </a:r>
            <a:r>
              <a:rPr lang="ru-RU" sz="1800" dirty="0" smtClean="0">
                <a:solidFill>
                  <a:srgbClr val="545353"/>
                </a:solidFill>
              </a:rPr>
              <a:t> </a:t>
            </a:r>
            <a:r>
              <a:rPr lang="en-US" sz="1800" dirty="0" err="1" smtClean="0"/>
              <a:t>mCount</a:t>
            </a:r>
            <a:r>
              <a:rPr lang="en-US" sz="1800" smtClean="0"/>
              <a:t> </a:t>
            </a:r>
            <a:r>
              <a:rPr lang="en-US" sz="1800" smtClean="0">
                <a:solidFill>
                  <a:srgbClr val="545353"/>
                </a:solidFill>
              </a:rPr>
              <a:t>year</a:t>
            </a:r>
            <a:r>
              <a:rPr lang="ru-RU" sz="1800" dirty="0" smtClean="0">
                <a:solidFill>
                  <a:srgbClr val="545353"/>
                </a:solidFill>
              </a:rPr>
              <a:t> года</a:t>
            </a:r>
            <a:r>
              <a:rPr lang="en-US" sz="1800" dirty="0" smtClean="0">
                <a:solidFill>
                  <a:srgbClr val="545353"/>
                </a:solidFill>
              </a:rPr>
              <a:t/>
            </a:r>
            <a:br>
              <a:rPr lang="en-US" sz="1800" dirty="0" smtClean="0">
                <a:solidFill>
                  <a:srgbClr val="545353"/>
                </a:solidFill>
              </a:rPr>
            </a:br>
            <a:r>
              <a:rPr lang="en-US" sz="1800" dirty="0">
                <a:solidFill>
                  <a:srgbClr val="545353"/>
                </a:solidFill>
              </a:rPr>
              <a:t/>
            </a:r>
            <a:br>
              <a:rPr lang="en-US" sz="1800" dirty="0">
                <a:solidFill>
                  <a:srgbClr val="545353"/>
                </a:solidFill>
              </a:rPr>
            </a:br>
            <a:r>
              <a:rPr lang="ru-RU" sz="1800" dirty="0" smtClean="0">
                <a:solidFill>
                  <a:srgbClr val="545353"/>
                </a:solidFill>
              </a:rPr>
              <a:t>по Бурению</a:t>
            </a:r>
            <a:endParaRPr lang="ru-RU" sz="1100" dirty="0">
              <a:solidFill>
                <a:srgbClr val="545353"/>
              </a:solidFill>
            </a:endParaRPr>
          </a:p>
        </p:txBody>
      </p:sp>
      <p:sp>
        <p:nvSpPr>
          <p:cNvPr id="4" name="Enterpris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solidFill>
                  <a:srgbClr val="545353"/>
                </a:solidFill>
              </a:rPr>
              <a:t>П</a:t>
            </a:r>
            <a:r>
              <a:rPr lang="ru-RU" dirty="0" smtClean="0">
                <a:solidFill>
                  <a:srgbClr val="545353"/>
                </a:solidFill>
              </a:rPr>
              <a:t>АО «Газпром нефть»</a:t>
            </a:r>
            <a:endParaRPr lang="ru-RU" dirty="0">
              <a:solidFill>
                <a:srgbClr val="545353"/>
              </a:solidFill>
            </a:endParaRPr>
          </a:p>
        </p:txBody>
      </p:sp>
      <p:sp>
        <p:nvSpPr>
          <p:cNvPr id="8" name="Unit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545353"/>
                </a:solidFill>
              </a:rPr>
              <a:t>Департамент по бурению и ВР</a:t>
            </a:r>
            <a:endParaRPr lang="ru-RU" dirty="0">
              <a:solidFill>
                <a:srgbClr val="545353"/>
              </a:solidFill>
            </a:endParaRPr>
          </a:p>
        </p:txBody>
      </p:sp>
      <p:sp>
        <p:nvSpPr>
          <p:cNvPr id="9" name="Author"/>
          <p:cNvSpPr>
            <a:spLocks noGrp="1"/>
          </p:cNvSpPr>
          <p:nvPr>
            <p:ph type="body" sz="quarter" idx="11"/>
          </p:nvPr>
        </p:nvSpPr>
        <p:spPr>
          <a:xfrm>
            <a:off x="287338" y="5900956"/>
            <a:ext cx="4140000" cy="215444"/>
          </a:xfrm>
        </p:spPr>
        <p:txBody>
          <a:bodyPr/>
          <a:lstStyle/>
          <a:p>
            <a:r>
              <a:rPr lang="ru-RU" dirty="0" smtClean="0"/>
              <a:t>Управление по эффективности бурения и ВР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6907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87524" y="260350"/>
            <a:ext cx="8569139" cy="607021"/>
          </a:xfrm>
        </p:spPr>
        <p:txBody>
          <a:bodyPr/>
          <a:lstStyle/>
          <a:p>
            <a:r>
              <a:rPr lang="ru-RU" dirty="0" smtClean="0">
                <a:solidFill>
                  <a:srgbClr val="545353"/>
                </a:solidFill>
              </a:rPr>
              <a:t>Содержание</a:t>
            </a:r>
            <a:endParaRPr lang="ru-RU" dirty="0">
              <a:solidFill>
                <a:srgbClr val="545353"/>
              </a:solidFill>
            </a:endParaRPr>
          </a:p>
        </p:txBody>
      </p:sp>
      <p:grpSp>
        <p:nvGrpSpPr>
          <p:cNvPr id="4" name="Группа 3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57393" y="1139079"/>
            <a:ext cx="572660" cy="669741"/>
            <a:chOff x="2250143" y="1752858"/>
            <a:chExt cx="1102812" cy="1313701"/>
          </a:xfrm>
        </p:grpSpPr>
        <p:sp>
          <p:nvSpPr>
            <p:cNvPr id="5" name="Oval 10"/>
            <p:cNvSpPr>
              <a:spLocks noChangeArrowheads="1"/>
            </p:cNvSpPr>
            <p:nvPr/>
          </p:nvSpPr>
          <p:spPr bwMode="auto">
            <a:xfrm>
              <a:off x="2378140" y="1881749"/>
              <a:ext cx="846072" cy="1037581"/>
            </a:xfrm>
            <a:custGeom>
              <a:avLst/>
              <a:gdLst>
                <a:gd name="connsiteX0" fmla="*/ 0 w 975491"/>
                <a:gd name="connsiteY0" fmla="*/ 0 h 1612900"/>
                <a:gd name="connsiteX1" fmla="*/ 975491 w 975491"/>
                <a:gd name="connsiteY1" fmla="*/ 0 h 1612900"/>
                <a:gd name="connsiteX2" fmla="*/ 975491 w 975491"/>
                <a:gd name="connsiteY2" fmla="*/ 1612900 h 1612900"/>
                <a:gd name="connsiteX3" fmla="*/ 0 w 975491"/>
                <a:gd name="connsiteY3" fmla="*/ 1612900 h 1612900"/>
                <a:gd name="connsiteX4" fmla="*/ 0 w 975491"/>
                <a:gd name="connsiteY4" fmla="*/ 0 h 1612900"/>
                <a:gd name="connsiteX0" fmla="*/ 0 w 975491"/>
                <a:gd name="connsiteY0" fmla="*/ 0 h 1612900"/>
                <a:gd name="connsiteX1" fmla="*/ 975491 w 975491"/>
                <a:gd name="connsiteY1" fmla="*/ 95250 h 1612900"/>
                <a:gd name="connsiteX2" fmla="*/ 975491 w 975491"/>
                <a:gd name="connsiteY2" fmla="*/ 1612900 h 1612900"/>
                <a:gd name="connsiteX3" fmla="*/ 0 w 975491"/>
                <a:gd name="connsiteY3" fmla="*/ 1612900 h 1612900"/>
                <a:gd name="connsiteX4" fmla="*/ 0 w 975491"/>
                <a:gd name="connsiteY4" fmla="*/ 0 h 1612900"/>
                <a:gd name="connsiteX0" fmla="*/ 0 w 975491"/>
                <a:gd name="connsiteY0" fmla="*/ 7143 h 1517650"/>
                <a:gd name="connsiteX1" fmla="*/ 975491 w 975491"/>
                <a:gd name="connsiteY1" fmla="*/ 0 h 1517650"/>
                <a:gd name="connsiteX2" fmla="*/ 975491 w 975491"/>
                <a:gd name="connsiteY2" fmla="*/ 1517650 h 1517650"/>
                <a:gd name="connsiteX3" fmla="*/ 0 w 975491"/>
                <a:gd name="connsiteY3" fmla="*/ 1517650 h 1517650"/>
                <a:gd name="connsiteX4" fmla="*/ 0 w 975491"/>
                <a:gd name="connsiteY4" fmla="*/ 7143 h 1517650"/>
                <a:gd name="connsiteX0" fmla="*/ 0 w 975491"/>
                <a:gd name="connsiteY0" fmla="*/ 7143 h 1517650"/>
                <a:gd name="connsiteX1" fmla="*/ 491554 w 975491"/>
                <a:gd name="connsiteY1" fmla="*/ 1038 h 1517650"/>
                <a:gd name="connsiteX2" fmla="*/ 975491 w 975491"/>
                <a:gd name="connsiteY2" fmla="*/ 0 h 1517650"/>
                <a:gd name="connsiteX3" fmla="*/ 975491 w 975491"/>
                <a:gd name="connsiteY3" fmla="*/ 1517650 h 1517650"/>
                <a:gd name="connsiteX4" fmla="*/ 0 w 975491"/>
                <a:gd name="connsiteY4" fmla="*/ 1517650 h 1517650"/>
                <a:gd name="connsiteX5" fmla="*/ 0 w 975491"/>
                <a:gd name="connsiteY5" fmla="*/ 7143 h 1517650"/>
                <a:gd name="connsiteX0" fmla="*/ 0 w 975491"/>
                <a:gd name="connsiteY0" fmla="*/ 77543 h 1588050"/>
                <a:gd name="connsiteX1" fmla="*/ 474885 w 975491"/>
                <a:gd name="connsiteY1" fmla="*/ 0 h 1588050"/>
                <a:gd name="connsiteX2" fmla="*/ 975491 w 975491"/>
                <a:gd name="connsiteY2" fmla="*/ 70400 h 1588050"/>
                <a:gd name="connsiteX3" fmla="*/ 975491 w 975491"/>
                <a:gd name="connsiteY3" fmla="*/ 1588050 h 1588050"/>
                <a:gd name="connsiteX4" fmla="*/ 0 w 975491"/>
                <a:gd name="connsiteY4" fmla="*/ 1588050 h 1588050"/>
                <a:gd name="connsiteX5" fmla="*/ 0 w 975491"/>
                <a:gd name="connsiteY5" fmla="*/ 77543 h 1588050"/>
                <a:gd name="connsiteX0" fmla="*/ 0 w 975491"/>
                <a:gd name="connsiteY0" fmla="*/ 77543 h 1588050"/>
                <a:gd name="connsiteX1" fmla="*/ 474885 w 975491"/>
                <a:gd name="connsiteY1" fmla="*/ 0 h 1588050"/>
                <a:gd name="connsiteX2" fmla="*/ 975491 w 975491"/>
                <a:gd name="connsiteY2" fmla="*/ 70400 h 1588050"/>
                <a:gd name="connsiteX3" fmla="*/ 975491 w 975491"/>
                <a:gd name="connsiteY3" fmla="*/ 1588050 h 1588050"/>
                <a:gd name="connsiteX4" fmla="*/ 493936 w 975491"/>
                <a:gd name="connsiteY4" fmla="*/ 1587745 h 1588050"/>
                <a:gd name="connsiteX5" fmla="*/ 0 w 975491"/>
                <a:gd name="connsiteY5" fmla="*/ 1588050 h 1588050"/>
                <a:gd name="connsiteX6" fmla="*/ 0 w 975491"/>
                <a:gd name="connsiteY6" fmla="*/ 77543 h 1588050"/>
                <a:gd name="connsiteX0" fmla="*/ 0 w 975491"/>
                <a:gd name="connsiteY0" fmla="*/ 77543 h 1588050"/>
                <a:gd name="connsiteX1" fmla="*/ 474885 w 975491"/>
                <a:gd name="connsiteY1" fmla="*/ 0 h 1588050"/>
                <a:gd name="connsiteX2" fmla="*/ 975491 w 975491"/>
                <a:gd name="connsiteY2" fmla="*/ 70400 h 1588050"/>
                <a:gd name="connsiteX3" fmla="*/ 975491 w 975491"/>
                <a:gd name="connsiteY3" fmla="*/ 1588050 h 1588050"/>
                <a:gd name="connsiteX4" fmla="*/ 493936 w 975491"/>
                <a:gd name="connsiteY4" fmla="*/ 1587745 h 1588050"/>
                <a:gd name="connsiteX5" fmla="*/ 2382 w 975491"/>
                <a:gd name="connsiteY5" fmla="*/ 1162703 h 1588050"/>
                <a:gd name="connsiteX6" fmla="*/ 0 w 975491"/>
                <a:gd name="connsiteY6" fmla="*/ 77543 h 1588050"/>
                <a:gd name="connsiteX0" fmla="*/ 0 w 975491"/>
                <a:gd name="connsiteY0" fmla="*/ 77543 h 1620214"/>
                <a:gd name="connsiteX1" fmla="*/ 474885 w 975491"/>
                <a:gd name="connsiteY1" fmla="*/ 0 h 1620214"/>
                <a:gd name="connsiteX2" fmla="*/ 975491 w 975491"/>
                <a:gd name="connsiteY2" fmla="*/ 70400 h 1620214"/>
                <a:gd name="connsiteX3" fmla="*/ 975491 w 975491"/>
                <a:gd name="connsiteY3" fmla="*/ 1588050 h 1620214"/>
                <a:gd name="connsiteX4" fmla="*/ 489173 w 975491"/>
                <a:gd name="connsiteY4" fmla="*/ 1620214 h 1620214"/>
                <a:gd name="connsiteX5" fmla="*/ 2382 w 975491"/>
                <a:gd name="connsiteY5" fmla="*/ 1162703 h 1620214"/>
                <a:gd name="connsiteX6" fmla="*/ 0 w 975491"/>
                <a:gd name="connsiteY6" fmla="*/ 77543 h 1620214"/>
                <a:gd name="connsiteX0" fmla="*/ 0 w 975491"/>
                <a:gd name="connsiteY0" fmla="*/ 77543 h 1620214"/>
                <a:gd name="connsiteX1" fmla="*/ 474885 w 975491"/>
                <a:gd name="connsiteY1" fmla="*/ 0 h 1620214"/>
                <a:gd name="connsiteX2" fmla="*/ 975491 w 975491"/>
                <a:gd name="connsiteY2" fmla="*/ 70400 h 1620214"/>
                <a:gd name="connsiteX3" fmla="*/ 970729 w 975491"/>
                <a:gd name="connsiteY3" fmla="*/ 1175691 h 1620214"/>
                <a:gd name="connsiteX4" fmla="*/ 489173 w 975491"/>
                <a:gd name="connsiteY4" fmla="*/ 1620214 h 1620214"/>
                <a:gd name="connsiteX5" fmla="*/ 2382 w 975491"/>
                <a:gd name="connsiteY5" fmla="*/ 1162703 h 1620214"/>
                <a:gd name="connsiteX6" fmla="*/ 0 w 975491"/>
                <a:gd name="connsiteY6" fmla="*/ 77543 h 1620214"/>
                <a:gd name="connsiteX0" fmla="*/ 0 w 975491"/>
                <a:gd name="connsiteY0" fmla="*/ 77543 h 1620214"/>
                <a:gd name="connsiteX1" fmla="*/ 474885 w 975491"/>
                <a:gd name="connsiteY1" fmla="*/ 0 h 1620214"/>
                <a:gd name="connsiteX2" fmla="*/ 975491 w 975491"/>
                <a:gd name="connsiteY2" fmla="*/ 70400 h 1620214"/>
                <a:gd name="connsiteX3" fmla="*/ 970729 w 975491"/>
                <a:gd name="connsiteY3" fmla="*/ 1175691 h 1620214"/>
                <a:gd name="connsiteX4" fmla="*/ 497589 w 975491"/>
                <a:gd name="connsiteY4" fmla="*/ 1620214 h 1620214"/>
                <a:gd name="connsiteX5" fmla="*/ 2382 w 975491"/>
                <a:gd name="connsiteY5" fmla="*/ 1162703 h 1620214"/>
                <a:gd name="connsiteX6" fmla="*/ 0 w 975491"/>
                <a:gd name="connsiteY6" fmla="*/ 77543 h 1620214"/>
                <a:gd name="connsiteX0" fmla="*/ 0 w 993256"/>
                <a:gd name="connsiteY0" fmla="*/ 77543 h 1620214"/>
                <a:gd name="connsiteX1" fmla="*/ 474885 w 993256"/>
                <a:gd name="connsiteY1" fmla="*/ 0 h 1620214"/>
                <a:gd name="connsiteX2" fmla="*/ 975491 w 993256"/>
                <a:gd name="connsiteY2" fmla="*/ 70400 h 1620214"/>
                <a:gd name="connsiteX3" fmla="*/ 993170 w 993256"/>
                <a:gd name="connsiteY3" fmla="*/ 1129793 h 1620214"/>
                <a:gd name="connsiteX4" fmla="*/ 497589 w 993256"/>
                <a:gd name="connsiteY4" fmla="*/ 1620214 h 1620214"/>
                <a:gd name="connsiteX5" fmla="*/ 2382 w 993256"/>
                <a:gd name="connsiteY5" fmla="*/ 1162703 h 1620214"/>
                <a:gd name="connsiteX6" fmla="*/ 0 w 993256"/>
                <a:gd name="connsiteY6" fmla="*/ 77543 h 1620214"/>
                <a:gd name="connsiteX0" fmla="*/ 0 w 993256"/>
                <a:gd name="connsiteY0" fmla="*/ 77543 h 1620214"/>
                <a:gd name="connsiteX1" fmla="*/ 474885 w 993256"/>
                <a:gd name="connsiteY1" fmla="*/ 0 h 1620214"/>
                <a:gd name="connsiteX2" fmla="*/ 975491 w 993256"/>
                <a:gd name="connsiteY2" fmla="*/ 70400 h 1620214"/>
                <a:gd name="connsiteX3" fmla="*/ 993170 w 993256"/>
                <a:gd name="connsiteY3" fmla="*/ 1129793 h 1620214"/>
                <a:gd name="connsiteX4" fmla="*/ 497589 w 993256"/>
                <a:gd name="connsiteY4" fmla="*/ 1620214 h 1620214"/>
                <a:gd name="connsiteX5" fmla="*/ 2382 w 993256"/>
                <a:gd name="connsiteY5" fmla="*/ 1162703 h 1620214"/>
                <a:gd name="connsiteX6" fmla="*/ 0 w 993256"/>
                <a:gd name="connsiteY6" fmla="*/ 77543 h 1620214"/>
                <a:gd name="connsiteX0" fmla="*/ 0 w 993256"/>
                <a:gd name="connsiteY0" fmla="*/ 77543 h 1620214"/>
                <a:gd name="connsiteX1" fmla="*/ 474885 w 993256"/>
                <a:gd name="connsiteY1" fmla="*/ 0 h 1620214"/>
                <a:gd name="connsiteX2" fmla="*/ 975491 w 993256"/>
                <a:gd name="connsiteY2" fmla="*/ 70400 h 1620214"/>
                <a:gd name="connsiteX3" fmla="*/ 993170 w 993256"/>
                <a:gd name="connsiteY3" fmla="*/ 1129793 h 1620214"/>
                <a:gd name="connsiteX4" fmla="*/ 497589 w 993256"/>
                <a:gd name="connsiteY4" fmla="*/ 1620214 h 1620214"/>
                <a:gd name="connsiteX5" fmla="*/ 13602 w 993256"/>
                <a:gd name="connsiteY5" fmla="*/ 1143577 h 1620214"/>
                <a:gd name="connsiteX6" fmla="*/ 0 w 993256"/>
                <a:gd name="connsiteY6" fmla="*/ 77543 h 1620214"/>
                <a:gd name="connsiteX0" fmla="*/ 0 w 993256"/>
                <a:gd name="connsiteY0" fmla="*/ 77543 h 1620214"/>
                <a:gd name="connsiteX1" fmla="*/ 474885 w 993256"/>
                <a:gd name="connsiteY1" fmla="*/ 0 h 1620214"/>
                <a:gd name="connsiteX2" fmla="*/ 975491 w 993256"/>
                <a:gd name="connsiteY2" fmla="*/ 70400 h 1620214"/>
                <a:gd name="connsiteX3" fmla="*/ 993170 w 993256"/>
                <a:gd name="connsiteY3" fmla="*/ 1129793 h 1620214"/>
                <a:gd name="connsiteX4" fmla="*/ 497589 w 993256"/>
                <a:gd name="connsiteY4" fmla="*/ 1620214 h 1620214"/>
                <a:gd name="connsiteX5" fmla="*/ 13602 w 993256"/>
                <a:gd name="connsiteY5" fmla="*/ 1143577 h 1620214"/>
                <a:gd name="connsiteX6" fmla="*/ 0 w 993256"/>
                <a:gd name="connsiteY6" fmla="*/ 77543 h 1620214"/>
                <a:gd name="connsiteX0" fmla="*/ 0 w 982036"/>
                <a:gd name="connsiteY0" fmla="*/ 69892 h 1620214"/>
                <a:gd name="connsiteX1" fmla="*/ 463665 w 982036"/>
                <a:gd name="connsiteY1" fmla="*/ 0 h 1620214"/>
                <a:gd name="connsiteX2" fmla="*/ 964271 w 982036"/>
                <a:gd name="connsiteY2" fmla="*/ 70400 h 1620214"/>
                <a:gd name="connsiteX3" fmla="*/ 981950 w 982036"/>
                <a:gd name="connsiteY3" fmla="*/ 1129793 h 1620214"/>
                <a:gd name="connsiteX4" fmla="*/ 486369 w 982036"/>
                <a:gd name="connsiteY4" fmla="*/ 1620214 h 1620214"/>
                <a:gd name="connsiteX5" fmla="*/ 2382 w 982036"/>
                <a:gd name="connsiteY5" fmla="*/ 1143577 h 1620214"/>
                <a:gd name="connsiteX6" fmla="*/ 0 w 982036"/>
                <a:gd name="connsiteY6" fmla="*/ 69892 h 1620214"/>
                <a:gd name="connsiteX0" fmla="*/ 0 w 982127"/>
                <a:gd name="connsiteY0" fmla="*/ 69892 h 1620214"/>
                <a:gd name="connsiteX1" fmla="*/ 463665 w 982127"/>
                <a:gd name="connsiteY1" fmla="*/ 0 h 1620214"/>
                <a:gd name="connsiteX2" fmla="*/ 975491 w 982127"/>
                <a:gd name="connsiteY2" fmla="*/ 81875 h 1620214"/>
                <a:gd name="connsiteX3" fmla="*/ 981950 w 982127"/>
                <a:gd name="connsiteY3" fmla="*/ 1129793 h 1620214"/>
                <a:gd name="connsiteX4" fmla="*/ 486369 w 982127"/>
                <a:gd name="connsiteY4" fmla="*/ 1620214 h 1620214"/>
                <a:gd name="connsiteX5" fmla="*/ 2382 w 982127"/>
                <a:gd name="connsiteY5" fmla="*/ 1143577 h 1620214"/>
                <a:gd name="connsiteX6" fmla="*/ 0 w 982127"/>
                <a:gd name="connsiteY6" fmla="*/ 69892 h 1620214"/>
                <a:gd name="connsiteX0" fmla="*/ 0 w 982127"/>
                <a:gd name="connsiteY0" fmla="*/ 69892 h 1620214"/>
                <a:gd name="connsiteX1" fmla="*/ 505741 w 982127"/>
                <a:gd name="connsiteY1" fmla="*/ 0 h 1620214"/>
                <a:gd name="connsiteX2" fmla="*/ 975491 w 982127"/>
                <a:gd name="connsiteY2" fmla="*/ 81875 h 1620214"/>
                <a:gd name="connsiteX3" fmla="*/ 981950 w 982127"/>
                <a:gd name="connsiteY3" fmla="*/ 1129793 h 1620214"/>
                <a:gd name="connsiteX4" fmla="*/ 486369 w 982127"/>
                <a:gd name="connsiteY4" fmla="*/ 1620214 h 1620214"/>
                <a:gd name="connsiteX5" fmla="*/ 2382 w 982127"/>
                <a:gd name="connsiteY5" fmla="*/ 1143577 h 1620214"/>
                <a:gd name="connsiteX6" fmla="*/ 0 w 982127"/>
                <a:gd name="connsiteY6" fmla="*/ 69892 h 1620214"/>
                <a:gd name="connsiteX0" fmla="*/ 0 w 982127"/>
                <a:gd name="connsiteY0" fmla="*/ 0 h 1550322"/>
                <a:gd name="connsiteX1" fmla="*/ 975491 w 982127"/>
                <a:gd name="connsiteY1" fmla="*/ 11983 h 1550322"/>
                <a:gd name="connsiteX2" fmla="*/ 981950 w 982127"/>
                <a:gd name="connsiteY2" fmla="*/ 1059901 h 1550322"/>
                <a:gd name="connsiteX3" fmla="*/ 486369 w 982127"/>
                <a:gd name="connsiteY3" fmla="*/ 1550322 h 1550322"/>
                <a:gd name="connsiteX4" fmla="*/ 2382 w 982127"/>
                <a:gd name="connsiteY4" fmla="*/ 1073685 h 1550322"/>
                <a:gd name="connsiteX5" fmla="*/ 0 w 982127"/>
                <a:gd name="connsiteY5" fmla="*/ 0 h 1550322"/>
                <a:gd name="connsiteX0" fmla="*/ 0 w 982127"/>
                <a:gd name="connsiteY0" fmla="*/ 51599 h 1601921"/>
                <a:gd name="connsiteX1" fmla="*/ 975491 w 982127"/>
                <a:gd name="connsiteY1" fmla="*/ 63582 h 1601921"/>
                <a:gd name="connsiteX2" fmla="*/ 981950 w 982127"/>
                <a:gd name="connsiteY2" fmla="*/ 1111500 h 1601921"/>
                <a:gd name="connsiteX3" fmla="*/ 486369 w 982127"/>
                <a:gd name="connsiteY3" fmla="*/ 1601921 h 1601921"/>
                <a:gd name="connsiteX4" fmla="*/ 2382 w 982127"/>
                <a:gd name="connsiteY4" fmla="*/ 1125284 h 1601921"/>
                <a:gd name="connsiteX5" fmla="*/ 0 w 982127"/>
                <a:gd name="connsiteY5" fmla="*/ 51599 h 1601921"/>
                <a:gd name="connsiteX0" fmla="*/ 0 w 982127"/>
                <a:gd name="connsiteY0" fmla="*/ 85823 h 1636145"/>
                <a:gd name="connsiteX1" fmla="*/ 975491 w 982127"/>
                <a:gd name="connsiteY1" fmla="*/ 97806 h 1636145"/>
                <a:gd name="connsiteX2" fmla="*/ 981950 w 982127"/>
                <a:gd name="connsiteY2" fmla="*/ 1145724 h 1636145"/>
                <a:gd name="connsiteX3" fmla="*/ 486369 w 982127"/>
                <a:gd name="connsiteY3" fmla="*/ 1636145 h 1636145"/>
                <a:gd name="connsiteX4" fmla="*/ 2382 w 982127"/>
                <a:gd name="connsiteY4" fmla="*/ 1159508 h 1636145"/>
                <a:gd name="connsiteX5" fmla="*/ 0 w 982127"/>
                <a:gd name="connsiteY5" fmla="*/ 85823 h 1636145"/>
                <a:gd name="connsiteX0" fmla="*/ 0 w 983907"/>
                <a:gd name="connsiteY0" fmla="*/ 87799 h 1638121"/>
                <a:gd name="connsiteX1" fmla="*/ 983907 w 983907"/>
                <a:gd name="connsiteY1" fmla="*/ 95957 h 1638121"/>
                <a:gd name="connsiteX2" fmla="*/ 981950 w 983907"/>
                <a:gd name="connsiteY2" fmla="*/ 1147700 h 1638121"/>
                <a:gd name="connsiteX3" fmla="*/ 486369 w 983907"/>
                <a:gd name="connsiteY3" fmla="*/ 1638121 h 1638121"/>
                <a:gd name="connsiteX4" fmla="*/ 2382 w 983907"/>
                <a:gd name="connsiteY4" fmla="*/ 1161484 h 1638121"/>
                <a:gd name="connsiteX5" fmla="*/ 0 w 983907"/>
                <a:gd name="connsiteY5" fmla="*/ 87799 h 1638121"/>
                <a:gd name="connsiteX0" fmla="*/ 0 w 983907"/>
                <a:gd name="connsiteY0" fmla="*/ 92268 h 1642590"/>
                <a:gd name="connsiteX1" fmla="*/ 983907 w 983907"/>
                <a:gd name="connsiteY1" fmla="*/ 100426 h 1642590"/>
                <a:gd name="connsiteX2" fmla="*/ 981950 w 983907"/>
                <a:gd name="connsiteY2" fmla="*/ 1152169 h 1642590"/>
                <a:gd name="connsiteX3" fmla="*/ 486369 w 983907"/>
                <a:gd name="connsiteY3" fmla="*/ 1642590 h 1642590"/>
                <a:gd name="connsiteX4" fmla="*/ 2382 w 983907"/>
                <a:gd name="connsiteY4" fmla="*/ 1165953 h 1642590"/>
                <a:gd name="connsiteX5" fmla="*/ 0 w 983907"/>
                <a:gd name="connsiteY5" fmla="*/ 92268 h 1642590"/>
                <a:gd name="connsiteX0" fmla="*/ 0 w 983907"/>
                <a:gd name="connsiteY0" fmla="*/ 94346 h 1640842"/>
                <a:gd name="connsiteX1" fmla="*/ 983907 w 983907"/>
                <a:gd name="connsiteY1" fmla="*/ 98678 h 1640842"/>
                <a:gd name="connsiteX2" fmla="*/ 981950 w 983907"/>
                <a:gd name="connsiteY2" fmla="*/ 1150421 h 1640842"/>
                <a:gd name="connsiteX3" fmla="*/ 486369 w 983907"/>
                <a:gd name="connsiteY3" fmla="*/ 1640842 h 1640842"/>
                <a:gd name="connsiteX4" fmla="*/ 2382 w 983907"/>
                <a:gd name="connsiteY4" fmla="*/ 1164205 h 1640842"/>
                <a:gd name="connsiteX5" fmla="*/ 0 w 983907"/>
                <a:gd name="connsiteY5" fmla="*/ 94346 h 1640842"/>
                <a:gd name="connsiteX0" fmla="*/ 0 w 983907"/>
                <a:gd name="connsiteY0" fmla="*/ 101177 h 1647673"/>
                <a:gd name="connsiteX1" fmla="*/ 983907 w 983907"/>
                <a:gd name="connsiteY1" fmla="*/ 105509 h 1647673"/>
                <a:gd name="connsiteX2" fmla="*/ 981950 w 983907"/>
                <a:gd name="connsiteY2" fmla="*/ 1157252 h 1647673"/>
                <a:gd name="connsiteX3" fmla="*/ 486369 w 983907"/>
                <a:gd name="connsiteY3" fmla="*/ 1647673 h 1647673"/>
                <a:gd name="connsiteX4" fmla="*/ 2382 w 983907"/>
                <a:gd name="connsiteY4" fmla="*/ 1171036 h 1647673"/>
                <a:gd name="connsiteX5" fmla="*/ 0 w 983907"/>
                <a:gd name="connsiteY5" fmla="*/ 101177 h 1647673"/>
                <a:gd name="connsiteX0" fmla="*/ 0 w 983907"/>
                <a:gd name="connsiteY0" fmla="*/ 108636 h 1655132"/>
                <a:gd name="connsiteX1" fmla="*/ 983907 w 983907"/>
                <a:gd name="connsiteY1" fmla="*/ 112968 h 1655132"/>
                <a:gd name="connsiteX2" fmla="*/ 981950 w 983907"/>
                <a:gd name="connsiteY2" fmla="*/ 1164711 h 1655132"/>
                <a:gd name="connsiteX3" fmla="*/ 486369 w 983907"/>
                <a:gd name="connsiteY3" fmla="*/ 1655132 h 1655132"/>
                <a:gd name="connsiteX4" fmla="*/ 2382 w 983907"/>
                <a:gd name="connsiteY4" fmla="*/ 1178495 h 1655132"/>
                <a:gd name="connsiteX5" fmla="*/ 0 w 983907"/>
                <a:gd name="connsiteY5" fmla="*/ 108636 h 1655132"/>
                <a:gd name="connsiteX0" fmla="*/ 0 w 983907"/>
                <a:gd name="connsiteY0" fmla="*/ 108636 h 1655132"/>
                <a:gd name="connsiteX1" fmla="*/ 983907 w 983907"/>
                <a:gd name="connsiteY1" fmla="*/ 112968 h 1655132"/>
                <a:gd name="connsiteX2" fmla="*/ 981950 w 983907"/>
                <a:gd name="connsiteY2" fmla="*/ 1164711 h 1655132"/>
                <a:gd name="connsiteX3" fmla="*/ 486369 w 983907"/>
                <a:gd name="connsiteY3" fmla="*/ 1655132 h 1655132"/>
                <a:gd name="connsiteX4" fmla="*/ 2382 w 983907"/>
                <a:gd name="connsiteY4" fmla="*/ 1178495 h 1655132"/>
                <a:gd name="connsiteX5" fmla="*/ 0 w 983907"/>
                <a:gd name="connsiteY5" fmla="*/ 108636 h 1655132"/>
                <a:gd name="connsiteX0" fmla="*/ 0 w 983907"/>
                <a:gd name="connsiteY0" fmla="*/ 108636 h 1655132"/>
                <a:gd name="connsiteX1" fmla="*/ 983907 w 983907"/>
                <a:gd name="connsiteY1" fmla="*/ 112968 h 1655132"/>
                <a:gd name="connsiteX2" fmla="*/ 981950 w 983907"/>
                <a:gd name="connsiteY2" fmla="*/ 1164711 h 1655132"/>
                <a:gd name="connsiteX3" fmla="*/ 486369 w 983907"/>
                <a:gd name="connsiteY3" fmla="*/ 1655132 h 1655132"/>
                <a:gd name="connsiteX4" fmla="*/ 2382 w 983907"/>
                <a:gd name="connsiteY4" fmla="*/ 1178495 h 1655132"/>
                <a:gd name="connsiteX5" fmla="*/ 0 w 983907"/>
                <a:gd name="connsiteY5" fmla="*/ 108636 h 1655132"/>
                <a:gd name="connsiteX0" fmla="*/ 0 w 983907"/>
                <a:gd name="connsiteY0" fmla="*/ 108636 h 1655132"/>
                <a:gd name="connsiteX1" fmla="*/ 983907 w 983907"/>
                <a:gd name="connsiteY1" fmla="*/ 112968 h 1655132"/>
                <a:gd name="connsiteX2" fmla="*/ 981950 w 983907"/>
                <a:gd name="connsiteY2" fmla="*/ 1164711 h 1655132"/>
                <a:gd name="connsiteX3" fmla="*/ 486369 w 983907"/>
                <a:gd name="connsiteY3" fmla="*/ 1655132 h 1655132"/>
                <a:gd name="connsiteX4" fmla="*/ 2382 w 983907"/>
                <a:gd name="connsiteY4" fmla="*/ 1178495 h 1655132"/>
                <a:gd name="connsiteX5" fmla="*/ 0 w 983907"/>
                <a:gd name="connsiteY5" fmla="*/ 108636 h 1655132"/>
                <a:gd name="connsiteX0" fmla="*/ 0 w 983907"/>
                <a:gd name="connsiteY0" fmla="*/ 108636 h 1655132"/>
                <a:gd name="connsiteX1" fmla="*/ 983907 w 983907"/>
                <a:gd name="connsiteY1" fmla="*/ 112968 h 1655132"/>
                <a:gd name="connsiteX2" fmla="*/ 981950 w 983907"/>
                <a:gd name="connsiteY2" fmla="*/ 1164711 h 1655132"/>
                <a:gd name="connsiteX3" fmla="*/ 486369 w 983907"/>
                <a:gd name="connsiteY3" fmla="*/ 1655132 h 1655132"/>
                <a:gd name="connsiteX4" fmla="*/ 2382 w 983907"/>
                <a:gd name="connsiteY4" fmla="*/ 1178495 h 1655132"/>
                <a:gd name="connsiteX5" fmla="*/ 0 w 983907"/>
                <a:gd name="connsiteY5" fmla="*/ 108636 h 1655132"/>
                <a:gd name="connsiteX0" fmla="*/ 0 w 983907"/>
                <a:gd name="connsiteY0" fmla="*/ 108636 h 1655132"/>
                <a:gd name="connsiteX1" fmla="*/ 983907 w 983907"/>
                <a:gd name="connsiteY1" fmla="*/ 112968 h 1655132"/>
                <a:gd name="connsiteX2" fmla="*/ 981950 w 983907"/>
                <a:gd name="connsiteY2" fmla="*/ 1164711 h 1655132"/>
                <a:gd name="connsiteX3" fmla="*/ 486369 w 983907"/>
                <a:gd name="connsiteY3" fmla="*/ 1655132 h 1655132"/>
                <a:gd name="connsiteX4" fmla="*/ 2382 w 983907"/>
                <a:gd name="connsiteY4" fmla="*/ 1178495 h 1655132"/>
                <a:gd name="connsiteX5" fmla="*/ 0 w 983907"/>
                <a:gd name="connsiteY5" fmla="*/ 108636 h 1655132"/>
                <a:gd name="connsiteX0" fmla="*/ 0 w 983907"/>
                <a:gd name="connsiteY0" fmla="*/ 108636 h 1666607"/>
                <a:gd name="connsiteX1" fmla="*/ 983907 w 983907"/>
                <a:gd name="connsiteY1" fmla="*/ 112968 h 1666607"/>
                <a:gd name="connsiteX2" fmla="*/ 981950 w 983907"/>
                <a:gd name="connsiteY2" fmla="*/ 1164711 h 1666607"/>
                <a:gd name="connsiteX3" fmla="*/ 486369 w 983907"/>
                <a:gd name="connsiteY3" fmla="*/ 1666607 h 1666607"/>
                <a:gd name="connsiteX4" fmla="*/ 2382 w 983907"/>
                <a:gd name="connsiteY4" fmla="*/ 1178495 h 1666607"/>
                <a:gd name="connsiteX5" fmla="*/ 0 w 983907"/>
                <a:gd name="connsiteY5" fmla="*/ 108636 h 1666607"/>
                <a:gd name="connsiteX0" fmla="*/ 0 w 983907"/>
                <a:gd name="connsiteY0" fmla="*/ 108636 h 1666607"/>
                <a:gd name="connsiteX1" fmla="*/ 983907 w 983907"/>
                <a:gd name="connsiteY1" fmla="*/ 112968 h 1666607"/>
                <a:gd name="connsiteX2" fmla="*/ 981950 w 983907"/>
                <a:gd name="connsiteY2" fmla="*/ 1164711 h 1666607"/>
                <a:gd name="connsiteX3" fmla="*/ 486369 w 983907"/>
                <a:gd name="connsiteY3" fmla="*/ 1666607 h 1666607"/>
                <a:gd name="connsiteX4" fmla="*/ 2382 w 983907"/>
                <a:gd name="connsiteY4" fmla="*/ 1178495 h 1666607"/>
                <a:gd name="connsiteX5" fmla="*/ 0 w 983907"/>
                <a:gd name="connsiteY5" fmla="*/ 108636 h 166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3907" h="1666607">
                  <a:moveTo>
                    <a:pt x="0" y="108636"/>
                  </a:moveTo>
                  <a:cubicBezTo>
                    <a:pt x="241013" y="-17416"/>
                    <a:pt x="655938" y="-55494"/>
                    <a:pt x="983907" y="112968"/>
                  </a:cubicBezTo>
                  <a:cubicBezTo>
                    <a:pt x="982320" y="481398"/>
                    <a:pt x="983537" y="796281"/>
                    <a:pt x="981950" y="1164711"/>
                  </a:cubicBezTo>
                  <a:cubicBezTo>
                    <a:pt x="772633" y="1427632"/>
                    <a:pt x="662640" y="1529909"/>
                    <a:pt x="486369" y="1666607"/>
                  </a:cubicBezTo>
                  <a:cubicBezTo>
                    <a:pt x="316732" y="1530679"/>
                    <a:pt x="191762" y="1398572"/>
                    <a:pt x="2382" y="1178495"/>
                  </a:cubicBezTo>
                  <a:lnTo>
                    <a:pt x="0" y="108636"/>
                  </a:lnTo>
                  <a:close/>
                </a:path>
              </a:pathLst>
            </a:custGeom>
            <a:solidFill>
              <a:srgbClr val="E6E6E6"/>
            </a:solidFill>
            <a:ln w="7938" cap="flat">
              <a:solidFill>
                <a:srgbClr val="FEFEF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6" name="Freeform 6"/>
            <p:cNvSpPr>
              <a:spLocks noEditPoints="1"/>
            </p:cNvSpPr>
            <p:nvPr/>
          </p:nvSpPr>
          <p:spPr bwMode="auto">
            <a:xfrm>
              <a:off x="2250143" y="1752858"/>
              <a:ext cx="1102812" cy="1313701"/>
            </a:xfrm>
            <a:custGeom>
              <a:avLst/>
              <a:gdLst>
                <a:gd name="T0" fmla="*/ 410 w 2503"/>
                <a:gd name="T1" fmla="*/ 2143 h 2985"/>
                <a:gd name="T2" fmla="*/ 220 w 2503"/>
                <a:gd name="T3" fmla="*/ 1971 h 2985"/>
                <a:gd name="T4" fmla="*/ 220 w 2503"/>
                <a:gd name="T5" fmla="*/ 401 h 2985"/>
                <a:gd name="T6" fmla="*/ 335 w 2503"/>
                <a:gd name="T7" fmla="*/ 360 h 2985"/>
                <a:gd name="T8" fmla="*/ 1252 w 2503"/>
                <a:gd name="T9" fmla="*/ 220 h 2985"/>
                <a:gd name="T10" fmla="*/ 2168 w 2503"/>
                <a:gd name="T11" fmla="*/ 360 h 2985"/>
                <a:gd name="T12" fmla="*/ 2283 w 2503"/>
                <a:gd name="T13" fmla="*/ 401 h 2985"/>
                <a:gd name="T14" fmla="*/ 2283 w 2503"/>
                <a:gd name="T15" fmla="*/ 1971 h 2985"/>
                <a:gd name="T16" fmla="*/ 2094 w 2503"/>
                <a:gd name="T17" fmla="*/ 2143 h 2985"/>
                <a:gd name="T18" fmla="*/ 1252 w 2503"/>
                <a:gd name="T19" fmla="*/ 2734 h 2985"/>
                <a:gd name="T20" fmla="*/ 410 w 2503"/>
                <a:gd name="T21" fmla="*/ 2143 h 2985"/>
                <a:gd name="T22" fmla="*/ 2503 w 2503"/>
                <a:gd name="T23" fmla="*/ 2064 h 2985"/>
                <a:gd name="T24" fmla="*/ 2503 w 2503"/>
                <a:gd name="T25" fmla="*/ 1445 h 2985"/>
                <a:gd name="T26" fmla="*/ 2503 w 2503"/>
                <a:gd name="T27" fmla="*/ 256 h 2985"/>
                <a:gd name="T28" fmla="*/ 2237 w 2503"/>
                <a:gd name="T29" fmla="*/ 151 h 2985"/>
                <a:gd name="T30" fmla="*/ 1252 w 2503"/>
                <a:gd name="T31" fmla="*/ 0 h 2985"/>
                <a:gd name="T32" fmla="*/ 266 w 2503"/>
                <a:gd name="T33" fmla="*/ 151 h 2985"/>
                <a:gd name="T34" fmla="*/ 0 w 2503"/>
                <a:gd name="T35" fmla="*/ 256 h 2985"/>
                <a:gd name="T36" fmla="*/ 0 w 2503"/>
                <a:gd name="T37" fmla="*/ 1445 h 2985"/>
                <a:gd name="T38" fmla="*/ 0 w 2503"/>
                <a:gd name="T39" fmla="*/ 2064 h 2985"/>
                <a:gd name="T40" fmla="*/ 266 w 2503"/>
                <a:gd name="T41" fmla="*/ 2310 h 2985"/>
                <a:gd name="T42" fmla="*/ 1252 w 2503"/>
                <a:gd name="T43" fmla="*/ 2985 h 2985"/>
                <a:gd name="T44" fmla="*/ 2237 w 2503"/>
                <a:gd name="T45" fmla="*/ 2310 h 2985"/>
                <a:gd name="T46" fmla="*/ 2503 w 2503"/>
                <a:gd name="T47" fmla="*/ 2064 h 2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503" h="2985">
                  <a:moveTo>
                    <a:pt x="410" y="2143"/>
                  </a:moveTo>
                  <a:cubicBezTo>
                    <a:pt x="345" y="2087"/>
                    <a:pt x="282" y="2030"/>
                    <a:pt x="220" y="1971"/>
                  </a:cubicBezTo>
                  <a:lnTo>
                    <a:pt x="220" y="401"/>
                  </a:lnTo>
                  <a:cubicBezTo>
                    <a:pt x="258" y="387"/>
                    <a:pt x="297" y="373"/>
                    <a:pt x="335" y="360"/>
                  </a:cubicBezTo>
                  <a:cubicBezTo>
                    <a:pt x="629" y="264"/>
                    <a:pt x="943" y="220"/>
                    <a:pt x="1252" y="220"/>
                  </a:cubicBezTo>
                  <a:cubicBezTo>
                    <a:pt x="1560" y="220"/>
                    <a:pt x="1875" y="264"/>
                    <a:pt x="2168" y="360"/>
                  </a:cubicBezTo>
                  <a:cubicBezTo>
                    <a:pt x="2207" y="373"/>
                    <a:pt x="2245" y="387"/>
                    <a:pt x="2283" y="401"/>
                  </a:cubicBezTo>
                  <a:lnTo>
                    <a:pt x="2283" y="1971"/>
                  </a:lnTo>
                  <a:cubicBezTo>
                    <a:pt x="2222" y="2030"/>
                    <a:pt x="2158" y="2087"/>
                    <a:pt x="2094" y="2143"/>
                  </a:cubicBezTo>
                  <a:cubicBezTo>
                    <a:pt x="1835" y="2366"/>
                    <a:pt x="1550" y="2566"/>
                    <a:pt x="1252" y="2734"/>
                  </a:cubicBezTo>
                  <a:cubicBezTo>
                    <a:pt x="953" y="2566"/>
                    <a:pt x="669" y="2366"/>
                    <a:pt x="410" y="2143"/>
                  </a:cubicBezTo>
                  <a:close/>
                  <a:moveTo>
                    <a:pt x="2503" y="2064"/>
                  </a:moveTo>
                  <a:lnTo>
                    <a:pt x="2503" y="1445"/>
                  </a:lnTo>
                  <a:lnTo>
                    <a:pt x="2503" y="256"/>
                  </a:lnTo>
                  <a:cubicBezTo>
                    <a:pt x="2419" y="217"/>
                    <a:pt x="2330" y="182"/>
                    <a:pt x="2237" y="151"/>
                  </a:cubicBezTo>
                  <a:cubicBezTo>
                    <a:pt x="1945" y="55"/>
                    <a:pt x="1609" y="0"/>
                    <a:pt x="1252" y="0"/>
                  </a:cubicBezTo>
                  <a:cubicBezTo>
                    <a:pt x="895" y="0"/>
                    <a:pt x="559" y="55"/>
                    <a:pt x="266" y="151"/>
                  </a:cubicBezTo>
                  <a:cubicBezTo>
                    <a:pt x="173" y="182"/>
                    <a:pt x="84" y="217"/>
                    <a:pt x="0" y="256"/>
                  </a:cubicBezTo>
                  <a:lnTo>
                    <a:pt x="0" y="1445"/>
                  </a:lnTo>
                  <a:lnTo>
                    <a:pt x="0" y="2064"/>
                  </a:lnTo>
                  <a:cubicBezTo>
                    <a:pt x="84" y="2147"/>
                    <a:pt x="173" y="2229"/>
                    <a:pt x="266" y="2310"/>
                  </a:cubicBezTo>
                  <a:cubicBezTo>
                    <a:pt x="559" y="2561"/>
                    <a:pt x="895" y="2795"/>
                    <a:pt x="1252" y="2985"/>
                  </a:cubicBezTo>
                  <a:cubicBezTo>
                    <a:pt x="1609" y="2795"/>
                    <a:pt x="1945" y="2561"/>
                    <a:pt x="2237" y="2310"/>
                  </a:cubicBezTo>
                  <a:cubicBezTo>
                    <a:pt x="2330" y="2229"/>
                    <a:pt x="2419" y="2147"/>
                    <a:pt x="2503" y="20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7" name="Picture165"/>
            <p:cNvSpPr>
              <a:spLocks noChangeAspect="1"/>
            </p:cNvSpPr>
            <p:nvPr/>
          </p:nvSpPr>
          <p:spPr bwMode="auto">
            <a:xfrm>
              <a:off x="2550034" y="2028021"/>
              <a:ext cx="522382" cy="625215"/>
            </a:xfrm>
            <a:custGeom>
              <a:avLst/>
              <a:gdLst>
                <a:gd name="T0" fmla="*/ 0 w 762"/>
                <a:gd name="T1" fmla="*/ 467 h 912"/>
                <a:gd name="T2" fmla="*/ 152 w 762"/>
                <a:gd name="T3" fmla="*/ 372 h 912"/>
                <a:gd name="T4" fmla="*/ 280 w 762"/>
                <a:gd name="T5" fmla="*/ 608 h 912"/>
                <a:gd name="T6" fmla="*/ 609 w 762"/>
                <a:gd name="T7" fmla="*/ 0 h 912"/>
                <a:gd name="T8" fmla="*/ 762 w 762"/>
                <a:gd name="T9" fmla="*/ 95 h 912"/>
                <a:gd name="T10" fmla="*/ 280 w 762"/>
                <a:gd name="T11" fmla="*/ 912 h 912"/>
                <a:gd name="T12" fmla="*/ 0 w 762"/>
                <a:gd name="T13" fmla="*/ 467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2" h="912">
                  <a:moveTo>
                    <a:pt x="0" y="467"/>
                  </a:moveTo>
                  <a:lnTo>
                    <a:pt x="152" y="372"/>
                  </a:lnTo>
                  <a:lnTo>
                    <a:pt x="280" y="608"/>
                  </a:lnTo>
                  <a:lnTo>
                    <a:pt x="609" y="0"/>
                  </a:lnTo>
                  <a:lnTo>
                    <a:pt x="762" y="95"/>
                  </a:lnTo>
                  <a:lnTo>
                    <a:pt x="280" y="912"/>
                  </a:lnTo>
                  <a:lnTo>
                    <a:pt x="0" y="467"/>
                  </a:ln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olidFill>
                  <a:srgbClr val="C00000"/>
                </a:solidFill>
              </a:endParaRPr>
            </a:p>
          </p:txBody>
        </p:sp>
      </p:grpSp>
      <p:grpSp>
        <p:nvGrpSpPr>
          <p:cNvPr id="8" name="Группа 7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75777" y="2204864"/>
            <a:ext cx="803835" cy="890037"/>
            <a:chOff x="7051636" y="2029408"/>
            <a:chExt cx="561975" cy="571500"/>
          </a:xfrm>
        </p:grpSpPr>
        <p:grpSp>
          <p:nvGrpSpPr>
            <p:cNvPr id="9" name="Группа 8"/>
            <p:cNvGrpSpPr/>
            <p:nvPr/>
          </p:nvGrpSpPr>
          <p:grpSpPr>
            <a:xfrm>
              <a:off x="7051636" y="2029408"/>
              <a:ext cx="561975" cy="571500"/>
              <a:chOff x="7051636" y="2029408"/>
              <a:chExt cx="561975" cy="571500"/>
            </a:xfrm>
            <a:solidFill>
              <a:schemeClr val="accent2"/>
            </a:solidFill>
          </p:grpSpPr>
          <p:sp>
            <p:nvSpPr>
              <p:cNvPr id="11" name="Freeform 146"/>
              <p:cNvSpPr>
                <a:spLocks/>
              </p:cNvSpPr>
              <p:nvPr/>
            </p:nvSpPr>
            <p:spPr bwMode="auto">
              <a:xfrm>
                <a:off x="7051636" y="2248483"/>
                <a:ext cx="561975" cy="352425"/>
              </a:xfrm>
              <a:custGeom>
                <a:avLst/>
                <a:gdLst>
                  <a:gd name="T0" fmla="*/ 1522 w 1556"/>
                  <a:gd name="T1" fmla="*/ 444 h 977"/>
                  <a:gd name="T2" fmla="*/ 33 w 1556"/>
                  <a:gd name="T3" fmla="*/ 444 h 977"/>
                  <a:gd name="T4" fmla="*/ 0 w 1556"/>
                  <a:gd name="T5" fmla="*/ 478 h 977"/>
                  <a:gd name="T6" fmla="*/ 0 w 1556"/>
                  <a:gd name="T7" fmla="*/ 524 h 977"/>
                  <a:gd name="T8" fmla="*/ 33 w 1556"/>
                  <a:gd name="T9" fmla="*/ 558 h 977"/>
                  <a:gd name="T10" fmla="*/ 1522 w 1556"/>
                  <a:gd name="T11" fmla="*/ 558 h 977"/>
                  <a:gd name="T12" fmla="*/ 1556 w 1556"/>
                  <a:gd name="T13" fmla="*/ 524 h 977"/>
                  <a:gd name="T14" fmla="*/ 1556 w 1556"/>
                  <a:gd name="T15" fmla="*/ 478 h 977"/>
                  <a:gd name="T16" fmla="*/ 1522 w 1556"/>
                  <a:gd name="T17" fmla="*/ 44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6" h="977">
                    <a:moveTo>
                      <a:pt x="1522" y="444"/>
                    </a:moveTo>
                    <a:cubicBezTo>
                      <a:pt x="1031" y="444"/>
                      <a:pt x="391" y="444"/>
                      <a:pt x="33" y="444"/>
                    </a:cubicBezTo>
                    <a:cubicBezTo>
                      <a:pt x="15" y="444"/>
                      <a:pt x="0" y="459"/>
                      <a:pt x="0" y="478"/>
                    </a:cubicBezTo>
                    <a:cubicBezTo>
                      <a:pt x="0" y="977"/>
                      <a:pt x="0" y="0"/>
                      <a:pt x="0" y="524"/>
                    </a:cubicBezTo>
                    <a:cubicBezTo>
                      <a:pt x="0" y="543"/>
                      <a:pt x="15" y="558"/>
                      <a:pt x="33" y="558"/>
                    </a:cubicBezTo>
                    <a:cubicBezTo>
                      <a:pt x="560" y="558"/>
                      <a:pt x="1075" y="558"/>
                      <a:pt x="1522" y="558"/>
                    </a:cubicBezTo>
                    <a:cubicBezTo>
                      <a:pt x="1541" y="558"/>
                      <a:pt x="1556" y="543"/>
                      <a:pt x="1556" y="524"/>
                    </a:cubicBezTo>
                    <a:lnTo>
                      <a:pt x="1556" y="478"/>
                    </a:lnTo>
                    <a:cubicBezTo>
                      <a:pt x="1556" y="459"/>
                      <a:pt x="1541" y="444"/>
                      <a:pt x="1522" y="4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" name="Oval 147"/>
              <p:cNvSpPr>
                <a:spLocks noChangeArrowheads="1"/>
              </p:cNvSpPr>
              <p:nvPr/>
            </p:nvSpPr>
            <p:spPr bwMode="auto">
              <a:xfrm>
                <a:off x="7167523" y="2029408"/>
                <a:ext cx="277813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3" name="Freeform 148"/>
              <p:cNvSpPr>
                <a:spLocks/>
              </p:cNvSpPr>
              <p:nvPr/>
            </p:nvSpPr>
            <p:spPr bwMode="auto">
              <a:xfrm>
                <a:off x="7167523" y="2237370"/>
                <a:ext cx="169863" cy="109538"/>
              </a:xfrm>
              <a:custGeom>
                <a:avLst/>
                <a:gdLst>
                  <a:gd name="T0" fmla="*/ 473 w 473"/>
                  <a:gd name="T1" fmla="*/ 226 h 302"/>
                  <a:gd name="T2" fmla="*/ 421 w 473"/>
                  <a:gd name="T3" fmla="*/ 170 h 302"/>
                  <a:gd name="T4" fmla="*/ 384 w 473"/>
                  <a:gd name="T5" fmla="*/ 171 h 302"/>
                  <a:gd name="T6" fmla="*/ 0 w 473"/>
                  <a:gd name="T7" fmla="*/ 0 h 302"/>
                  <a:gd name="T8" fmla="*/ 0 w 473"/>
                  <a:gd name="T9" fmla="*/ 131 h 302"/>
                  <a:gd name="T10" fmla="*/ 384 w 473"/>
                  <a:gd name="T11" fmla="*/ 302 h 302"/>
                  <a:gd name="T12" fmla="*/ 473 w 473"/>
                  <a:gd name="T13" fmla="*/ 297 h 302"/>
                  <a:gd name="T14" fmla="*/ 473 w 473"/>
                  <a:gd name="T15" fmla="*/ 226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3" h="302">
                    <a:moveTo>
                      <a:pt x="473" y="226"/>
                    </a:moveTo>
                    <a:cubicBezTo>
                      <a:pt x="446" y="219"/>
                      <a:pt x="426" y="197"/>
                      <a:pt x="421" y="170"/>
                    </a:cubicBezTo>
                    <a:cubicBezTo>
                      <a:pt x="409" y="171"/>
                      <a:pt x="3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ubicBezTo>
                      <a:pt x="415" y="302"/>
                      <a:pt x="444" y="300"/>
                      <a:pt x="473" y="297"/>
                    </a:cubicBezTo>
                    <a:cubicBezTo>
                      <a:pt x="461" y="275"/>
                      <a:pt x="460" y="248"/>
                      <a:pt x="473" y="2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4" name="Freeform 149"/>
              <p:cNvSpPr>
                <a:spLocks/>
              </p:cNvSpPr>
              <p:nvPr/>
            </p:nvSpPr>
            <p:spPr bwMode="auto">
              <a:xfrm>
                <a:off x="7167523" y="2172283"/>
                <a:ext cx="171450" cy="109538"/>
              </a:xfrm>
              <a:custGeom>
                <a:avLst/>
                <a:gdLst>
                  <a:gd name="T0" fmla="*/ 384 w 474"/>
                  <a:gd name="T1" fmla="*/ 302 h 302"/>
                  <a:gd name="T2" fmla="*/ 420 w 474"/>
                  <a:gd name="T3" fmla="*/ 301 h 302"/>
                  <a:gd name="T4" fmla="*/ 420 w 474"/>
                  <a:gd name="T5" fmla="*/ 281 h 302"/>
                  <a:gd name="T6" fmla="*/ 474 w 474"/>
                  <a:gd name="T7" fmla="*/ 213 h 302"/>
                  <a:gd name="T8" fmla="*/ 464 w 474"/>
                  <a:gd name="T9" fmla="*/ 167 h 302"/>
                  <a:gd name="T10" fmla="*/ 384 w 474"/>
                  <a:gd name="T11" fmla="*/ 171 h 302"/>
                  <a:gd name="T12" fmla="*/ 0 w 474"/>
                  <a:gd name="T13" fmla="*/ 0 h 302"/>
                  <a:gd name="T14" fmla="*/ 0 w 474"/>
                  <a:gd name="T15" fmla="*/ 131 h 302"/>
                  <a:gd name="T16" fmla="*/ 384 w 474"/>
                  <a:gd name="T1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4" h="302">
                    <a:moveTo>
                      <a:pt x="384" y="302"/>
                    </a:moveTo>
                    <a:cubicBezTo>
                      <a:pt x="396" y="302"/>
                      <a:pt x="408" y="302"/>
                      <a:pt x="420" y="301"/>
                    </a:cubicBezTo>
                    <a:lnTo>
                      <a:pt x="420" y="281"/>
                    </a:lnTo>
                    <a:cubicBezTo>
                      <a:pt x="420" y="249"/>
                      <a:pt x="442" y="220"/>
                      <a:pt x="474" y="213"/>
                    </a:cubicBezTo>
                    <a:cubicBezTo>
                      <a:pt x="465" y="199"/>
                      <a:pt x="463" y="183"/>
                      <a:pt x="464" y="167"/>
                    </a:cubicBezTo>
                    <a:cubicBezTo>
                      <a:pt x="439" y="170"/>
                      <a:pt x="412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5" name="Freeform 150"/>
              <p:cNvSpPr>
                <a:spLocks/>
              </p:cNvSpPr>
              <p:nvPr/>
            </p:nvSpPr>
            <p:spPr bwMode="auto">
              <a:xfrm>
                <a:off x="7167523" y="2108783"/>
                <a:ext cx="277813" cy="109538"/>
              </a:xfrm>
              <a:custGeom>
                <a:avLst/>
                <a:gdLst>
                  <a:gd name="T0" fmla="*/ 384 w 769"/>
                  <a:gd name="T1" fmla="*/ 302 h 302"/>
                  <a:gd name="T2" fmla="*/ 494 w 769"/>
                  <a:gd name="T3" fmla="*/ 295 h 302"/>
                  <a:gd name="T4" fmla="*/ 522 w 769"/>
                  <a:gd name="T5" fmla="*/ 266 h 302"/>
                  <a:gd name="T6" fmla="*/ 573 w 769"/>
                  <a:gd name="T7" fmla="*/ 245 h 302"/>
                  <a:gd name="T8" fmla="*/ 609 w 769"/>
                  <a:gd name="T9" fmla="*/ 255 h 302"/>
                  <a:gd name="T10" fmla="*/ 677 w 769"/>
                  <a:gd name="T11" fmla="*/ 202 h 302"/>
                  <a:gd name="T12" fmla="*/ 731 w 769"/>
                  <a:gd name="T13" fmla="*/ 202 h 302"/>
                  <a:gd name="T14" fmla="*/ 734 w 769"/>
                  <a:gd name="T15" fmla="*/ 202 h 302"/>
                  <a:gd name="T16" fmla="*/ 769 w 769"/>
                  <a:gd name="T17" fmla="*/ 131 h 302"/>
                  <a:gd name="T18" fmla="*/ 769 w 769"/>
                  <a:gd name="T19" fmla="*/ 0 h 302"/>
                  <a:gd name="T20" fmla="*/ 384 w 769"/>
                  <a:gd name="T21" fmla="*/ 171 h 302"/>
                  <a:gd name="T22" fmla="*/ 0 w 769"/>
                  <a:gd name="T23" fmla="*/ 0 h 302"/>
                  <a:gd name="T24" fmla="*/ 0 w 769"/>
                  <a:gd name="T25" fmla="*/ 131 h 302"/>
                  <a:gd name="T26" fmla="*/ 384 w 769"/>
                  <a:gd name="T2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9" h="302">
                    <a:moveTo>
                      <a:pt x="384" y="302"/>
                    </a:moveTo>
                    <a:cubicBezTo>
                      <a:pt x="422" y="302"/>
                      <a:pt x="459" y="299"/>
                      <a:pt x="494" y="295"/>
                    </a:cubicBezTo>
                    <a:lnTo>
                      <a:pt x="522" y="266"/>
                    </a:lnTo>
                    <a:cubicBezTo>
                      <a:pt x="536" y="252"/>
                      <a:pt x="554" y="245"/>
                      <a:pt x="573" y="245"/>
                    </a:cubicBezTo>
                    <a:cubicBezTo>
                      <a:pt x="585" y="245"/>
                      <a:pt x="598" y="249"/>
                      <a:pt x="609" y="255"/>
                    </a:cubicBezTo>
                    <a:cubicBezTo>
                      <a:pt x="617" y="224"/>
                      <a:pt x="645" y="202"/>
                      <a:pt x="677" y="202"/>
                    </a:cubicBezTo>
                    <a:lnTo>
                      <a:pt x="731" y="202"/>
                    </a:lnTo>
                    <a:cubicBezTo>
                      <a:pt x="732" y="202"/>
                      <a:pt x="733" y="202"/>
                      <a:pt x="734" y="202"/>
                    </a:cubicBezTo>
                    <a:cubicBezTo>
                      <a:pt x="756" y="180"/>
                      <a:pt x="769" y="156"/>
                      <a:pt x="769" y="131"/>
                    </a:cubicBezTo>
                    <a:lnTo>
                      <a:pt x="769" y="0"/>
                    </a:lnTo>
                    <a:cubicBezTo>
                      <a:pt x="769" y="94"/>
                      <a:pt x="5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sp>
          <p:nvSpPr>
            <p:cNvPr id="10" name="Freeform 151"/>
            <p:cNvSpPr>
              <a:spLocks noEditPoints="1"/>
            </p:cNvSpPr>
            <p:nvPr/>
          </p:nvSpPr>
          <p:spPr bwMode="auto">
            <a:xfrm>
              <a:off x="7343736" y="2207208"/>
              <a:ext cx="153988" cy="153988"/>
            </a:xfrm>
            <a:custGeom>
              <a:avLst/>
              <a:gdLst>
                <a:gd name="T0" fmla="*/ 427 w 427"/>
                <a:gd name="T1" fmla="*/ 240 h 427"/>
                <a:gd name="T2" fmla="*/ 427 w 427"/>
                <a:gd name="T3" fmla="*/ 186 h 427"/>
                <a:gd name="T4" fmla="*/ 363 w 427"/>
                <a:gd name="T5" fmla="*/ 176 h 427"/>
                <a:gd name="T6" fmla="*/ 346 w 427"/>
                <a:gd name="T7" fmla="*/ 134 h 427"/>
                <a:gd name="T8" fmla="*/ 383 w 427"/>
                <a:gd name="T9" fmla="*/ 81 h 427"/>
                <a:gd name="T10" fmla="*/ 345 w 427"/>
                <a:gd name="T11" fmla="*/ 44 h 427"/>
                <a:gd name="T12" fmla="*/ 293 w 427"/>
                <a:gd name="T13" fmla="*/ 81 h 427"/>
                <a:gd name="T14" fmla="*/ 251 w 427"/>
                <a:gd name="T15" fmla="*/ 63 h 427"/>
                <a:gd name="T16" fmla="*/ 240 w 427"/>
                <a:gd name="T17" fmla="*/ 0 h 427"/>
                <a:gd name="T18" fmla="*/ 186 w 427"/>
                <a:gd name="T19" fmla="*/ 0 h 427"/>
                <a:gd name="T20" fmla="*/ 176 w 427"/>
                <a:gd name="T21" fmla="*/ 63 h 427"/>
                <a:gd name="T22" fmla="*/ 134 w 427"/>
                <a:gd name="T23" fmla="*/ 81 h 427"/>
                <a:gd name="T24" fmla="*/ 82 w 427"/>
                <a:gd name="T25" fmla="*/ 44 h 427"/>
                <a:gd name="T26" fmla="*/ 44 w 427"/>
                <a:gd name="T27" fmla="*/ 81 h 427"/>
                <a:gd name="T28" fmla="*/ 80 w 427"/>
                <a:gd name="T29" fmla="*/ 133 h 427"/>
                <a:gd name="T30" fmla="*/ 63 w 427"/>
                <a:gd name="T31" fmla="*/ 176 h 427"/>
                <a:gd name="T32" fmla="*/ 0 w 427"/>
                <a:gd name="T33" fmla="*/ 186 h 427"/>
                <a:gd name="T34" fmla="*/ 0 w 427"/>
                <a:gd name="T35" fmla="*/ 240 h 427"/>
                <a:gd name="T36" fmla="*/ 63 w 427"/>
                <a:gd name="T37" fmla="*/ 251 h 427"/>
                <a:gd name="T38" fmla="*/ 80 w 427"/>
                <a:gd name="T39" fmla="*/ 294 h 427"/>
                <a:gd name="T40" fmla="*/ 43 w 427"/>
                <a:gd name="T41" fmla="*/ 345 h 427"/>
                <a:gd name="T42" fmla="*/ 81 w 427"/>
                <a:gd name="T43" fmla="*/ 383 h 427"/>
                <a:gd name="T44" fmla="*/ 133 w 427"/>
                <a:gd name="T45" fmla="*/ 346 h 427"/>
                <a:gd name="T46" fmla="*/ 176 w 427"/>
                <a:gd name="T47" fmla="*/ 364 h 427"/>
                <a:gd name="T48" fmla="*/ 186 w 427"/>
                <a:gd name="T49" fmla="*/ 427 h 427"/>
                <a:gd name="T50" fmla="*/ 240 w 427"/>
                <a:gd name="T51" fmla="*/ 427 h 427"/>
                <a:gd name="T52" fmla="*/ 251 w 427"/>
                <a:gd name="T53" fmla="*/ 364 h 427"/>
                <a:gd name="T54" fmla="*/ 293 w 427"/>
                <a:gd name="T55" fmla="*/ 346 h 427"/>
                <a:gd name="T56" fmla="*/ 346 w 427"/>
                <a:gd name="T57" fmla="*/ 383 h 427"/>
                <a:gd name="T58" fmla="*/ 384 w 427"/>
                <a:gd name="T59" fmla="*/ 345 h 427"/>
                <a:gd name="T60" fmla="*/ 346 w 427"/>
                <a:gd name="T61" fmla="*/ 293 h 427"/>
                <a:gd name="T62" fmla="*/ 363 w 427"/>
                <a:gd name="T63" fmla="*/ 251 h 427"/>
                <a:gd name="T64" fmla="*/ 427 w 427"/>
                <a:gd name="T65" fmla="*/ 240 h 427"/>
                <a:gd name="T66" fmla="*/ 214 w 427"/>
                <a:gd name="T67" fmla="*/ 288 h 427"/>
                <a:gd name="T68" fmla="*/ 139 w 427"/>
                <a:gd name="T69" fmla="*/ 214 h 427"/>
                <a:gd name="T70" fmla="*/ 214 w 427"/>
                <a:gd name="T71" fmla="*/ 139 h 427"/>
                <a:gd name="T72" fmla="*/ 288 w 427"/>
                <a:gd name="T73" fmla="*/ 214 h 427"/>
                <a:gd name="T74" fmla="*/ 214 w 427"/>
                <a:gd name="T75" fmla="*/ 28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7" h="427">
                  <a:moveTo>
                    <a:pt x="427" y="240"/>
                  </a:moveTo>
                  <a:lnTo>
                    <a:pt x="427" y="186"/>
                  </a:lnTo>
                  <a:lnTo>
                    <a:pt x="363" y="176"/>
                  </a:lnTo>
                  <a:cubicBezTo>
                    <a:pt x="360" y="161"/>
                    <a:pt x="354" y="147"/>
                    <a:pt x="346" y="134"/>
                  </a:cubicBezTo>
                  <a:lnTo>
                    <a:pt x="383" y="81"/>
                  </a:lnTo>
                  <a:lnTo>
                    <a:pt x="345" y="44"/>
                  </a:lnTo>
                  <a:lnTo>
                    <a:pt x="293" y="81"/>
                  </a:lnTo>
                  <a:cubicBezTo>
                    <a:pt x="280" y="73"/>
                    <a:pt x="266" y="67"/>
                    <a:pt x="251" y="63"/>
                  </a:cubicBezTo>
                  <a:lnTo>
                    <a:pt x="240" y="0"/>
                  </a:lnTo>
                  <a:lnTo>
                    <a:pt x="186" y="0"/>
                  </a:lnTo>
                  <a:lnTo>
                    <a:pt x="176" y="63"/>
                  </a:lnTo>
                  <a:cubicBezTo>
                    <a:pt x="161" y="67"/>
                    <a:pt x="147" y="73"/>
                    <a:pt x="134" y="81"/>
                  </a:cubicBezTo>
                  <a:lnTo>
                    <a:pt x="82" y="44"/>
                  </a:lnTo>
                  <a:lnTo>
                    <a:pt x="44" y="81"/>
                  </a:lnTo>
                  <a:lnTo>
                    <a:pt x="80" y="133"/>
                  </a:lnTo>
                  <a:cubicBezTo>
                    <a:pt x="73" y="147"/>
                    <a:pt x="67" y="161"/>
                    <a:pt x="63" y="176"/>
                  </a:cubicBezTo>
                  <a:lnTo>
                    <a:pt x="0" y="186"/>
                  </a:lnTo>
                  <a:lnTo>
                    <a:pt x="0" y="240"/>
                  </a:lnTo>
                  <a:lnTo>
                    <a:pt x="63" y="251"/>
                  </a:lnTo>
                  <a:cubicBezTo>
                    <a:pt x="67" y="266"/>
                    <a:pt x="72" y="280"/>
                    <a:pt x="80" y="294"/>
                  </a:cubicBezTo>
                  <a:lnTo>
                    <a:pt x="43" y="345"/>
                  </a:lnTo>
                  <a:lnTo>
                    <a:pt x="81" y="383"/>
                  </a:lnTo>
                  <a:lnTo>
                    <a:pt x="133" y="346"/>
                  </a:lnTo>
                  <a:cubicBezTo>
                    <a:pt x="147" y="354"/>
                    <a:pt x="161" y="360"/>
                    <a:pt x="176" y="364"/>
                  </a:cubicBezTo>
                  <a:lnTo>
                    <a:pt x="186" y="427"/>
                  </a:lnTo>
                  <a:lnTo>
                    <a:pt x="240" y="427"/>
                  </a:lnTo>
                  <a:lnTo>
                    <a:pt x="251" y="364"/>
                  </a:lnTo>
                  <a:cubicBezTo>
                    <a:pt x="266" y="360"/>
                    <a:pt x="280" y="354"/>
                    <a:pt x="293" y="346"/>
                  </a:cubicBezTo>
                  <a:lnTo>
                    <a:pt x="346" y="383"/>
                  </a:lnTo>
                  <a:lnTo>
                    <a:pt x="384" y="345"/>
                  </a:lnTo>
                  <a:lnTo>
                    <a:pt x="346" y="293"/>
                  </a:lnTo>
                  <a:cubicBezTo>
                    <a:pt x="354" y="280"/>
                    <a:pt x="360" y="266"/>
                    <a:pt x="363" y="251"/>
                  </a:cubicBezTo>
                  <a:lnTo>
                    <a:pt x="427" y="240"/>
                  </a:lnTo>
                  <a:close/>
                  <a:moveTo>
                    <a:pt x="214" y="288"/>
                  </a:moveTo>
                  <a:cubicBezTo>
                    <a:pt x="173" y="288"/>
                    <a:pt x="139" y="255"/>
                    <a:pt x="139" y="214"/>
                  </a:cubicBezTo>
                  <a:cubicBezTo>
                    <a:pt x="139" y="173"/>
                    <a:pt x="173" y="139"/>
                    <a:pt x="214" y="139"/>
                  </a:cubicBezTo>
                  <a:cubicBezTo>
                    <a:pt x="255" y="139"/>
                    <a:pt x="288" y="173"/>
                    <a:pt x="288" y="214"/>
                  </a:cubicBezTo>
                  <a:cubicBezTo>
                    <a:pt x="288" y="255"/>
                    <a:pt x="255" y="288"/>
                    <a:pt x="214" y="288"/>
                  </a:cubicBez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6" name="Группа 15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359532" y="3068960"/>
            <a:ext cx="615095" cy="596490"/>
            <a:chOff x="2154187" y="4126930"/>
            <a:chExt cx="1284385" cy="1291432"/>
          </a:xfrm>
        </p:grpSpPr>
        <p:sp>
          <p:nvSpPr>
            <p:cNvPr id="17" name="Овал 16"/>
            <p:cNvSpPr/>
            <p:nvPr/>
          </p:nvSpPr>
          <p:spPr>
            <a:xfrm>
              <a:off x="2297779" y="4274046"/>
              <a:ext cx="997200" cy="997200"/>
            </a:xfrm>
            <a:prstGeom prst="ellipse">
              <a:avLst/>
            </a:prstGeom>
            <a:solidFill>
              <a:srgbClr val="E6E6E6"/>
            </a:solidFill>
            <a:ln w="7938" cap="flat">
              <a:solidFill>
                <a:srgbClr val="FEFEF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18" name="Группа 17"/>
            <p:cNvGrpSpPr/>
            <p:nvPr/>
          </p:nvGrpSpPr>
          <p:grpSpPr>
            <a:xfrm>
              <a:off x="2154187" y="4126930"/>
              <a:ext cx="1284385" cy="1291432"/>
              <a:chOff x="2182018" y="4039169"/>
              <a:chExt cx="1284385" cy="1291432"/>
            </a:xfrm>
            <a:solidFill>
              <a:schemeClr val="accent2"/>
            </a:solidFill>
          </p:grpSpPr>
          <p:sp>
            <p:nvSpPr>
              <p:cNvPr id="25" name="Freeform 8"/>
              <p:cNvSpPr>
                <a:spLocks noEditPoints="1"/>
              </p:cNvSpPr>
              <p:nvPr/>
            </p:nvSpPr>
            <p:spPr bwMode="auto">
              <a:xfrm>
                <a:off x="2819806" y="4398585"/>
                <a:ext cx="646597" cy="932016"/>
              </a:xfrm>
              <a:custGeom>
                <a:avLst/>
                <a:gdLst>
                  <a:gd name="T0" fmla="*/ 0 w 1609"/>
                  <a:gd name="T1" fmla="*/ 2187 h 2327"/>
                  <a:gd name="T2" fmla="*/ 0 w 1609"/>
                  <a:gd name="T3" fmla="*/ 2187 h 2327"/>
                  <a:gd name="T4" fmla="*/ 31 w 1609"/>
                  <a:gd name="T5" fmla="*/ 2327 h 2327"/>
                  <a:gd name="T6" fmla="*/ 165 w 1609"/>
                  <a:gd name="T7" fmla="*/ 2319 h 2327"/>
                  <a:gd name="T8" fmla="*/ 295 w 1609"/>
                  <a:gd name="T9" fmla="*/ 2300 h 2327"/>
                  <a:gd name="T10" fmla="*/ 422 w 1609"/>
                  <a:gd name="T11" fmla="*/ 2271 h 2327"/>
                  <a:gd name="T12" fmla="*/ 545 w 1609"/>
                  <a:gd name="T13" fmla="*/ 2233 h 2327"/>
                  <a:gd name="T14" fmla="*/ 450 w 1609"/>
                  <a:gd name="T15" fmla="*/ 1969 h 2327"/>
                  <a:gd name="T16" fmla="*/ 349 w 1609"/>
                  <a:gd name="T17" fmla="*/ 2001 h 2327"/>
                  <a:gd name="T18" fmla="*/ 244 w 1609"/>
                  <a:gd name="T19" fmla="*/ 2025 h 2327"/>
                  <a:gd name="T20" fmla="*/ 136 w 1609"/>
                  <a:gd name="T21" fmla="*/ 2040 h 2327"/>
                  <a:gd name="T22" fmla="*/ 26 w 1609"/>
                  <a:gd name="T23" fmla="*/ 2047 h 2327"/>
                  <a:gd name="T24" fmla="*/ 1454 w 1609"/>
                  <a:gd name="T25" fmla="*/ 21 h 2327"/>
                  <a:gd name="T26" fmla="*/ 1470 w 1609"/>
                  <a:gd name="T27" fmla="*/ 55 h 2327"/>
                  <a:gd name="T28" fmla="*/ 1485 w 1609"/>
                  <a:gd name="T29" fmla="*/ 90 h 2327"/>
                  <a:gd name="T30" fmla="*/ 1499 w 1609"/>
                  <a:gd name="T31" fmla="*/ 125 h 2327"/>
                  <a:gd name="T32" fmla="*/ 1512 w 1609"/>
                  <a:gd name="T33" fmla="*/ 160 h 2327"/>
                  <a:gd name="T34" fmla="*/ 1525 w 1609"/>
                  <a:gd name="T35" fmla="*/ 196 h 2327"/>
                  <a:gd name="T36" fmla="*/ 1537 w 1609"/>
                  <a:gd name="T37" fmla="*/ 231 h 2327"/>
                  <a:gd name="T38" fmla="*/ 1548 w 1609"/>
                  <a:gd name="T39" fmla="*/ 267 h 2327"/>
                  <a:gd name="T40" fmla="*/ 1558 w 1609"/>
                  <a:gd name="T41" fmla="*/ 303 h 2327"/>
                  <a:gd name="T42" fmla="*/ 1567 w 1609"/>
                  <a:gd name="T43" fmla="*/ 340 h 2327"/>
                  <a:gd name="T44" fmla="*/ 1575 w 1609"/>
                  <a:gd name="T45" fmla="*/ 377 h 2327"/>
                  <a:gd name="T46" fmla="*/ 1583 w 1609"/>
                  <a:gd name="T47" fmla="*/ 414 h 2327"/>
                  <a:gd name="T48" fmla="*/ 1589 w 1609"/>
                  <a:gd name="T49" fmla="*/ 450 h 2327"/>
                  <a:gd name="T50" fmla="*/ 1595 w 1609"/>
                  <a:gd name="T51" fmla="*/ 488 h 2327"/>
                  <a:gd name="T52" fmla="*/ 1314 w 1609"/>
                  <a:gd name="T53" fmla="*/ 504 h 2327"/>
                  <a:gd name="T54" fmla="*/ 1309 w 1609"/>
                  <a:gd name="T55" fmla="*/ 473 h 2327"/>
                  <a:gd name="T56" fmla="*/ 1303 w 1609"/>
                  <a:gd name="T57" fmla="*/ 443 h 2327"/>
                  <a:gd name="T58" fmla="*/ 1296 w 1609"/>
                  <a:gd name="T59" fmla="*/ 412 h 2327"/>
                  <a:gd name="T60" fmla="*/ 1289 w 1609"/>
                  <a:gd name="T61" fmla="*/ 382 h 2327"/>
                  <a:gd name="T62" fmla="*/ 1281 w 1609"/>
                  <a:gd name="T63" fmla="*/ 352 h 2327"/>
                  <a:gd name="T64" fmla="*/ 1272 w 1609"/>
                  <a:gd name="T65" fmla="*/ 322 h 2327"/>
                  <a:gd name="T66" fmla="*/ 1262 w 1609"/>
                  <a:gd name="T67" fmla="*/ 293 h 2327"/>
                  <a:gd name="T68" fmla="*/ 1252 w 1609"/>
                  <a:gd name="T69" fmla="*/ 263 h 2327"/>
                  <a:gd name="T70" fmla="*/ 1241 w 1609"/>
                  <a:gd name="T71" fmla="*/ 234 h 2327"/>
                  <a:gd name="T72" fmla="*/ 1229 w 1609"/>
                  <a:gd name="T73" fmla="*/ 205 h 2327"/>
                  <a:gd name="T74" fmla="*/ 1217 w 1609"/>
                  <a:gd name="T75" fmla="*/ 177 h 2327"/>
                  <a:gd name="T76" fmla="*/ 1204 w 1609"/>
                  <a:gd name="T77" fmla="*/ 148 h 2327"/>
                  <a:gd name="T78" fmla="*/ 1609 w 1609"/>
                  <a:gd name="T79" fmla="*/ 794 h 2327"/>
                  <a:gd name="T80" fmla="*/ 1598 w 1609"/>
                  <a:gd name="T81" fmla="*/ 921 h 2327"/>
                  <a:gd name="T82" fmla="*/ 1577 w 1609"/>
                  <a:gd name="T83" fmla="*/ 1050 h 2327"/>
                  <a:gd name="T84" fmla="*/ 1545 w 1609"/>
                  <a:gd name="T85" fmla="*/ 1176 h 2327"/>
                  <a:gd name="T86" fmla="*/ 1503 w 1609"/>
                  <a:gd name="T87" fmla="*/ 1298 h 2327"/>
                  <a:gd name="T88" fmla="*/ 1217 w 1609"/>
                  <a:gd name="T89" fmla="*/ 1256 h 2327"/>
                  <a:gd name="T90" fmla="*/ 1256 w 1609"/>
                  <a:gd name="T91" fmla="*/ 1158 h 2327"/>
                  <a:gd name="T92" fmla="*/ 1287 w 1609"/>
                  <a:gd name="T93" fmla="*/ 1057 h 2327"/>
                  <a:gd name="T94" fmla="*/ 1311 w 1609"/>
                  <a:gd name="T95" fmla="*/ 952 h 2327"/>
                  <a:gd name="T96" fmla="*/ 1325 w 1609"/>
                  <a:gd name="T97" fmla="*/ 844 h 2327"/>
                  <a:gd name="T98" fmla="*/ 1297 w 1609"/>
                  <a:gd name="T99" fmla="*/ 1672 h 2327"/>
                  <a:gd name="T100" fmla="*/ 1218 w 1609"/>
                  <a:gd name="T101" fmla="*/ 1770 h 2327"/>
                  <a:gd name="T102" fmla="*/ 1133 w 1609"/>
                  <a:gd name="T103" fmla="*/ 1862 h 2327"/>
                  <a:gd name="T104" fmla="*/ 1040 w 1609"/>
                  <a:gd name="T105" fmla="*/ 1947 h 2327"/>
                  <a:gd name="T106" fmla="*/ 941 w 1609"/>
                  <a:gd name="T107" fmla="*/ 2024 h 2327"/>
                  <a:gd name="T108" fmla="*/ 738 w 1609"/>
                  <a:gd name="T109" fmla="*/ 1824 h 2327"/>
                  <a:gd name="T110" fmla="*/ 822 w 1609"/>
                  <a:gd name="T111" fmla="*/ 1763 h 2327"/>
                  <a:gd name="T112" fmla="*/ 901 w 1609"/>
                  <a:gd name="T113" fmla="*/ 1696 h 2327"/>
                  <a:gd name="T114" fmla="*/ 975 w 1609"/>
                  <a:gd name="T115" fmla="*/ 1623 h 2327"/>
                  <a:gd name="T116" fmla="*/ 1043 w 1609"/>
                  <a:gd name="T117" fmla="*/ 1544 h 2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09" h="2327">
                    <a:moveTo>
                      <a:pt x="0" y="2047"/>
                    </a:move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327"/>
                    </a:lnTo>
                    <a:lnTo>
                      <a:pt x="11" y="2327"/>
                    </a:lnTo>
                    <a:lnTo>
                      <a:pt x="21" y="2327"/>
                    </a:lnTo>
                    <a:lnTo>
                      <a:pt x="31" y="2327"/>
                    </a:lnTo>
                    <a:lnTo>
                      <a:pt x="42" y="2327"/>
                    </a:lnTo>
                    <a:lnTo>
                      <a:pt x="52" y="2326"/>
                    </a:lnTo>
                    <a:lnTo>
                      <a:pt x="62" y="2326"/>
                    </a:lnTo>
                    <a:lnTo>
                      <a:pt x="73" y="2326"/>
                    </a:lnTo>
                    <a:lnTo>
                      <a:pt x="83" y="2325"/>
                    </a:lnTo>
                    <a:lnTo>
                      <a:pt x="93" y="2325"/>
                    </a:lnTo>
                    <a:lnTo>
                      <a:pt x="104" y="2324"/>
                    </a:lnTo>
                    <a:lnTo>
                      <a:pt x="114" y="2323"/>
                    </a:lnTo>
                    <a:lnTo>
                      <a:pt x="124" y="2322"/>
                    </a:lnTo>
                    <a:lnTo>
                      <a:pt x="134" y="2322"/>
                    </a:lnTo>
                    <a:lnTo>
                      <a:pt x="144" y="2321"/>
                    </a:lnTo>
                    <a:lnTo>
                      <a:pt x="155" y="2320"/>
                    </a:lnTo>
                    <a:lnTo>
                      <a:pt x="165" y="2319"/>
                    </a:lnTo>
                    <a:lnTo>
                      <a:pt x="175" y="2318"/>
                    </a:lnTo>
                    <a:lnTo>
                      <a:pt x="185" y="2317"/>
                    </a:lnTo>
                    <a:lnTo>
                      <a:pt x="195" y="2315"/>
                    </a:lnTo>
                    <a:lnTo>
                      <a:pt x="205" y="2314"/>
                    </a:lnTo>
                    <a:lnTo>
                      <a:pt x="215" y="2313"/>
                    </a:lnTo>
                    <a:lnTo>
                      <a:pt x="225" y="2312"/>
                    </a:lnTo>
                    <a:lnTo>
                      <a:pt x="235" y="2310"/>
                    </a:lnTo>
                    <a:lnTo>
                      <a:pt x="245" y="2309"/>
                    </a:lnTo>
                    <a:lnTo>
                      <a:pt x="255" y="2307"/>
                    </a:lnTo>
                    <a:lnTo>
                      <a:pt x="265" y="2305"/>
                    </a:lnTo>
                    <a:lnTo>
                      <a:pt x="275" y="2304"/>
                    </a:lnTo>
                    <a:lnTo>
                      <a:pt x="285" y="2302"/>
                    </a:lnTo>
                    <a:lnTo>
                      <a:pt x="295" y="2300"/>
                    </a:lnTo>
                    <a:lnTo>
                      <a:pt x="305" y="2298"/>
                    </a:lnTo>
                    <a:lnTo>
                      <a:pt x="315" y="2296"/>
                    </a:lnTo>
                    <a:lnTo>
                      <a:pt x="325" y="2294"/>
                    </a:lnTo>
                    <a:lnTo>
                      <a:pt x="335" y="2292"/>
                    </a:lnTo>
                    <a:lnTo>
                      <a:pt x="344" y="2290"/>
                    </a:lnTo>
                    <a:lnTo>
                      <a:pt x="354" y="2288"/>
                    </a:lnTo>
                    <a:lnTo>
                      <a:pt x="364" y="2286"/>
                    </a:lnTo>
                    <a:lnTo>
                      <a:pt x="374" y="2284"/>
                    </a:lnTo>
                    <a:lnTo>
                      <a:pt x="383" y="2281"/>
                    </a:lnTo>
                    <a:lnTo>
                      <a:pt x="393" y="2279"/>
                    </a:lnTo>
                    <a:lnTo>
                      <a:pt x="403" y="2276"/>
                    </a:lnTo>
                    <a:lnTo>
                      <a:pt x="412" y="2274"/>
                    </a:lnTo>
                    <a:lnTo>
                      <a:pt x="422" y="2271"/>
                    </a:lnTo>
                    <a:lnTo>
                      <a:pt x="432" y="2269"/>
                    </a:lnTo>
                    <a:lnTo>
                      <a:pt x="441" y="2266"/>
                    </a:lnTo>
                    <a:lnTo>
                      <a:pt x="451" y="2263"/>
                    </a:lnTo>
                    <a:lnTo>
                      <a:pt x="460" y="2260"/>
                    </a:lnTo>
                    <a:lnTo>
                      <a:pt x="470" y="2258"/>
                    </a:lnTo>
                    <a:lnTo>
                      <a:pt x="479" y="2255"/>
                    </a:lnTo>
                    <a:lnTo>
                      <a:pt x="489" y="2252"/>
                    </a:lnTo>
                    <a:lnTo>
                      <a:pt x="498" y="2249"/>
                    </a:lnTo>
                    <a:lnTo>
                      <a:pt x="508" y="2246"/>
                    </a:lnTo>
                    <a:lnTo>
                      <a:pt x="517" y="2242"/>
                    </a:lnTo>
                    <a:lnTo>
                      <a:pt x="526" y="2239"/>
                    </a:lnTo>
                    <a:lnTo>
                      <a:pt x="536" y="2236"/>
                    </a:lnTo>
                    <a:lnTo>
                      <a:pt x="545" y="2233"/>
                    </a:lnTo>
                    <a:lnTo>
                      <a:pt x="554" y="2229"/>
                    </a:lnTo>
                    <a:lnTo>
                      <a:pt x="563" y="2226"/>
                    </a:lnTo>
                    <a:lnTo>
                      <a:pt x="573" y="2222"/>
                    </a:lnTo>
                    <a:lnTo>
                      <a:pt x="582" y="2219"/>
                    </a:lnTo>
                    <a:lnTo>
                      <a:pt x="591" y="2215"/>
                    </a:lnTo>
                    <a:lnTo>
                      <a:pt x="598" y="2212"/>
                    </a:lnTo>
                    <a:lnTo>
                      <a:pt x="496" y="1952"/>
                    </a:lnTo>
                    <a:lnTo>
                      <a:pt x="488" y="1955"/>
                    </a:lnTo>
                    <a:lnTo>
                      <a:pt x="481" y="1958"/>
                    </a:lnTo>
                    <a:lnTo>
                      <a:pt x="473" y="1961"/>
                    </a:lnTo>
                    <a:lnTo>
                      <a:pt x="466" y="1964"/>
                    </a:lnTo>
                    <a:lnTo>
                      <a:pt x="458" y="1966"/>
                    </a:lnTo>
                    <a:lnTo>
                      <a:pt x="450" y="1969"/>
                    </a:lnTo>
                    <a:lnTo>
                      <a:pt x="443" y="1972"/>
                    </a:lnTo>
                    <a:lnTo>
                      <a:pt x="435" y="1975"/>
                    </a:lnTo>
                    <a:lnTo>
                      <a:pt x="427" y="1977"/>
                    </a:lnTo>
                    <a:lnTo>
                      <a:pt x="420" y="1980"/>
                    </a:lnTo>
                    <a:lnTo>
                      <a:pt x="412" y="1982"/>
                    </a:lnTo>
                    <a:lnTo>
                      <a:pt x="404" y="1985"/>
                    </a:lnTo>
                    <a:lnTo>
                      <a:pt x="396" y="1987"/>
                    </a:lnTo>
                    <a:lnTo>
                      <a:pt x="388" y="1990"/>
                    </a:lnTo>
                    <a:lnTo>
                      <a:pt x="380" y="1992"/>
                    </a:lnTo>
                    <a:lnTo>
                      <a:pt x="373" y="1994"/>
                    </a:lnTo>
                    <a:lnTo>
                      <a:pt x="365" y="1997"/>
                    </a:lnTo>
                    <a:lnTo>
                      <a:pt x="357" y="1999"/>
                    </a:lnTo>
                    <a:lnTo>
                      <a:pt x="349" y="2001"/>
                    </a:lnTo>
                    <a:lnTo>
                      <a:pt x="341" y="2003"/>
                    </a:lnTo>
                    <a:lnTo>
                      <a:pt x="333" y="2005"/>
                    </a:lnTo>
                    <a:lnTo>
                      <a:pt x="325" y="2007"/>
                    </a:lnTo>
                    <a:lnTo>
                      <a:pt x="317" y="2009"/>
                    </a:lnTo>
                    <a:lnTo>
                      <a:pt x="309" y="2011"/>
                    </a:lnTo>
                    <a:lnTo>
                      <a:pt x="301" y="2013"/>
                    </a:lnTo>
                    <a:lnTo>
                      <a:pt x="293" y="2015"/>
                    </a:lnTo>
                    <a:lnTo>
                      <a:pt x="285" y="2017"/>
                    </a:lnTo>
                    <a:lnTo>
                      <a:pt x="277" y="2018"/>
                    </a:lnTo>
                    <a:lnTo>
                      <a:pt x="269" y="2020"/>
                    </a:lnTo>
                    <a:lnTo>
                      <a:pt x="261" y="2022"/>
                    </a:lnTo>
                    <a:lnTo>
                      <a:pt x="252" y="2023"/>
                    </a:lnTo>
                    <a:lnTo>
                      <a:pt x="244" y="2025"/>
                    </a:lnTo>
                    <a:lnTo>
                      <a:pt x="236" y="2026"/>
                    </a:lnTo>
                    <a:lnTo>
                      <a:pt x="228" y="2028"/>
                    </a:lnTo>
                    <a:lnTo>
                      <a:pt x="220" y="2029"/>
                    </a:lnTo>
                    <a:lnTo>
                      <a:pt x="211" y="2031"/>
                    </a:lnTo>
                    <a:lnTo>
                      <a:pt x="203" y="2032"/>
                    </a:lnTo>
                    <a:lnTo>
                      <a:pt x="195" y="2033"/>
                    </a:lnTo>
                    <a:lnTo>
                      <a:pt x="187" y="2034"/>
                    </a:lnTo>
                    <a:lnTo>
                      <a:pt x="178" y="2035"/>
                    </a:lnTo>
                    <a:lnTo>
                      <a:pt x="170" y="2036"/>
                    </a:lnTo>
                    <a:lnTo>
                      <a:pt x="162" y="2038"/>
                    </a:lnTo>
                    <a:lnTo>
                      <a:pt x="153" y="2038"/>
                    </a:lnTo>
                    <a:lnTo>
                      <a:pt x="145" y="2039"/>
                    </a:lnTo>
                    <a:lnTo>
                      <a:pt x="136" y="2040"/>
                    </a:lnTo>
                    <a:lnTo>
                      <a:pt x="128" y="2041"/>
                    </a:lnTo>
                    <a:lnTo>
                      <a:pt x="120" y="2042"/>
                    </a:lnTo>
                    <a:lnTo>
                      <a:pt x="111" y="2043"/>
                    </a:lnTo>
                    <a:lnTo>
                      <a:pt x="103" y="2043"/>
                    </a:lnTo>
                    <a:lnTo>
                      <a:pt x="94" y="2044"/>
                    </a:lnTo>
                    <a:lnTo>
                      <a:pt x="86" y="2044"/>
                    </a:lnTo>
                    <a:lnTo>
                      <a:pt x="77" y="2045"/>
                    </a:lnTo>
                    <a:lnTo>
                      <a:pt x="69" y="2045"/>
                    </a:lnTo>
                    <a:lnTo>
                      <a:pt x="60" y="2046"/>
                    </a:lnTo>
                    <a:lnTo>
                      <a:pt x="52" y="2046"/>
                    </a:lnTo>
                    <a:lnTo>
                      <a:pt x="43" y="2046"/>
                    </a:lnTo>
                    <a:lnTo>
                      <a:pt x="35" y="2047"/>
                    </a:lnTo>
                    <a:lnTo>
                      <a:pt x="26" y="2047"/>
                    </a:lnTo>
                    <a:lnTo>
                      <a:pt x="18" y="2047"/>
                    </a:lnTo>
                    <a:lnTo>
                      <a:pt x="9" y="2047"/>
                    </a:lnTo>
                    <a:lnTo>
                      <a:pt x="0" y="2047"/>
                    </a:lnTo>
                    <a:close/>
                    <a:moveTo>
                      <a:pt x="1193" y="125"/>
                    </a:moveTo>
                    <a:lnTo>
                      <a:pt x="1444" y="0"/>
                    </a:lnTo>
                    <a:lnTo>
                      <a:pt x="1445" y="3"/>
                    </a:lnTo>
                    <a:lnTo>
                      <a:pt x="1446" y="6"/>
                    </a:lnTo>
                    <a:lnTo>
                      <a:pt x="1447" y="8"/>
                    </a:lnTo>
                    <a:lnTo>
                      <a:pt x="1449" y="11"/>
                    </a:lnTo>
                    <a:lnTo>
                      <a:pt x="1450" y="13"/>
                    </a:lnTo>
                    <a:lnTo>
                      <a:pt x="1451" y="16"/>
                    </a:lnTo>
                    <a:lnTo>
                      <a:pt x="1453" y="19"/>
                    </a:lnTo>
                    <a:lnTo>
                      <a:pt x="1454" y="21"/>
                    </a:lnTo>
                    <a:lnTo>
                      <a:pt x="1455" y="24"/>
                    </a:lnTo>
                    <a:lnTo>
                      <a:pt x="1456" y="26"/>
                    </a:lnTo>
                    <a:lnTo>
                      <a:pt x="1458" y="29"/>
                    </a:lnTo>
                    <a:lnTo>
                      <a:pt x="1459" y="32"/>
                    </a:lnTo>
                    <a:lnTo>
                      <a:pt x="1460" y="34"/>
                    </a:lnTo>
                    <a:lnTo>
                      <a:pt x="1461" y="37"/>
                    </a:lnTo>
                    <a:lnTo>
                      <a:pt x="1462" y="40"/>
                    </a:lnTo>
                    <a:lnTo>
                      <a:pt x="1464" y="42"/>
                    </a:lnTo>
                    <a:lnTo>
                      <a:pt x="1465" y="45"/>
                    </a:lnTo>
                    <a:lnTo>
                      <a:pt x="1466" y="48"/>
                    </a:lnTo>
                    <a:lnTo>
                      <a:pt x="1467" y="50"/>
                    </a:lnTo>
                    <a:lnTo>
                      <a:pt x="1468" y="53"/>
                    </a:lnTo>
                    <a:lnTo>
                      <a:pt x="1470" y="55"/>
                    </a:lnTo>
                    <a:lnTo>
                      <a:pt x="1471" y="58"/>
                    </a:lnTo>
                    <a:lnTo>
                      <a:pt x="1472" y="61"/>
                    </a:lnTo>
                    <a:lnTo>
                      <a:pt x="1473" y="63"/>
                    </a:lnTo>
                    <a:lnTo>
                      <a:pt x="1474" y="66"/>
                    </a:lnTo>
                    <a:lnTo>
                      <a:pt x="1476" y="69"/>
                    </a:lnTo>
                    <a:lnTo>
                      <a:pt x="1477" y="71"/>
                    </a:lnTo>
                    <a:lnTo>
                      <a:pt x="1478" y="74"/>
                    </a:lnTo>
                    <a:lnTo>
                      <a:pt x="1479" y="77"/>
                    </a:lnTo>
                    <a:lnTo>
                      <a:pt x="1480" y="79"/>
                    </a:lnTo>
                    <a:lnTo>
                      <a:pt x="1481" y="82"/>
                    </a:lnTo>
                    <a:lnTo>
                      <a:pt x="1483" y="85"/>
                    </a:lnTo>
                    <a:lnTo>
                      <a:pt x="1484" y="87"/>
                    </a:lnTo>
                    <a:lnTo>
                      <a:pt x="1485" y="90"/>
                    </a:lnTo>
                    <a:lnTo>
                      <a:pt x="1486" y="93"/>
                    </a:lnTo>
                    <a:lnTo>
                      <a:pt x="1487" y="95"/>
                    </a:lnTo>
                    <a:lnTo>
                      <a:pt x="1488" y="98"/>
                    </a:lnTo>
                    <a:lnTo>
                      <a:pt x="1489" y="101"/>
                    </a:lnTo>
                    <a:lnTo>
                      <a:pt x="1490" y="103"/>
                    </a:lnTo>
                    <a:lnTo>
                      <a:pt x="1491" y="106"/>
                    </a:lnTo>
                    <a:lnTo>
                      <a:pt x="1492" y="109"/>
                    </a:lnTo>
                    <a:lnTo>
                      <a:pt x="1494" y="112"/>
                    </a:lnTo>
                    <a:lnTo>
                      <a:pt x="1495" y="114"/>
                    </a:lnTo>
                    <a:lnTo>
                      <a:pt x="1496" y="117"/>
                    </a:lnTo>
                    <a:lnTo>
                      <a:pt x="1497" y="120"/>
                    </a:lnTo>
                    <a:lnTo>
                      <a:pt x="1498" y="122"/>
                    </a:lnTo>
                    <a:lnTo>
                      <a:pt x="1499" y="125"/>
                    </a:lnTo>
                    <a:lnTo>
                      <a:pt x="1500" y="127"/>
                    </a:lnTo>
                    <a:lnTo>
                      <a:pt x="1501" y="130"/>
                    </a:lnTo>
                    <a:lnTo>
                      <a:pt x="1502" y="133"/>
                    </a:lnTo>
                    <a:lnTo>
                      <a:pt x="1503" y="136"/>
                    </a:lnTo>
                    <a:lnTo>
                      <a:pt x="1504" y="138"/>
                    </a:lnTo>
                    <a:lnTo>
                      <a:pt x="1505" y="141"/>
                    </a:lnTo>
                    <a:lnTo>
                      <a:pt x="1506" y="144"/>
                    </a:lnTo>
                    <a:lnTo>
                      <a:pt x="1507" y="147"/>
                    </a:lnTo>
                    <a:lnTo>
                      <a:pt x="1508" y="149"/>
                    </a:lnTo>
                    <a:lnTo>
                      <a:pt x="1509" y="152"/>
                    </a:lnTo>
                    <a:lnTo>
                      <a:pt x="1510" y="154"/>
                    </a:lnTo>
                    <a:lnTo>
                      <a:pt x="1511" y="158"/>
                    </a:lnTo>
                    <a:lnTo>
                      <a:pt x="1512" y="160"/>
                    </a:lnTo>
                    <a:lnTo>
                      <a:pt x="1513" y="163"/>
                    </a:lnTo>
                    <a:lnTo>
                      <a:pt x="1514" y="165"/>
                    </a:lnTo>
                    <a:lnTo>
                      <a:pt x="1515" y="168"/>
                    </a:lnTo>
                    <a:lnTo>
                      <a:pt x="1516" y="171"/>
                    </a:lnTo>
                    <a:lnTo>
                      <a:pt x="1517" y="174"/>
                    </a:lnTo>
                    <a:lnTo>
                      <a:pt x="1518" y="176"/>
                    </a:lnTo>
                    <a:lnTo>
                      <a:pt x="1519" y="179"/>
                    </a:lnTo>
                    <a:lnTo>
                      <a:pt x="1520" y="182"/>
                    </a:lnTo>
                    <a:lnTo>
                      <a:pt x="1521" y="185"/>
                    </a:lnTo>
                    <a:lnTo>
                      <a:pt x="1522" y="187"/>
                    </a:lnTo>
                    <a:lnTo>
                      <a:pt x="1523" y="190"/>
                    </a:lnTo>
                    <a:lnTo>
                      <a:pt x="1524" y="193"/>
                    </a:lnTo>
                    <a:lnTo>
                      <a:pt x="1525" y="196"/>
                    </a:lnTo>
                    <a:lnTo>
                      <a:pt x="1526" y="198"/>
                    </a:lnTo>
                    <a:lnTo>
                      <a:pt x="1527" y="201"/>
                    </a:lnTo>
                    <a:lnTo>
                      <a:pt x="1528" y="204"/>
                    </a:lnTo>
                    <a:lnTo>
                      <a:pt x="1529" y="207"/>
                    </a:lnTo>
                    <a:lnTo>
                      <a:pt x="1530" y="209"/>
                    </a:lnTo>
                    <a:lnTo>
                      <a:pt x="1531" y="212"/>
                    </a:lnTo>
                    <a:lnTo>
                      <a:pt x="1531" y="215"/>
                    </a:lnTo>
                    <a:lnTo>
                      <a:pt x="1532" y="217"/>
                    </a:lnTo>
                    <a:lnTo>
                      <a:pt x="1533" y="220"/>
                    </a:lnTo>
                    <a:lnTo>
                      <a:pt x="1534" y="223"/>
                    </a:lnTo>
                    <a:lnTo>
                      <a:pt x="1535" y="226"/>
                    </a:lnTo>
                    <a:lnTo>
                      <a:pt x="1536" y="228"/>
                    </a:lnTo>
                    <a:lnTo>
                      <a:pt x="1537" y="231"/>
                    </a:lnTo>
                    <a:lnTo>
                      <a:pt x="1538" y="234"/>
                    </a:lnTo>
                    <a:lnTo>
                      <a:pt x="1538" y="237"/>
                    </a:lnTo>
                    <a:lnTo>
                      <a:pt x="1539" y="240"/>
                    </a:lnTo>
                    <a:lnTo>
                      <a:pt x="1540" y="242"/>
                    </a:lnTo>
                    <a:lnTo>
                      <a:pt x="1541" y="245"/>
                    </a:lnTo>
                    <a:lnTo>
                      <a:pt x="1542" y="248"/>
                    </a:lnTo>
                    <a:lnTo>
                      <a:pt x="1543" y="251"/>
                    </a:lnTo>
                    <a:lnTo>
                      <a:pt x="1544" y="253"/>
                    </a:lnTo>
                    <a:lnTo>
                      <a:pt x="1544" y="256"/>
                    </a:lnTo>
                    <a:lnTo>
                      <a:pt x="1545" y="259"/>
                    </a:lnTo>
                    <a:lnTo>
                      <a:pt x="1546" y="262"/>
                    </a:lnTo>
                    <a:lnTo>
                      <a:pt x="1547" y="264"/>
                    </a:lnTo>
                    <a:lnTo>
                      <a:pt x="1548" y="267"/>
                    </a:lnTo>
                    <a:lnTo>
                      <a:pt x="1548" y="270"/>
                    </a:lnTo>
                    <a:lnTo>
                      <a:pt x="1549" y="273"/>
                    </a:lnTo>
                    <a:lnTo>
                      <a:pt x="1550" y="276"/>
                    </a:lnTo>
                    <a:lnTo>
                      <a:pt x="1551" y="278"/>
                    </a:lnTo>
                    <a:lnTo>
                      <a:pt x="1552" y="281"/>
                    </a:lnTo>
                    <a:lnTo>
                      <a:pt x="1552" y="284"/>
                    </a:lnTo>
                    <a:lnTo>
                      <a:pt x="1553" y="287"/>
                    </a:lnTo>
                    <a:lnTo>
                      <a:pt x="1554" y="290"/>
                    </a:lnTo>
                    <a:lnTo>
                      <a:pt x="1555" y="292"/>
                    </a:lnTo>
                    <a:lnTo>
                      <a:pt x="1555" y="295"/>
                    </a:lnTo>
                    <a:lnTo>
                      <a:pt x="1556" y="298"/>
                    </a:lnTo>
                    <a:lnTo>
                      <a:pt x="1557" y="301"/>
                    </a:lnTo>
                    <a:lnTo>
                      <a:pt x="1558" y="303"/>
                    </a:lnTo>
                    <a:lnTo>
                      <a:pt x="1558" y="306"/>
                    </a:lnTo>
                    <a:lnTo>
                      <a:pt x="1559" y="309"/>
                    </a:lnTo>
                    <a:lnTo>
                      <a:pt x="1560" y="312"/>
                    </a:lnTo>
                    <a:lnTo>
                      <a:pt x="1561" y="315"/>
                    </a:lnTo>
                    <a:lnTo>
                      <a:pt x="1561" y="317"/>
                    </a:lnTo>
                    <a:lnTo>
                      <a:pt x="1562" y="321"/>
                    </a:lnTo>
                    <a:lnTo>
                      <a:pt x="1563" y="323"/>
                    </a:lnTo>
                    <a:lnTo>
                      <a:pt x="1563" y="326"/>
                    </a:lnTo>
                    <a:lnTo>
                      <a:pt x="1564" y="329"/>
                    </a:lnTo>
                    <a:lnTo>
                      <a:pt x="1565" y="332"/>
                    </a:lnTo>
                    <a:lnTo>
                      <a:pt x="1565" y="334"/>
                    </a:lnTo>
                    <a:lnTo>
                      <a:pt x="1566" y="337"/>
                    </a:lnTo>
                    <a:lnTo>
                      <a:pt x="1567" y="340"/>
                    </a:lnTo>
                    <a:lnTo>
                      <a:pt x="1567" y="343"/>
                    </a:lnTo>
                    <a:lnTo>
                      <a:pt x="1568" y="346"/>
                    </a:lnTo>
                    <a:lnTo>
                      <a:pt x="1569" y="349"/>
                    </a:lnTo>
                    <a:lnTo>
                      <a:pt x="1569" y="351"/>
                    </a:lnTo>
                    <a:lnTo>
                      <a:pt x="1570" y="354"/>
                    </a:lnTo>
                    <a:lnTo>
                      <a:pt x="1571" y="357"/>
                    </a:lnTo>
                    <a:lnTo>
                      <a:pt x="1571" y="360"/>
                    </a:lnTo>
                    <a:lnTo>
                      <a:pt x="1572" y="363"/>
                    </a:lnTo>
                    <a:lnTo>
                      <a:pt x="1573" y="365"/>
                    </a:lnTo>
                    <a:lnTo>
                      <a:pt x="1573" y="368"/>
                    </a:lnTo>
                    <a:lnTo>
                      <a:pt x="1574" y="371"/>
                    </a:lnTo>
                    <a:lnTo>
                      <a:pt x="1575" y="374"/>
                    </a:lnTo>
                    <a:lnTo>
                      <a:pt x="1575" y="377"/>
                    </a:lnTo>
                    <a:lnTo>
                      <a:pt x="1576" y="380"/>
                    </a:lnTo>
                    <a:lnTo>
                      <a:pt x="1576" y="382"/>
                    </a:lnTo>
                    <a:lnTo>
                      <a:pt x="1577" y="385"/>
                    </a:lnTo>
                    <a:lnTo>
                      <a:pt x="1578" y="388"/>
                    </a:lnTo>
                    <a:lnTo>
                      <a:pt x="1578" y="391"/>
                    </a:lnTo>
                    <a:lnTo>
                      <a:pt x="1579" y="394"/>
                    </a:lnTo>
                    <a:lnTo>
                      <a:pt x="1579" y="396"/>
                    </a:lnTo>
                    <a:lnTo>
                      <a:pt x="1580" y="399"/>
                    </a:lnTo>
                    <a:lnTo>
                      <a:pt x="1580" y="402"/>
                    </a:lnTo>
                    <a:lnTo>
                      <a:pt x="1581" y="405"/>
                    </a:lnTo>
                    <a:lnTo>
                      <a:pt x="1582" y="408"/>
                    </a:lnTo>
                    <a:lnTo>
                      <a:pt x="1582" y="411"/>
                    </a:lnTo>
                    <a:lnTo>
                      <a:pt x="1583" y="414"/>
                    </a:lnTo>
                    <a:lnTo>
                      <a:pt x="1583" y="416"/>
                    </a:lnTo>
                    <a:lnTo>
                      <a:pt x="1584" y="419"/>
                    </a:lnTo>
                    <a:lnTo>
                      <a:pt x="1584" y="422"/>
                    </a:lnTo>
                    <a:lnTo>
                      <a:pt x="1585" y="425"/>
                    </a:lnTo>
                    <a:lnTo>
                      <a:pt x="1585" y="428"/>
                    </a:lnTo>
                    <a:lnTo>
                      <a:pt x="1586" y="430"/>
                    </a:lnTo>
                    <a:lnTo>
                      <a:pt x="1586" y="433"/>
                    </a:lnTo>
                    <a:lnTo>
                      <a:pt x="1587" y="436"/>
                    </a:lnTo>
                    <a:lnTo>
                      <a:pt x="1587" y="439"/>
                    </a:lnTo>
                    <a:lnTo>
                      <a:pt x="1588" y="442"/>
                    </a:lnTo>
                    <a:lnTo>
                      <a:pt x="1588" y="445"/>
                    </a:lnTo>
                    <a:lnTo>
                      <a:pt x="1589" y="448"/>
                    </a:lnTo>
                    <a:lnTo>
                      <a:pt x="1589" y="450"/>
                    </a:lnTo>
                    <a:lnTo>
                      <a:pt x="1590" y="453"/>
                    </a:lnTo>
                    <a:lnTo>
                      <a:pt x="1590" y="456"/>
                    </a:lnTo>
                    <a:lnTo>
                      <a:pt x="1591" y="459"/>
                    </a:lnTo>
                    <a:lnTo>
                      <a:pt x="1591" y="462"/>
                    </a:lnTo>
                    <a:lnTo>
                      <a:pt x="1592" y="465"/>
                    </a:lnTo>
                    <a:lnTo>
                      <a:pt x="1592" y="467"/>
                    </a:lnTo>
                    <a:lnTo>
                      <a:pt x="1593" y="470"/>
                    </a:lnTo>
                    <a:lnTo>
                      <a:pt x="1593" y="473"/>
                    </a:lnTo>
                    <a:lnTo>
                      <a:pt x="1593" y="476"/>
                    </a:lnTo>
                    <a:lnTo>
                      <a:pt x="1594" y="479"/>
                    </a:lnTo>
                    <a:lnTo>
                      <a:pt x="1594" y="482"/>
                    </a:lnTo>
                    <a:lnTo>
                      <a:pt x="1595" y="485"/>
                    </a:lnTo>
                    <a:lnTo>
                      <a:pt x="1595" y="488"/>
                    </a:lnTo>
                    <a:lnTo>
                      <a:pt x="1595" y="488"/>
                    </a:lnTo>
                    <a:lnTo>
                      <a:pt x="1318" y="528"/>
                    </a:lnTo>
                    <a:lnTo>
                      <a:pt x="1318" y="527"/>
                    </a:lnTo>
                    <a:lnTo>
                      <a:pt x="1318" y="525"/>
                    </a:lnTo>
                    <a:lnTo>
                      <a:pt x="1317" y="523"/>
                    </a:lnTo>
                    <a:lnTo>
                      <a:pt x="1317" y="520"/>
                    </a:lnTo>
                    <a:lnTo>
                      <a:pt x="1317" y="518"/>
                    </a:lnTo>
                    <a:lnTo>
                      <a:pt x="1316" y="515"/>
                    </a:lnTo>
                    <a:lnTo>
                      <a:pt x="1316" y="513"/>
                    </a:lnTo>
                    <a:lnTo>
                      <a:pt x="1315" y="511"/>
                    </a:lnTo>
                    <a:lnTo>
                      <a:pt x="1315" y="508"/>
                    </a:lnTo>
                    <a:lnTo>
                      <a:pt x="1315" y="506"/>
                    </a:lnTo>
                    <a:lnTo>
                      <a:pt x="1314" y="504"/>
                    </a:lnTo>
                    <a:lnTo>
                      <a:pt x="1314" y="501"/>
                    </a:lnTo>
                    <a:lnTo>
                      <a:pt x="1314" y="499"/>
                    </a:lnTo>
                    <a:lnTo>
                      <a:pt x="1313" y="497"/>
                    </a:lnTo>
                    <a:lnTo>
                      <a:pt x="1313" y="494"/>
                    </a:lnTo>
                    <a:lnTo>
                      <a:pt x="1312" y="492"/>
                    </a:lnTo>
                    <a:lnTo>
                      <a:pt x="1312" y="490"/>
                    </a:lnTo>
                    <a:lnTo>
                      <a:pt x="1312" y="487"/>
                    </a:lnTo>
                    <a:lnTo>
                      <a:pt x="1311" y="485"/>
                    </a:lnTo>
                    <a:lnTo>
                      <a:pt x="1311" y="483"/>
                    </a:lnTo>
                    <a:lnTo>
                      <a:pt x="1310" y="480"/>
                    </a:lnTo>
                    <a:lnTo>
                      <a:pt x="1310" y="478"/>
                    </a:lnTo>
                    <a:lnTo>
                      <a:pt x="1309" y="476"/>
                    </a:lnTo>
                    <a:lnTo>
                      <a:pt x="1309" y="473"/>
                    </a:lnTo>
                    <a:lnTo>
                      <a:pt x="1309" y="471"/>
                    </a:lnTo>
                    <a:lnTo>
                      <a:pt x="1308" y="468"/>
                    </a:lnTo>
                    <a:lnTo>
                      <a:pt x="1308" y="466"/>
                    </a:lnTo>
                    <a:lnTo>
                      <a:pt x="1307" y="464"/>
                    </a:lnTo>
                    <a:lnTo>
                      <a:pt x="1307" y="461"/>
                    </a:lnTo>
                    <a:lnTo>
                      <a:pt x="1306" y="459"/>
                    </a:lnTo>
                    <a:lnTo>
                      <a:pt x="1306" y="457"/>
                    </a:lnTo>
                    <a:lnTo>
                      <a:pt x="1305" y="454"/>
                    </a:lnTo>
                    <a:lnTo>
                      <a:pt x="1305" y="452"/>
                    </a:lnTo>
                    <a:lnTo>
                      <a:pt x="1304" y="450"/>
                    </a:lnTo>
                    <a:lnTo>
                      <a:pt x="1304" y="447"/>
                    </a:lnTo>
                    <a:lnTo>
                      <a:pt x="1303" y="445"/>
                    </a:lnTo>
                    <a:lnTo>
                      <a:pt x="1303" y="443"/>
                    </a:lnTo>
                    <a:lnTo>
                      <a:pt x="1302" y="440"/>
                    </a:lnTo>
                    <a:lnTo>
                      <a:pt x="1302" y="438"/>
                    </a:lnTo>
                    <a:lnTo>
                      <a:pt x="1301" y="436"/>
                    </a:lnTo>
                    <a:lnTo>
                      <a:pt x="1301" y="434"/>
                    </a:lnTo>
                    <a:lnTo>
                      <a:pt x="1300" y="431"/>
                    </a:lnTo>
                    <a:lnTo>
                      <a:pt x="1300" y="429"/>
                    </a:lnTo>
                    <a:lnTo>
                      <a:pt x="1299" y="426"/>
                    </a:lnTo>
                    <a:lnTo>
                      <a:pt x="1299" y="424"/>
                    </a:lnTo>
                    <a:lnTo>
                      <a:pt x="1298" y="422"/>
                    </a:lnTo>
                    <a:lnTo>
                      <a:pt x="1298" y="419"/>
                    </a:lnTo>
                    <a:lnTo>
                      <a:pt x="1297" y="417"/>
                    </a:lnTo>
                    <a:lnTo>
                      <a:pt x="1297" y="415"/>
                    </a:lnTo>
                    <a:lnTo>
                      <a:pt x="1296" y="412"/>
                    </a:lnTo>
                    <a:lnTo>
                      <a:pt x="1296" y="410"/>
                    </a:lnTo>
                    <a:lnTo>
                      <a:pt x="1295" y="408"/>
                    </a:lnTo>
                    <a:lnTo>
                      <a:pt x="1295" y="405"/>
                    </a:lnTo>
                    <a:lnTo>
                      <a:pt x="1294" y="403"/>
                    </a:lnTo>
                    <a:lnTo>
                      <a:pt x="1294" y="401"/>
                    </a:lnTo>
                    <a:lnTo>
                      <a:pt x="1293" y="398"/>
                    </a:lnTo>
                    <a:lnTo>
                      <a:pt x="1292" y="396"/>
                    </a:lnTo>
                    <a:lnTo>
                      <a:pt x="1292" y="394"/>
                    </a:lnTo>
                    <a:lnTo>
                      <a:pt x="1291" y="391"/>
                    </a:lnTo>
                    <a:lnTo>
                      <a:pt x="1291" y="389"/>
                    </a:lnTo>
                    <a:lnTo>
                      <a:pt x="1290" y="387"/>
                    </a:lnTo>
                    <a:lnTo>
                      <a:pt x="1289" y="385"/>
                    </a:lnTo>
                    <a:lnTo>
                      <a:pt x="1289" y="382"/>
                    </a:lnTo>
                    <a:lnTo>
                      <a:pt x="1288" y="380"/>
                    </a:lnTo>
                    <a:lnTo>
                      <a:pt x="1288" y="378"/>
                    </a:lnTo>
                    <a:lnTo>
                      <a:pt x="1287" y="375"/>
                    </a:lnTo>
                    <a:lnTo>
                      <a:pt x="1286" y="373"/>
                    </a:lnTo>
                    <a:lnTo>
                      <a:pt x="1286" y="371"/>
                    </a:lnTo>
                    <a:lnTo>
                      <a:pt x="1285" y="368"/>
                    </a:lnTo>
                    <a:lnTo>
                      <a:pt x="1285" y="366"/>
                    </a:lnTo>
                    <a:lnTo>
                      <a:pt x="1284" y="364"/>
                    </a:lnTo>
                    <a:lnTo>
                      <a:pt x="1283" y="361"/>
                    </a:lnTo>
                    <a:lnTo>
                      <a:pt x="1283" y="359"/>
                    </a:lnTo>
                    <a:lnTo>
                      <a:pt x="1282" y="357"/>
                    </a:lnTo>
                    <a:lnTo>
                      <a:pt x="1281" y="355"/>
                    </a:lnTo>
                    <a:lnTo>
                      <a:pt x="1281" y="352"/>
                    </a:lnTo>
                    <a:lnTo>
                      <a:pt x="1280" y="350"/>
                    </a:lnTo>
                    <a:lnTo>
                      <a:pt x="1279" y="348"/>
                    </a:lnTo>
                    <a:lnTo>
                      <a:pt x="1279" y="345"/>
                    </a:lnTo>
                    <a:lnTo>
                      <a:pt x="1278" y="343"/>
                    </a:lnTo>
                    <a:lnTo>
                      <a:pt x="1277" y="341"/>
                    </a:lnTo>
                    <a:lnTo>
                      <a:pt x="1277" y="338"/>
                    </a:lnTo>
                    <a:lnTo>
                      <a:pt x="1276" y="336"/>
                    </a:lnTo>
                    <a:lnTo>
                      <a:pt x="1275" y="334"/>
                    </a:lnTo>
                    <a:lnTo>
                      <a:pt x="1275" y="332"/>
                    </a:lnTo>
                    <a:lnTo>
                      <a:pt x="1274" y="329"/>
                    </a:lnTo>
                    <a:lnTo>
                      <a:pt x="1273" y="327"/>
                    </a:lnTo>
                    <a:lnTo>
                      <a:pt x="1273" y="325"/>
                    </a:lnTo>
                    <a:lnTo>
                      <a:pt x="1272" y="322"/>
                    </a:lnTo>
                    <a:lnTo>
                      <a:pt x="1271" y="320"/>
                    </a:lnTo>
                    <a:lnTo>
                      <a:pt x="1270" y="318"/>
                    </a:lnTo>
                    <a:lnTo>
                      <a:pt x="1270" y="316"/>
                    </a:lnTo>
                    <a:lnTo>
                      <a:pt x="1269" y="313"/>
                    </a:lnTo>
                    <a:lnTo>
                      <a:pt x="1268" y="311"/>
                    </a:lnTo>
                    <a:lnTo>
                      <a:pt x="1268" y="309"/>
                    </a:lnTo>
                    <a:lnTo>
                      <a:pt x="1267" y="307"/>
                    </a:lnTo>
                    <a:lnTo>
                      <a:pt x="1266" y="304"/>
                    </a:lnTo>
                    <a:lnTo>
                      <a:pt x="1265" y="302"/>
                    </a:lnTo>
                    <a:lnTo>
                      <a:pt x="1265" y="300"/>
                    </a:lnTo>
                    <a:lnTo>
                      <a:pt x="1264" y="297"/>
                    </a:lnTo>
                    <a:lnTo>
                      <a:pt x="1263" y="295"/>
                    </a:lnTo>
                    <a:lnTo>
                      <a:pt x="1262" y="293"/>
                    </a:lnTo>
                    <a:lnTo>
                      <a:pt x="1262" y="291"/>
                    </a:lnTo>
                    <a:lnTo>
                      <a:pt x="1261" y="288"/>
                    </a:lnTo>
                    <a:lnTo>
                      <a:pt x="1260" y="286"/>
                    </a:lnTo>
                    <a:lnTo>
                      <a:pt x="1259" y="284"/>
                    </a:lnTo>
                    <a:lnTo>
                      <a:pt x="1258" y="282"/>
                    </a:lnTo>
                    <a:lnTo>
                      <a:pt x="1258" y="279"/>
                    </a:lnTo>
                    <a:lnTo>
                      <a:pt x="1257" y="277"/>
                    </a:lnTo>
                    <a:lnTo>
                      <a:pt x="1256" y="275"/>
                    </a:lnTo>
                    <a:lnTo>
                      <a:pt x="1255" y="272"/>
                    </a:lnTo>
                    <a:lnTo>
                      <a:pt x="1254" y="270"/>
                    </a:lnTo>
                    <a:lnTo>
                      <a:pt x="1254" y="268"/>
                    </a:lnTo>
                    <a:lnTo>
                      <a:pt x="1253" y="266"/>
                    </a:lnTo>
                    <a:lnTo>
                      <a:pt x="1252" y="263"/>
                    </a:lnTo>
                    <a:lnTo>
                      <a:pt x="1251" y="261"/>
                    </a:lnTo>
                    <a:lnTo>
                      <a:pt x="1250" y="259"/>
                    </a:lnTo>
                    <a:lnTo>
                      <a:pt x="1250" y="257"/>
                    </a:lnTo>
                    <a:lnTo>
                      <a:pt x="1249" y="254"/>
                    </a:lnTo>
                    <a:lnTo>
                      <a:pt x="1248" y="252"/>
                    </a:lnTo>
                    <a:lnTo>
                      <a:pt x="1247" y="250"/>
                    </a:lnTo>
                    <a:lnTo>
                      <a:pt x="1246" y="248"/>
                    </a:lnTo>
                    <a:lnTo>
                      <a:pt x="1245" y="245"/>
                    </a:lnTo>
                    <a:lnTo>
                      <a:pt x="1245" y="243"/>
                    </a:lnTo>
                    <a:lnTo>
                      <a:pt x="1244" y="241"/>
                    </a:lnTo>
                    <a:lnTo>
                      <a:pt x="1243" y="239"/>
                    </a:lnTo>
                    <a:lnTo>
                      <a:pt x="1242" y="236"/>
                    </a:lnTo>
                    <a:lnTo>
                      <a:pt x="1241" y="234"/>
                    </a:lnTo>
                    <a:lnTo>
                      <a:pt x="1240" y="232"/>
                    </a:lnTo>
                    <a:lnTo>
                      <a:pt x="1239" y="230"/>
                    </a:lnTo>
                    <a:lnTo>
                      <a:pt x="1238" y="228"/>
                    </a:lnTo>
                    <a:lnTo>
                      <a:pt x="1238" y="225"/>
                    </a:lnTo>
                    <a:lnTo>
                      <a:pt x="1237" y="223"/>
                    </a:lnTo>
                    <a:lnTo>
                      <a:pt x="1236" y="221"/>
                    </a:lnTo>
                    <a:lnTo>
                      <a:pt x="1235" y="219"/>
                    </a:lnTo>
                    <a:lnTo>
                      <a:pt x="1234" y="216"/>
                    </a:lnTo>
                    <a:lnTo>
                      <a:pt x="1233" y="214"/>
                    </a:lnTo>
                    <a:lnTo>
                      <a:pt x="1232" y="212"/>
                    </a:lnTo>
                    <a:lnTo>
                      <a:pt x="1231" y="210"/>
                    </a:lnTo>
                    <a:lnTo>
                      <a:pt x="1230" y="208"/>
                    </a:lnTo>
                    <a:lnTo>
                      <a:pt x="1229" y="205"/>
                    </a:lnTo>
                    <a:lnTo>
                      <a:pt x="1229" y="203"/>
                    </a:lnTo>
                    <a:lnTo>
                      <a:pt x="1228" y="201"/>
                    </a:lnTo>
                    <a:lnTo>
                      <a:pt x="1227" y="199"/>
                    </a:lnTo>
                    <a:lnTo>
                      <a:pt x="1226" y="197"/>
                    </a:lnTo>
                    <a:lnTo>
                      <a:pt x="1225" y="194"/>
                    </a:lnTo>
                    <a:lnTo>
                      <a:pt x="1224" y="192"/>
                    </a:lnTo>
                    <a:lnTo>
                      <a:pt x="1223" y="190"/>
                    </a:lnTo>
                    <a:lnTo>
                      <a:pt x="1222" y="188"/>
                    </a:lnTo>
                    <a:lnTo>
                      <a:pt x="1221" y="186"/>
                    </a:lnTo>
                    <a:lnTo>
                      <a:pt x="1220" y="183"/>
                    </a:lnTo>
                    <a:lnTo>
                      <a:pt x="1219" y="181"/>
                    </a:lnTo>
                    <a:lnTo>
                      <a:pt x="1218" y="179"/>
                    </a:lnTo>
                    <a:lnTo>
                      <a:pt x="1217" y="177"/>
                    </a:lnTo>
                    <a:lnTo>
                      <a:pt x="1216" y="175"/>
                    </a:lnTo>
                    <a:lnTo>
                      <a:pt x="1215" y="172"/>
                    </a:lnTo>
                    <a:lnTo>
                      <a:pt x="1214" y="170"/>
                    </a:lnTo>
                    <a:lnTo>
                      <a:pt x="1213" y="168"/>
                    </a:lnTo>
                    <a:lnTo>
                      <a:pt x="1212" y="166"/>
                    </a:lnTo>
                    <a:lnTo>
                      <a:pt x="1211" y="164"/>
                    </a:lnTo>
                    <a:lnTo>
                      <a:pt x="1210" y="161"/>
                    </a:lnTo>
                    <a:lnTo>
                      <a:pt x="1209" y="159"/>
                    </a:lnTo>
                    <a:lnTo>
                      <a:pt x="1208" y="157"/>
                    </a:lnTo>
                    <a:lnTo>
                      <a:pt x="1207" y="155"/>
                    </a:lnTo>
                    <a:lnTo>
                      <a:pt x="1206" y="153"/>
                    </a:lnTo>
                    <a:lnTo>
                      <a:pt x="1205" y="151"/>
                    </a:lnTo>
                    <a:lnTo>
                      <a:pt x="1204" y="148"/>
                    </a:lnTo>
                    <a:lnTo>
                      <a:pt x="1203" y="146"/>
                    </a:lnTo>
                    <a:lnTo>
                      <a:pt x="1202" y="144"/>
                    </a:lnTo>
                    <a:lnTo>
                      <a:pt x="1201" y="142"/>
                    </a:lnTo>
                    <a:lnTo>
                      <a:pt x="1200" y="140"/>
                    </a:lnTo>
                    <a:lnTo>
                      <a:pt x="1199" y="138"/>
                    </a:lnTo>
                    <a:lnTo>
                      <a:pt x="1198" y="135"/>
                    </a:lnTo>
                    <a:lnTo>
                      <a:pt x="1197" y="133"/>
                    </a:lnTo>
                    <a:lnTo>
                      <a:pt x="1196" y="131"/>
                    </a:lnTo>
                    <a:lnTo>
                      <a:pt x="1195" y="129"/>
                    </a:lnTo>
                    <a:lnTo>
                      <a:pt x="1194" y="127"/>
                    </a:lnTo>
                    <a:lnTo>
                      <a:pt x="1193" y="125"/>
                    </a:lnTo>
                    <a:close/>
                    <a:moveTo>
                      <a:pt x="1330" y="780"/>
                    </a:moveTo>
                    <a:lnTo>
                      <a:pt x="1609" y="794"/>
                    </a:lnTo>
                    <a:lnTo>
                      <a:pt x="1609" y="799"/>
                    </a:lnTo>
                    <a:lnTo>
                      <a:pt x="1609" y="809"/>
                    </a:lnTo>
                    <a:lnTo>
                      <a:pt x="1608" y="819"/>
                    </a:lnTo>
                    <a:lnTo>
                      <a:pt x="1607" y="830"/>
                    </a:lnTo>
                    <a:lnTo>
                      <a:pt x="1607" y="840"/>
                    </a:lnTo>
                    <a:lnTo>
                      <a:pt x="1606" y="850"/>
                    </a:lnTo>
                    <a:lnTo>
                      <a:pt x="1605" y="860"/>
                    </a:lnTo>
                    <a:lnTo>
                      <a:pt x="1604" y="870"/>
                    </a:lnTo>
                    <a:lnTo>
                      <a:pt x="1603" y="881"/>
                    </a:lnTo>
                    <a:lnTo>
                      <a:pt x="1602" y="891"/>
                    </a:lnTo>
                    <a:lnTo>
                      <a:pt x="1601" y="901"/>
                    </a:lnTo>
                    <a:lnTo>
                      <a:pt x="1600" y="911"/>
                    </a:lnTo>
                    <a:lnTo>
                      <a:pt x="1598" y="921"/>
                    </a:lnTo>
                    <a:lnTo>
                      <a:pt x="1597" y="931"/>
                    </a:lnTo>
                    <a:lnTo>
                      <a:pt x="1596" y="941"/>
                    </a:lnTo>
                    <a:lnTo>
                      <a:pt x="1594" y="951"/>
                    </a:lnTo>
                    <a:lnTo>
                      <a:pt x="1593" y="961"/>
                    </a:lnTo>
                    <a:lnTo>
                      <a:pt x="1591" y="971"/>
                    </a:lnTo>
                    <a:lnTo>
                      <a:pt x="1590" y="981"/>
                    </a:lnTo>
                    <a:lnTo>
                      <a:pt x="1588" y="991"/>
                    </a:lnTo>
                    <a:lnTo>
                      <a:pt x="1586" y="1001"/>
                    </a:lnTo>
                    <a:lnTo>
                      <a:pt x="1584" y="1011"/>
                    </a:lnTo>
                    <a:lnTo>
                      <a:pt x="1583" y="1021"/>
                    </a:lnTo>
                    <a:lnTo>
                      <a:pt x="1581" y="1031"/>
                    </a:lnTo>
                    <a:lnTo>
                      <a:pt x="1579" y="1041"/>
                    </a:lnTo>
                    <a:lnTo>
                      <a:pt x="1577" y="1050"/>
                    </a:lnTo>
                    <a:lnTo>
                      <a:pt x="1574" y="1060"/>
                    </a:lnTo>
                    <a:lnTo>
                      <a:pt x="1572" y="1070"/>
                    </a:lnTo>
                    <a:lnTo>
                      <a:pt x="1570" y="1080"/>
                    </a:lnTo>
                    <a:lnTo>
                      <a:pt x="1568" y="1090"/>
                    </a:lnTo>
                    <a:lnTo>
                      <a:pt x="1565" y="1099"/>
                    </a:lnTo>
                    <a:lnTo>
                      <a:pt x="1563" y="1109"/>
                    </a:lnTo>
                    <a:lnTo>
                      <a:pt x="1561" y="1119"/>
                    </a:lnTo>
                    <a:lnTo>
                      <a:pt x="1558" y="1128"/>
                    </a:lnTo>
                    <a:lnTo>
                      <a:pt x="1556" y="1138"/>
                    </a:lnTo>
                    <a:lnTo>
                      <a:pt x="1553" y="1148"/>
                    </a:lnTo>
                    <a:lnTo>
                      <a:pt x="1550" y="1157"/>
                    </a:lnTo>
                    <a:lnTo>
                      <a:pt x="1547" y="1167"/>
                    </a:lnTo>
                    <a:lnTo>
                      <a:pt x="1545" y="1176"/>
                    </a:lnTo>
                    <a:lnTo>
                      <a:pt x="1542" y="1186"/>
                    </a:lnTo>
                    <a:lnTo>
                      <a:pt x="1539" y="1195"/>
                    </a:lnTo>
                    <a:lnTo>
                      <a:pt x="1536" y="1205"/>
                    </a:lnTo>
                    <a:lnTo>
                      <a:pt x="1533" y="1214"/>
                    </a:lnTo>
                    <a:lnTo>
                      <a:pt x="1530" y="1223"/>
                    </a:lnTo>
                    <a:lnTo>
                      <a:pt x="1527" y="1233"/>
                    </a:lnTo>
                    <a:lnTo>
                      <a:pt x="1523" y="1242"/>
                    </a:lnTo>
                    <a:lnTo>
                      <a:pt x="1520" y="1251"/>
                    </a:lnTo>
                    <a:lnTo>
                      <a:pt x="1517" y="1261"/>
                    </a:lnTo>
                    <a:lnTo>
                      <a:pt x="1514" y="1270"/>
                    </a:lnTo>
                    <a:lnTo>
                      <a:pt x="1510" y="1279"/>
                    </a:lnTo>
                    <a:lnTo>
                      <a:pt x="1507" y="1289"/>
                    </a:lnTo>
                    <a:lnTo>
                      <a:pt x="1503" y="1298"/>
                    </a:lnTo>
                    <a:lnTo>
                      <a:pt x="1500" y="1307"/>
                    </a:lnTo>
                    <a:lnTo>
                      <a:pt x="1496" y="1316"/>
                    </a:lnTo>
                    <a:lnTo>
                      <a:pt x="1492" y="1325"/>
                    </a:lnTo>
                    <a:lnTo>
                      <a:pt x="1488" y="1334"/>
                    </a:lnTo>
                    <a:lnTo>
                      <a:pt x="1485" y="1343"/>
                    </a:lnTo>
                    <a:lnTo>
                      <a:pt x="1481" y="1352"/>
                    </a:lnTo>
                    <a:lnTo>
                      <a:pt x="1477" y="1361"/>
                    </a:lnTo>
                    <a:lnTo>
                      <a:pt x="1473" y="1370"/>
                    </a:lnTo>
                    <a:lnTo>
                      <a:pt x="1469" y="1379"/>
                    </a:lnTo>
                    <a:lnTo>
                      <a:pt x="1466" y="1387"/>
                    </a:lnTo>
                    <a:lnTo>
                      <a:pt x="1211" y="1270"/>
                    </a:lnTo>
                    <a:lnTo>
                      <a:pt x="1214" y="1264"/>
                    </a:lnTo>
                    <a:lnTo>
                      <a:pt x="1217" y="1256"/>
                    </a:lnTo>
                    <a:lnTo>
                      <a:pt x="1220" y="1249"/>
                    </a:lnTo>
                    <a:lnTo>
                      <a:pt x="1224" y="1242"/>
                    </a:lnTo>
                    <a:lnTo>
                      <a:pt x="1227" y="1234"/>
                    </a:lnTo>
                    <a:lnTo>
                      <a:pt x="1230" y="1227"/>
                    </a:lnTo>
                    <a:lnTo>
                      <a:pt x="1233" y="1219"/>
                    </a:lnTo>
                    <a:lnTo>
                      <a:pt x="1236" y="1212"/>
                    </a:lnTo>
                    <a:lnTo>
                      <a:pt x="1239" y="1204"/>
                    </a:lnTo>
                    <a:lnTo>
                      <a:pt x="1242" y="1197"/>
                    </a:lnTo>
                    <a:lnTo>
                      <a:pt x="1245" y="1189"/>
                    </a:lnTo>
                    <a:lnTo>
                      <a:pt x="1248" y="1181"/>
                    </a:lnTo>
                    <a:lnTo>
                      <a:pt x="1251" y="1174"/>
                    </a:lnTo>
                    <a:lnTo>
                      <a:pt x="1253" y="1166"/>
                    </a:lnTo>
                    <a:lnTo>
                      <a:pt x="1256" y="1158"/>
                    </a:lnTo>
                    <a:lnTo>
                      <a:pt x="1259" y="1151"/>
                    </a:lnTo>
                    <a:lnTo>
                      <a:pt x="1261" y="1143"/>
                    </a:lnTo>
                    <a:lnTo>
                      <a:pt x="1264" y="1135"/>
                    </a:lnTo>
                    <a:lnTo>
                      <a:pt x="1267" y="1128"/>
                    </a:lnTo>
                    <a:lnTo>
                      <a:pt x="1269" y="1120"/>
                    </a:lnTo>
                    <a:lnTo>
                      <a:pt x="1272" y="1112"/>
                    </a:lnTo>
                    <a:lnTo>
                      <a:pt x="1274" y="1104"/>
                    </a:lnTo>
                    <a:lnTo>
                      <a:pt x="1276" y="1096"/>
                    </a:lnTo>
                    <a:lnTo>
                      <a:pt x="1279" y="1088"/>
                    </a:lnTo>
                    <a:lnTo>
                      <a:pt x="1281" y="1081"/>
                    </a:lnTo>
                    <a:lnTo>
                      <a:pt x="1283" y="1073"/>
                    </a:lnTo>
                    <a:lnTo>
                      <a:pt x="1285" y="1065"/>
                    </a:lnTo>
                    <a:lnTo>
                      <a:pt x="1287" y="1057"/>
                    </a:lnTo>
                    <a:lnTo>
                      <a:pt x="1289" y="1049"/>
                    </a:lnTo>
                    <a:lnTo>
                      <a:pt x="1292" y="1041"/>
                    </a:lnTo>
                    <a:lnTo>
                      <a:pt x="1293" y="1033"/>
                    </a:lnTo>
                    <a:lnTo>
                      <a:pt x="1295" y="1025"/>
                    </a:lnTo>
                    <a:lnTo>
                      <a:pt x="1297" y="1017"/>
                    </a:lnTo>
                    <a:lnTo>
                      <a:pt x="1299" y="1009"/>
                    </a:lnTo>
                    <a:lnTo>
                      <a:pt x="1301" y="1001"/>
                    </a:lnTo>
                    <a:lnTo>
                      <a:pt x="1303" y="993"/>
                    </a:lnTo>
                    <a:lnTo>
                      <a:pt x="1304" y="985"/>
                    </a:lnTo>
                    <a:lnTo>
                      <a:pt x="1306" y="976"/>
                    </a:lnTo>
                    <a:lnTo>
                      <a:pt x="1308" y="968"/>
                    </a:lnTo>
                    <a:lnTo>
                      <a:pt x="1309" y="960"/>
                    </a:lnTo>
                    <a:lnTo>
                      <a:pt x="1311" y="952"/>
                    </a:lnTo>
                    <a:lnTo>
                      <a:pt x="1312" y="944"/>
                    </a:lnTo>
                    <a:lnTo>
                      <a:pt x="1313" y="935"/>
                    </a:lnTo>
                    <a:lnTo>
                      <a:pt x="1315" y="927"/>
                    </a:lnTo>
                    <a:lnTo>
                      <a:pt x="1316" y="919"/>
                    </a:lnTo>
                    <a:lnTo>
                      <a:pt x="1317" y="911"/>
                    </a:lnTo>
                    <a:lnTo>
                      <a:pt x="1318" y="902"/>
                    </a:lnTo>
                    <a:lnTo>
                      <a:pt x="1320" y="894"/>
                    </a:lnTo>
                    <a:lnTo>
                      <a:pt x="1321" y="886"/>
                    </a:lnTo>
                    <a:lnTo>
                      <a:pt x="1322" y="877"/>
                    </a:lnTo>
                    <a:lnTo>
                      <a:pt x="1323" y="869"/>
                    </a:lnTo>
                    <a:lnTo>
                      <a:pt x="1324" y="861"/>
                    </a:lnTo>
                    <a:lnTo>
                      <a:pt x="1325" y="852"/>
                    </a:lnTo>
                    <a:lnTo>
                      <a:pt x="1325" y="844"/>
                    </a:lnTo>
                    <a:lnTo>
                      <a:pt x="1326" y="836"/>
                    </a:lnTo>
                    <a:lnTo>
                      <a:pt x="1327" y="827"/>
                    </a:lnTo>
                    <a:lnTo>
                      <a:pt x="1327" y="819"/>
                    </a:lnTo>
                    <a:lnTo>
                      <a:pt x="1328" y="810"/>
                    </a:lnTo>
                    <a:lnTo>
                      <a:pt x="1329" y="802"/>
                    </a:lnTo>
                    <a:lnTo>
                      <a:pt x="1329" y="793"/>
                    </a:lnTo>
                    <a:lnTo>
                      <a:pt x="1330" y="785"/>
                    </a:lnTo>
                    <a:lnTo>
                      <a:pt x="1330" y="780"/>
                    </a:lnTo>
                    <a:close/>
                    <a:moveTo>
                      <a:pt x="1085" y="1488"/>
                    </a:moveTo>
                    <a:lnTo>
                      <a:pt x="1312" y="1652"/>
                    </a:lnTo>
                    <a:lnTo>
                      <a:pt x="1308" y="1657"/>
                    </a:lnTo>
                    <a:lnTo>
                      <a:pt x="1303" y="1665"/>
                    </a:lnTo>
                    <a:lnTo>
                      <a:pt x="1297" y="1672"/>
                    </a:lnTo>
                    <a:lnTo>
                      <a:pt x="1291" y="1680"/>
                    </a:lnTo>
                    <a:lnTo>
                      <a:pt x="1285" y="1688"/>
                    </a:lnTo>
                    <a:lnTo>
                      <a:pt x="1280" y="1696"/>
                    </a:lnTo>
                    <a:lnTo>
                      <a:pt x="1274" y="1703"/>
                    </a:lnTo>
                    <a:lnTo>
                      <a:pt x="1268" y="1711"/>
                    </a:lnTo>
                    <a:lnTo>
                      <a:pt x="1262" y="1718"/>
                    </a:lnTo>
                    <a:lnTo>
                      <a:pt x="1256" y="1726"/>
                    </a:lnTo>
                    <a:lnTo>
                      <a:pt x="1250" y="1733"/>
                    </a:lnTo>
                    <a:lnTo>
                      <a:pt x="1243" y="1741"/>
                    </a:lnTo>
                    <a:lnTo>
                      <a:pt x="1237" y="1748"/>
                    </a:lnTo>
                    <a:lnTo>
                      <a:pt x="1231" y="1756"/>
                    </a:lnTo>
                    <a:lnTo>
                      <a:pt x="1225" y="1763"/>
                    </a:lnTo>
                    <a:lnTo>
                      <a:pt x="1218" y="1770"/>
                    </a:lnTo>
                    <a:lnTo>
                      <a:pt x="1212" y="1778"/>
                    </a:lnTo>
                    <a:lnTo>
                      <a:pt x="1206" y="1785"/>
                    </a:lnTo>
                    <a:lnTo>
                      <a:pt x="1199" y="1792"/>
                    </a:lnTo>
                    <a:lnTo>
                      <a:pt x="1193" y="1799"/>
                    </a:lnTo>
                    <a:lnTo>
                      <a:pt x="1186" y="1807"/>
                    </a:lnTo>
                    <a:lnTo>
                      <a:pt x="1180" y="1814"/>
                    </a:lnTo>
                    <a:lnTo>
                      <a:pt x="1173" y="1821"/>
                    </a:lnTo>
                    <a:lnTo>
                      <a:pt x="1166" y="1828"/>
                    </a:lnTo>
                    <a:lnTo>
                      <a:pt x="1160" y="1835"/>
                    </a:lnTo>
                    <a:lnTo>
                      <a:pt x="1153" y="1842"/>
                    </a:lnTo>
                    <a:lnTo>
                      <a:pt x="1146" y="1848"/>
                    </a:lnTo>
                    <a:lnTo>
                      <a:pt x="1139" y="1855"/>
                    </a:lnTo>
                    <a:lnTo>
                      <a:pt x="1133" y="1862"/>
                    </a:lnTo>
                    <a:lnTo>
                      <a:pt x="1126" y="1869"/>
                    </a:lnTo>
                    <a:lnTo>
                      <a:pt x="1119" y="1876"/>
                    </a:lnTo>
                    <a:lnTo>
                      <a:pt x="1112" y="1882"/>
                    </a:lnTo>
                    <a:lnTo>
                      <a:pt x="1105" y="1889"/>
                    </a:lnTo>
                    <a:lnTo>
                      <a:pt x="1098" y="1895"/>
                    </a:lnTo>
                    <a:lnTo>
                      <a:pt x="1091" y="1902"/>
                    </a:lnTo>
                    <a:lnTo>
                      <a:pt x="1084" y="1909"/>
                    </a:lnTo>
                    <a:lnTo>
                      <a:pt x="1076" y="1915"/>
                    </a:lnTo>
                    <a:lnTo>
                      <a:pt x="1069" y="1921"/>
                    </a:lnTo>
                    <a:lnTo>
                      <a:pt x="1062" y="1928"/>
                    </a:lnTo>
                    <a:lnTo>
                      <a:pt x="1055" y="1934"/>
                    </a:lnTo>
                    <a:lnTo>
                      <a:pt x="1047" y="1941"/>
                    </a:lnTo>
                    <a:lnTo>
                      <a:pt x="1040" y="1947"/>
                    </a:lnTo>
                    <a:lnTo>
                      <a:pt x="1033" y="1953"/>
                    </a:lnTo>
                    <a:lnTo>
                      <a:pt x="1025" y="1959"/>
                    </a:lnTo>
                    <a:lnTo>
                      <a:pt x="1018" y="1965"/>
                    </a:lnTo>
                    <a:lnTo>
                      <a:pt x="1010" y="1971"/>
                    </a:lnTo>
                    <a:lnTo>
                      <a:pt x="1003" y="1977"/>
                    </a:lnTo>
                    <a:lnTo>
                      <a:pt x="995" y="1983"/>
                    </a:lnTo>
                    <a:lnTo>
                      <a:pt x="987" y="1989"/>
                    </a:lnTo>
                    <a:lnTo>
                      <a:pt x="980" y="1995"/>
                    </a:lnTo>
                    <a:lnTo>
                      <a:pt x="972" y="2001"/>
                    </a:lnTo>
                    <a:lnTo>
                      <a:pt x="964" y="2007"/>
                    </a:lnTo>
                    <a:lnTo>
                      <a:pt x="957" y="2013"/>
                    </a:lnTo>
                    <a:lnTo>
                      <a:pt x="949" y="2019"/>
                    </a:lnTo>
                    <a:lnTo>
                      <a:pt x="941" y="2024"/>
                    </a:lnTo>
                    <a:lnTo>
                      <a:pt x="933" y="2030"/>
                    </a:lnTo>
                    <a:lnTo>
                      <a:pt x="925" y="2035"/>
                    </a:lnTo>
                    <a:lnTo>
                      <a:pt x="917" y="2041"/>
                    </a:lnTo>
                    <a:lnTo>
                      <a:pt x="909" y="2046"/>
                    </a:lnTo>
                    <a:lnTo>
                      <a:pt x="901" y="2052"/>
                    </a:lnTo>
                    <a:lnTo>
                      <a:pt x="893" y="2057"/>
                    </a:lnTo>
                    <a:lnTo>
                      <a:pt x="885" y="2063"/>
                    </a:lnTo>
                    <a:lnTo>
                      <a:pt x="877" y="2068"/>
                    </a:lnTo>
                    <a:lnTo>
                      <a:pt x="871" y="2072"/>
                    </a:lnTo>
                    <a:lnTo>
                      <a:pt x="720" y="1836"/>
                    </a:lnTo>
                    <a:lnTo>
                      <a:pt x="724" y="1833"/>
                    </a:lnTo>
                    <a:lnTo>
                      <a:pt x="731" y="1829"/>
                    </a:lnTo>
                    <a:lnTo>
                      <a:pt x="738" y="1824"/>
                    </a:lnTo>
                    <a:lnTo>
                      <a:pt x="744" y="1820"/>
                    </a:lnTo>
                    <a:lnTo>
                      <a:pt x="751" y="1815"/>
                    </a:lnTo>
                    <a:lnTo>
                      <a:pt x="758" y="1811"/>
                    </a:lnTo>
                    <a:lnTo>
                      <a:pt x="764" y="1806"/>
                    </a:lnTo>
                    <a:lnTo>
                      <a:pt x="771" y="1802"/>
                    </a:lnTo>
                    <a:lnTo>
                      <a:pt x="777" y="1797"/>
                    </a:lnTo>
                    <a:lnTo>
                      <a:pt x="784" y="1792"/>
                    </a:lnTo>
                    <a:lnTo>
                      <a:pt x="790" y="1788"/>
                    </a:lnTo>
                    <a:lnTo>
                      <a:pt x="797" y="1783"/>
                    </a:lnTo>
                    <a:lnTo>
                      <a:pt x="803" y="1778"/>
                    </a:lnTo>
                    <a:lnTo>
                      <a:pt x="809" y="1773"/>
                    </a:lnTo>
                    <a:lnTo>
                      <a:pt x="816" y="1768"/>
                    </a:lnTo>
                    <a:lnTo>
                      <a:pt x="822" y="1763"/>
                    </a:lnTo>
                    <a:lnTo>
                      <a:pt x="828" y="1758"/>
                    </a:lnTo>
                    <a:lnTo>
                      <a:pt x="835" y="1753"/>
                    </a:lnTo>
                    <a:lnTo>
                      <a:pt x="841" y="1748"/>
                    </a:lnTo>
                    <a:lnTo>
                      <a:pt x="847" y="1743"/>
                    </a:lnTo>
                    <a:lnTo>
                      <a:pt x="853" y="1738"/>
                    </a:lnTo>
                    <a:lnTo>
                      <a:pt x="859" y="1733"/>
                    </a:lnTo>
                    <a:lnTo>
                      <a:pt x="865" y="1728"/>
                    </a:lnTo>
                    <a:lnTo>
                      <a:pt x="871" y="1723"/>
                    </a:lnTo>
                    <a:lnTo>
                      <a:pt x="877" y="1717"/>
                    </a:lnTo>
                    <a:lnTo>
                      <a:pt x="883" y="1712"/>
                    </a:lnTo>
                    <a:lnTo>
                      <a:pt x="889" y="1707"/>
                    </a:lnTo>
                    <a:lnTo>
                      <a:pt x="895" y="1701"/>
                    </a:lnTo>
                    <a:lnTo>
                      <a:pt x="901" y="1696"/>
                    </a:lnTo>
                    <a:lnTo>
                      <a:pt x="907" y="1691"/>
                    </a:lnTo>
                    <a:lnTo>
                      <a:pt x="913" y="1685"/>
                    </a:lnTo>
                    <a:lnTo>
                      <a:pt x="919" y="1680"/>
                    </a:lnTo>
                    <a:lnTo>
                      <a:pt x="924" y="1674"/>
                    </a:lnTo>
                    <a:lnTo>
                      <a:pt x="930" y="1669"/>
                    </a:lnTo>
                    <a:lnTo>
                      <a:pt x="936" y="1663"/>
                    </a:lnTo>
                    <a:lnTo>
                      <a:pt x="942" y="1657"/>
                    </a:lnTo>
                    <a:lnTo>
                      <a:pt x="947" y="1652"/>
                    </a:lnTo>
                    <a:lnTo>
                      <a:pt x="953" y="1646"/>
                    </a:lnTo>
                    <a:lnTo>
                      <a:pt x="958" y="1640"/>
                    </a:lnTo>
                    <a:lnTo>
                      <a:pt x="964" y="1634"/>
                    </a:lnTo>
                    <a:lnTo>
                      <a:pt x="969" y="1629"/>
                    </a:lnTo>
                    <a:lnTo>
                      <a:pt x="975" y="1623"/>
                    </a:lnTo>
                    <a:lnTo>
                      <a:pt x="980" y="1617"/>
                    </a:lnTo>
                    <a:lnTo>
                      <a:pt x="986" y="1611"/>
                    </a:lnTo>
                    <a:lnTo>
                      <a:pt x="991" y="1605"/>
                    </a:lnTo>
                    <a:lnTo>
                      <a:pt x="996" y="1599"/>
                    </a:lnTo>
                    <a:lnTo>
                      <a:pt x="1002" y="1593"/>
                    </a:lnTo>
                    <a:lnTo>
                      <a:pt x="1007" y="1587"/>
                    </a:lnTo>
                    <a:lnTo>
                      <a:pt x="1012" y="1581"/>
                    </a:lnTo>
                    <a:lnTo>
                      <a:pt x="1017" y="1575"/>
                    </a:lnTo>
                    <a:lnTo>
                      <a:pt x="1022" y="1569"/>
                    </a:lnTo>
                    <a:lnTo>
                      <a:pt x="1027" y="1563"/>
                    </a:lnTo>
                    <a:lnTo>
                      <a:pt x="1033" y="1557"/>
                    </a:lnTo>
                    <a:lnTo>
                      <a:pt x="1038" y="1550"/>
                    </a:lnTo>
                    <a:lnTo>
                      <a:pt x="1043" y="1544"/>
                    </a:lnTo>
                    <a:lnTo>
                      <a:pt x="1048" y="1538"/>
                    </a:lnTo>
                    <a:lnTo>
                      <a:pt x="1052" y="1531"/>
                    </a:lnTo>
                    <a:lnTo>
                      <a:pt x="1057" y="1525"/>
                    </a:lnTo>
                    <a:lnTo>
                      <a:pt x="1062" y="1519"/>
                    </a:lnTo>
                    <a:lnTo>
                      <a:pt x="1067" y="1512"/>
                    </a:lnTo>
                    <a:lnTo>
                      <a:pt x="1072" y="1506"/>
                    </a:lnTo>
                    <a:lnTo>
                      <a:pt x="1077" y="1500"/>
                    </a:lnTo>
                    <a:lnTo>
                      <a:pt x="1081" y="1493"/>
                    </a:lnTo>
                    <a:lnTo>
                      <a:pt x="1085" y="1488"/>
                    </a:lnTo>
                    <a:close/>
                    <a:moveTo>
                      <a:pt x="0" y="2327"/>
                    </a:moveTo>
                    <a:lnTo>
                      <a:pt x="0" y="204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6" name="Freeform 9"/>
              <p:cNvSpPr>
                <a:spLocks/>
              </p:cNvSpPr>
              <p:nvPr/>
            </p:nvSpPr>
            <p:spPr bwMode="auto">
              <a:xfrm>
                <a:off x="2182018" y="4039169"/>
                <a:ext cx="1161056" cy="1279099"/>
              </a:xfrm>
              <a:custGeom>
                <a:avLst/>
                <a:gdLst>
                  <a:gd name="T0" fmla="*/ 2617 w 2894"/>
                  <a:gd name="T1" fmla="*/ 111 h 3192"/>
                  <a:gd name="T2" fmla="*/ 2756 w 2894"/>
                  <a:gd name="T3" fmla="*/ 408 h 3192"/>
                  <a:gd name="T4" fmla="*/ 2894 w 2894"/>
                  <a:gd name="T5" fmla="*/ 705 h 3192"/>
                  <a:gd name="T6" fmla="*/ 2567 w 2894"/>
                  <a:gd name="T7" fmla="*/ 676 h 3192"/>
                  <a:gd name="T8" fmla="*/ 2241 w 2894"/>
                  <a:gd name="T9" fmla="*/ 647 h 3192"/>
                  <a:gd name="T10" fmla="*/ 2345 w 2894"/>
                  <a:gd name="T11" fmla="*/ 500 h 3192"/>
                  <a:gd name="T12" fmla="*/ 2097 w 2894"/>
                  <a:gd name="T13" fmla="*/ 371 h 3192"/>
                  <a:gd name="T14" fmla="*/ 1611 w 2894"/>
                  <a:gd name="T15" fmla="*/ 280 h 3192"/>
                  <a:gd name="T16" fmla="*/ 670 w 2894"/>
                  <a:gd name="T17" fmla="*/ 670 h 3192"/>
                  <a:gd name="T18" fmla="*/ 280 w 2894"/>
                  <a:gd name="T19" fmla="*/ 1611 h 3192"/>
                  <a:gd name="T20" fmla="*/ 584 w 2894"/>
                  <a:gd name="T21" fmla="*/ 2458 h 3192"/>
                  <a:gd name="T22" fmla="*/ 1357 w 2894"/>
                  <a:gd name="T23" fmla="*/ 2918 h 3192"/>
                  <a:gd name="T24" fmla="*/ 1304 w 2894"/>
                  <a:gd name="T25" fmla="*/ 3192 h 3192"/>
                  <a:gd name="T26" fmla="*/ 368 w 2894"/>
                  <a:gd name="T27" fmla="*/ 2635 h 3192"/>
                  <a:gd name="T28" fmla="*/ 0 w 2894"/>
                  <a:gd name="T29" fmla="*/ 1611 h 3192"/>
                  <a:gd name="T30" fmla="*/ 472 w 2894"/>
                  <a:gd name="T31" fmla="*/ 472 h 3192"/>
                  <a:gd name="T32" fmla="*/ 1611 w 2894"/>
                  <a:gd name="T33" fmla="*/ 0 h 3192"/>
                  <a:gd name="T34" fmla="*/ 2198 w 2894"/>
                  <a:gd name="T35" fmla="*/ 111 h 3192"/>
                  <a:gd name="T36" fmla="*/ 2505 w 2894"/>
                  <a:gd name="T37" fmla="*/ 271 h 3192"/>
                  <a:gd name="T38" fmla="*/ 2617 w 2894"/>
                  <a:gd name="T39" fmla="*/ 111 h 3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94" h="3192">
                    <a:moveTo>
                      <a:pt x="2617" y="111"/>
                    </a:moveTo>
                    <a:lnTo>
                      <a:pt x="2756" y="408"/>
                    </a:lnTo>
                    <a:lnTo>
                      <a:pt x="2894" y="705"/>
                    </a:lnTo>
                    <a:lnTo>
                      <a:pt x="2567" y="676"/>
                    </a:lnTo>
                    <a:lnTo>
                      <a:pt x="2241" y="647"/>
                    </a:lnTo>
                    <a:lnTo>
                      <a:pt x="2345" y="500"/>
                    </a:lnTo>
                    <a:cubicBezTo>
                      <a:pt x="2267" y="448"/>
                      <a:pt x="2183" y="405"/>
                      <a:pt x="2097" y="371"/>
                    </a:cubicBezTo>
                    <a:cubicBezTo>
                      <a:pt x="1944" y="312"/>
                      <a:pt x="1779" y="280"/>
                      <a:pt x="1611" y="280"/>
                    </a:cubicBezTo>
                    <a:cubicBezTo>
                      <a:pt x="1243" y="280"/>
                      <a:pt x="911" y="429"/>
                      <a:pt x="670" y="670"/>
                    </a:cubicBezTo>
                    <a:cubicBezTo>
                      <a:pt x="429" y="911"/>
                      <a:pt x="280" y="1243"/>
                      <a:pt x="280" y="1611"/>
                    </a:cubicBezTo>
                    <a:cubicBezTo>
                      <a:pt x="280" y="1930"/>
                      <a:pt x="393" y="2227"/>
                      <a:pt x="584" y="2458"/>
                    </a:cubicBezTo>
                    <a:cubicBezTo>
                      <a:pt x="775" y="2690"/>
                      <a:pt x="1044" y="2857"/>
                      <a:pt x="1357" y="2918"/>
                    </a:cubicBezTo>
                    <a:lnTo>
                      <a:pt x="1304" y="3192"/>
                    </a:lnTo>
                    <a:cubicBezTo>
                      <a:pt x="926" y="3119"/>
                      <a:pt x="600" y="2916"/>
                      <a:pt x="368" y="2635"/>
                    </a:cubicBezTo>
                    <a:cubicBezTo>
                      <a:pt x="137" y="2355"/>
                      <a:pt x="0" y="1996"/>
                      <a:pt x="0" y="1611"/>
                    </a:cubicBezTo>
                    <a:cubicBezTo>
                      <a:pt x="0" y="1166"/>
                      <a:pt x="180" y="763"/>
                      <a:pt x="472" y="472"/>
                    </a:cubicBezTo>
                    <a:cubicBezTo>
                      <a:pt x="763" y="180"/>
                      <a:pt x="1166" y="0"/>
                      <a:pt x="1611" y="0"/>
                    </a:cubicBezTo>
                    <a:cubicBezTo>
                      <a:pt x="1813" y="0"/>
                      <a:pt x="2012" y="38"/>
                      <a:pt x="2198" y="111"/>
                    </a:cubicBezTo>
                    <a:cubicBezTo>
                      <a:pt x="2305" y="153"/>
                      <a:pt x="2408" y="207"/>
                      <a:pt x="2505" y="271"/>
                    </a:cubicBezTo>
                    <a:lnTo>
                      <a:pt x="2617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19" name="Группа 18"/>
            <p:cNvGrpSpPr/>
            <p:nvPr/>
          </p:nvGrpSpPr>
          <p:grpSpPr>
            <a:xfrm>
              <a:off x="2789185" y="4426694"/>
              <a:ext cx="0" cy="756000"/>
              <a:chOff x="2791616" y="4277018"/>
              <a:chExt cx="0" cy="863494"/>
            </a:xfrm>
          </p:grpSpPr>
          <p:cxnSp>
            <p:nvCxnSpPr>
              <p:cNvPr id="23" name="Прямая соединительная линия 22"/>
              <p:cNvCxnSpPr/>
              <p:nvPr/>
            </p:nvCxnSpPr>
            <p:spPr>
              <a:xfrm>
                <a:off x="2791616" y="4277018"/>
                <a:ext cx="0" cy="431747"/>
              </a:xfrm>
              <a:prstGeom prst="line">
                <a:avLst/>
              </a:prstGeom>
              <a:ln w="76200" cap="rnd">
                <a:solidFill>
                  <a:srgbClr val="FF24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Прямая соединительная линия 23"/>
              <p:cNvCxnSpPr/>
              <p:nvPr/>
            </p:nvCxnSpPr>
            <p:spPr>
              <a:xfrm>
                <a:off x="2791616" y="4708765"/>
                <a:ext cx="0" cy="431747"/>
              </a:xfrm>
              <a:prstGeom prst="line">
                <a:avLst/>
              </a:prstGeom>
              <a:ln w="76200" cap="rnd">
                <a:solidFill>
                  <a:srgbClr val="FFFFFF">
                    <a:alpha val="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Группа 19"/>
            <p:cNvGrpSpPr/>
            <p:nvPr/>
          </p:nvGrpSpPr>
          <p:grpSpPr>
            <a:xfrm>
              <a:off x="2789185" y="4426694"/>
              <a:ext cx="0" cy="756000"/>
              <a:chOff x="2791616" y="4277018"/>
              <a:chExt cx="0" cy="863494"/>
            </a:xfrm>
          </p:grpSpPr>
          <p:cxnSp>
            <p:nvCxnSpPr>
              <p:cNvPr id="21" name="Прямая соединительная линия 20"/>
              <p:cNvCxnSpPr/>
              <p:nvPr/>
            </p:nvCxnSpPr>
            <p:spPr>
              <a:xfrm>
                <a:off x="2791616" y="4277018"/>
                <a:ext cx="0" cy="431747"/>
              </a:xfrm>
              <a:prstGeom prst="line">
                <a:avLst/>
              </a:prstGeom>
              <a:ln w="76200" cap="rnd">
                <a:solidFill>
                  <a:srgbClr val="FF24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/>
              <p:cNvCxnSpPr/>
              <p:nvPr/>
            </p:nvCxnSpPr>
            <p:spPr>
              <a:xfrm>
                <a:off x="2791616" y="4708765"/>
                <a:ext cx="0" cy="431747"/>
              </a:xfrm>
              <a:prstGeom prst="line">
                <a:avLst/>
              </a:prstGeom>
              <a:ln w="76200" cap="rnd">
                <a:solidFill>
                  <a:srgbClr val="FFFFFF">
                    <a:alpha val="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Группа 26"/>
          <p:cNvGrpSpPr>
            <a:grpSpLocks noChangeAspect="1"/>
          </p:cNvGrpSpPr>
          <p:nvPr/>
        </p:nvGrpSpPr>
        <p:grpSpPr>
          <a:xfrm>
            <a:off x="367925" y="3910912"/>
            <a:ext cx="619538" cy="526200"/>
            <a:chOff x="3779912" y="3144143"/>
            <a:chExt cx="1597755" cy="1298760"/>
          </a:xfrm>
        </p:grpSpPr>
        <p:grpSp>
          <p:nvGrpSpPr>
            <p:cNvPr id="28" name="Группа 27"/>
            <p:cNvGrpSpPr/>
            <p:nvPr/>
          </p:nvGrpSpPr>
          <p:grpSpPr>
            <a:xfrm>
              <a:off x="3779912" y="3144143"/>
              <a:ext cx="1597755" cy="1298760"/>
              <a:chOff x="4267121" y="3612182"/>
              <a:chExt cx="814388" cy="763588"/>
            </a:xfrm>
          </p:grpSpPr>
          <p:sp>
            <p:nvSpPr>
              <p:cNvPr id="30" name="Freeform 109"/>
              <p:cNvSpPr>
                <a:spLocks noEditPoints="1"/>
              </p:cNvSpPr>
              <p:nvPr/>
            </p:nvSpPr>
            <p:spPr bwMode="auto">
              <a:xfrm>
                <a:off x="4267121" y="3713782"/>
                <a:ext cx="254000" cy="661988"/>
              </a:xfrm>
              <a:custGeom>
                <a:avLst/>
                <a:gdLst>
                  <a:gd name="T0" fmla="*/ 564 w 705"/>
                  <a:gd name="T1" fmla="*/ 0 h 1835"/>
                  <a:gd name="T2" fmla="*/ 141 w 705"/>
                  <a:gd name="T3" fmla="*/ 0 h 1835"/>
                  <a:gd name="T4" fmla="*/ 0 w 705"/>
                  <a:gd name="T5" fmla="*/ 141 h 1835"/>
                  <a:gd name="T6" fmla="*/ 0 w 705"/>
                  <a:gd name="T7" fmla="*/ 1694 h 1835"/>
                  <a:gd name="T8" fmla="*/ 141 w 705"/>
                  <a:gd name="T9" fmla="*/ 1835 h 1835"/>
                  <a:gd name="T10" fmla="*/ 564 w 705"/>
                  <a:gd name="T11" fmla="*/ 1835 h 1835"/>
                  <a:gd name="T12" fmla="*/ 705 w 705"/>
                  <a:gd name="T13" fmla="*/ 1694 h 1835"/>
                  <a:gd name="T14" fmla="*/ 705 w 705"/>
                  <a:gd name="T15" fmla="*/ 141 h 1835"/>
                  <a:gd name="T16" fmla="*/ 564 w 705"/>
                  <a:gd name="T17" fmla="*/ 0 h 1835"/>
                  <a:gd name="T18" fmla="*/ 211 w 705"/>
                  <a:gd name="T19" fmla="*/ 1411 h 1835"/>
                  <a:gd name="T20" fmla="*/ 141 w 705"/>
                  <a:gd name="T21" fmla="*/ 1341 h 1835"/>
                  <a:gd name="T22" fmla="*/ 211 w 705"/>
                  <a:gd name="T23" fmla="*/ 1270 h 1835"/>
                  <a:gd name="T24" fmla="*/ 282 w 705"/>
                  <a:gd name="T25" fmla="*/ 1341 h 1835"/>
                  <a:gd name="T26" fmla="*/ 211 w 705"/>
                  <a:gd name="T27" fmla="*/ 1411 h 1835"/>
                  <a:gd name="T28" fmla="*/ 564 w 705"/>
                  <a:gd name="T29" fmla="*/ 565 h 1835"/>
                  <a:gd name="T30" fmla="*/ 141 w 705"/>
                  <a:gd name="T31" fmla="*/ 565 h 1835"/>
                  <a:gd name="T32" fmla="*/ 141 w 705"/>
                  <a:gd name="T33" fmla="*/ 424 h 1835"/>
                  <a:gd name="T34" fmla="*/ 564 w 705"/>
                  <a:gd name="T35" fmla="*/ 424 h 1835"/>
                  <a:gd name="T36" fmla="*/ 564 w 705"/>
                  <a:gd name="T37" fmla="*/ 565 h 1835"/>
                  <a:gd name="T38" fmla="*/ 564 w 705"/>
                  <a:gd name="T39" fmla="*/ 283 h 1835"/>
                  <a:gd name="T40" fmla="*/ 141 w 705"/>
                  <a:gd name="T41" fmla="*/ 283 h 1835"/>
                  <a:gd name="T42" fmla="*/ 141 w 705"/>
                  <a:gd name="T43" fmla="*/ 141 h 1835"/>
                  <a:gd name="T44" fmla="*/ 564 w 705"/>
                  <a:gd name="T45" fmla="*/ 141 h 1835"/>
                  <a:gd name="T46" fmla="*/ 564 w 705"/>
                  <a:gd name="T47" fmla="*/ 283 h 18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05" h="1835">
                    <a:moveTo>
                      <a:pt x="564" y="0"/>
                    </a:moveTo>
                    <a:lnTo>
                      <a:pt x="141" y="0"/>
                    </a:lnTo>
                    <a:cubicBezTo>
                      <a:pt x="63" y="0"/>
                      <a:pt x="0" y="64"/>
                      <a:pt x="0" y="141"/>
                    </a:cubicBezTo>
                    <a:lnTo>
                      <a:pt x="0" y="1694"/>
                    </a:lnTo>
                    <a:cubicBezTo>
                      <a:pt x="0" y="1772"/>
                      <a:pt x="63" y="1835"/>
                      <a:pt x="141" y="1835"/>
                    </a:cubicBezTo>
                    <a:lnTo>
                      <a:pt x="564" y="1835"/>
                    </a:lnTo>
                    <a:cubicBezTo>
                      <a:pt x="642" y="1835"/>
                      <a:pt x="705" y="1772"/>
                      <a:pt x="705" y="1694"/>
                    </a:cubicBezTo>
                    <a:lnTo>
                      <a:pt x="705" y="141"/>
                    </a:lnTo>
                    <a:cubicBezTo>
                      <a:pt x="705" y="64"/>
                      <a:pt x="642" y="0"/>
                      <a:pt x="564" y="0"/>
                    </a:cubicBezTo>
                    <a:close/>
                    <a:moveTo>
                      <a:pt x="211" y="1411"/>
                    </a:moveTo>
                    <a:cubicBezTo>
                      <a:pt x="172" y="1411"/>
                      <a:pt x="141" y="1380"/>
                      <a:pt x="141" y="1341"/>
                    </a:cubicBezTo>
                    <a:cubicBezTo>
                      <a:pt x="141" y="1302"/>
                      <a:pt x="172" y="1270"/>
                      <a:pt x="211" y="1270"/>
                    </a:cubicBezTo>
                    <a:cubicBezTo>
                      <a:pt x="250" y="1270"/>
                      <a:pt x="282" y="1302"/>
                      <a:pt x="282" y="1341"/>
                    </a:cubicBezTo>
                    <a:cubicBezTo>
                      <a:pt x="282" y="1380"/>
                      <a:pt x="250" y="1411"/>
                      <a:pt x="211" y="1411"/>
                    </a:cubicBezTo>
                    <a:close/>
                    <a:moveTo>
                      <a:pt x="564" y="565"/>
                    </a:moveTo>
                    <a:lnTo>
                      <a:pt x="141" y="565"/>
                    </a:lnTo>
                    <a:lnTo>
                      <a:pt x="141" y="424"/>
                    </a:lnTo>
                    <a:lnTo>
                      <a:pt x="564" y="424"/>
                    </a:lnTo>
                    <a:lnTo>
                      <a:pt x="564" y="565"/>
                    </a:lnTo>
                    <a:close/>
                    <a:moveTo>
                      <a:pt x="564" y="283"/>
                    </a:moveTo>
                    <a:lnTo>
                      <a:pt x="141" y="283"/>
                    </a:lnTo>
                    <a:lnTo>
                      <a:pt x="141" y="141"/>
                    </a:lnTo>
                    <a:lnTo>
                      <a:pt x="564" y="141"/>
                    </a:lnTo>
                    <a:lnTo>
                      <a:pt x="564" y="28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grpSp>
            <p:nvGrpSpPr>
              <p:cNvPr id="31" name="Группа 30"/>
              <p:cNvGrpSpPr/>
              <p:nvPr/>
            </p:nvGrpSpPr>
            <p:grpSpPr>
              <a:xfrm>
                <a:off x="4368721" y="3612182"/>
                <a:ext cx="712788" cy="712788"/>
                <a:chOff x="4368721" y="3612182"/>
                <a:chExt cx="712788" cy="712788"/>
              </a:xfrm>
            </p:grpSpPr>
            <p:sp>
              <p:nvSpPr>
                <p:cNvPr id="32" name="Freeform 110"/>
                <p:cNvSpPr>
                  <a:spLocks/>
                </p:cNvSpPr>
                <p:nvPr/>
              </p:nvSpPr>
              <p:spPr bwMode="auto">
                <a:xfrm>
                  <a:off x="4597321" y="4223370"/>
                  <a:ext cx="254000" cy="101600"/>
                </a:xfrm>
                <a:custGeom>
                  <a:avLst/>
                  <a:gdLst>
                    <a:gd name="T0" fmla="*/ 564 w 706"/>
                    <a:gd name="T1" fmla="*/ 142 h 283"/>
                    <a:gd name="T2" fmla="*/ 564 w 706"/>
                    <a:gd name="T3" fmla="*/ 0 h 283"/>
                    <a:gd name="T4" fmla="*/ 141 w 706"/>
                    <a:gd name="T5" fmla="*/ 0 h 283"/>
                    <a:gd name="T6" fmla="*/ 141 w 706"/>
                    <a:gd name="T7" fmla="*/ 142 h 283"/>
                    <a:gd name="T8" fmla="*/ 0 w 706"/>
                    <a:gd name="T9" fmla="*/ 283 h 283"/>
                    <a:gd name="T10" fmla="*/ 706 w 706"/>
                    <a:gd name="T11" fmla="*/ 283 h 283"/>
                    <a:gd name="T12" fmla="*/ 564 w 706"/>
                    <a:gd name="T13" fmla="*/ 142 h 2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06" h="283">
                      <a:moveTo>
                        <a:pt x="564" y="142"/>
                      </a:moveTo>
                      <a:lnTo>
                        <a:pt x="564" y="0"/>
                      </a:lnTo>
                      <a:lnTo>
                        <a:pt x="141" y="0"/>
                      </a:lnTo>
                      <a:lnTo>
                        <a:pt x="141" y="142"/>
                      </a:lnTo>
                      <a:cubicBezTo>
                        <a:pt x="63" y="142"/>
                        <a:pt x="0" y="205"/>
                        <a:pt x="0" y="283"/>
                      </a:cubicBezTo>
                      <a:lnTo>
                        <a:pt x="706" y="283"/>
                      </a:lnTo>
                      <a:cubicBezTo>
                        <a:pt x="706" y="205"/>
                        <a:pt x="642" y="142"/>
                        <a:pt x="564" y="142"/>
                      </a:cubicBezTo>
                      <a:close/>
                    </a:path>
                  </a:pathLst>
                </a:custGeom>
                <a:solidFill>
                  <a:srgbClr val="FF24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3" name="Freeform 111"/>
                <p:cNvSpPr>
                  <a:spLocks noEditPoints="1"/>
                </p:cNvSpPr>
                <p:nvPr/>
              </p:nvSpPr>
              <p:spPr bwMode="auto">
                <a:xfrm>
                  <a:off x="4368721" y="3612182"/>
                  <a:ext cx="712788" cy="560388"/>
                </a:xfrm>
                <a:custGeom>
                  <a:avLst/>
                  <a:gdLst>
                    <a:gd name="T0" fmla="*/ 1834 w 1976"/>
                    <a:gd name="T1" fmla="*/ 0 h 1552"/>
                    <a:gd name="T2" fmla="*/ 141 w 1976"/>
                    <a:gd name="T3" fmla="*/ 0 h 1552"/>
                    <a:gd name="T4" fmla="*/ 0 w 1976"/>
                    <a:gd name="T5" fmla="*/ 141 h 1552"/>
                    <a:gd name="T6" fmla="*/ 1834 w 1976"/>
                    <a:gd name="T7" fmla="*/ 141 h 1552"/>
                    <a:gd name="T8" fmla="*/ 1834 w 1976"/>
                    <a:gd name="T9" fmla="*/ 1270 h 1552"/>
                    <a:gd name="T10" fmla="*/ 564 w 1976"/>
                    <a:gd name="T11" fmla="*/ 1270 h 1552"/>
                    <a:gd name="T12" fmla="*/ 564 w 1976"/>
                    <a:gd name="T13" fmla="*/ 1552 h 1552"/>
                    <a:gd name="T14" fmla="*/ 1834 w 1976"/>
                    <a:gd name="T15" fmla="*/ 1552 h 1552"/>
                    <a:gd name="T16" fmla="*/ 1976 w 1976"/>
                    <a:gd name="T17" fmla="*/ 1411 h 1552"/>
                    <a:gd name="T18" fmla="*/ 1976 w 1976"/>
                    <a:gd name="T19" fmla="*/ 141 h 1552"/>
                    <a:gd name="T20" fmla="*/ 1834 w 1976"/>
                    <a:gd name="T21" fmla="*/ 0 h 1552"/>
                    <a:gd name="T22" fmla="*/ 988 w 1976"/>
                    <a:gd name="T23" fmla="*/ 1482 h 1552"/>
                    <a:gd name="T24" fmla="*/ 917 w 1976"/>
                    <a:gd name="T25" fmla="*/ 1411 h 1552"/>
                    <a:gd name="T26" fmla="*/ 988 w 1976"/>
                    <a:gd name="T27" fmla="*/ 1341 h 1552"/>
                    <a:gd name="T28" fmla="*/ 1058 w 1976"/>
                    <a:gd name="T29" fmla="*/ 1411 h 1552"/>
                    <a:gd name="T30" fmla="*/ 988 w 1976"/>
                    <a:gd name="T31" fmla="*/ 1482 h 15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76" h="1552">
                      <a:moveTo>
                        <a:pt x="1834" y="0"/>
                      </a:moveTo>
                      <a:lnTo>
                        <a:pt x="141" y="0"/>
                      </a:lnTo>
                      <a:cubicBezTo>
                        <a:pt x="63" y="0"/>
                        <a:pt x="0" y="63"/>
                        <a:pt x="0" y="141"/>
                      </a:cubicBezTo>
                      <a:lnTo>
                        <a:pt x="1834" y="141"/>
                      </a:lnTo>
                      <a:lnTo>
                        <a:pt x="1834" y="1270"/>
                      </a:lnTo>
                      <a:lnTo>
                        <a:pt x="564" y="1270"/>
                      </a:lnTo>
                      <a:lnTo>
                        <a:pt x="564" y="1552"/>
                      </a:lnTo>
                      <a:lnTo>
                        <a:pt x="1834" y="1552"/>
                      </a:lnTo>
                      <a:cubicBezTo>
                        <a:pt x="1912" y="1552"/>
                        <a:pt x="1976" y="1489"/>
                        <a:pt x="1976" y="1411"/>
                      </a:cubicBezTo>
                      <a:lnTo>
                        <a:pt x="1976" y="141"/>
                      </a:lnTo>
                      <a:cubicBezTo>
                        <a:pt x="1976" y="63"/>
                        <a:pt x="1912" y="0"/>
                        <a:pt x="1834" y="0"/>
                      </a:cubicBezTo>
                      <a:close/>
                      <a:moveTo>
                        <a:pt x="988" y="1482"/>
                      </a:moveTo>
                      <a:cubicBezTo>
                        <a:pt x="949" y="1482"/>
                        <a:pt x="917" y="1450"/>
                        <a:pt x="917" y="1411"/>
                      </a:cubicBezTo>
                      <a:cubicBezTo>
                        <a:pt x="917" y="1372"/>
                        <a:pt x="949" y="1341"/>
                        <a:pt x="988" y="1341"/>
                      </a:cubicBezTo>
                      <a:cubicBezTo>
                        <a:pt x="1027" y="1341"/>
                        <a:pt x="1058" y="1372"/>
                        <a:pt x="1058" y="1411"/>
                      </a:cubicBezTo>
                      <a:cubicBezTo>
                        <a:pt x="1058" y="1450"/>
                        <a:pt x="1027" y="1482"/>
                        <a:pt x="988" y="1482"/>
                      </a:cubicBezTo>
                      <a:close/>
                    </a:path>
                  </a:pathLst>
                </a:custGeom>
                <a:solidFill>
                  <a:srgbClr val="FF24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</p:grpSp>
        </p:grpSp>
        <p:sp>
          <p:nvSpPr>
            <p:cNvPr id="29" name="Oval 145"/>
            <p:cNvSpPr>
              <a:spLocks noChangeArrowheads="1"/>
            </p:cNvSpPr>
            <p:nvPr/>
          </p:nvSpPr>
          <p:spPr bwMode="auto">
            <a:xfrm>
              <a:off x="3874207" y="4100946"/>
              <a:ext cx="85725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34" name="Группа 33"/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353443" y="5918752"/>
            <a:ext cx="634020" cy="559308"/>
            <a:chOff x="5555373" y="1835374"/>
            <a:chExt cx="1231900" cy="1131888"/>
          </a:xfrm>
        </p:grpSpPr>
        <p:grpSp>
          <p:nvGrpSpPr>
            <p:cNvPr id="35" name="Группа 34"/>
            <p:cNvGrpSpPr/>
            <p:nvPr/>
          </p:nvGrpSpPr>
          <p:grpSpPr>
            <a:xfrm>
              <a:off x="5555373" y="2130649"/>
              <a:ext cx="393700" cy="684213"/>
              <a:chOff x="2212976" y="2042888"/>
              <a:chExt cx="393700" cy="684213"/>
            </a:xfrm>
            <a:solidFill>
              <a:schemeClr val="accent3"/>
            </a:solidFill>
          </p:grpSpPr>
          <p:sp>
            <p:nvSpPr>
              <p:cNvPr id="48" name="Freeform 11"/>
              <p:cNvSpPr>
                <a:spLocks/>
              </p:cNvSpPr>
              <p:nvPr/>
            </p:nvSpPr>
            <p:spPr bwMode="auto">
              <a:xfrm>
                <a:off x="2212976" y="2344513"/>
                <a:ext cx="377825" cy="382588"/>
              </a:xfrm>
              <a:custGeom>
                <a:avLst/>
                <a:gdLst>
                  <a:gd name="T0" fmla="*/ 1050 w 1050"/>
                  <a:gd name="T1" fmla="*/ 346 h 1060"/>
                  <a:gd name="T2" fmla="*/ 897 w 1050"/>
                  <a:gd name="T3" fmla="*/ 2 h 1060"/>
                  <a:gd name="T4" fmla="*/ 859 w 1050"/>
                  <a:gd name="T5" fmla="*/ 0 h 1060"/>
                  <a:gd name="T6" fmla="*/ 517 w 1050"/>
                  <a:gd name="T7" fmla="*/ 0 h 1060"/>
                  <a:gd name="T8" fmla="*/ 0 w 1050"/>
                  <a:gd name="T9" fmla="*/ 516 h 1060"/>
                  <a:gd name="T10" fmla="*/ 0 w 1050"/>
                  <a:gd name="T11" fmla="*/ 935 h 1060"/>
                  <a:gd name="T12" fmla="*/ 1 w 1050"/>
                  <a:gd name="T13" fmla="*/ 942 h 1060"/>
                  <a:gd name="T14" fmla="*/ 30 w 1050"/>
                  <a:gd name="T15" fmla="*/ 951 h 1060"/>
                  <a:gd name="T16" fmla="*/ 612 w 1050"/>
                  <a:gd name="T17" fmla="*/ 1060 h 1060"/>
                  <a:gd name="T18" fmla="*/ 612 w 1050"/>
                  <a:gd name="T19" fmla="*/ 934 h 1060"/>
                  <a:gd name="T20" fmla="*/ 1050 w 1050"/>
                  <a:gd name="T21" fmla="*/ 346 h 10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0" h="1060">
                    <a:moveTo>
                      <a:pt x="1050" y="346"/>
                    </a:moveTo>
                    <a:cubicBezTo>
                      <a:pt x="959" y="259"/>
                      <a:pt x="901" y="137"/>
                      <a:pt x="897" y="2"/>
                    </a:cubicBezTo>
                    <a:cubicBezTo>
                      <a:pt x="884" y="1"/>
                      <a:pt x="872" y="0"/>
                      <a:pt x="859" y="0"/>
                    </a:cubicBezTo>
                    <a:lnTo>
                      <a:pt x="517" y="0"/>
                    </a:lnTo>
                    <a:cubicBezTo>
                      <a:pt x="232" y="0"/>
                      <a:pt x="0" y="231"/>
                      <a:pt x="0" y="516"/>
                    </a:cubicBezTo>
                    <a:lnTo>
                      <a:pt x="0" y="935"/>
                    </a:lnTo>
                    <a:lnTo>
                      <a:pt x="1" y="942"/>
                    </a:lnTo>
                    <a:lnTo>
                      <a:pt x="30" y="951"/>
                    </a:lnTo>
                    <a:cubicBezTo>
                      <a:pt x="248" y="1019"/>
                      <a:pt x="443" y="1050"/>
                      <a:pt x="612" y="1060"/>
                    </a:cubicBezTo>
                    <a:lnTo>
                      <a:pt x="612" y="934"/>
                    </a:lnTo>
                    <a:cubicBezTo>
                      <a:pt x="612" y="656"/>
                      <a:pt x="797" y="421"/>
                      <a:pt x="1050" y="3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9" name="Freeform 12"/>
              <p:cNvSpPr>
                <a:spLocks/>
              </p:cNvSpPr>
              <p:nvPr/>
            </p:nvSpPr>
            <p:spPr bwMode="auto">
              <a:xfrm>
                <a:off x="2314576" y="2042888"/>
                <a:ext cx="292100" cy="290513"/>
              </a:xfrm>
              <a:custGeom>
                <a:avLst/>
                <a:gdLst>
                  <a:gd name="T0" fmla="*/ 404 w 807"/>
                  <a:gd name="T1" fmla="*/ 807 h 807"/>
                  <a:gd name="T2" fmla="*/ 619 w 807"/>
                  <a:gd name="T3" fmla="*/ 745 h 807"/>
                  <a:gd name="T4" fmla="*/ 806 w 807"/>
                  <a:gd name="T5" fmla="*/ 426 h 807"/>
                  <a:gd name="T6" fmla="*/ 807 w 807"/>
                  <a:gd name="T7" fmla="*/ 403 h 807"/>
                  <a:gd name="T8" fmla="*/ 404 w 807"/>
                  <a:gd name="T9" fmla="*/ 0 h 807"/>
                  <a:gd name="T10" fmla="*/ 0 w 807"/>
                  <a:gd name="T11" fmla="*/ 403 h 807"/>
                  <a:gd name="T12" fmla="*/ 404 w 807"/>
                  <a:gd name="T13" fmla="*/ 807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7" h="807">
                    <a:moveTo>
                      <a:pt x="404" y="807"/>
                    </a:moveTo>
                    <a:cubicBezTo>
                      <a:pt x="483" y="807"/>
                      <a:pt x="556" y="784"/>
                      <a:pt x="619" y="745"/>
                    </a:cubicBezTo>
                    <a:cubicBezTo>
                      <a:pt x="638" y="616"/>
                      <a:pt x="707" y="503"/>
                      <a:pt x="806" y="426"/>
                    </a:cubicBezTo>
                    <a:cubicBezTo>
                      <a:pt x="807" y="419"/>
                      <a:pt x="807" y="411"/>
                      <a:pt x="807" y="403"/>
                    </a:cubicBezTo>
                    <a:cubicBezTo>
                      <a:pt x="807" y="181"/>
                      <a:pt x="627" y="0"/>
                      <a:pt x="404" y="0"/>
                    </a:cubicBezTo>
                    <a:cubicBezTo>
                      <a:pt x="181" y="0"/>
                      <a:pt x="0" y="181"/>
                      <a:pt x="0" y="403"/>
                    </a:cubicBezTo>
                    <a:cubicBezTo>
                      <a:pt x="0" y="626"/>
                      <a:pt x="181" y="807"/>
                      <a:pt x="404" y="8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36" name="Группа 35"/>
            <p:cNvGrpSpPr/>
            <p:nvPr/>
          </p:nvGrpSpPr>
          <p:grpSpPr>
            <a:xfrm>
              <a:off x="6393573" y="1983012"/>
              <a:ext cx="393700" cy="685800"/>
              <a:chOff x="3051176" y="1895251"/>
              <a:chExt cx="393700" cy="68580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46" name="Freeform 13"/>
              <p:cNvSpPr>
                <a:spLocks/>
              </p:cNvSpPr>
              <p:nvPr/>
            </p:nvSpPr>
            <p:spPr bwMode="auto">
              <a:xfrm>
                <a:off x="3081338" y="2196876"/>
                <a:ext cx="363538" cy="384175"/>
              </a:xfrm>
              <a:custGeom>
                <a:avLst/>
                <a:gdLst>
                  <a:gd name="T0" fmla="*/ 493 w 1010"/>
                  <a:gd name="T1" fmla="*/ 0 h 1064"/>
                  <a:gd name="T2" fmla="*/ 153 w 1010"/>
                  <a:gd name="T3" fmla="*/ 0 h 1064"/>
                  <a:gd name="T4" fmla="*/ 0 w 1010"/>
                  <a:gd name="T5" fmla="*/ 347 h 1064"/>
                  <a:gd name="T6" fmla="*/ 438 w 1010"/>
                  <a:gd name="T7" fmla="*/ 935 h 1064"/>
                  <a:gd name="T8" fmla="*/ 438 w 1010"/>
                  <a:gd name="T9" fmla="*/ 1064 h 1064"/>
                  <a:gd name="T10" fmla="*/ 980 w 1010"/>
                  <a:gd name="T11" fmla="*/ 950 h 1064"/>
                  <a:gd name="T12" fmla="*/ 1007 w 1010"/>
                  <a:gd name="T13" fmla="*/ 936 h 1064"/>
                  <a:gd name="T14" fmla="*/ 1010 w 1010"/>
                  <a:gd name="T15" fmla="*/ 936 h 1064"/>
                  <a:gd name="T16" fmla="*/ 1010 w 1010"/>
                  <a:gd name="T17" fmla="*/ 517 h 1064"/>
                  <a:gd name="T18" fmla="*/ 493 w 1010"/>
                  <a:gd name="T19" fmla="*/ 0 h 1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10" h="1064">
                    <a:moveTo>
                      <a:pt x="493" y="0"/>
                    </a:moveTo>
                    <a:lnTo>
                      <a:pt x="153" y="0"/>
                    </a:lnTo>
                    <a:cubicBezTo>
                      <a:pt x="150" y="137"/>
                      <a:pt x="92" y="259"/>
                      <a:pt x="0" y="347"/>
                    </a:cubicBezTo>
                    <a:cubicBezTo>
                      <a:pt x="253" y="422"/>
                      <a:pt x="438" y="657"/>
                      <a:pt x="438" y="935"/>
                    </a:cubicBezTo>
                    <a:lnTo>
                      <a:pt x="438" y="1064"/>
                    </a:lnTo>
                    <a:cubicBezTo>
                      <a:pt x="774" y="1051"/>
                      <a:pt x="968" y="956"/>
                      <a:pt x="980" y="950"/>
                    </a:cubicBezTo>
                    <a:lnTo>
                      <a:pt x="1007" y="936"/>
                    </a:lnTo>
                    <a:lnTo>
                      <a:pt x="1010" y="936"/>
                    </a:lnTo>
                    <a:lnTo>
                      <a:pt x="1010" y="517"/>
                    </a:lnTo>
                    <a:cubicBezTo>
                      <a:pt x="1010" y="232"/>
                      <a:pt x="778" y="0"/>
                      <a:pt x="49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7" name="Freeform 14"/>
              <p:cNvSpPr>
                <a:spLocks/>
              </p:cNvSpPr>
              <p:nvPr/>
            </p:nvSpPr>
            <p:spPr bwMode="auto">
              <a:xfrm>
                <a:off x="3051176" y="1895251"/>
                <a:ext cx="292100" cy="292100"/>
              </a:xfrm>
              <a:custGeom>
                <a:avLst/>
                <a:gdLst>
                  <a:gd name="T0" fmla="*/ 0 w 807"/>
                  <a:gd name="T1" fmla="*/ 397 h 807"/>
                  <a:gd name="T2" fmla="*/ 233 w 807"/>
                  <a:gd name="T3" fmla="*/ 769 h 807"/>
                  <a:gd name="T4" fmla="*/ 403 w 807"/>
                  <a:gd name="T5" fmla="*/ 807 h 807"/>
                  <a:gd name="T6" fmla="*/ 807 w 807"/>
                  <a:gd name="T7" fmla="*/ 403 h 807"/>
                  <a:gd name="T8" fmla="*/ 403 w 807"/>
                  <a:gd name="T9" fmla="*/ 0 h 807"/>
                  <a:gd name="T10" fmla="*/ 0 w 807"/>
                  <a:gd name="T11" fmla="*/ 397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07" h="807">
                    <a:moveTo>
                      <a:pt x="0" y="397"/>
                    </a:moveTo>
                    <a:cubicBezTo>
                      <a:pt x="127" y="477"/>
                      <a:pt x="216" y="612"/>
                      <a:pt x="233" y="769"/>
                    </a:cubicBezTo>
                    <a:cubicBezTo>
                      <a:pt x="284" y="793"/>
                      <a:pt x="342" y="807"/>
                      <a:pt x="403" y="807"/>
                    </a:cubicBezTo>
                    <a:cubicBezTo>
                      <a:pt x="626" y="807"/>
                      <a:pt x="807" y="626"/>
                      <a:pt x="807" y="403"/>
                    </a:cubicBezTo>
                    <a:cubicBezTo>
                      <a:pt x="807" y="181"/>
                      <a:pt x="626" y="0"/>
                      <a:pt x="403" y="0"/>
                    </a:cubicBezTo>
                    <a:cubicBezTo>
                      <a:pt x="182" y="0"/>
                      <a:pt x="3" y="177"/>
                      <a:pt x="0" y="3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37" name="Группа 36"/>
            <p:cNvGrpSpPr/>
            <p:nvPr/>
          </p:nvGrpSpPr>
          <p:grpSpPr>
            <a:xfrm>
              <a:off x="5810960" y="2281462"/>
              <a:ext cx="495300" cy="685800"/>
              <a:chOff x="2468563" y="2193701"/>
              <a:chExt cx="495300" cy="685800"/>
            </a:xfrm>
            <a:solidFill>
              <a:srgbClr val="FF2400"/>
            </a:solidFill>
          </p:grpSpPr>
          <p:sp>
            <p:nvSpPr>
              <p:cNvPr id="44" name="Freeform 16"/>
              <p:cNvSpPr>
                <a:spLocks/>
              </p:cNvSpPr>
              <p:nvPr/>
            </p:nvSpPr>
            <p:spPr bwMode="auto">
              <a:xfrm>
                <a:off x="2468563" y="2493738"/>
                <a:ext cx="495300" cy="385763"/>
              </a:xfrm>
              <a:custGeom>
                <a:avLst/>
                <a:gdLst>
                  <a:gd name="T0" fmla="*/ 859 w 1376"/>
                  <a:gd name="T1" fmla="*/ 0 h 1065"/>
                  <a:gd name="T2" fmla="*/ 517 w 1376"/>
                  <a:gd name="T3" fmla="*/ 0 h 1065"/>
                  <a:gd name="T4" fmla="*/ 0 w 1376"/>
                  <a:gd name="T5" fmla="*/ 517 h 1065"/>
                  <a:gd name="T6" fmla="*/ 0 w 1376"/>
                  <a:gd name="T7" fmla="*/ 936 h 1065"/>
                  <a:gd name="T8" fmla="*/ 1 w 1376"/>
                  <a:gd name="T9" fmla="*/ 942 h 1065"/>
                  <a:gd name="T10" fmla="*/ 30 w 1376"/>
                  <a:gd name="T11" fmla="*/ 951 h 1065"/>
                  <a:gd name="T12" fmla="*/ 732 w 1376"/>
                  <a:gd name="T13" fmla="*/ 1065 h 1065"/>
                  <a:gd name="T14" fmla="*/ 1346 w 1376"/>
                  <a:gd name="T15" fmla="*/ 950 h 1065"/>
                  <a:gd name="T16" fmla="*/ 1373 w 1376"/>
                  <a:gd name="T17" fmla="*/ 936 h 1065"/>
                  <a:gd name="T18" fmla="*/ 1376 w 1376"/>
                  <a:gd name="T19" fmla="*/ 936 h 1065"/>
                  <a:gd name="T20" fmla="*/ 1376 w 1376"/>
                  <a:gd name="T21" fmla="*/ 517 h 1065"/>
                  <a:gd name="T22" fmla="*/ 859 w 1376"/>
                  <a:gd name="T23" fmla="*/ 0 h 10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76" h="1065">
                    <a:moveTo>
                      <a:pt x="859" y="0"/>
                    </a:moveTo>
                    <a:lnTo>
                      <a:pt x="517" y="0"/>
                    </a:lnTo>
                    <a:cubicBezTo>
                      <a:pt x="232" y="0"/>
                      <a:pt x="0" y="232"/>
                      <a:pt x="0" y="517"/>
                    </a:cubicBezTo>
                    <a:lnTo>
                      <a:pt x="0" y="936"/>
                    </a:lnTo>
                    <a:lnTo>
                      <a:pt x="1" y="942"/>
                    </a:lnTo>
                    <a:lnTo>
                      <a:pt x="30" y="951"/>
                    </a:lnTo>
                    <a:cubicBezTo>
                      <a:pt x="302" y="1036"/>
                      <a:pt x="538" y="1065"/>
                      <a:pt x="732" y="1065"/>
                    </a:cubicBezTo>
                    <a:cubicBezTo>
                      <a:pt x="1112" y="1065"/>
                      <a:pt x="1332" y="956"/>
                      <a:pt x="1346" y="950"/>
                    </a:cubicBezTo>
                    <a:lnTo>
                      <a:pt x="1373" y="936"/>
                    </a:lnTo>
                    <a:lnTo>
                      <a:pt x="1376" y="936"/>
                    </a:lnTo>
                    <a:lnTo>
                      <a:pt x="1376" y="517"/>
                    </a:lnTo>
                    <a:cubicBezTo>
                      <a:pt x="1376" y="232"/>
                      <a:pt x="1144" y="0"/>
                      <a:pt x="85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" name="Oval 17"/>
              <p:cNvSpPr>
                <a:spLocks noChangeArrowheads="1"/>
              </p:cNvSpPr>
              <p:nvPr/>
            </p:nvSpPr>
            <p:spPr bwMode="auto">
              <a:xfrm>
                <a:off x="2570163" y="2193701"/>
                <a:ext cx="292100" cy="2905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38" name="Группа 37"/>
            <p:cNvGrpSpPr/>
            <p:nvPr/>
          </p:nvGrpSpPr>
          <p:grpSpPr>
            <a:xfrm>
              <a:off x="6153860" y="2130649"/>
              <a:ext cx="393701" cy="685800"/>
              <a:chOff x="2811463" y="2042888"/>
              <a:chExt cx="393701" cy="685800"/>
            </a:xfrm>
            <a:solidFill>
              <a:schemeClr val="accent4"/>
            </a:solidFill>
          </p:grpSpPr>
          <p:sp>
            <p:nvSpPr>
              <p:cNvPr id="42" name="Freeform 15"/>
              <p:cNvSpPr>
                <a:spLocks/>
              </p:cNvSpPr>
              <p:nvPr/>
            </p:nvSpPr>
            <p:spPr bwMode="auto">
              <a:xfrm>
                <a:off x="2841626" y="2344513"/>
                <a:ext cx="363538" cy="384175"/>
              </a:xfrm>
              <a:custGeom>
                <a:avLst/>
                <a:gdLst>
                  <a:gd name="T0" fmla="*/ 493 w 1010"/>
                  <a:gd name="T1" fmla="*/ 0 h 1063"/>
                  <a:gd name="T2" fmla="*/ 153 w 1010"/>
                  <a:gd name="T3" fmla="*/ 0 h 1063"/>
                  <a:gd name="T4" fmla="*/ 0 w 1010"/>
                  <a:gd name="T5" fmla="*/ 346 h 1063"/>
                  <a:gd name="T6" fmla="*/ 438 w 1010"/>
                  <a:gd name="T7" fmla="*/ 934 h 1063"/>
                  <a:gd name="T8" fmla="*/ 438 w 1010"/>
                  <a:gd name="T9" fmla="*/ 1063 h 1063"/>
                  <a:gd name="T10" fmla="*/ 980 w 1010"/>
                  <a:gd name="T11" fmla="*/ 949 h 1063"/>
                  <a:gd name="T12" fmla="*/ 1007 w 1010"/>
                  <a:gd name="T13" fmla="*/ 935 h 1063"/>
                  <a:gd name="T14" fmla="*/ 1010 w 1010"/>
                  <a:gd name="T15" fmla="*/ 935 h 1063"/>
                  <a:gd name="T16" fmla="*/ 1010 w 1010"/>
                  <a:gd name="T17" fmla="*/ 516 h 1063"/>
                  <a:gd name="T18" fmla="*/ 493 w 1010"/>
                  <a:gd name="T19" fmla="*/ 0 h 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10" h="1063">
                    <a:moveTo>
                      <a:pt x="493" y="0"/>
                    </a:moveTo>
                    <a:lnTo>
                      <a:pt x="153" y="0"/>
                    </a:lnTo>
                    <a:cubicBezTo>
                      <a:pt x="149" y="136"/>
                      <a:pt x="91" y="258"/>
                      <a:pt x="0" y="346"/>
                    </a:cubicBezTo>
                    <a:cubicBezTo>
                      <a:pt x="253" y="421"/>
                      <a:pt x="438" y="656"/>
                      <a:pt x="438" y="934"/>
                    </a:cubicBezTo>
                    <a:lnTo>
                      <a:pt x="438" y="1063"/>
                    </a:lnTo>
                    <a:cubicBezTo>
                      <a:pt x="774" y="1050"/>
                      <a:pt x="967" y="955"/>
                      <a:pt x="980" y="949"/>
                    </a:cubicBezTo>
                    <a:lnTo>
                      <a:pt x="1007" y="935"/>
                    </a:lnTo>
                    <a:lnTo>
                      <a:pt x="1010" y="935"/>
                    </a:lnTo>
                    <a:lnTo>
                      <a:pt x="1010" y="516"/>
                    </a:lnTo>
                    <a:cubicBezTo>
                      <a:pt x="1010" y="231"/>
                      <a:pt x="778" y="0"/>
                      <a:pt x="49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Freeform 18"/>
              <p:cNvSpPr>
                <a:spLocks/>
              </p:cNvSpPr>
              <p:nvPr/>
            </p:nvSpPr>
            <p:spPr bwMode="auto">
              <a:xfrm>
                <a:off x="2811463" y="2042888"/>
                <a:ext cx="290513" cy="290513"/>
              </a:xfrm>
              <a:custGeom>
                <a:avLst/>
                <a:gdLst>
                  <a:gd name="T0" fmla="*/ 0 w 807"/>
                  <a:gd name="T1" fmla="*/ 397 h 807"/>
                  <a:gd name="T2" fmla="*/ 233 w 807"/>
                  <a:gd name="T3" fmla="*/ 769 h 807"/>
                  <a:gd name="T4" fmla="*/ 404 w 807"/>
                  <a:gd name="T5" fmla="*/ 807 h 807"/>
                  <a:gd name="T6" fmla="*/ 807 w 807"/>
                  <a:gd name="T7" fmla="*/ 403 h 807"/>
                  <a:gd name="T8" fmla="*/ 404 w 807"/>
                  <a:gd name="T9" fmla="*/ 0 h 807"/>
                  <a:gd name="T10" fmla="*/ 0 w 807"/>
                  <a:gd name="T11" fmla="*/ 397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07" h="807">
                    <a:moveTo>
                      <a:pt x="0" y="397"/>
                    </a:moveTo>
                    <a:cubicBezTo>
                      <a:pt x="128" y="477"/>
                      <a:pt x="217" y="612"/>
                      <a:pt x="233" y="769"/>
                    </a:cubicBezTo>
                    <a:cubicBezTo>
                      <a:pt x="285" y="793"/>
                      <a:pt x="343" y="807"/>
                      <a:pt x="404" y="807"/>
                    </a:cubicBezTo>
                    <a:cubicBezTo>
                      <a:pt x="627" y="807"/>
                      <a:pt x="807" y="626"/>
                      <a:pt x="807" y="403"/>
                    </a:cubicBezTo>
                    <a:cubicBezTo>
                      <a:pt x="807" y="181"/>
                      <a:pt x="627" y="0"/>
                      <a:pt x="404" y="0"/>
                    </a:cubicBezTo>
                    <a:cubicBezTo>
                      <a:pt x="183" y="0"/>
                      <a:pt x="4" y="177"/>
                      <a:pt x="0" y="3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39" name="Группа 38"/>
            <p:cNvGrpSpPr/>
            <p:nvPr/>
          </p:nvGrpSpPr>
          <p:grpSpPr>
            <a:xfrm>
              <a:off x="5893510" y="1835374"/>
              <a:ext cx="315913" cy="431800"/>
              <a:chOff x="2551113" y="1747613"/>
              <a:chExt cx="315913" cy="431800"/>
            </a:xfrm>
            <a:solidFill>
              <a:schemeClr val="accent2"/>
            </a:solidFill>
          </p:grpSpPr>
          <p:sp>
            <p:nvSpPr>
              <p:cNvPr id="40" name="Freeform 19"/>
              <p:cNvSpPr>
                <a:spLocks/>
              </p:cNvSpPr>
              <p:nvPr/>
            </p:nvSpPr>
            <p:spPr bwMode="auto">
              <a:xfrm>
                <a:off x="2600326" y="2074638"/>
                <a:ext cx="217488" cy="104775"/>
              </a:xfrm>
              <a:custGeom>
                <a:avLst/>
                <a:gdLst>
                  <a:gd name="T0" fmla="*/ 510 w 600"/>
                  <a:gd name="T1" fmla="*/ 268 h 288"/>
                  <a:gd name="T2" fmla="*/ 600 w 600"/>
                  <a:gd name="T3" fmla="*/ 11 h 288"/>
                  <a:gd name="T4" fmla="*/ 486 w 600"/>
                  <a:gd name="T5" fmla="*/ 0 h 288"/>
                  <a:gd name="T6" fmla="*/ 114 w 600"/>
                  <a:gd name="T7" fmla="*/ 0 h 288"/>
                  <a:gd name="T8" fmla="*/ 0 w 600"/>
                  <a:gd name="T9" fmla="*/ 11 h 288"/>
                  <a:gd name="T10" fmla="*/ 90 w 600"/>
                  <a:gd name="T11" fmla="*/ 288 h 288"/>
                  <a:gd name="T12" fmla="*/ 320 w 600"/>
                  <a:gd name="T13" fmla="*/ 229 h 288"/>
                  <a:gd name="T14" fmla="*/ 510 w 600"/>
                  <a:gd name="T15" fmla="*/ 26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0" h="288">
                    <a:moveTo>
                      <a:pt x="510" y="268"/>
                    </a:moveTo>
                    <a:cubicBezTo>
                      <a:pt x="515" y="173"/>
                      <a:pt x="548" y="84"/>
                      <a:pt x="600" y="11"/>
                    </a:cubicBezTo>
                    <a:cubicBezTo>
                      <a:pt x="563" y="4"/>
                      <a:pt x="525" y="0"/>
                      <a:pt x="486" y="0"/>
                    </a:cubicBezTo>
                    <a:lnTo>
                      <a:pt x="114" y="0"/>
                    </a:lnTo>
                    <a:cubicBezTo>
                      <a:pt x="75" y="0"/>
                      <a:pt x="36" y="4"/>
                      <a:pt x="0" y="11"/>
                    </a:cubicBezTo>
                    <a:cubicBezTo>
                      <a:pt x="56" y="89"/>
                      <a:pt x="89" y="185"/>
                      <a:pt x="90" y="288"/>
                    </a:cubicBezTo>
                    <a:cubicBezTo>
                      <a:pt x="158" y="250"/>
                      <a:pt x="237" y="229"/>
                      <a:pt x="320" y="229"/>
                    </a:cubicBezTo>
                    <a:cubicBezTo>
                      <a:pt x="388" y="229"/>
                      <a:pt x="452" y="243"/>
                      <a:pt x="510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" name="Oval 20"/>
              <p:cNvSpPr>
                <a:spLocks noChangeArrowheads="1"/>
              </p:cNvSpPr>
              <p:nvPr/>
            </p:nvSpPr>
            <p:spPr bwMode="auto">
              <a:xfrm>
                <a:off x="2551113" y="1747613"/>
                <a:ext cx="315913" cy="3159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0" name="Группа 49"/>
          <p:cNvGrpSpPr>
            <a:grpSpLocks noChangeAspect="1"/>
          </p:cNvGrpSpPr>
          <p:nvPr/>
        </p:nvGrpSpPr>
        <p:grpSpPr>
          <a:xfrm>
            <a:off x="369208" y="4910451"/>
            <a:ext cx="550986" cy="600452"/>
            <a:chOff x="4747940" y="1875420"/>
            <a:chExt cx="587375" cy="598488"/>
          </a:xfrm>
        </p:grpSpPr>
        <p:sp>
          <p:nvSpPr>
            <p:cNvPr id="51" name="Freeform 132"/>
            <p:cNvSpPr>
              <a:spLocks/>
            </p:cNvSpPr>
            <p:nvPr/>
          </p:nvSpPr>
          <p:spPr bwMode="auto">
            <a:xfrm>
              <a:off x="4747940" y="1875420"/>
              <a:ext cx="587375" cy="598488"/>
            </a:xfrm>
            <a:custGeom>
              <a:avLst/>
              <a:gdLst>
                <a:gd name="T0" fmla="*/ 226 w 1629"/>
                <a:gd name="T1" fmla="*/ 1476 h 1657"/>
                <a:gd name="T2" fmla="*/ 475 w 1629"/>
                <a:gd name="T3" fmla="*/ 1183 h 1657"/>
                <a:gd name="T4" fmla="*/ 618 w 1629"/>
                <a:gd name="T5" fmla="*/ 1091 h 1657"/>
                <a:gd name="T6" fmla="*/ 851 w 1629"/>
                <a:gd name="T7" fmla="*/ 1025 h 1657"/>
                <a:gd name="T8" fmla="*/ 941 w 1629"/>
                <a:gd name="T9" fmla="*/ 1071 h 1657"/>
                <a:gd name="T10" fmla="*/ 983 w 1629"/>
                <a:gd name="T11" fmla="*/ 859 h 1657"/>
                <a:gd name="T12" fmla="*/ 979 w 1629"/>
                <a:gd name="T13" fmla="*/ 629 h 1657"/>
                <a:gd name="T14" fmla="*/ 1051 w 1629"/>
                <a:gd name="T15" fmla="*/ 526 h 1657"/>
                <a:gd name="T16" fmla="*/ 1051 w 1629"/>
                <a:gd name="T17" fmla="*/ 519 h 1657"/>
                <a:gd name="T18" fmla="*/ 1360 w 1629"/>
                <a:gd name="T19" fmla="*/ 388 h 1657"/>
                <a:gd name="T20" fmla="*/ 1547 w 1629"/>
                <a:gd name="T21" fmla="*/ 309 h 1657"/>
                <a:gd name="T22" fmla="*/ 1326 w 1629"/>
                <a:gd name="T23" fmla="*/ 308 h 1657"/>
                <a:gd name="T24" fmla="*/ 1326 w 1629"/>
                <a:gd name="T25" fmla="*/ 316 h 1657"/>
                <a:gd name="T26" fmla="*/ 1018 w 1629"/>
                <a:gd name="T27" fmla="*/ 446 h 1657"/>
                <a:gd name="T28" fmla="*/ 831 w 1629"/>
                <a:gd name="T29" fmla="*/ 526 h 1657"/>
                <a:gd name="T30" fmla="*/ 903 w 1629"/>
                <a:gd name="T31" fmla="*/ 629 h 1657"/>
                <a:gd name="T32" fmla="*/ 899 w 1629"/>
                <a:gd name="T33" fmla="*/ 859 h 1657"/>
                <a:gd name="T34" fmla="*/ 831 w 1629"/>
                <a:gd name="T35" fmla="*/ 951 h 1657"/>
                <a:gd name="T36" fmla="*/ 597 w 1629"/>
                <a:gd name="T37" fmla="*/ 1011 h 1657"/>
                <a:gd name="T38" fmla="*/ 398 w 1629"/>
                <a:gd name="T39" fmla="*/ 1078 h 1657"/>
                <a:gd name="T40" fmla="*/ 413 w 1629"/>
                <a:gd name="T41" fmla="*/ 1133 h 1657"/>
                <a:gd name="T42" fmla="*/ 186 w 1629"/>
                <a:gd name="T43" fmla="*/ 33 h 1657"/>
                <a:gd name="T44" fmla="*/ 106 w 1629"/>
                <a:gd name="T45" fmla="*/ 0 h 1657"/>
                <a:gd name="T46" fmla="*/ 72 w 1629"/>
                <a:gd name="T47" fmla="*/ 157 h 1657"/>
                <a:gd name="T48" fmla="*/ 0 w 1629"/>
                <a:gd name="T49" fmla="*/ 191 h 1657"/>
                <a:gd name="T50" fmla="*/ 34 w 1629"/>
                <a:gd name="T51" fmla="*/ 233 h 1657"/>
                <a:gd name="T52" fmla="*/ 72 w 1629"/>
                <a:gd name="T53" fmla="*/ 536 h 1657"/>
                <a:gd name="T54" fmla="*/ 0 w 1629"/>
                <a:gd name="T55" fmla="*/ 570 h 1657"/>
                <a:gd name="T56" fmla="*/ 34 w 1629"/>
                <a:gd name="T57" fmla="*/ 612 h 1657"/>
                <a:gd name="T58" fmla="*/ 72 w 1629"/>
                <a:gd name="T59" fmla="*/ 915 h 1657"/>
                <a:gd name="T60" fmla="*/ 0 w 1629"/>
                <a:gd name="T61" fmla="*/ 948 h 1657"/>
                <a:gd name="T62" fmla="*/ 34 w 1629"/>
                <a:gd name="T63" fmla="*/ 990 h 1657"/>
                <a:gd name="T64" fmla="*/ 72 w 1629"/>
                <a:gd name="T65" fmla="*/ 1293 h 1657"/>
                <a:gd name="T66" fmla="*/ 0 w 1629"/>
                <a:gd name="T67" fmla="*/ 1327 h 1657"/>
                <a:gd name="T68" fmla="*/ 34 w 1629"/>
                <a:gd name="T69" fmla="*/ 1369 h 1657"/>
                <a:gd name="T70" fmla="*/ 72 w 1629"/>
                <a:gd name="T71" fmla="*/ 1556 h 1657"/>
                <a:gd name="T72" fmla="*/ 354 w 1629"/>
                <a:gd name="T73" fmla="*/ 1590 h 1657"/>
                <a:gd name="T74" fmla="*/ 388 w 1629"/>
                <a:gd name="T75" fmla="*/ 1657 h 1657"/>
                <a:gd name="T76" fmla="*/ 430 w 1629"/>
                <a:gd name="T77" fmla="*/ 1624 h 1657"/>
                <a:gd name="T78" fmla="*/ 733 w 1629"/>
                <a:gd name="T79" fmla="*/ 1590 h 1657"/>
                <a:gd name="T80" fmla="*/ 767 w 1629"/>
                <a:gd name="T81" fmla="*/ 1657 h 1657"/>
                <a:gd name="T82" fmla="*/ 809 w 1629"/>
                <a:gd name="T83" fmla="*/ 1624 h 1657"/>
                <a:gd name="T84" fmla="*/ 1111 w 1629"/>
                <a:gd name="T85" fmla="*/ 1590 h 1657"/>
                <a:gd name="T86" fmla="*/ 1145 w 1629"/>
                <a:gd name="T87" fmla="*/ 1657 h 1657"/>
                <a:gd name="T88" fmla="*/ 1187 w 1629"/>
                <a:gd name="T89" fmla="*/ 1624 h 1657"/>
                <a:gd name="T90" fmla="*/ 1490 w 1629"/>
                <a:gd name="T91" fmla="*/ 1590 h 1657"/>
                <a:gd name="T92" fmla="*/ 1524 w 1629"/>
                <a:gd name="T93" fmla="*/ 1657 h 1657"/>
                <a:gd name="T94" fmla="*/ 1566 w 1629"/>
                <a:gd name="T95" fmla="*/ 1624 h 1657"/>
                <a:gd name="T96" fmla="*/ 1595 w 1629"/>
                <a:gd name="T97" fmla="*/ 1590 h 1657"/>
                <a:gd name="T98" fmla="*/ 1629 w 1629"/>
                <a:gd name="T99" fmla="*/ 1510 h 1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29" h="1657">
                  <a:moveTo>
                    <a:pt x="1595" y="1476"/>
                  </a:moveTo>
                  <a:lnTo>
                    <a:pt x="226" y="1476"/>
                  </a:lnTo>
                  <a:lnTo>
                    <a:pt x="471" y="1182"/>
                  </a:lnTo>
                  <a:lnTo>
                    <a:pt x="475" y="1183"/>
                  </a:lnTo>
                  <a:cubicBezTo>
                    <a:pt x="486" y="1186"/>
                    <a:pt x="497" y="1188"/>
                    <a:pt x="509" y="1188"/>
                  </a:cubicBezTo>
                  <a:cubicBezTo>
                    <a:pt x="564" y="1188"/>
                    <a:pt x="612" y="1146"/>
                    <a:pt x="618" y="1091"/>
                  </a:cubicBezTo>
                  <a:lnTo>
                    <a:pt x="619" y="1087"/>
                  </a:lnTo>
                  <a:lnTo>
                    <a:pt x="851" y="1025"/>
                  </a:lnTo>
                  <a:lnTo>
                    <a:pt x="853" y="1028"/>
                  </a:lnTo>
                  <a:cubicBezTo>
                    <a:pt x="874" y="1055"/>
                    <a:pt x="906" y="1071"/>
                    <a:pt x="941" y="1071"/>
                  </a:cubicBezTo>
                  <a:cubicBezTo>
                    <a:pt x="1002" y="1071"/>
                    <a:pt x="1051" y="1022"/>
                    <a:pt x="1051" y="961"/>
                  </a:cubicBezTo>
                  <a:cubicBezTo>
                    <a:pt x="1051" y="916"/>
                    <a:pt x="1025" y="876"/>
                    <a:pt x="983" y="859"/>
                  </a:cubicBezTo>
                  <a:lnTo>
                    <a:pt x="979" y="857"/>
                  </a:lnTo>
                  <a:lnTo>
                    <a:pt x="979" y="629"/>
                  </a:lnTo>
                  <a:lnTo>
                    <a:pt x="983" y="628"/>
                  </a:lnTo>
                  <a:cubicBezTo>
                    <a:pt x="1024" y="611"/>
                    <a:pt x="1051" y="571"/>
                    <a:pt x="1051" y="526"/>
                  </a:cubicBezTo>
                  <a:cubicBezTo>
                    <a:pt x="1051" y="526"/>
                    <a:pt x="1051" y="525"/>
                    <a:pt x="1051" y="525"/>
                  </a:cubicBezTo>
                  <a:lnTo>
                    <a:pt x="1051" y="519"/>
                  </a:lnTo>
                  <a:lnTo>
                    <a:pt x="1356" y="385"/>
                  </a:lnTo>
                  <a:lnTo>
                    <a:pt x="1360" y="388"/>
                  </a:lnTo>
                  <a:cubicBezTo>
                    <a:pt x="1380" y="408"/>
                    <a:pt x="1408" y="419"/>
                    <a:pt x="1436" y="419"/>
                  </a:cubicBezTo>
                  <a:cubicBezTo>
                    <a:pt x="1497" y="419"/>
                    <a:pt x="1547" y="370"/>
                    <a:pt x="1547" y="309"/>
                  </a:cubicBezTo>
                  <a:cubicBezTo>
                    <a:pt x="1547" y="248"/>
                    <a:pt x="1497" y="198"/>
                    <a:pt x="1436" y="198"/>
                  </a:cubicBezTo>
                  <a:cubicBezTo>
                    <a:pt x="1376" y="198"/>
                    <a:pt x="1326" y="248"/>
                    <a:pt x="1326" y="308"/>
                  </a:cubicBezTo>
                  <a:cubicBezTo>
                    <a:pt x="1326" y="309"/>
                    <a:pt x="1326" y="309"/>
                    <a:pt x="1326" y="309"/>
                  </a:cubicBezTo>
                  <a:lnTo>
                    <a:pt x="1326" y="316"/>
                  </a:lnTo>
                  <a:lnTo>
                    <a:pt x="1021" y="449"/>
                  </a:lnTo>
                  <a:lnTo>
                    <a:pt x="1018" y="446"/>
                  </a:lnTo>
                  <a:cubicBezTo>
                    <a:pt x="997" y="426"/>
                    <a:pt x="970" y="415"/>
                    <a:pt x="941" y="415"/>
                  </a:cubicBezTo>
                  <a:cubicBezTo>
                    <a:pt x="880" y="415"/>
                    <a:pt x="831" y="465"/>
                    <a:pt x="831" y="526"/>
                  </a:cubicBezTo>
                  <a:cubicBezTo>
                    <a:pt x="831" y="571"/>
                    <a:pt x="858" y="611"/>
                    <a:pt x="899" y="628"/>
                  </a:cubicBezTo>
                  <a:lnTo>
                    <a:pt x="903" y="629"/>
                  </a:lnTo>
                  <a:lnTo>
                    <a:pt x="903" y="857"/>
                  </a:lnTo>
                  <a:lnTo>
                    <a:pt x="899" y="859"/>
                  </a:lnTo>
                  <a:cubicBezTo>
                    <a:pt x="862" y="874"/>
                    <a:pt x="836" y="908"/>
                    <a:pt x="832" y="947"/>
                  </a:cubicBezTo>
                  <a:lnTo>
                    <a:pt x="831" y="951"/>
                  </a:lnTo>
                  <a:lnTo>
                    <a:pt x="599" y="1014"/>
                  </a:lnTo>
                  <a:lnTo>
                    <a:pt x="597" y="1011"/>
                  </a:lnTo>
                  <a:cubicBezTo>
                    <a:pt x="576" y="983"/>
                    <a:pt x="544" y="967"/>
                    <a:pt x="509" y="967"/>
                  </a:cubicBezTo>
                  <a:cubicBezTo>
                    <a:pt x="448" y="967"/>
                    <a:pt x="398" y="1017"/>
                    <a:pt x="398" y="1078"/>
                  </a:cubicBezTo>
                  <a:cubicBezTo>
                    <a:pt x="398" y="1096"/>
                    <a:pt x="403" y="1113"/>
                    <a:pt x="411" y="1129"/>
                  </a:cubicBezTo>
                  <a:lnTo>
                    <a:pt x="413" y="1133"/>
                  </a:lnTo>
                  <a:lnTo>
                    <a:pt x="186" y="1406"/>
                  </a:lnTo>
                  <a:lnTo>
                    <a:pt x="186" y="33"/>
                  </a:lnTo>
                  <a:cubicBezTo>
                    <a:pt x="186" y="15"/>
                    <a:pt x="171" y="0"/>
                    <a:pt x="152" y="0"/>
                  </a:cubicBezTo>
                  <a:lnTo>
                    <a:pt x="106" y="0"/>
                  </a:lnTo>
                  <a:cubicBezTo>
                    <a:pt x="87" y="0"/>
                    <a:pt x="72" y="15"/>
                    <a:pt x="72" y="33"/>
                  </a:cubicBezTo>
                  <a:lnTo>
                    <a:pt x="72" y="157"/>
                  </a:lnTo>
                  <a:lnTo>
                    <a:pt x="34" y="157"/>
                  </a:lnTo>
                  <a:cubicBezTo>
                    <a:pt x="15" y="157"/>
                    <a:pt x="0" y="173"/>
                    <a:pt x="0" y="191"/>
                  </a:cubicBezTo>
                  <a:lnTo>
                    <a:pt x="0" y="200"/>
                  </a:lnTo>
                  <a:cubicBezTo>
                    <a:pt x="0" y="218"/>
                    <a:pt x="15" y="233"/>
                    <a:pt x="34" y="233"/>
                  </a:cubicBezTo>
                  <a:lnTo>
                    <a:pt x="72" y="233"/>
                  </a:lnTo>
                  <a:lnTo>
                    <a:pt x="72" y="536"/>
                  </a:lnTo>
                  <a:lnTo>
                    <a:pt x="34" y="536"/>
                  </a:lnTo>
                  <a:cubicBezTo>
                    <a:pt x="15" y="536"/>
                    <a:pt x="0" y="551"/>
                    <a:pt x="0" y="570"/>
                  </a:cubicBezTo>
                  <a:lnTo>
                    <a:pt x="0" y="578"/>
                  </a:lnTo>
                  <a:cubicBezTo>
                    <a:pt x="0" y="597"/>
                    <a:pt x="15" y="612"/>
                    <a:pt x="34" y="612"/>
                  </a:cubicBezTo>
                  <a:lnTo>
                    <a:pt x="72" y="612"/>
                  </a:lnTo>
                  <a:lnTo>
                    <a:pt x="72" y="915"/>
                  </a:lnTo>
                  <a:lnTo>
                    <a:pt x="34" y="915"/>
                  </a:lnTo>
                  <a:cubicBezTo>
                    <a:pt x="15" y="915"/>
                    <a:pt x="0" y="930"/>
                    <a:pt x="0" y="948"/>
                  </a:cubicBezTo>
                  <a:lnTo>
                    <a:pt x="0" y="957"/>
                  </a:lnTo>
                  <a:cubicBezTo>
                    <a:pt x="0" y="975"/>
                    <a:pt x="15" y="990"/>
                    <a:pt x="34" y="990"/>
                  </a:cubicBezTo>
                  <a:lnTo>
                    <a:pt x="72" y="990"/>
                  </a:lnTo>
                  <a:lnTo>
                    <a:pt x="72" y="1293"/>
                  </a:lnTo>
                  <a:lnTo>
                    <a:pt x="34" y="1293"/>
                  </a:lnTo>
                  <a:cubicBezTo>
                    <a:pt x="15" y="1293"/>
                    <a:pt x="0" y="1308"/>
                    <a:pt x="0" y="1327"/>
                  </a:cubicBezTo>
                  <a:lnTo>
                    <a:pt x="0" y="1335"/>
                  </a:lnTo>
                  <a:cubicBezTo>
                    <a:pt x="0" y="1354"/>
                    <a:pt x="15" y="1369"/>
                    <a:pt x="34" y="1369"/>
                  </a:cubicBezTo>
                  <a:lnTo>
                    <a:pt x="72" y="1369"/>
                  </a:lnTo>
                  <a:lnTo>
                    <a:pt x="72" y="1556"/>
                  </a:lnTo>
                  <a:cubicBezTo>
                    <a:pt x="72" y="1575"/>
                    <a:pt x="87" y="1590"/>
                    <a:pt x="106" y="1590"/>
                  </a:cubicBezTo>
                  <a:lnTo>
                    <a:pt x="354" y="1590"/>
                  </a:lnTo>
                  <a:lnTo>
                    <a:pt x="354" y="1624"/>
                  </a:lnTo>
                  <a:cubicBezTo>
                    <a:pt x="354" y="1642"/>
                    <a:pt x="369" y="1657"/>
                    <a:pt x="388" y="1657"/>
                  </a:cubicBezTo>
                  <a:lnTo>
                    <a:pt x="396" y="1657"/>
                  </a:lnTo>
                  <a:cubicBezTo>
                    <a:pt x="415" y="1657"/>
                    <a:pt x="430" y="1642"/>
                    <a:pt x="430" y="1624"/>
                  </a:cubicBezTo>
                  <a:lnTo>
                    <a:pt x="430" y="1590"/>
                  </a:lnTo>
                  <a:lnTo>
                    <a:pt x="733" y="1590"/>
                  </a:lnTo>
                  <a:lnTo>
                    <a:pt x="733" y="1624"/>
                  </a:lnTo>
                  <a:cubicBezTo>
                    <a:pt x="733" y="1642"/>
                    <a:pt x="748" y="1657"/>
                    <a:pt x="767" y="1657"/>
                  </a:cubicBezTo>
                  <a:lnTo>
                    <a:pt x="775" y="1657"/>
                  </a:lnTo>
                  <a:cubicBezTo>
                    <a:pt x="794" y="1657"/>
                    <a:pt x="809" y="1642"/>
                    <a:pt x="809" y="1624"/>
                  </a:cubicBezTo>
                  <a:lnTo>
                    <a:pt x="809" y="1590"/>
                  </a:lnTo>
                  <a:lnTo>
                    <a:pt x="1111" y="1590"/>
                  </a:lnTo>
                  <a:lnTo>
                    <a:pt x="1111" y="1624"/>
                  </a:lnTo>
                  <a:cubicBezTo>
                    <a:pt x="1111" y="1642"/>
                    <a:pt x="1127" y="1657"/>
                    <a:pt x="1145" y="1657"/>
                  </a:cubicBezTo>
                  <a:lnTo>
                    <a:pt x="1154" y="1657"/>
                  </a:lnTo>
                  <a:cubicBezTo>
                    <a:pt x="1172" y="1657"/>
                    <a:pt x="1187" y="1642"/>
                    <a:pt x="1187" y="1624"/>
                  </a:cubicBezTo>
                  <a:lnTo>
                    <a:pt x="1187" y="1590"/>
                  </a:lnTo>
                  <a:lnTo>
                    <a:pt x="1490" y="1590"/>
                  </a:lnTo>
                  <a:lnTo>
                    <a:pt x="1490" y="1624"/>
                  </a:lnTo>
                  <a:cubicBezTo>
                    <a:pt x="1490" y="1642"/>
                    <a:pt x="1505" y="1657"/>
                    <a:pt x="1524" y="1657"/>
                  </a:cubicBezTo>
                  <a:lnTo>
                    <a:pt x="1532" y="1657"/>
                  </a:lnTo>
                  <a:cubicBezTo>
                    <a:pt x="1551" y="1657"/>
                    <a:pt x="1566" y="1642"/>
                    <a:pt x="1566" y="1624"/>
                  </a:cubicBezTo>
                  <a:lnTo>
                    <a:pt x="1566" y="1590"/>
                  </a:lnTo>
                  <a:lnTo>
                    <a:pt x="1595" y="1590"/>
                  </a:lnTo>
                  <a:cubicBezTo>
                    <a:pt x="1614" y="1590"/>
                    <a:pt x="1629" y="1575"/>
                    <a:pt x="1629" y="1556"/>
                  </a:cubicBezTo>
                  <a:lnTo>
                    <a:pt x="1629" y="1510"/>
                  </a:lnTo>
                  <a:cubicBezTo>
                    <a:pt x="1629" y="1491"/>
                    <a:pt x="1614" y="1476"/>
                    <a:pt x="1595" y="14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2" name="Oval 142"/>
            <p:cNvSpPr>
              <a:spLocks noChangeArrowheads="1"/>
            </p:cNvSpPr>
            <p:nvPr/>
          </p:nvSpPr>
          <p:spPr bwMode="auto">
            <a:xfrm>
              <a:off x="4887640" y="2223083"/>
              <a:ext cx="85725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" name="Oval 143"/>
            <p:cNvSpPr>
              <a:spLocks noChangeArrowheads="1"/>
            </p:cNvSpPr>
            <p:nvPr/>
          </p:nvSpPr>
          <p:spPr bwMode="auto">
            <a:xfrm>
              <a:off x="5044802" y="2181808"/>
              <a:ext cx="84138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" name="Oval 144"/>
            <p:cNvSpPr>
              <a:spLocks noChangeArrowheads="1"/>
            </p:cNvSpPr>
            <p:nvPr/>
          </p:nvSpPr>
          <p:spPr bwMode="auto">
            <a:xfrm>
              <a:off x="5044802" y="2023058"/>
              <a:ext cx="84138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" name="Oval 145"/>
            <p:cNvSpPr>
              <a:spLocks noChangeArrowheads="1"/>
            </p:cNvSpPr>
            <p:nvPr/>
          </p:nvSpPr>
          <p:spPr bwMode="auto">
            <a:xfrm>
              <a:off x="5222602" y="1945270"/>
              <a:ext cx="85725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64" name="Прямоугольник 63"/>
          <p:cNvSpPr/>
          <p:nvPr>
            <p:custDataLst>
              <p:tags r:id="rId5"/>
            </p:custDataLst>
          </p:nvPr>
        </p:nvSpPr>
        <p:spPr>
          <a:xfrm>
            <a:off x="1102384" y="1121549"/>
            <a:ext cx="3479156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1000" b="1" dirty="0" smtClean="0">
                <a:solidFill>
                  <a:srgbClr val="545353"/>
                </a:solidFill>
              </a:rPr>
              <a:t>ПРОИЗВОДСТВЕННАЯ БЕЗОПАСНОСТЬ (сл. 3-4):</a:t>
            </a:r>
          </a:p>
          <a:p>
            <a:pPr algn="just">
              <a:spcBef>
                <a:spcPts val="600"/>
              </a:spcBef>
            </a:pPr>
            <a:r>
              <a:rPr lang="ru-RU" sz="900" dirty="0" smtClean="0">
                <a:solidFill>
                  <a:srgbClr val="545353"/>
                </a:solidFill>
              </a:rPr>
              <a:t>- Информация по происшествиям, коэффициент </a:t>
            </a:r>
            <a:r>
              <a:rPr lang="en-US" sz="900" dirty="0" smtClean="0">
                <a:solidFill>
                  <a:srgbClr val="545353"/>
                </a:solidFill>
              </a:rPr>
              <a:t>LTIF</a:t>
            </a:r>
            <a:r>
              <a:rPr lang="ru-RU" sz="900" dirty="0" smtClean="0">
                <a:solidFill>
                  <a:srgbClr val="545353"/>
                </a:solidFill>
              </a:rPr>
              <a:t>, статус внедрения собственных инициатив по Функции; </a:t>
            </a:r>
            <a:r>
              <a:rPr lang="ru-RU" sz="900" dirty="0">
                <a:solidFill>
                  <a:srgbClr val="545353"/>
                </a:solidFill>
              </a:rPr>
              <a:t>С</a:t>
            </a:r>
            <a:r>
              <a:rPr lang="ru-RU" sz="900" dirty="0" smtClean="0">
                <a:solidFill>
                  <a:srgbClr val="545353"/>
                </a:solidFill>
              </a:rPr>
              <a:t>татус выполнения программы «Ступени».</a:t>
            </a:r>
            <a:endParaRPr lang="ru-RU" sz="900" dirty="0">
              <a:solidFill>
                <a:srgbClr val="C00000"/>
              </a:solidFill>
            </a:endParaRPr>
          </a:p>
        </p:txBody>
      </p:sp>
      <p:sp>
        <p:nvSpPr>
          <p:cNvPr id="65" name="Прямоугольник 64"/>
          <p:cNvSpPr/>
          <p:nvPr>
            <p:custDataLst>
              <p:tags r:id="rId6"/>
            </p:custDataLst>
          </p:nvPr>
        </p:nvSpPr>
        <p:spPr>
          <a:xfrm>
            <a:off x="1115616" y="2240868"/>
            <a:ext cx="34791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900" b="1" dirty="0" smtClean="0">
                <a:solidFill>
                  <a:srgbClr val="545353"/>
                </a:solidFill>
              </a:rPr>
              <a:t>Дирекция по добыче (сл. </a:t>
            </a:r>
            <a:r>
              <a:rPr lang="en-US" sz="900" b="1" dirty="0" smtClean="0">
                <a:solidFill>
                  <a:srgbClr val="545353"/>
                </a:solidFill>
              </a:rPr>
              <a:t>4</a:t>
            </a:r>
            <a:r>
              <a:rPr lang="ru-RU" sz="900" b="1" dirty="0" smtClean="0">
                <a:solidFill>
                  <a:srgbClr val="545353"/>
                </a:solidFill>
              </a:rPr>
              <a:t>-1</a:t>
            </a:r>
            <a:r>
              <a:rPr lang="en-US" sz="900" b="1" dirty="0" smtClean="0">
                <a:solidFill>
                  <a:srgbClr val="545353"/>
                </a:solidFill>
              </a:rPr>
              <a:t>3</a:t>
            </a:r>
            <a:r>
              <a:rPr lang="ru-RU" sz="900" b="1" dirty="0" smtClean="0">
                <a:solidFill>
                  <a:srgbClr val="545353"/>
                </a:solidFill>
              </a:rPr>
              <a:t>):</a:t>
            </a:r>
          </a:p>
          <a:p>
            <a:pPr algn="just">
              <a:spcBef>
                <a:spcPts val="600"/>
              </a:spcBef>
            </a:pPr>
            <a:r>
              <a:rPr lang="ru-RU" sz="900" dirty="0" smtClean="0">
                <a:solidFill>
                  <a:srgbClr val="545353"/>
                </a:solidFill>
              </a:rPr>
              <a:t>- Физические показатели; Скорости бурения; Удельная стоимость скважин; Непроизводительное время.</a:t>
            </a:r>
            <a:endParaRPr lang="ru-RU" sz="900" dirty="0">
              <a:solidFill>
                <a:srgbClr val="C00000"/>
              </a:solidFill>
            </a:endParaRPr>
          </a:p>
        </p:txBody>
      </p:sp>
      <p:sp>
        <p:nvSpPr>
          <p:cNvPr id="67" name="Прямоугольник 66"/>
          <p:cNvSpPr/>
          <p:nvPr>
            <p:custDataLst>
              <p:tags r:id="rId7"/>
            </p:custDataLst>
          </p:nvPr>
        </p:nvSpPr>
        <p:spPr>
          <a:xfrm>
            <a:off x="755576" y="1914944"/>
            <a:ext cx="187371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ru-RU" sz="1000" b="1" dirty="0" smtClean="0">
                <a:solidFill>
                  <a:srgbClr val="545353"/>
                </a:solidFill>
              </a:rPr>
              <a:t>БУРЕНИЕ и ЗБС</a:t>
            </a:r>
            <a:endParaRPr lang="ru-RU" sz="1000" dirty="0">
              <a:solidFill>
                <a:srgbClr val="C00000"/>
              </a:solidFill>
            </a:endParaRPr>
          </a:p>
        </p:txBody>
      </p:sp>
      <p:sp>
        <p:nvSpPr>
          <p:cNvPr id="69" name="Прямоугольник 68"/>
          <p:cNvSpPr/>
          <p:nvPr>
            <p:custDataLst>
              <p:tags r:id="rId8"/>
            </p:custDataLst>
          </p:nvPr>
        </p:nvSpPr>
        <p:spPr>
          <a:xfrm>
            <a:off x="1115616" y="3060249"/>
            <a:ext cx="34791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900" b="1" dirty="0" smtClean="0">
                <a:solidFill>
                  <a:srgbClr val="545353"/>
                </a:solidFill>
              </a:rPr>
              <a:t>Дирекция крупных проектов (сл. 1</a:t>
            </a:r>
            <a:r>
              <a:rPr lang="en-US" sz="900" b="1" dirty="0" smtClean="0">
                <a:solidFill>
                  <a:srgbClr val="545353"/>
                </a:solidFill>
              </a:rPr>
              <a:t>4</a:t>
            </a:r>
            <a:r>
              <a:rPr lang="ru-RU" sz="900" b="1" dirty="0" smtClean="0">
                <a:solidFill>
                  <a:srgbClr val="545353"/>
                </a:solidFill>
              </a:rPr>
              <a:t>-1</a:t>
            </a:r>
            <a:r>
              <a:rPr lang="en-US" sz="900" b="1" dirty="0" smtClean="0">
                <a:solidFill>
                  <a:srgbClr val="545353"/>
                </a:solidFill>
              </a:rPr>
              <a:t>6</a:t>
            </a:r>
            <a:r>
              <a:rPr lang="ru-RU" sz="900" b="1" dirty="0" smtClean="0">
                <a:solidFill>
                  <a:srgbClr val="545353"/>
                </a:solidFill>
              </a:rPr>
              <a:t>):</a:t>
            </a:r>
          </a:p>
          <a:p>
            <a:pPr algn="just">
              <a:spcBef>
                <a:spcPts val="600"/>
              </a:spcBef>
            </a:pPr>
            <a:r>
              <a:rPr lang="ru-RU" sz="900" dirty="0" smtClean="0">
                <a:solidFill>
                  <a:srgbClr val="545353"/>
                </a:solidFill>
              </a:rPr>
              <a:t>- Физические показатели; Скорости бурения; Удельная стоимость скважин; Непроизводительное время.</a:t>
            </a:r>
            <a:endParaRPr lang="ru-RU" sz="900" dirty="0">
              <a:solidFill>
                <a:srgbClr val="C00000"/>
              </a:solidFill>
            </a:endParaRPr>
          </a:p>
        </p:txBody>
      </p:sp>
      <p:sp>
        <p:nvSpPr>
          <p:cNvPr id="70" name="Прямоугольник 69"/>
          <p:cNvSpPr/>
          <p:nvPr>
            <p:custDataLst>
              <p:tags r:id="rId9"/>
            </p:custDataLst>
          </p:nvPr>
        </p:nvSpPr>
        <p:spPr>
          <a:xfrm>
            <a:off x="1115616" y="3918828"/>
            <a:ext cx="347915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900" b="1" dirty="0" smtClean="0">
                <a:solidFill>
                  <a:srgbClr val="545353"/>
                </a:solidFill>
              </a:rPr>
              <a:t>Дирекция по ГРР и РРБ (сл. 1</a:t>
            </a:r>
            <a:r>
              <a:rPr lang="en-US" sz="900" b="1" dirty="0" smtClean="0">
                <a:solidFill>
                  <a:srgbClr val="545353"/>
                </a:solidFill>
              </a:rPr>
              <a:t>7</a:t>
            </a:r>
            <a:r>
              <a:rPr lang="ru-RU" sz="900" b="1" dirty="0" smtClean="0">
                <a:solidFill>
                  <a:srgbClr val="545353"/>
                </a:solidFill>
              </a:rPr>
              <a:t>-1</a:t>
            </a:r>
            <a:r>
              <a:rPr lang="en-US" sz="900" b="1" dirty="0" smtClean="0">
                <a:solidFill>
                  <a:srgbClr val="545353"/>
                </a:solidFill>
              </a:rPr>
              <a:t>8</a:t>
            </a:r>
            <a:r>
              <a:rPr lang="ru-RU" sz="900" b="1" dirty="0" smtClean="0">
                <a:solidFill>
                  <a:srgbClr val="545353"/>
                </a:solidFill>
              </a:rPr>
              <a:t>):</a:t>
            </a:r>
          </a:p>
          <a:p>
            <a:pPr algn="just">
              <a:spcBef>
                <a:spcPts val="600"/>
              </a:spcBef>
            </a:pPr>
            <a:r>
              <a:rPr lang="ru-RU" sz="900" dirty="0" smtClean="0">
                <a:solidFill>
                  <a:srgbClr val="545353"/>
                </a:solidFill>
              </a:rPr>
              <a:t>- Физические показатели; Непроизводительное время.</a:t>
            </a:r>
            <a:endParaRPr lang="ru-RU" sz="900" dirty="0">
              <a:solidFill>
                <a:srgbClr val="C00000"/>
              </a:solidFill>
            </a:endParaRPr>
          </a:p>
        </p:txBody>
      </p:sp>
      <p:sp>
        <p:nvSpPr>
          <p:cNvPr id="72" name="Прямоугольник 71"/>
          <p:cNvSpPr/>
          <p:nvPr>
            <p:custDataLst>
              <p:tags r:id="rId10"/>
            </p:custDataLst>
          </p:nvPr>
        </p:nvSpPr>
        <p:spPr>
          <a:xfrm>
            <a:off x="1092937" y="4850599"/>
            <a:ext cx="34791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900" b="1" dirty="0" smtClean="0">
                <a:solidFill>
                  <a:srgbClr val="545353"/>
                </a:solidFill>
              </a:rPr>
              <a:t>НПВ по подрядным организациям (сл. </a:t>
            </a:r>
            <a:r>
              <a:rPr lang="en-US" sz="900" b="1" dirty="0" smtClean="0">
                <a:solidFill>
                  <a:srgbClr val="545353"/>
                </a:solidFill>
              </a:rPr>
              <a:t>21</a:t>
            </a:r>
            <a:r>
              <a:rPr lang="ru-RU" sz="900" b="1" dirty="0" smtClean="0">
                <a:solidFill>
                  <a:srgbClr val="545353"/>
                </a:solidFill>
              </a:rPr>
              <a:t>):</a:t>
            </a:r>
          </a:p>
          <a:p>
            <a:pPr algn="just">
              <a:spcBef>
                <a:spcPts val="600"/>
              </a:spcBef>
            </a:pPr>
            <a:r>
              <a:rPr lang="ru-RU" sz="900" dirty="0" smtClean="0">
                <a:solidFill>
                  <a:srgbClr val="545353"/>
                </a:solidFill>
              </a:rPr>
              <a:t>- НПВ по подрядчикам в целом; НПВ по подрядчикам в разрезе ДО.</a:t>
            </a:r>
            <a:endParaRPr lang="ru-RU" sz="900" dirty="0">
              <a:solidFill>
                <a:srgbClr val="C00000"/>
              </a:solidFill>
            </a:endParaRPr>
          </a:p>
        </p:txBody>
      </p:sp>
      <p:sp>
        <p:nvSpPr>
          <p:cNvPr id="114" name="Прямоугольник 113"/>
          <p:cNvSpPr/>
          <p:nvPr>
            <p:custDataLst>
              <p:tags r:id="rId11"/>
            </p:custDataLst>
          </p:nvPr>
        </p:nvSpPr>
        <p:spPr>
          <a:xfrm>
            <a:off x="1123091" y="5985073"/>
            <a:ext cx="3479156" cy="4462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900" b="1" dirty="0" smtClean="0">
                <a:solidFill>
                  <a:srgbClr val="545353"/>
                </a:solidFill>
              </a:rPr>
              <a:t>НПВ в целом по функции Бурение (сл. </a:t>
            </a:r>
            <a:r>
              <a:rPr lang="en-US" sz="900" b="1" dirty="0" smtClean="0">
                <a:solidFill>
                  <a:srgbClr val="545353"/>
                </a:solidFill>
              </a:rPr>
              <a:t>22</a:t>
            </a:r>
            <a:r>
              <a:rPr lang="ru-RU" sz="900" b="1" dirty="0" smtClean="0">
                <a:solidFill>
                  <a:srgbClr val="545353"/>
                </a:solidFill>
              </a:rPr>
              <a:t>):</a:t>
            </a:r>
          </a:p>
          <a:p>
            <a:pPr algn="just">
              <a:spcBef>
                <a:spcPts val="600"/>
              </a:spcBef>
            </a:pPr>
            <a:r>
              <a:rPr lang="ru-RU" sz="900" dirty="0" smtClean="0">
                <a:solidFill>
                  <a:srgbClr val="545353"/>
                </a:solidFill>
              </a:rPr>
              <a:t>- Периметр (Текущие Активы + </a:t>
            </a:r>
            <a:r>
              <a:rPr lang="ru-RU" sz="900" dirty="0" err="1" smtClean="0">
                <a:solidFill>
                  <a:srgbClr val="545353"/>
                </a:solidFill>
              </a:rPr>
              <a:t>Мессояха</a:t>
            </a:r>
            <a:r>
              <a:rPr lang="ru-RU" sz="900" dirty="0" smtClean="0">
                <a:solidFill>
                  <a:srgbClr val="545353"/>
                </a:solidFill>
              </a:rPr>
              <a:t> и Новый Порт)</a:t>
            </a:r>
            <a:endParaRPr lang="ru-RU" sz="9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519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Объект 1"/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39560108"/>
              </p:ext>
            </p:ext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9015" name="think-cell Slide" r:id="rId16" imgW="270" imgH="270" progId="TCLayout.ActiveDocument.1">
                  <p:embed/>
                </p:oleObj>
              </mc:Choice>
              <mc:Fallback>
                <p:oleObj name="think-cell Slide" r:id="rId16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1"/>
          <p:cNvGrpSpPr/>
          <p:nvPr>
            <p:custDataLst>
              <p:tags r:id="rId3"/>
            </p:custDataLst>
          </p:nvPr>
        </p:nvGrpSpPr>
        <p:grpSpPr>
          <a:xfrm>
            <a:off x="2886500" y="1784249"/>
            <a:ext cx="2573311" cy="1468271"/>
            <a:chOff x="1146096" y="1345833"/>
            <a:chExt cx="2225831" cy="1238075"/>
          </a:xfrm>
        </p:grpSpPr>
        <p:graphicFrame>
          <p:nvGraphicFramePr>
            <p:cNvPr id="5" name="Схема 4"/>
            <p:cNvGraphicFramePr/>
            <p:nvPr>
              <p:extLst>
                <p:ext uri="{D42A27DB-BD31-4B8C-83A1-F6EECF244321}">
                  <p14:modId xmlns:p14="http://schemas.microsoft.com/office/powerpoint/2010/main" val="2139021432"/>
                </p:ext>
              </p:extLst>
            </p:nvPr>
          </p:nvGraphicFramePr>
          <p:xfrm>
            <a:off x="2324154" y="1345833"/>
            <a:ext cx="1047773" cy="97291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8" r:lo="rId19" r:qs="rId20" r:cs="rId21"/>
            </a:graphicData>
          </a:graphic>
        </p:graphicFrame>
        <p:graphicFrame>
          <p:nvGraphicFramePr>
            <p:cNvPr id="6" name="Схема 5"/>
            <p:cNvGraphicFramePr/>
            <p:nvPr>
              <p:extLst>
                <p:ext uri="{D42A27DB-BD31-4B8C-83A1-F6EECF244321}">
                  <p14:modId xmlns:p14="http://schemas.microsoft.com/office/powerpoint/2010/main" val="3001836539"/>
                </p:ext>
              </p:extLst>
            </p:nvPr>
          </p:nvGraphicFramePr>
          <p:xfrm>
            <a:off x="1239523" y="1376386"/>
            <a:ext cx="867553" cy="713742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3" r:lo="rId24" r:qs="rId25" r:cs="rId26"/>
            </a:graphicData>
          </a:graphic>
        </p:graphicFrame>
        <p:sp>
          <p:nvSpPr>
            <p:cNvPr id="7" name="TreLast"/>
            <p:cNvSpPr txBox="1"/>
            <p:nvPr>
              <p:custDataLst>
                <p:tags r:id="rId12"/>
              </p:custDataLst>
            </p:nvPr>
          </p:nvSpPr>
          <p:spPr>
            <a:xfrm>
              <a:off x="1146096" y="2389266"/>
              <a:ext cx="1008112" cy="194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900" b="1" dirty="0" smtClean="0">
                  <a:solidFill>
                    <a:srgbClr val="545353"/>
                  </a:solidFill>
                  <a:latin typeface="Arial" pitchFamily="34" charset="0"/>
                  <a:cs typeface="Arial" pitchFamily="34" charset="0"/>
                </a:rPr>
                <a:t>Сентябрь </a:t>
              </a:r>
              <a:r>
                <a:rPr lang="en-US" sz="900" b="1" dirty="0" smtClean="0">
                  <a:solidFill>
                    <a:srgbClr val="545353"/>
                  </a:solidFill>
                  <a:latin typeface="Arial" pitchFamily="34" charset="0"/>
                  <a:cs typeface="Arial" pitchFamily="34" charset="0"/>
                </a:rPr>
                <a:t>-</a:t>
              </a:r>
              <a:r>
                <a:rPr lang="ru-RU" sz="900" b="1" dirty="0" smtClean="0">
                  <a:solidFill>
                    <a:srgbClr val="545353"/>
                  </a:solidFill>
                  <a:latin typeface="Arial" pitchFamily="34" charset="0"/>
                  <a:cs typeface="Arial" pitchFamily="34" charset="0"/>
                </a:rPr>
                <a:t> </a:t>
              </a:r>
              <a:r>
                <a:rPr lang="en-US" sz="900" b="1" dirty="0" smtClean="0">
                  <a:solidFill>
                    <a:srgbClr val="545353"/>
                  </a:solidFill>
                  <a:latin typeface="Arial" pitchFamily="34" charset="0"/>
                  <a:cs typeface="Arial" pitchFamily="34" charset="0"/>
                </a:rPr>
                <a:t>last</a:t>
              </a:r>
              <a:endParaRPr lang="ru-RU" sz="900" b="1" dirty="0">
                <a:solidFill>
                  <a:srgbClr val="545353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TreCur"/>
            <p:cNvSpPr txBox="1"/>
            <p:nvPr>
              <p:custDataLst>
                <p:tags r:id="rId13"/>
              </p:custDataLst>
            </p:nvPr>
          </p:nvSpPr>
          <p:spPr>
            <a:xfrm>
              <a:off x="2324154" y="2378390"/>
              <a:ext cx="1047773" cy="1946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900" b="1" dirty="0" smtClean="0">
                  <a:solidFill>
                    <a:srgbClr val="545353"/>
                  </a:solidFill>
                  <a:latin typeface="Arial" pitchFamily="34" charset="0"/>
                  <a:cs typeface="Arial" pitchFamily="34" charset="0"/>
                </a:rPr>
                <a:t>Сентябрь - </a:t>
              </a:r>
              <a:r>
                <a:rPr lang="en-US" sz="900" b="1" dirty="0" smtClean="0">
                  <a:solidFill>
                    <a:srgbClr val="545353"/>
                  </a:solidFill>
                  <a:latin typeface="Arial" pitchFamily="34" charset="0"/>
                  <a:cs typeface="Arial" pitchFamily="34" charset="0"/>
                </a:rPr>
                <a:t>cur</a:t>
              </a:r>
              <a:endParaRPr lang="ru-RU" sz="900" b="1" dirty="0">
                <a:solidFill>
                  <a:srgbClr val="545353"/>
                </a:solidFill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0" name="TextBox 49"/>
          <p:cNvSpPr txBox="1"/>
          <p:nvPr>
            <p:custDataLst>
              <p:tags r:id="rId4"/>
            </p:custDataLst>
          </p:nvPr>
        </p:nvSpPr>
        <p:spPr>
          <a:xfrm>
            <a:off x="3000845" y="2776473"/>
            <a:ext cx="100299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700" b="1" dirty="0">
                <a:solidFill>
                  <a:srgbClr val="5453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lang="ru-RU" sz="700" b="1" dirty="0" smtClean="0">
                <a:solidFill>
                  <a:srgbClr val="5453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 выявлялись</a:t>
            </a:r>
            <a:endParaRPr lang="ru-RU" sz="700" b="1" dirty="0">
              <a:solidFill>
                <a:srgbClr val="5453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1542990" y="1871928"/>
            <a:ext cx="12382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b="1" dirty="0" smtClean="0">
                <a:solidFill>
                  <a:srgbClr val="5453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Крупные</a:t>
            </a:r>
            <a:endParaRPr lang="ru-RU" sz="900" b="1" dirty="0">
              <a:solidFill>
                <a:srgbClr val="5453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>
            <p:custDataLst>
              <p:tags r:id="rId6"/>
            </p:custDataLst>
          </p:nvPr>
        </p:nvSpPr>
        <p:spPr>
          <a:xfrm>
            <a:off x="1532950" y="2155131"/>
            <a:ext cx="10350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b="1" dirty="0" smtClean="0">
                <a:solidFill>
                  <a:srgbClr val="5453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Значительные</a:t>
            </a:r>
            <a:endParaRPr lang="ru-RU" sz="900" b="1" dirty="0">
              <a:solidFill>
                <a:srgbClr val="5453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>
            <p:custDataLst>
              <p:tags r:id="rId7"/>
            </p:custDataLst>
          </p:nvPr>
        </p:nvSpPr>
        <p:spPr>
          <a:xfrm>
            <a:off x="1532950" y="2475474"/>
            <a:ext cx="119431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b="1" dirty="0" smtClean="0">
                <a:solidFill>
                  <a:srgbClr val="54535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Незначительные</a:t>
            </a:r>
            <a:endParaRPr lang="ru-RU" sz="900" b="1" dirty="0">
              <a:solidFill>
                <a:srgbClr val="54535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>
            <p:custDataLst>
              <p:tags r:id="rId8"/>
            </p:custDataLst>
          </p:nvPr>
        </p:nvSpPr>
        <p:spPr>
          <a:xfrm>
            <a:off x="1580130" y="2701867"/>
            <a:ext cx="144066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7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ru-RU" altLang="ru-RU" dirty="0">
                <a:solidFill>
                  <a:srgbClr val="545353"/>
                </a:solidFill>
              </a:rPr>
              <a:t>Предпосылки к происшествиям </a:t>
            </a:r>
            <a:endParaRPr lang="ru-RU" altLang="ru-RU" dirty="0" smtClean="0">
              <a:solidFill>
                <a:srgbClr val="545353"/>
              </a:solidFill>
            </a:endParaRPr>
          </a:p>
          <a:p>
            <a:r>
              <a:rPr lang="ru-RU" altLang="ru-RU" dirty="0" smtClean="0">
                <a:solidFill>
                  <a:srgbClr val="545353"/>
                </a:solidFill>
              </a:rPr>
              <a:t>(</a:t>
            </a:r>
            <a:r>
              <a:rPr lang="ru-RU" altLang="ru-RU" dirty="0">
                <a:solidFill>
                  <a:srgbClr val="545353"/>
                </a:solidFill>
              </a:rPr>
              <a:t>опасные ситуации)</a:t>
            </a:r>
            <a:endParaRPr lang="en-US" altLang="ru-RU" dirty="0">
              <a:solidFill>
                <a:srgbClr val="545353"/>
              </a:solidFill>
            </a:endParaRPr>
          </a:p>
        </p:txBody>
      </p:sp>
      <p:sp>
        <p:nvSpPr>
          <p:cNvPr id="36" name="Заголовок 13"/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1036864" y="360496"/>
            <a:ext cx="7727677" cy="52560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Производственная Безопасность </a:t>
            </a:r>
            <a:r>
              <a:rPr lang="ru-RU" sz="2000" b="1" dirty="0" smtClean="0">
                <a:solidFill>
                  <a:srgbClr val="004077"/>
                </a:solidFill>
                <a:latin typeface="Arial" charset="0"/>
              </a:rPr>
              <a:t/>
            </a:r>
            <a:br>
              <a:rPr lang="ru-RU" sz="2000" b="1" dirty="0" smtClean="0">
                <a:solidFill>
                  <a:srgbClr val="004077"/>
                </a:solidFill>
                <a:latin typeface="Arial" charset="0"/>
              </a:rPr>
            </a:br>
            <a:r>
              <a:rPr lang="ru-RU" sz="1200" dirty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в области бурения и </a:t>
            </a:r>
            <a:r>
              <a:rPr lang="ru-RU" sz="120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ВР (в </a:t>
            </a:r>
            <a:r>
              <a:rPr lang="ru-RU" sz="1200" dirty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Дирекции по добыче, ДКП и ДГРР, с учетом СП)</a:t>
            </a:r>
          </a:p>
        </p:txBody>
      </p:sp>
      <p:grpSp>
        <p:nvGrpSpPr>
          <p:cNvPr id="37" name="Группа 36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290928" y="281679"/>
            <a:ext cx="572660" cy="669741"/>
            <a:chOff x="2250143" y="1752858"/>
            <a:chExt cx="1102812" cy="1313701"/>
          </a:xfrm>
        </p:grpSpPr>
        <p:sp>
          <p:nvSpPr>
            <p:cNvPr id="38" name="Oval 10"/>
            <p:cNvSpPr>
              <a:spLocks noChangeArrowheads="1"/>
            </p:cNvSpPr>
            <p:nvPr/>
          </p:nvSpPr>
          <p:spPr bwMode="auto">
            <a:xfrm>
              <a:off x="2378140" y="1881749"/>
              <a:ext cx="846072" cy="1037581"/>
            </a:xfrm>
            <a:custGeom>
              <a:avLst/>
              <a:gdLst>
                <a:gd name="connsiteX0" fmla="*/ 0 w 975491"/>
                <a:gd name="connsiteY0" fmla="*/ 0 h 1612900"/>
                <a:gd name="connsiteX1" fmla="*/ 975491 w 975491"/>
                <a:gd name="connsiteY1" fmla="*/ 0 h 1612900"/>
                <a:gd name="connsiteX2" fmla="*/ 975491 w 975491"/>
                <a:gd name="connsiteY2" fmla="*/ 1612900 h 1612900"/>
                <a:gd name="connsiteX3" fmla="*/ 0 w 975491"/>
                <a:gd name="connsiteY3" fmla="*/ 1612900 h 1612900"/>
                <a:gd name="connsiteX4" fmla="*/ 0 w 975491"/>
                <a:gd name="connsiteY4" fmla="*/ 0 h 1612900"/>
                <a:gd name="connsiteX0" fmla="*/ 0 w 975491"/>
                <a:gd name="connsiteY0" fmla="*/ 0 h 1612900"/>
                <a:gd name="connsiteX1" fmla="*/ 975491 w 975491"/>
                <a:gd name="connsiteY1" fmla="*/ 95250 h 1612900"/>
                <a:gd name="connsiteX2" fmla="*/ 975491 w 975491"/>
                <a:gd name="connsiteY2" fmla="*/ 1612900 h 1612900"/>
                <a:gd name="connsiteX3" fmla="*/ 0 w 975491"/>
                <a:gd name="connsiteY3" fmla="*/ 1612900 h 1612900"/>
                <a:gd name="connsiteX4" fmla="*/ 0 w 975491"/>
                <a:gd name="connsiteY4" fmla="*/ 0 h 1612900"/>
                <a:gd name="connsiteX0" fmla="*/ 0 w 975491"/>
                <a:gd name="connsiteY0" fmla="*/ 7143 h 1517650"/>
                <a:gd name="connsiteX1" fmla="*/ 975491 w 975491"/>
                <a:gd name="connsiteY1" fmla="*/ 0 h 1517650"/>
                <a:gd name="connsiteX2" fmla="*/ 975491 w 975491"/>
                <a:gd name="connsiteY2" fmla="*/ 1517650 h 1517650"/>
                <a:gd name="connsiteX3" fmla="*/ 0 w 975491"/>
                <a:gd name="connsiteY3" fmla="*/ 1517650 h 1517650"/>
                <a:gd name="connsiteX4" fmla="*/ 0 w 975491"/>
                <a:gd name="connsiteY4" fmla="*/ 7143 h 1517650"/>
                <a:gd name="connsiteX0" fmla="*/ 0 w 975491"/>
                <a:gd name="connsiteY0" fmla="*/ 7143 h 1517650"/>
                <a:gd name="connsiteX1" fmla="*/ 491554 w 975491"/>
                <a:gd name="connsiteY1" fmla="*/ 1038 h 1517650"/>
                <a:gd name="connsiteX2" fmla="*/ 975491 w 975491"/>
                <a:gd name="connsiteY2" fmla="*/ 0 h 1517650"/>
                <a:gd name="connsiteX3" fmla="*/ 975491 w 975491"/>
                <a:gd name="connsiteY3" fmla="*/ 1517650 h 1517650"/>
                <a:gd name="connsiteX4" fmla="*/ 0 w 975491"/>
                <a:gd name="connsiteY4" fmla="*/ 1517650 h 1517650"/>
                <a:gd name="connsiteX5" fmla="*/ 0 w 975491"/>
                <a:gd name="connsiteY5" fmla="*/ 7143 h 1517650"/>
                <a:gd name="connsiteX0" fmla="*/ 0 w 975491"/>
                <a:gd name="connsiteY0" fmla="*/ 77543 h 1588050"/>
                <a:gd name="connsiteX1" fmla="*/ 474885 w 975491"/>
                <a:gd name="connsiteY1" fmla="*/ 0 h 1588050"/>
                <a:gd name="connsiteX2" fmla="*/ 975491 w 975491"/>
                <a:gd name="connsiteY2" fmla="*/ 70400 h 1588050"/>
                <a:gd name="connsiteX3" fmla="*/ 975491 w 975491"/>
                <a:gd name="connsiteY3" fmla="*/ 1588050 h 1588050"/>
                <a:gd name="connsiteX4" fmla="*/ 0 w 975491"/>
                <a:gd name="connsiteY4" fmla="*/ 1588050 h 1588050"/>
                <a:gd name="connsiteX5" fmla="*/ 0 w 975491"/>
                <a:gd name="connsiteY5" fmla="*/ 77543 h 1588050"/>
                <a:gd name="connsiteX0" fmla="*/ 0 w 975491"/>
                <a:gd name="connsiteY0" fmla="*/ 77543 h 1588050"/>
                <a:gd name="connsiteX1" fmla="*/ 474885 w 975491"/>
                <a:gd name="connsiteY1" fmla="*/ 0 h 1588050"/>
                <a:gd name="connsiteX2" fmla="*/ 975491 w 975491"/>
                <a:gd name="connsiteY2" fmla="*/ 70400 h 1588050"/>
                <a:gd name="connsiteX3" fmla="*/ 975491 w 975491"/>
                <a:gd name="connsiteY3" fmla="*/ 1588050 h 1588050"/>
                <a:gd name="connsiteX4" fmla="*/ 493936 w 975491"/>
                <a:gd name="connsiteY4" fmla="*/ 1587745 h 1588050"/>
                <a:gd name="connsiteX5" fmla="*/ 0 w 975491"/>
                <a:gd name="connsiteY5" fmla="*/ 1588050 h 1588050"/>
                <a:gd name="connsiteX6" fmla="*/ 0 w 975491"/>
                <a:gd name="connsiteY6" fmla="*/ 77543 h 1588050"/>
                <a:gd name="connsiteX0" fmla="*/ 0 w 975491"/>
                <a:gd name="connsiteY0" fmla="*/ 77543 h 1588050"/>
                <a:gd name="connsiteX1" fmla="*/ 474885 w 975491"/>
                <a:gd name="connsiteY1" fmla="*/ 0 h 1588050"/>
                <a:gd name="connsiteX2" fmla="*/ 975491 w 975491"/>
                <a:gd name="connsiteY2" fmla="*/ 70400 h 1588050"/>
                <a:gd name="connsiteX3" fmla="*/ 975491 w 975491"/>
                <a:gd name="connsiteY3" fmla="*/ 1588050 h 1588050"/>
                <a:gd name="connsiteX4" fmla="*/ 493936 w 975491"/>
                <a:gd name="connsiteY4" fmla="*/ 1587745 h 1588050"/>
                <a:gd name="connsiteX5" fmla="*/ 2382 w 975491"/>
                <a:gd name="connsiteY5" fmla="*/ 1162703 h 1588050"/>
                <a:gd name="connsiteX6" fmla="*/ 0 w 975491"/>
                <a:gd name="connsiteY6" fmla="*/ 77543 h 1588050"/>
                <a:gd name="connsiteX0" fmla="*/ 0 w 975491"/>
                <a:gd name="connsiteY0" fmla="*/ 77543 h 1620214"/>
                <a:gd name="connsiteX1" fmla="*/ 474885 w 975491"/>
                <a:gd name="connsiteY1" fmla="*/ 0 h 1620214"/>
                <a:gd name="connsiteX2" fmla="*/ 975491 w 975491"/>
                <a:gd name="connsiteY2" fmla="*/ 70400 h 1620214"/>
                <a:gd name="connsiteX3" fmla="*/ 975491 w 975491"/>
                <a:gd name="connsiteY3" fmla="*/ 1588050 h 1620214"/>
                <a:gd name="connsiteX4" fmla="*/ 489173 w 975491"/>
                <a:gd name="connsiteY4" fmla="*/ 1620214 h 1620214"/>
                <a:gd name="connsiteX5" fmla="*/ 2382 w 975491"/>
                <a:gd name="connsiteY5" fmla="*/ 1162703 h 1620214"/>
                <a:gd name="connsiteX6" fmla="*/ 0 w 975491"/>
                <a:gd name="connsiteY6" fmla="*/ 77543 h 1620214"/>
                <a:gd name="connsiteX0" fmla="*/ 0 w 975491"/>
                <a:gd name="connsiteY0" fmla="*/ 77543 h 1620214"/>
                <a:gd name="connsiteX1" fmla="*/ 474885 w 975491"/>
                <a:gd name="connsiteY1" fmla="*/ 0 h 1620214"/>
                <a:gd name="connsiteX2" fmla="*/ 975491 w 975491"/>
                <a:gd name="connsiteY2" fmla="*/ 70400 h 1620214"/>
                <a:gd name="connsiteX3" fmla="*/ 970729 w 975491"/>
                <a:gd name="connsiteY3" fmla="*/ 1175691 h 1620214"/>
                <a:gd name="connsiteX4" fmla="*/ 489173 w 975491"/>
                <a:gd name="connsiteY4" fmla="*/ 1620214 h 1620214"/>
                <a:gd name="connsiteX5" fmla="*/ 2382 w 975491"/>
                <a:gd name="connsiteY5" fmla="*/ 1162703 h 1620214"/>
                <a:gd name="connsiteX6" fmla="*/ 0 w 975491"/>
                <a:gd name="connsiteY6" fmla="*/ 77543 h 1620214"/>
                <a:gd name="connsiteX0" fmla="*/ 0 w 975491"/>
                <a:gd name="connsiteY0" fmla="*/ 77543 h 1620214"/>
                <a:gd name="connsiteX1" fmla="*/ 474885 w 975491"/>
                <a:gd name="connsiteY1" fmla="*/ 0 h 1620214"/>
                <a:gd name="connsiteX2" fmla="*/ 975491 w 975491"/>
                <a:gd name="connsiteY2" fmla="*/ 70400 h 1620214"/>
                <a:gd name="connsiteX3" fmla="*/ 970729 w 975491"/>
                <a:gd name="connsiteY3" fmla="*/ 1175691 h 1620214"/>
                <a:gd name="connsiteX4" fmla="*/ 497589 w 975491"/>
                <a:gd name="connsiteY4" fmla="*/ 1620214 h 1620214"/>
                <a:gd name="connsiteX5" fmla="*/ 2382 w 975491"/>
                <a:gd name="connsiteY5" fmla="*/ 1162703 h 1620214"/>
                <a:gd name="connsiteX6" fmla="*/ 0 w 975491"/>
                <a:gd name="connsiteY6" fmla="*/ 77543 h 1620214"/>
                <a:gd name="connsiteX0" fmla="*/ 0 w 993256"/>
                <a:gd name="connsiteY0" fmla="*/ 77543 h 1620214"/>
                <a:gd name="connsiteX1" fmla="*/ 474885 w 993256"/>
                <a:gd name="connsiteY1" fmla="*/ 0 h 1620214"/>
                <a:gd name="connsiteX2" fmla="*/ 975491 w 993256"/>
                <a:gd name="connsiteY2" fmla="*/ 70400 h 1620214"/>
                <a:gd name="connsiteX3" fmla="*/ 993170 w 993256"/>
                <a:gd name="connsiteY3" fmla="*/ 1129793 h 1620214"/>
                <a:gd name="connsiteX4" fmla="*/ 497589 w 993256"/>
                <a:gd name="connsiteY4" fmla="*/ 1620214 h 1620214"/>
                <a:gd name="connsiteX5" fmla="*/ 2382 w 993256"/>
                <a:gd name="connsiteY5" fmla="*/ 1162703 h 1620214"/>
                <a:gd name="connsiteX6" fmla="*/ 0 w 993256"/>
                <a:gd name="connsiteY6" fmla="*/ 77543 h 1620214"/>
                <a:gd name="connsiteX0" fmla="*/ 0 w 993256"/>
                <a:gd name="connsiteY0" fmla="*/ 77543 h 1620214"/>
                <a:gd name="connsiteX1" fmla="*/ 474885 w 993256"/>
                <a:gd name="connsiteY1" fmla="*/ 0 h 1620214"/>
                <a:gd name="connsiteX2" fmla="*/ 975491 w 993256"/>
                <a:gd name="connsiteY2" fmla="*/ 70400 h 1620214"/>
                <a:gd name="connsiteX3" fmla="*/ 993170 w 993256"/>
                <a:gd name="connsiteY3" fmla="*/ 1129793 h 1620214"/>
                <a:gd name="connsiteX4" fmla="*/ 497589 w 993256"/>
                <a:gd name="connsiteY4" fmla="*/ 1620214 h 1620214"/>
                <a:gd name="connsiteX5" fmla="*/ 2382 w 993256"/>
                <a:gd name="connsiteY5" fmla="*/ 1162703 h 1620214"/>
                <a:gd name="connsiteX6" fmla="*/ 0 w 993256"/>
                <a:gd name="connsiteY6" fmla="*/ 77543 h 1620214"/>
                <a:gd name="connsiteX0" fmla="*/ 0 w 993256"/>
                <a:gd name="connsiteY0" fmla="*/ 77543 h 1620214"/>
                <a:gd name="connsiteX1" fmla="*/ 474885 w 993256"/>
                <a:gd name="connsiteY1" fmla="*/ 0 h 1620214"/>
                <a:gd name="connsiteX2" fmla="*/ 975491 w 993256"/>
                <a:gd name="connsiteY2" fmla="*/ 70400 h 1620214"/>
                <a:gd name="connsiteX3" fmla="*/ 993170 w 993256"/>
                <a:gd name="connsiteY3" fmla="*/ 1129793 h 1620214"/>
                <a:gd name="connsiteX4" fmla="*/ 497589 w 993256"/>
                <a:gd name="connsiteY4" fmla="*/ 1620214 h 1620214"/>
                <a:gd name="connsiteX5" fmla="*/ 13602 w 993256"/>
                <a:gd name="connsiteY5" fmla="*/ 1143577 h 1620214"/>
                <a:gd name="connsiteX6" fmla="*/ 0 w 993256"/>
                <a:gd name="connsiteY6" fmla="*/ 77543 h 1620214"/>
                <a:gd name="connsiteX0" fmla="*/ 0 w 993256"/>
                <a:gd name="connsiteY0" fmla="*/ 77543 h 1620214"/>
                <a:gd name="connsiteX1" fmla="*/ 474885 w 993256"/>
                <a:gd name="connsiteY1" fmla="*/ 0 h 1620214"/>
                <a:gd name="connsiteX2" fmla="*/ 975491 w 993256"/>
                <a:gd name="connsiteY2" fmla="*/ 70400 h 1620214"/>
                <a:gd name="connsiteX3" fmla="*/ 993170 w 993256"/>
                <a:gd name="connsiteY3" fmla="*/ 1129793 h 1620214"/>
                <a:gd name="connsiteX4" fmla="*/ 497589 w 993256"/>
                <a:gd name="connsiteY4" fmla="*/ 1620214 h 1620214"/>
                <a:gd name="connsiteX5" fmla="*/ 13602 w 993256"/>
                <a:gd name="connsiteY5" fmla="*/ 1143577 h 1620214"/>
                <a:gd name="connsiteX6" fmla="*/ 0 w 993256"/>
                <a:gd name="connsiteY6" fmla="*/ 77543 h 1620214"/>
                <a:gd name="connsiteX0" fmla="*/ 0 w 982036"/>
                <a:gd name="connsiteY0" fmla="*/ 69892 h 1620214"/>
                <a:gd name="connsiteX1" fmla="*/ 463665 w 982036"/>
                <a:gd name="connsiteY1" fmla="*/ 0 h 1620214"/>
                <a:gd name="connsiteX2" fmla="*/ 964271 w 982036"/>
                <a:gd name="connsiteY2" fmla="*/ 70400 h 1620214"/>
                <a:gd name="connsiteX3" fmla="*/ 981950 w 982036"/>
                <a:gd name="connsiteY3" fmla="*/ 1129793 h 1620214"/>
                <a:gd name="connsiteX4" fmla="*/ 486369 w 982036"/>
                <a:gd name="connsiteY4" fmla="*/ 1620214 h 1620214"/>
                <a:gd name="connsiteX5" fmla="*/ 2382 w 982036"/>
                <a:gd name="connsiteY5" fmla="*/ 1143577 h 1620214"/>
                <a:gd name="connsiteX6" fmla="*/ 0 w 982036"/>
                <a:gd name="connsiteY6" fmla="*/ 69892 h 1620214"/>
                <a:gd name="connsiteX0" fmla="*/ 0 w 982127"/>
                <a:gd name="connsiteY0" fmla="*/ 69892 h 1620214"/>
                <a:gd name="connsiteX1" fmla="*/ 463665 w 982127"/>
                <a:gd name="connsiteY1" fmla="*/ 0 h 1620214"/>
                <a:gd name="connsiteX2" fmla="*/ 975491 w 982127"/>
                <a:gd name="connsiteY2" fmla="*/ 81875 h 1620214"/>
                <a:gd name="connsiteX3" fmla="*/ 981950 w 982127"/>
                <a:gd name="connsiteY3" fmla="*/ 1129793 h 1620214"/>
                <a:gd name="connsiteX4" fmla="*/ 486369 w 982127"/>
                <a:gd name="connsiteY4" fmla="*/ 1620214 h 1620214"/>
                <a:gd name="connsiteX5" fmla="*/ 2382 w 982127"/>
                <a:gd name="connsiteY5" fmla="*/ 1143577 h 1620214"/>
                <a:gd name="connsiteX6" fmla="*/ 0 w 982127"/>
                <a:gd name="connsiteY6" fmla="*/ 69892 h 1620214"/>
                <a:gd name="connsiteX0" fmla="*/ 0 w 982127"/>
                <a:gd name="connsiteY0" fmla="*/ 69892 h 1620214"/>
                <a:gd name="connsiteX1" fmla="*/ 505741 w 982127"/>
                <a:gd name="connsiteY1" fmla="*/ 0 h 1620214"/>
                <a:gd name="connsiteX2" fmla="*/ 975491 w 982127"/>
                <a:gd name="connsiteY2" fmla="*/ 81875 h 1620214"/>
                <a:gd name="connsiteX3" fmla="*/ 981950 w 982127"/>
                <a:gd name="connsiteY3" fmla="*/ 1129793 h 1620214"/>
                <a:gd name="connsiteX4" fmla="*/ 486369 w 982127"/>
                <a:gd name="connsiteY4" fmla="*/ 1620214 h 1620214"/>
                <a:gd name="connsiteX5" fmla="*/ 2382 w 982127"/>
                <a:gd name="connsiteY5" fmla="*/ 1143577 h 1620214"/>
                <a:gd name="connsiteX6" fmla="*/ 0 w 982127"/>
                <a:gd name="connsiteY6" fmla="*/ 69892 h 1620214"/>
                <a:gd name="connsiteX0" fmla="*/ 0 w 982127"/>
                <a:gd name="connsiteY0" fmla="*/ 0 h 1550322"/>
                <a:gd name="connsiteX1" fmla="*/ 975491 w 982127"/>
                <a:gd name="connsiteY1" fmla="*/ 11983 h 1550322"/>
                <a:gd name="connsiteX2" fmla="*/ 981950 w 982127"/>
                <a:gd name="connsiteY2" fmla="*/ 1059901 h 1550322"/>
                <a:gd name="connsiteX3" fmla="*/ 486369 w 982127"/>
                <a:gd name="connsiteY3" fmla="*/ 1550322 h 1550322"/>
                <a:gd name="connsiteX4" fmla="*/ 2382 w 982127"/>
                <a:gd name="connsiteY4" fmla="*/ 1073685 h 1550322"/>
                <a:gd name="connsiteX5" fmla="*/ 0 w 982127"/>
                <a:gd name="connsiteY5" fmla="*/ 0 h 1550322"/>
                <a:gd name="connsiteX0" fmla="*/ 0 w 982127"/>
                <a:gd name="connsiteY0" fmla="*/ 51599 h 1601921"/>
                <a:gd name="connsiteX1" fmla="*/ 975491 w 982127"/>
                <a:gd name="connsiteY1" fmla="*/ 63582 h 1601921"/>
                <a:gd name="connsiteX2" fmla="*/ 981950 w 982127"/>
                <a:gd name="connsiteY2" fmla="*/ 1111500 h 1601921"/>
                <a:gd name="connsiteX3" fmla="*/ 486369 w 982127"/>
                <a:gd name="connsiteY3" fmla="*/ 1601921 h 1601921"/>
                <a:gd name="connsiteX4" fmla="*/ 2382 w 982127"/>
                <a:gd name="connsiteY4" fmla="*/ 1125284 h 1601921"/>
                <a:gd name="connsiteX5" fmla="*/ 0 w 982127"/>
                <a:gd name="connsiteY5" fmla="*/ 51599 h 1601921"/>
                <a:gd name="connsiteX0" fmla="*/ 0 w 982127"/>
                <a:gd name="connsiteY0" fmla="*/ 85823 h 1636145"/>
                <a:gd name="connsiteX1" fmla="*/ 975491 w 982127"/>
                <a:gd name="connsiteY1" fmla="*/ 97806 h 1636145"/>
                <a:gd name="connsiteX2" fmla="*/ 981950 w 982127"/>
                <a:gd name="connsiteY2" fmla="*/ 1145724 h 1636145"/>
                <a:gd name="connsiteX3" fmla="*/ 486369 w 982127"/>
                <a:gd name="connsiteY3" fmla="*/ 1636145 h 1636145"/>
                <a:gd name="connsiteX4" fmla="*/ 2382 w 982127"/>
                <a:gd name="connsiteY4" fmla="*/ 1159508 h 1636145"/>
                <a:gd name="connsiteX5" fmla="*/ 0 w 982127"/>
                <a:gd name="connsiteY5" fmla="*/ 85823 h 1636145"/>
                <a:gd name="connsiteX0" fmla="*/ 0 w 983907"/>
                <a:gd name="connsiteY0" fmla="*/ 87799 h 1638121"/>
                <a:gd name="connsiteX1" fmla="*/ 983907 w 983907"/>
                <a:gd name="connsiteY1" fmla="*/ 95957 h 1638121"/>
                <a:gd name="connsiteX2" fmla="*/ 981950 w 983907"/>
                <a:gd name="connsiteY2" fmla="*/ 1147700 h 1638121"/>
                <a:gd name="connsiteX3" fmla="*/ 486369 w 983907"/>
                <a:gd name="connsiteY3" fmla="*/ 1638121 h 1638121"/>
                <a:gd name="connsiteX4" fmla="*/ 2382 w 983907"/>
                <a:gd name="connsiteY4" fmla="*/ 1161484 h 1638121"/>
                <a:gd name="connsiteX5" fmla="*/ 0 w 983907"/>
                <a:gd name="connsiteY5" fmla="*/ 87799 h 1638121"/>
                <a:gd name="connsiteX0" fmla="*/ 0 w 983907"/>
                <a:gd name="connsiteY0" fmla="*/ 92268 h 1642590"/>
                <a:gd name="connsiteX1" fmla="*/ 983907 w 983907"/>
                <a:gd name="connsiteY1" fmla="*/ 100426 h 1642590"/>
                <a:gd name="connsiteX2" fmla="*/ 981950 w 983907"/>
                <a:gd name="connsiteY2" fmla="*/ 1152169 h 1642590"/>
                <a:gd name="connsiteX3" fmla="*/ 486369 w 983907"/>
                <a:gd name="connsiteY3" fmla="*/ 1642590 h 1642590"/>
                <a:gd name="connsiteX4" fmla="*/ 2382 w 983907"/>
                <a:gd name="connsiteY4" fmla="*/ 1165953 h 1642590"/>
                <a:gd name="connsiteX5" fmla="*/ 0 w 983907"/>
                <a:gd name="connsiteY5" fmla="*/ 92268 h 1642590"/>
                <a:gd name="connsiteX0" fmla="*/ 0 w 983907"/>
                <a:gd name="connsiteY0" fmla="*/ 94346 h 1640842"/>
                <a:gd name="connsiteX1" fmla="*/ 983907 w 983907"/>
                <a:gd name="connsiteY1" fmla="*/ 98678 h 1640842"/>
                <a:gd name="connsiteX2" fmla="*/ 981950 w 983907"/>
                <a:gd name="connsiteY2" fmla="*/ 1150421 h 1640842"/>
                <a:gd name="connsiteX3" fmla="*/ 486369 w 983907"/>
                <a:gd name="connsiteY3" fmla="*/ 1640842 h 1640842"/>
                <a:gd name="connsiteX4" fmla="*/ 2382 w 983907"/>
                <a:gd name="connsiteY4" fmla="*/ 1164205 h 1640842"/>
                <a:gd name="connsiteX5" fmla="*/ 0 w 983907"/>
                <a:gd name="connsiteY5" fmla="*/ 94346 h 1640842"/>
                <a:gd name="connsiteX0" fmla="*/ 0 w 983907"/>
                <a:gd name="connsiteY0" fmla="*/ 101177 h 1647673"/>
                <a:gd name="connsiteX1" fmla="*/ 983907 w 983907"/>
                <a:gd name="connsiteY1" fmla="*/ 105509 h 1647673"/>
                <a:gd name="connsiteX2" fmla="*/ 981950 w 983907"/>
                <a:gd name="connsiteY2" fmla="*/ 1157252 h 1647673"/>
                <a:gd name="connsiteX3" fmla="*/ 486369 w 983907"/>
                <a:gd name="connsiteY3" fmla="*/ 1647673 h 1647673"/>
                <a:gd name="connsiteX4" fmla="*/ 2382 w 983907"/>
                <a:gd name="connsiteY4" fmla="*/ 1171036 h 1647673"/>
                <a:gd name="connsiteX5" fmla="*/ 0 w 983907"/>
                <a:gd name="connsiteY5" fmla="*/ 101177 h 1647673"/>
                <a:gd name="connsiteX0" fmla="*/ 0 w 983907"/>
                <a:gd name="connsiteY0" fmla="*/ 108636 h 1655132"/>
                <a:gd name="connsiteX1" fmla="*/ 983907 w 983907"/>
                <a:gd name="connsiteY1" fmla="*/ 112968 h 1655132"/>
                <a:gd name="connsiteX2" fmla="*/ 981950 w 983907"/>
                <a:gd name="connsiteY2" fmla="*/ 1164711 h 1655132"/>
                <a:gd name="connsiteX3" fmla="*/ 486369 w 983907"/>
                <a:gd name="connsiteY3" fmla="*/ 1655132 h 1655132"/>
                <a:gd name="connsiteX4" fmla="*/ 2382 w 983907"/>
                <a:gd name="connsiteY4" fmla="*/ 1178495 h 1655132"/>
                <a:gd name="connsiteX5" fmla="*/ 0 w 983907"/>
                <a:gd name="connsiteY5" fmla="*/ 108636 h 1655132"/>
                <a:gd name="connsiteX0" fmla="*/ 0 w 983907"/>
                <a:gd name="connsiteY0" fmla="*/ 108636 h 1655132"/>
                <a:gd name="connsiteX1" fmla="*/ 983907 w 983907"/>
                <a:gd name="connsiteY1" fmla="*/ 112968 h 1655132"/>
                <a:gd name="connsiteX2" fmla="*/ 981950 w 983907"/>
                <a:gd name="connsiteY2" fmla="*/ 1164711 h 1655132"/>
                <a:gd name="connsiteX3" fmla="*/ 486369 w 983907"/>
                <a:gd name="connsiteY3" fmla="*/ 1655132 h 1655132"/>
                <a:gd name="connsiteX4" fmla="*/ 2382 w 983907"/>
                <a:gd name="connsiteY4" fmla="*/ 1178495 h 1655132"/>
                <a:gd name="connsiteX5" fmla="*/ 0 w 983907"/>
                <a:gd name="connsiteY5" fmla="*/ 108636 h 1655132"/>
                <a:gd name="connsiteX0" fmla="*/ 0 w 983907"/>
                <a:gd name="connsiteY0" fmla="*/ 108636 h 1655132"/>
                <a:gd name="connsiteX1" fmla="*/ 983907 w 983907"/>
                <a:gd name="connsiteY1" fmla="*/ 112968 h 1655132"/>
                <a:gd name="connsiteX2" fmla="*/ 981950 w 983907"/>
                <a:gd name="connsiteY2" fmla="*/ 1164711 h 1655132"/>
                <a:gd name="connsiteX3" fmla="*/ 486369 w 983907"/>
                <a:gd name="connsiteY3" fmla="*/ 1655132 h 1655132"/>
                <a:gd name="connsiteX4" fmla="*/ 2382 w 983907"/>
                <a:gd name="connsiteY4" fmla="*/ 1178495 h 1655132"/>
                <a:gd name="connsiteX5" fmla="*/ 0 w 983907"/>
                <a:gd name="connsiteY5" fmla="*/ 108636 h 1655132"/>
                <a:gd name="connsiteX0" fmla="*/ 0 w 983907"/>
                <a:gd name="connsiteY0" fmla="*/ 108636 h 1655132"/>
                <a:gd name="connsiteX1" fmla="*/ 983907 w 983907"/>
                <a:gd name="connsiteY1" fmla="*/ 112968 h 1655132"/>
                <a:gd name="connsiteX2" fmla="*/ 981950 w 983907"/>
                <a:gd name="connsiteY2" fmla="*/ 1164711 h 1655132"/>
                <a:gd name="connsiteX3" fmla="*/ 486369 w 983907"/>
                <a:gd name="connsiteY3" fmla="*/ 1655132 h 1655132"/>
                <a:gd name="connsiteX4" fmla="*/ 2382 w 983907"/>
                <a:gd name="connsiteY4" fmla="*/ 1178495 h 1655132"/>
                <a:gd name="connsiteX5" fmla="*/ 0 w 983907"/>
                <a:gd name="connsiteY5" fmla="*/ 108636 h 1655132"/>
                <a:gd name="connsiteX0" fmla="*/ 0 w 983907"/>
                <a:gd name="connsiteY0" fmla="*/ 108636 h 1655132"/>
                <a:gd name="connsiteX1" fmla="*/ 983907 w 983907"/>
                <a:gd name="connsiteY1" fmla="*/ 112968 h 1655132"/>
                <a:gd name="connsiteX2" fmla="*/ 981950 w 983907"/>
                <a:gd name="connsiteY2" fmla="*/ 1164711 h 1655132"/>
                <a:gd name="connsiteX3" fmla="*/ 486369 w 983907"/>
                <a:gd name="connsiteY3" fmla="*/ 1655132 h 1655132"/>
                <a:gd name="connsiteX4" fmla="*/ 2382 w 983907"/>
                <a:gd name="connsiteY4" fmla="*/ 1178495 h 1655132"/>
                <a:gd name="connsiteX5" fmla="*/ 0 w 983907"/>
                <a:gd name="connsiteY5" fmla="*/ 108636 h 1655132"/>
                <a:gd name="connsiteX0" fmla="*/ 0 w 983907"/>
                <a:gd name="connsiteY0" fmla="*/ 108636 h 1655132"/>
                <a:gd name="connsiteX1" fmla="*/ 983907 w 983907"/>
                <a:gd name="connsiteY1" fmla="*/ 112968 h 1655132"/>
                <a:gd name="connsiteX2" fmla="*/ 981950 w 983907"/>
                <a:gd name="connsiteY2" fmla="*/ 1164711 h 1655132"/>
                <a:gd name="connsiteX3" fmla="*/ 486369 w 983907"/>
                <a:gd name="connsiteY3" fmla="*/ 1655132 h 1655132"/>
                <a:gd name="connsiteX4" fmla="*/ 2382 w 983907"/>
                <a:gd name="connsiteY4" fmla="*/ 1178495 h 1655132"/>
                <a:gd name="connsiteX5" fmla="*/ 0 w 983907"/>
                <a:gd name="connsiteY5" fmla="*/ 108636 h 1655132"/>
                <a:gd name="connsiteX0" fmla="*/ 0 w 983907"/>
                <a:gd name="connsiteY0" fmla="*/ 108636 h 1666607"/>
                <a:gd name="connsiteX1" fmla="*/ 983907 w 983907"/>
                <a:gd name="connsiteY1" fmla="*/ 112968 h 1666607"/>
                <a:gd name="connsiteX2" fmla="*/ 981950 w 983907"/>
                <a:gd name="connsiteY2" fmla="*/ 1164711 h 1666607"/>
                <a:gd name="connsiteX3" fmla="*/ 486369 w 983907"/>
                <a:gd name="connsiteY3" fmla="*/ 1666607 h 1666607"/>
                <a:gd name="connsiteX4" fmla="*/ 2382 w 983907"/>
                <a:gd name="connsiteY4" fmla="*/ 1178495 h 1666607"/>
                <a:gd name="connsiteX5" fmla="*/ 0 w 983907"/>
                <a:gd name="connsiteY5" fmla="*/ 108636 h 1666607"/>
                <a:gd name="connsiteX0" fmla="*/ 0 w 983907"/>
                <a:gd name="connsiteY0" fmla="*/ 108636 h 1666607"/>
                <a:gd name="connsiteX1" fmla="*/ 983907 w 983907"/>
                <a:gd name="connsiteY1" fmla="*/ 112968 h 1666607"/>
                <a:gd name="connsiteX2" fmla="*/ 981950 w 983907"/>
                <a:gd name="connsiteY2" fmla="*/ 1164711 h 1666607"/>
                <a:gd name="connsiteX3" fmla="*/ 486369 w 983907"/>
                <a:gd name="connsiteY3" fmla="*/ 1666607 h 1666607"/>
                <a:gd name="connsiteX4" fmla="*/ 2382 w 983907"/>
                <a:gd name="connsiteY4" fmla="*/ 1178495 h 1666607"/>
                <a:gd name="connsiteX5" fmla="*/ 0 w 983907"/>
                <a:gd name="connsiteY5" fmla="*/ 108636 h 1666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83907" h="1666607">
                  <a:moveTo>
                    <a:pt x="0" y="108636"/>
                  </a:moveTo>
                  <a:cubicBezTo>
                    <a:pt x="241013" y="-17416"/>
                    <a:pt x="655938" y="-55494"/>
                    <a:pt x="983907" y="112968"/>
                  </a:cubicBezTo>
                  <a:cubicBezTo>
                    <a:pt x="982320" y="481398"/>
                    <a:pt x="983537" y="796281"/>
                    <a:pt x="981950" y="1164711"/>
                  </a:cubicBezTo>
                  <a:cubicBezTo>
                    <a:pt x="772633" y="1427632"/>
                    <a:pt x="662640" y="1529909"/>
                    <a:pt x="486369" y="1666607"/>
                  </a:cubicBezTo>
                  <a:cubicBezTo>
                    <a:pt x="316732" y="1530679"/>
                    <a:pt x="191762" y="1398572"/>
                    <a:pt x="2382" y="1178495"/>
                  </a:cubicBezTo>
                  <a:lnTo>
                    <a:pt x="0" y="108636"/>
                  </a:lnTo>
                  <a:close/>
                </a:path>
              </a:pathLst>
            </a:custGeom>
            <a:solidFill>
              <a:srgbClr val="E6E6E6"/>
            </a:solidFill>
            <a:ln w="7938" cap="flat">
              <a:solidFill>
                <a:srgbClr val="FEFEF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9" name="Freeform 6"/>
            <p:cNvSpPr>
              <a:spLocks noEditPoints="1"/>
            </p:cNvSpPr>
            <p:nvPr/>
          </p:nvSpPr>
          <p:spPr bwMode="auto">
            <a:xfrm>
              <a:off x="2250143" y="1752858"/>
              <a:ext cx="1102812" cy="1313701"/>
            </a:xfrm>
            <a:custGeom>
              <a:avLst/>
              <a:gdLst>
                <a:gd name="T0" fmla="*/ 410 w 2503"/>
                <a:gd name="T1" fmla="*/ 2143 h 2985"/>
                <a:gd name="T2" fmla="*/ 220 w 2503"/>
                <a:gd name="T3" fmla="*/ 1971 h 2985"/>
                <a:gd name="T4" fmla="*/ 220 w 2503"/>
                <a:gd name="T5" fmla="*/ 401 h 2985"/>
                <a:gd name="T6" fmla="*/ 335 w 2503"/>
                <a:gd name="T7" fmla="*/ 360 h 2985"/>
                <a:gd name="T8" fmla="*/ 1252 w 2503"/>
                <a:gd name="T9" fmla="*/ 220 h 2985"/>
                <a:gd name="T10" fmla="*/ 2168 w 2503"/>
                <a:gd name="T11" fmla="*/ 360 h 2985"/>
                <a:gd name="T12" fmla="*/ 2283 w 2503"/>
                <a:gd name="T13" fmla="*/ 401 h 2985"/>
                <a:gd name="T14" fmla="*/ 2283 w 2503"/>
                <a:gd name="T15" fmla="*/ 1971 h 2985"/>
                <a:gd name="T16" fmla="*/ 2094 w 2503"/>
                <a:gd name="T17" fmla="*/ 2143 h 2985"/>
                <a:gd name="T18" fmla="*/ 1252 w 2503"/>
                <a:gd name="T19" fmla="*/ 2734 h 2985"/>
                <a:gd name="T20" fmla="*/ 410 w 2503"/>
                <a:gd name="T21" fmla="*/ 2143 h 2985"/>
                <a:gd name="T22" fmla="*/ 2503 w 2503"/>
                <a:gd name="T23" fmla="*/ 2064 h 2985"/>
                <a:gd name="T24" fmla="*/ 2503 w 2503"/>
                <a:gd name="T25" fmla="*/ 1445 h 2985"/>
                <a:gd name="T26" fmla="*/ 2503 w 2503"/>
                <a:gd name="T27" fmla="*/ 256 h 2985"/>
                <a:gd name="T28" fmla="*/ 2237 w 2503"/>
                <a:gd name="T29" fmla="*/ 151 h 2985"/>
                <a:gd name="T30" fmla="*/ 1252 w 2503"/>
                <a:gd name="T31" fmla="*/ 0 h 2985"/>
                <a:gd name="T32" fmla="*/ 266 w 2503"/>
                <a:gd name="T33" fmla="*/ 151 h 2985"/>
                <a:gd name="T34" fmla="*/ 0 w 2503"/>
                <a:gd name="T35" fmla="*/ 256 h 2985"/>
                <a:gd name="T36" fmla="*/ 0 w 2503"/>
                <a:gd name="T37" fmla="*/ 1445 h 2985"/>
                <a:gd name="T38" fmla="*/ 0 w 2503"/>
                <a:gd name="T39" fmla="*/ 2064 h 2985"/>
                <a:gd name="T40" fmla="*/ 266 w 2503"/>
                <a:gd name="T41" fmla="*/ 2310 h 2985"/>
                <a:gd name="T42" fmla="*/ 1252 w 2503"/>
                <a:gd name="T43" fmla="*/ 2985 h 2985"/>
                <a:gd name="T44" fmla="*/ 2237 w 2503"/>
                <a:gd name="T45" fmla="*/ 2310 h 2985"/>
                <a:gd name="T46" fmla="*/ 2503 w 2503"/>
                <a:gd name="T47" fmla="*/ 2064 h 2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503" h="2985">
                  <a:moveTo>
                    <a:pt x="410" y="2143"/>
                  </a:moveTo>
                  <a:cubicBezTo>
                    <a:pt x="345" y="2087"/>
                    <a:pt x="282" y="2030"/>
                    <a:pt x="220" y="1971"/>
                  </a:cubicBezTo>
                  <a:lnTo>
                    <a:pt x="220" y="401"/>
                  </a:lnTo>
                  <a:cubicBezTo>
                    <a:pt x="258" y="387"/>
                    <a:pt x="297" y="373"/>
                    <a:pt x="335" y="360"/>
                  </a:cubicBezTo>
                  <a:cubicBezTo>
                    <a:pt x="629" y="264"/>
                    <a:pt x="943" y="220"/>
                    <a:pt x="1252" y="220"/>
                  </a:cubicBezTo>
                  <a:cubicBezTo>
                    <a:pt x="1560" y="220"/>
                    <a:pt x="1875" y="264"/>
                    <a:pt x="2168" y="360"/>
                  </a:cubicBezTo>
                  <a:cubicBezTo>
                    <a:pt x="2207" y="373"/>
                    <a:pt x="2245" y="387"/>
                    <a:pt x="2283" y="401"/>
                  </a:cubicBezTo>
                  <a:lnTo>
                    <a:pt x="2283" y="1971"/>
                  </a:lnTo>
                  <a:cubicBezTo>
                    <a:pt x="2222" y="2030"/>
                    <a:pt x="2158" y="2087"/>
                    <a:pt x="2094" y="2143"/>
                  </a:cubicBezTo>
                  <a:cubicBezTo>
                    <a:pt x="1835" y="2366"/>
                    <a:pt x="1550" y="2566"/>
                    <a:pt x="1252" y="2734"/>
                  </a:cubicBezTo>
                  <a:cubicBezTo>
                    <a:pt x="953" y="2566"/>
                    <a:pt x="669" y="2366"/>
                    <a:pt x="410" y="2143"/>
                  </a:cubicBezTo>
                  <a:close/>
                  <a:moveTo>
                    <a:pt x="2503" y="2064"/>
                  </a:moveTo>
                  <a:lnTo>
                    <a:pt x="2503" y="1445"/>
                  </a:lnTo>
                  <a:lnTo>
                    <a:pt x="2503" y="256"/>
                  </a:lnTo>
                  <a:cubicBezTo>
                    <a:pt x="2419" y="217"/>
                    <a:pt x="2330" y="182"/>
                    <a:pt x="2237" y="151"/>
                  </a:cubicBezTo>
                  <a:cubicBezTo>
                    <a:pt x="1945" y="55"/>
                    <a:pt x="1609" y="0"/>
                    <a:pt x="1252" y="0"/>
                  </a:cubicBezTo>
                  <a:cubicBezTo>
                    <a:pt x="895" y="0"/>
                    <a:pt x="559" y="55"/>
                    <a:pt x="266" y="151"/>
                  </a:cubicBezTo>
                  <a:cubicBezTo>
                    <a:pt x="173" y="182"/>
                    <a:pt x="84" y="217"/>
                    <a:pt x="0" y="256"/>
                  </a:cubicBezTo>
                  <a:lnTo>
                    <a:pt x="0" y="1445"/>
                  </a:lnTo>
                  <a:lnTo>
                    <a:pt x="0" y="2064"/>
                  </a:lnTo>
                  <a:cubicBezTo>
                    <a:pt x="84" y="2147"/>
                    <a:pt x="173" y="2229"/>
                    <a:pt x="266" y="2310"/>
                  </a:cubicBezTo>
                  <a:cubicBezTo>
                    <a:pt x="559" y="2561"/>
                    <a:pt x="895" y="2795"/>
                    <a:pt x="1252" y="2985"/>
                  </a:cubicBezTo>
                  <a:cubicBezTo>
                    <a:pt x="1609" y="2795"/>
                    <a:pt x="1945" y="2561"/>
                    <a:pt x="2237" y="2310"/>
                  </a:cubicBezTo>
                  <a:cubicBezTo>
                    <a:pt x="2330" y="2229"/>
                    <a:pt x="2419" y="2147"/>
                    <a:pt x="2503" y="206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0" name="Picture165"/>
            <p:cNvSpPr>
              <a:spLocks noChangeAspect="1"/>
            </p:cNvSpPr>
            <p:nvPr/>
          </p:nvSpPr>
          <p:spPr bwMode="auto">
            <a:xfrm>
              <a:off x="2550034" y="2028021"/>
              <a:ext cx="522382" cy="625215"/>
            </a:xfrm>
            <a:custGeom>
              <a:avLst/>
              <a:gdLst>
                <a:gd name="T0" fmla="*/ 0 w 762"/>
                <a:gd name="T1" fmla="*/ 467 h 912"/>
                <a:gd name="T2" fmla="*/ 152 w 762"/>
                <a:gd name="T3" fmla="*/ 372 h 912"/>
                <a:gd name="T4" fmla="*/ 280 w 762"/>
                <a:gd name="T5" fmla="*/ 608 h 912"/>
                <a:gd name="T6" fmla="*/ 609 w 762"/>
                <a:gd name="T7" fmla="*/ 0 h 912"/>
                <a:gd name="T8" fmla="*/ 762 w 762"/>
                <a:gd name="T9" fmla="*/ 95 h 912"/>
                <a:gd name="T10" fmla="*/ 280 w 762"/>
                <a:gd name="T11" fmla="*/ 912 h 912"/>
                <a:gd name="T12" fmla="*/ 0 w 762"/>
                <a:gd name="T13" fmla="*/ 467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2" h="912">
                  <a:moveTo>
                    <a:pt x="0" y="467"/>
                  </a:moveTo>
                  <a:lnTo>
                    <a:pt x="152" y="372"/>
                  </a:lnTo>
                  <a:lnTo>
                    <a:pt x="280" y="608"/>
                  </a:lnTo>
                  <a:lnTo>
                    <a:pt x="609" y="0"/>
                  </a:lnTo>
                  <a:lnTo>
                    <a:pt x="762" y="95"/>
                  </a:lnTo>
                  <a:lnTo>
                    <a:pt x="280" y="912"/>
                  </a:lnTo>
                  <a:lnTo>
                    <a:pt x="0" y="467"/>
                  </a:ln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>
                <a:solidFill>
                  <a:srgbClr val="C00000"/>
                </a:solidFill>
              </a:endParaRPr>
            </a:p>
          </p:txBody>
        </p:sp>
      </p:grpSp>
      <p:sp>
        <p:nvSpPr>
          <p:cNvPr id="41" name="SquareAccident"/>
          <p:cNvSpPr/>
          <p:nvPr>
            <p:custDataLst>
              <p:tags r:id="rId11"/>
            </p:custDataLst>
          </p:nvPr>
        </p:nvSpPr>
        <p:spPr>
          <a:xfrm>
            <a:off x="575555" y="1160748"/>
            <a:ext cx="805845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050" b="1" dirty="0">
                <a:solidFill>
                  <a:srgbClr val="545353"/>
                </a:solidFill>
              </a:rPr>
              <a:t>Сравнение категорий происшествий с </a:t>
            </a:r>
            <a:r>
              <a:rPr lang="ru-RU" sz="1050" b="1" dirty="0" smtClean="0">
                <a:solidFill>
                  <a:srgbClr val="545353"/>
                </a:solidFill>
              </a:rPr>
              <a:t>аналогичным</a:t>
            </a:r>
            <a:r>
              <a:rPr lang="en-US" sz="1050" b="1" dirty="0" smtClean="0">
                <a:solidFill>
                  <a:srgbClr val="545353"/>
                </a:solidFill>
              </a:rPr>
              <a:t> </a:t>
            </a:r>
            <a:r>
              <a:rPr lang="ru-RU" sz="1050" b="1" dirty="0" smtClean="0">
                <a:solidFill>
                  <a:srgbClr val="545353"/>
                </a:solidFill>
              </a:rPr>
              <a:t>периодом </a:t>
            </a:r>
            <a:r>
              <a:rPr lang="en-US" sz="1050" b="1" dirty="0" smtClean="0">
                <a:solidFill>
                  <a:srgbClr val="545353"/>
                </a:solidFill>
              </a:rPr>
              <a:t>cur</a:t>
            </a:r>
            <a:r>
              <a:rPr lang="ru-RU" sz="1050" b="1" dirty="0" smtClean="0">
                <a:solidFill>
                  <a:srgbClr val="545353"/>
                </a:solidFill>
              </a:rPr>
              <a:t> </a:t>
            </a:r>
            <a:r>
              <a:rPr lang="ru-RU" sz="1050" b="1" dirty="0">
                <a:solidFill>
                  <a:srgbClr val="545353"/>
                </a:solidFill>
              </a:rPr>
              <a:t>года</a:t>
            </a:r>
          </a:p>
        </p:txBody>
      </p:sp>
      <p:sp>
        <p:nvSpPr>
          <p:cNvPr id="43" name="Прямоугольник 42"/>
          <p:cNvSpPr/>
          <p:nvPr/>
        </p:nvSpPr>
        <p:spPr>
          <a:xfrm>
            <a:off x="274100" y="3677969"/>
            <a:ext cx="8359911" cy="2539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1050" b="1" dirty="0">
                <a:solidFill>
                  <a:srgbClr val="545353"/>
                </a:solidFill>
              </a:rPr>
              <a:t>Коэффициент </a:t>
            </a:r>
            <a:r>
              <a:rPr lang="en-US" sz="1050" b="1" dirty="0">
                <a:solidFill>
                  <a:srgbClr val="545353"/>
                </a:solidFill>
              </a:rPr>
              <a:t>LTIF</a:t>
            </a:r>
            <a:r>
              <a:rPr lang="ru-RU" sz="1050" b="1" dirty="0">
                <a:solidFill>
                  <a:srgbClr val="545353"/>
                </a:solidFill>
              </a:rPr>
              <a:t> в Дирекции по Добыче, Крупным проектам, ГРР</a:t>
            </a:r>
          </a:p>
        </p:txBody>
      </p:sp>
      <p:graphicFrame>
        <p:nvGraphicFramePr>
          <p:cNvPr id="21" name="ChartLtif"/>
          <p:cNvGraphicFramePr/>
          <p:nvPr>
            <p:extLst>
              <p:ext uri="{D42A27DB-BD31-4B8C-83A1-F6EECF244321}">
                <p14:modId xmlns:p14="http://schemas.microsoft.com/office/powerpoint/2010/main" val="2437876436"/>
              </p:ext>
            </p:extLst>
          </p:nvPr>
        </p:nvGraphicFramePr>
        <p:xfrm>
          <a:off x="158750" y="4187441"/>
          <a:ext cx="8805738" cy="22298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8"/>
          </a:graphicData>
        </a:graphic>
      </p:graphicFrame>
    </p:spTree>
    <p:extLst>
      <p:ext uri="{BB962C8B-B14F-4D97-AF65-F5344CB8AC3E}">
        <p14:creationId xmlns:p14="http://schemas.microsoft.com/office/powerpoint/2010/main" val="33111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solidFill>
                  <a:srgbClr val="545353"/>
                </a:solidFill>
              </a:rPr>
              <a:t>Бурение и ЗБС</a:t>
            </a:r>
            <a:endParaRPr lang="ru-RU" dirty="0">
              <a:solidFill>
                <a:srgbClr val="545353"/>
              </a:solidFill>
            </a:endParaRPr>
          </a:p>
        </p:txBody>
      </p:sp>
      <p:sp>
        <p:nvSpPr>
          <p:cNvPr id="5" name="Подзаголовок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z="1800" dirty="0" smtClean="0">
                <a:solidFill>
                  <a:srgbClr val="545353"/>
                </a:solidFill>
              </a:rPr>
              <a:t>Периметр анализа информации:</a:t>
            </a:r>
          </a:p>
          <a:p>
            <a:r>
              <a:rPr lang="ru-RU" sz="1800" dirty="0">
                <a:solidFill>
                  <a:srgbClr val="545353"/>
                </a:solidFill>
              </a:rPr>
              <a:t> </a:t>
            </a:r>
            <a:r>
              <a:rPr lang="ru-RU" sz="1800" dirty="0" smtClean="0">
                <a:solidFill>
                  <a:srgbClr val="545353"/>
                </a:solidFill>
              </a:rPr>
              <a:t>   </a:t>
            </a:r>
            <a:r>
              <a:rPr lang="en-US" sz="1800" dirty="0" smtClean="0">
                <a:solidFill>
                  <a:srgbClr val="545353"/>
                </a:solidFill>
              </a:rPr>
              <a:t>     </a:t>
            </a:r>
            <a:r>
              <a:rPr lang="ru-RU" sz="1800" dirty="0" smtClean="0">
                <a:solidFill>
                  <a:srgbClr val="545353"/>
                </a:solidFill>
              </a:rPr>
              <a:t> - Дирекция по добыче </a:t>
            </a:r>
          </a:p>
          <a:p>
            <a:r>
              <a:rPr lang="ru-RU" sz="1800" dirty="0" smtClean="0">
                <a:solidFill>
                  <a:srgbClr val="545353"/>
                </a:solidFill>
              </a:rPr>
              <a:t>     </a:t>
            </a:r>
            <a:r>
              <a:rPr lang="en-US" sz="1800" dirty="0" smtClean="0">
                <a:solidFill>
                  <a:srgbClr val="545353"/>
                </a:solidFill>
              </a:rPr>
              <a:t>     </a:t>
            </a:r>
            <a:r>
              <a:rPr lang="ru-RU" sz="1800" dirty="0" smtClean="0">
                <a:solidFill>
                  <a:srgbClr val="545353"/>
                </a:solidFill>
              </a:rPr>
              <a:t>- Дирекция крупных проектов </a:t>
            </a:r>
          </a:p>
          <a:p>
            <a:r>
              <a:rPr lang="ru-RU" sz="1800" dirty="0">
                <a:solidFill>
                  <a:srgbClr val="545353"/>
                </a:solidFill>
                <a:latin typeface="Arial" charset="0"/>
              </a:rPr>
              <a:t> </a:t>
            </a:r>
            <a:r>
              <a:rPr lang="ru-RU" sz="1800" dirty="0" smtClean="0">
                <a:solidFill>
                  <a:srgbClr val="545353"/>
                </a:solidFill>
                <a:latin typeface="Arial" charset="0"/>
              </a:rPr>
              <a:t>   </a:t>
            </a:r>
            <a:r>
              <a:rPr lang="en-US" sz="1800" dirty="0" smtClean="0">
                <a:solidFill>
                  <a:srgbClr val="545353"/>
                </a:solidFill>
                <a:latin typeface="Arial" charset="0"/>
              </a:rPr>
              <a:t>      </a:t>
            </a:r>
            <a:r>
              <a:rPr lang="ru-RU" sz="1800" dirty="0" smtClean="0">
                <a:solidFill>
                  <a:srgbClr val="545353"/>
                </a:solidFill>
                <a:latin typeface="Arial" charset="0"/>
              </a:rPr>
              <a:t>- Дирекция </a:t>
            </a:r>
            <a:r>
              <a:rPr lang="ru-RU" sz="1800" dirty="0">
                <a:solidFill>
                  <a:srgbClr val="545353"/>
                </a:solidFill>
                <a:latin typeface="Arial" charset="0"/>
              </a:rPr>
              <a:t>по </a:t>
            </a:r>
            <a:r>
              <a:rPr lang="ru-RU" sz="1800" dirty="0" smtClean="0">
                <a:solidFill>
                  <a:srgbClr val="545353"/>
                </a:solidFill>
                <a:latin typeface="Arial" charset="0"/>
              </a:rPr>
              <a:t>ГРР и РРБ </a:t>
            </a:r>
            <a:r>
              <a:rPr lang="ru-RU" sz="1800" dirty="0" smtClean="0">
                <a:solidFill>
                  <a:srgbClr val="545353"/>
                </a:solidFill>
              </a:rPr>
              <a:t> </a:t>
            </a:r>
          </a:p>
          <a:p>
            <a:r>
              <a:rPr lang="ru-RU" sz="1800" dirty="0">
                <a:solidFill>
                  <a:srgbClr val="545353"/>
                </a:solidFill>
              </a:rPr>
              <a:t> </a:t>
            </a:r>
            <a:r>
              <a:rPr lang="ru-RU" sz="1800" dirty="0" smtClean="0">
                <a:solidFill>
                  <a:srgbClr val="545353"/>
                </a:solidFill>
              </a:rPr>
              <a:t>   </a:t>
            </a:r>
            <a:r>
              <a:rPr lang="en-US" sz="1800" dirty="0" smtClean="0">
                <a:solidFill>
                  <a:srgbClr val="545353"/>
                </a:solidFill>
              </a:rPr>
              <a:t>     </a:t>
            </a:r>
            <a:r>
              <a:rPr lang="ru-RU" sz="1800" dirty="0" smtClean="0">
                <a:solidFill>
                  <a:srgbClr val="545353"/>
                </a:solidFill>
              </a:rPr>
              <a:t> - Совместные предприятия (НИС, СН-МНГ)</a:t>
            </a:r>
          </a:p>
        </p:txBody>
      </p:sp>
      <p:grpSp>
        <p:nvGrpSpPr>
          <p:cNvPr id="6" name="Группа 5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19315" y="4077072"/>
            <a:ext cx="480349" cy="531860"/>
            <a:chOff x="7051636" y="2029408"/>
            <a:chExt cx="561975" cy="571500"/>
          </a:xfrm>
        </p:grpSpPr>
        <p:grpSp>
          <p:nvGrpSpPr>
            <p:cNvPr id="7" name="Группа 6"/>
            <p:cNvGrpSpPr/>
            <p:nvPr/>
          </p:nvGrpSpPr>
          <p:grpSpPr>
            <a:xfrm>
              <a:off x="7051636" y="2029408"/>
              <a:ext cx="561975" cy="571500"/>
              <a:chOff x="7051636" y="2029408"/>
              <a:chExt cx="561975" cy="571500"/>
            </a:xfrm>
            <a:solidFill>
              <a:schemeClr val="accent2"/>
            </a:solidFill>
          </p:grpSpPr>
          <p:sp>
            <p:nvSpPr>
              <p:cNvPr id="9" name="Freeform 146"/>
              <p:cNvSpPr>
                <a:spLocks/>
              </p:cNvSpPr>
              <p:nvPr/>
            </p:nvSpPr>
            <p:spPr bwMode="auto">
              <a:xfrm>
                <a:off x="7051636" y="2248483"/>
                <a:ext cx="561975" cy="352425"/>
              </a:xfrm>
              <a:custGeom>
                <a:avLst/>
                <a:gdLst>
                  <a:gd name="T0" fmla="*/ 1522 w 1556"/>
                  <a:gd name="T1" fmla="*/ 444 h 977"/>
                  <a:gd name="T2" fmla="*/ 33 w 1556"/>
                  <a:gd name="T3" fmla="*/ 444 h 977"/>
                  <a:gd name="T4" fmla="*/ 0 w 1556"/>
                  <a:gd name="T5" fmla="*/ 478 h 977"/>
                  <a:gd name="T6" fmla="*/ 0 w 1556"/>
                  <a:gd name="T7" fmla="*/ 524 h 977"/>
                  <a:gd name="T8" fmla="*/ 33 w 1556"/>
                  <a:gd name="T9" fmla="*/ 558 h 977"/>
                  <a:gd name="T10" fmla="*/ 1522 w 1556"/>
                  <a:gd name="T11" fmla="*/ 558 h 977"/>
                  <a:gd name="T12" fmla="*/ 1556 w 1556"/>
                  <a:gd name="T13" fmla="*/ 524 h 977"/>
                  <a:gd name="T14" fmla="*/ 1556 w 1556"/>
                  <a:gd name="T15" fmla="*/ 478 h 977"/>
                  <a:gd name="T16" fmla="*/ 1522 w 1556"/>
                  <a:gd name="T17" fmla="*/ 44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6" h="977">
                    <a:moveTo>
                      <a:pt x="1522" y="444"/>
                    </a:moveTo>
                    <a:cubicBezTo>
                      <a:pt x="1031" y="444"/>
                      <a:pt x="391" y="444"/>
                      <a:pt x="33" y="444"/>
                    </a:cubicBezTo>
                    <a:cubicBezTo>
                      <a:pt x="15" y="444"/>
                      <a:pt x="0" y="459"/>
                      <a:pt x="0" y="478"/>
                    </a:cubicBezTo>
                    <a:cubicBezTo>
                      <a:pt x="0" y="977"/>
                      <a:pt x="0" y="0"/>
                      <a:pt x="0" y="524"/>
                    </a:cubicBezTo>
                    <a:cubicBezTo>
                      <a:pt x="0" y="543"/>
                      <a:pt x="15" y="558"/>
                      <a:pt x="33" y="558"/>
                    </a:cubicBezTo>
                    <a:cubicBezTo>
                      <a:pt x="560" y="558"/>
                      <a:pt x="1075" y="558"/>
                      <a:pt x="1522" y="558"/>
                    </a:cubicBezTo>
                    <a:cubicBezTo>
                      <a:pt x="1541" y="558"/>
                      <a:pt x="1556" y="543"/>
                      <a:pt x="1556" y="524"/>
                    </a:cubicBezTo>
                    <a:lnTo>
                      <a:pt x="1556" y="478"/>
                    </a:lnTo>
                    <a:cubicBezTo>
                      <a:pt x="1556" y="459"/>
                      <a:pt x="1541" y="444"/>
                      <a:pt x="1522" y="4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0" name="Oval 147"/>
              <p:cNvSpPr>
                <a:spLocks noChangeArrowheads="1"/>
              </p:cNvSpPr>
              <p:nvPr/>
            </p:nvSpPr>
            <p:spPr bwMode="auto">
              <a:xfrm>
                <a:off x="7167523" y="2029408"/>
                <a:ext cx="277813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1" name="Freeform 148"/>
              <p:cNvSpPr>
                <a:spLocks/>
              </p:cNvSpPr>
              <p:nvPr/>
            </p:nvSpPr>
            <p:spPr bwMode="auto">
              <a:xfrm>
                <a:off x="7167523" y="2237370"/>
                <a:ext cx="169863" cy="109538"/>
              </a:xfrm>
              <a:custGeom>
                <a:avLst/>
                <a:gdLst>
                  <a:gd name="T0" fmla="*/ 473 w 473"/>
                  <a:gd name="T1" fmla="*/ 226 h 302"/>
                  <a:gd name="T2" fmla="*/ 421 w 473"/>
                  <a:gd name="T3" fmla="*/ 170 h 302"/>
                  <a:gd name="T4" fmla="*/ 384 w 473"/>
                  <a:gd name="T5" fmla="*/ 171 h 302"/>
                  <a:gd name="T6" fmla="*/ 0 w 473"/>
                  <a:gd name="T7" fmla="*/ 0 h 302"/>
                  <a:gd name="T8" fmla="*/ 0 w 473"/>
                  <a:gd name="T9" fmla="*/ 131 h 302"/>
                  <a:gd name="T10" fmla="*/ 384 w 473"/>
                  <a:gd name="T11" fmla="*/ 302 h 302"/>
                  <a:gd name="T12" fmla="*/ 473 w 473"/>
                  <a:gd name="T13" fmla="*/ 297 h 302"/>
                  <a:gd name="T14" fmla="*/ 473 w 473"/>
                  <a:gd name="T15" fmla="*/ 226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3" h="302">
                    <a:moveTo>
                      <a:pt x="473" y="226"/>
                    </a:moveTo>
                    <a:cubicBezTo>
                      <a:pt x="446" y="219"/>
                      <a:pt x="426" y="197"/>
                      <a:pt x="421" y="170"/>
                    </a:cubicBezTo>
                    <a:cubicBezTo>
                      <a:pt x="409" y="171"/>
                      <a:pt x="3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ubicBezTo>
                      <a:pt x="415" y="302"/>
                      <a:pt x="444" y="300"/>
                      <a:pt x="473" y="297"/>
                    </a:cubicBezTo>
                    <a:cubicBezTo>
                      <a:pt x="461" y="275"/>
                      <a:pt x="460" y="248"/>
                      <a:pt x="473" y="2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2" name="Freeform 149"/>
              <p:cNvSpPr>
                <a:spLocks/>
              </p:cNvSpPr>
              <p:nvPr/>
            </p:nvSpPr>
            <p:spPr bwMode="auto">
              <a:xfrm>
                <a:off x="7167523" y="2172283"/>
                <a:ext cx="171450" cy="109538"/>
              </a:xfrm>
              <a:custGeom>
                <a:avLst/>
                <a:gdLst>
                  <a:gd name="T0" fmla="*/ 384 w 474"/>
                  <a:gd name="T1" fmla="*/ 302 h 302"/>
                  <a:gd name="T2" fmla="*/ 420 w 474"/>
                  <a:gd name="T3" fmla="*/ 301 h 302"/>
                  <a:gd name="T4" fmla="*/ 420 w 474"/>
                  <a:gd name="T5" fmla="*/ 281 h 302"/>
                  <a:gd name="T6" fmla="*/ 474 w 474"/>
                  <a:gd name="T7" fmla="*/ 213 h 302"/>
                  <a:gd name="T8" fmla="*/ 464 w 474"/>
                  <a:gd name="T9" fmla="*/ 167 h 302"/>
                  <a:gd name="T10" fmla="*/ 384 w 474"/>
                  <a:gd name="T11" fmla="*/ 171 h 302"/>
                  <a:gd name="T12" fmla="*/ 0 w 474"/>
                  <a:gd name="T13" fmla="*/ 0 h 302"/>
                  <a:gd name="T14" fmla="*/ 0 w 474"/>
                  <a:gd name="T15" fmla="*/ 131 h 302"/>
                  <a:gd name="T16" fmla="*/ 384 w 474"/>
                  <a:gd name="T1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4" h="302">
                    <a:moveTo>
                      <a:pt x="384" y="302"/>
                    </a:moveTo>
                    <a:cubicBezTo>
                      <a:pt x="396" y="302"/>
                      <a:pt x="408" y="302"/>
                      <a:pt x="420" y="301"/>
                    </a:cubicBezTo>
                    <a:lnTo>
                      <a:pt x="420" y="281"/>
                    </a:lnTo>
                    <a:cubicBezTo>
                      <a:pt x="420" y="249"/>
                      <a:pt x="442" y="220"/>
                      <a:pt x="474" y="213"/>
                    </a:cubicBezTo>
                    <a:cubicBezTo>
                      <a:pt x="465" y="199"/>
                      <a:pt x="463" y="183"/>
                      <a:pt x="464" y="167"/>
                    </a:cubicBezTo>
                    <a:cubicBezTo>
                      <a:pt x="439" y="170"/>
                      <a:pt x="412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3" name="Freeform 150"/>
              <p:cNvSpPr>
                <a:spLocks/>
              </p:cNvSpPr>
              <p:nvPr/>
            </p:nvSpPr>
            <p:spPr bwMode="auto">
              <a:xfrm>
                <a:off x="7167523" y="2108783"/>
                <a:ext cx="277813" cy="109538"/>
              </a:xfrm>
              <a:custGeom>
                <a:avLst/>
                <a:gdLst>
                  <a:gd name="T0" fmla="*/ 384 w 769"/>
                  <a:gd name="T1" fmla="*/ 302 h 302"/>
                  <a:gd name="T2" fmla="*/ 494 w 769"/>
                  <a:gd name="T3" fmla="*/ 295 h 302"/>
                  <a:gd name="T4" fmla="*/ 522 w 769"/>
                  <a:gd name="T5" fmla="*/ 266 h 302"/>
                  <a:gd name="T6" fmla="*/ 573 w 769"/>
                  <a:gd name="T7" fmla="*/ 245 h 302"/>
                  <a:gd name="T8" fmla="*/ 609 w 769"/>
                  <a:gd name="T9" fmla="*/ 255 h 302"/>
                  <a:gd name="T10" fmla="*/ 677 w 769"/>
                  <a:gd name="T11" fmla="*/ 202 h 302"/>
                  <a:gd name="T12" fmla="*/ 731 w 769"/>
                  <a:gd name="T13" fmla="*/ 202 h 302"/>
                  <a:gd name="T14" fmla="*/ 734 w 769"/>
                  <a:gd name="T15" fmla="*/ 202 h 302"/>
                  <a:gd name="T16" fmla="*/ 769 w 769"/>
                  <a:gd name="T17" fmla="*/ 131 h 302"/>
                  <a:gd name="T18" fmla="*/ 769 w 769"/>
                  <a:gd name="T19" fmla="*/ 0 h 302"/>
                  <a:gd name="T20" fmla="*/ 384 w 769"/>
                  <a:gd name="T21" fmla="*/ 171 h 302"/>
                  <a:gd name="T22" fmla="*/ 0 w 769"/>
                  <a:gd name="T23" fmla="*/ 0 h 302"/>
                  <a:gd name="T24" fmla="*/ 0 w 769"/>
                  <a:gd name="T25" fmla="*/ 131 h 302"/>
                  <a:gd name="T26" fmla="*/ 384 w 769"/>
                  <a:gd name="T2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9" h="302">
                    <a:moveTo>
                      <a:pt x="384" y="302"/>
                    </a:moveTo>
                    <a:cubicBezTo>
                      <a:pt x="422" y="302"/>
                      <a:pt x="459" y="299"/>
                      <a:pt x="494" y="295"/>
                    </a:cubicBezTo>
                    <a:lnTo>
                      <a:pt x="522" y="266"/>
                    </a:lnTo>
                    <a:cubicBezTo>
                      <a:pt x="536" y="252"/>
                      <a:pt x="554" y="245"/>
                      <a:pt x="573" y="245"/>
                    </a:cubicBezTo>
                    <a:cubicBezTo>
                      <a:pt x="585" y="245"/>
                      <a:pt x="598" y="249"/>
                      <a:pt x="609" y="255"/>
                    </a:cubicBezTo>
                    <a:cubicBezTo>
                      <a:pt x="617" y="224"/>
                      <a:pt x="645" y="202"/>
                      <a:pt x="677" y="202"/>
                    </a:cubicBezTo>
                    <a:lnTo>
                      <a:pt x="731" y="202"/>
                    </a:lnTo>
                    <a:cubicBezTo>
                      <a:pt x="732" y="202"/>
                      <a:pt x="733" y="202"/>
                      <a:pt x="734" y="202"/>
                    </a:cubicBezTo>
                    <a:cubicBezTo>
                      <a:pt x="756" y="180"/>
                      <a:pt x="769" y="156"/>
                      <a:pt x="769" y="131"/>
                    </a:cubicBezTo>
                    <a:lnTo>
                      <a:pt x="769" y="0"/>
                    </a:lnTo>
                    <a:cubicBezTo>
                      <a:pt x="769" y="94"/>
                      <a:pt x="5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sp>
          <p:nvSpPr>
            <p:cNvPr id="8" name="Freeform 151"/>
            <p:cNvSpPr>
              <a:spLocks noEditPoints="1"/>
            </p:cNvSpPr>
            <p:nvPr/>
          </p:nvSpPr>
          <p:spPr bwMode="auto">
            <a:xfrm>
              <a:off x="7343736" y="2207208"/>
              <a:ext cx="153988" cy="153988"/>
            </a:xfrm>
            <a:custGeom>
              <a:avLst/>
              <a:gdLst>
                <a:gd name="T0" fmla="*/ 427 w 427"/>
                <a:gd name="T1" fmla="*/ 240 h 427"/>
                <a:gd name="T2" fmla="*/ 427 w 427"/>
                <a:gd name="T3" fmla="*/ 186 h 427"/>
                <a:gd name="T4" fmla="*/ 363 w 427"/>
                <a:gd name="T5" fmla="*/ 176 h 427"/>
                <a:gd name="T6" fmla="*/ 346 w 427"/>
                <a:gd name="T7" fmla="*/ 134 h 427"/>
                <a:gd name="T8" fmla="*/ 383 w 427"/>
                <a:gd name="T9" fmla="*/ 81 h 427"/>
                <a:gd name="T10" fmla="*/ 345 w 427"/>
                <a:gd name="T11" fmla="*/ 44 h 427"/>
                <a:gd name="T12" fmla="*/ 293 w 427"/>
                <a:gd name="T13" fmla="*/ 81 h 427"/>
                <a:gd name="T14" fmla="*/ 251 w 427"/>
                <a:gd name="T15" fmla="*/ 63 h 427"/>
                <a:gd name="T16" fmla="*/ 240 w 427"/>
                <a:gd name="T17" fmla="*/ 0 h 427"/>
                <a:gd name="T18" fmla="*/ 186 w 427"/>
                <a:gd name="T19" fmla="*/ 0 h 427"/>
                <a:gd name="T20" fmla="*/ 176 w 427"/>
                <a:gd name="T21" fmla="*/ 63 h 427"/>
                <a:gd name="T22" fmla="*/ 134 w 427"/>
                <a:gd name="T23" fmla="*/ 81 h 427"/>
                <a:gd name="T24" fmla="*/ 82 w 427"/>
                <a:gd name="T25" fmla="*/ 44 h 427"/>
                <a:gd name="T26" fmla="*/ 44 w 427"/>
                <a:gd name="T27" fmla="*/ 81 h 427"/>
                <a:gd name="T28" fmla="*/ 80 w 427"/>
                <a:gd name="T29" fmla="*/ 133 h 427"/>
                <a:gd name="T30" fmla="*/ 63 w 427"/>
                <a:gd name="T31" fmla="*/ 176 h 427"/>
                <a:gd name="T32" fmla="*/ 0 w 427"/>
                <a:gd name="T33" fmla="*/ 186 h 427"/>
                <a:gd name="T34" fmla="*/ 0 w 427"/>
                <a:gd name="T35" fmla="*/ 240 h 427"/>
                <a:gd name="T36" fmla="*/ 63 w 427"/>
                <a:gd name="T37" fmla="*/ 251 h 427"/>
                <a:gd name="T38" fmla="*/ 80 w 427"/>
                <a:gd name="T39" fmla="*/ 294 h 427"/>
                <a:gd name="T40" fmla="*/ 43 w 427"/>
                <a:gd name="T41" fmla="*/ 345 h 427"/>
                <a:gd name="T42" fmla="*/ 81 w 427"/>
                <a:gd name="T43" fmla="*/ 383 h 427"/>
                <a:gd name="T44" fmla="*/ 133 w 427"/>
                <a:gd name="T45" fmla="*/ 346 h 427"/>
                <a:gd name="T46" fmla="*/ 176 w 427"/>
                <a:gd name="T47" fmla="*/ 364 h 427"/>
                <a:gd name="T48" fmla="*/ 186 w 427"/>
                <a:gd name="T49" fmla="*/ 427 h 427"/>
                <a:gd name="T50" fmla="*/ 240 w 427"/>
                <a:gd name="T51" fmla="*/ 427 h 427"/>
                <a:gd name="T52" fmla="*/ 251 w 427"/>
                <a:gd name="T53" fmla="*/ 364 h 427"/>
                <a:gd name="T54" fmla="*/ 293 w 427"/>
                <a:gd name="T55" fmla="*/ 346 h 427"/>
                <a:gd name="T56" fmla="*/ 346 w 427"/>
                <a:gd name="T57" fmla="*/ 383 h 427"/>
                <a:gd name="T58" fmla="*/ 384 w 427"/>
                <a:gd name="T59" fmla="*/ 345 h 427"/>
                <a:gd name="T60" fmla="*/ 346 w 427"/>
                <a:gd name="T61" fmla="*/ 293 h 427"/>
                <a:gd name="T62" fmla="*/ 363 w 427"/>
                <a:gd name="T63" fmla="*/ 251 h 427"/>
                <a:gd name="T64" fmla="*/ 427 w 427"/>
                <a:gd name="T65" fmla="*/ 240 h 427"/>
                <a:gd name="T66" fmla="*/ 214 w 427"/>
                <a:gd name="T67" fmla="*/ 288 h 427"/>
                <a:gd name="T68" fmla="*/ 139 w 427"/>
                <a:gd name="T69" fmla="*/ 214 h 427"/>
                <a:gd name="T70" fmla="*/ 214 w 427"/>
                <a:gd name="T71" fmla="*/ 139 h 427"/>
                <a:gd name="T72" fmla="*/ 288 w 427"/>
                <a:gd name="T73" fmla="*/ 214 h 427"/>
                <a:gd name="T74" fmla="*/ 214 w 427"/>
                <a:gd name="T75" fmla="*/ 28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7" h="427">
                  <a:moveTo>
                    <a:pt x="427" y="240"/>
                  </a:moveTo>
                  <a:lnTo>
                    <a:pt x="427" y="186"/>
                  </a:lnTo>
                  <a:lnTo>
                    <a:pt x="363" y="176"/>
                  </a:lnTo>
                  <a:cubicBezTo>
                    <a:pt x="360" y="161"/>
                    <a:pt x="354" y="147"/>
                    <a:pt x="346" y="134"/>
                  </a:cubicBezTo>
                  <a:lnTo>
                    <a:pt x="383" y="81"/>
                  </a:lnTo>
                  <a:lnTo>
                    <a:pt x="345" y="44"/>
                  </a:lnTo>
                  <a:lnTo>
                    <a:pt x="293" y="81"/>
                  </a:lnTo>
                  <a:cubicBezTo>
                    <a:pt x="280" y="73"/>
                    <a:pt x="266" y="67"/>
                    <a:pt x="251" y="63"/>
                  </a:cubicBezTo>
                  <a:lnTo>
                    <a:pt x="240" y="0"/>
                  </a:lnTo>
                  <a:lnTo>
                    <a:pt x="186" y="0"/>
                  </a:lnTo>
                  <a:lnTo>
                    <a:pt x="176" y="63"/>
                  </a:lnTo>
                  <a:cubicBezTo>
                    <a:pt x="161" y="67"/>
                    <a:pt x="147" y="73"/>
                    <a:pt x="134" y="81"/>
                  </a:cubicBezTo>
                  <a:lnTo>
                    <a:pt x="82" y="44"/>
                  </a:lnTo>
                  <a:lnTo>
                    <a:pt x="44" y="81"/>
                  </a:lnTo>
                  <a:lnTo>
                    <a:pt x="80" y="133"/>
                  </a:lnTo>
                  <a:cubicBezTo>
                    <a:pt x="73" y="147"/>
                    <a:pt x="67" y="161"/>
                    <a:pt x="63" y="176"/>
                  </a:cubicBezTo>
                  <a:lnTo>
                    <a:pt x="0" y="186"/>
                  </a:lnTo>
                  <a:lnTo>
                    <a:pt x="0" y="240"/>
                  </a:lnTo>
                  <a:lnTo>
                    <a:pt x="63" y="251"/>
                  </a:lnTo>
                  <a:cubicBezTo>
                    <a:pt x="67" y="266"/>
                    <a:pt x="72" y="280"/>
                    <a:pt x="80" y="294"/>
                  </a:cubicBezTo>
                  <a:lnTo>
                    <a:pt x="43" y="345"/>
                  </a:lnTo>
                  <a:lnTo>
                    <a:pt x="81" y="383"/>
                  </a:lnTo>
                  <a:lnTo>
                    <a:pt x="133" y="346"/>
                  </a:lnTo>
                  <a:cubicBezTo>
                    <a:pt x="147" y="354"/>
                    <a:pt x="161" y="360"/>
                    <a:pt x="176" y="364"/>
                  </a:cubicBezTo>
                  <a:lnTo>
                    <a:pt x="186" y="427"/>
                  </a:lnTo>
                  <a:lnTo>
                    <a:pt x="240" y="427"/>
                  </a:lnTo>
                  <a:lnTo>
                    <a:pt x="251" y="364"/>
                  </a:lnTo>
                  <a:cubicBezTo>
                    <a:pt x="266" y="360"/>
                    <a:pt x="280" y="354"/>
                    <a:pt x="293" y="346"/>
                  </a:cubicBezTo>
                  <a:lnTo>
                    <a:pt x="346" y="383"/>
                  </a:lnTo>
                  <a:lnTo>
                    <a:pt x="384" y="345"/>
                  </a:lnTo>
                  <a:lnTo>
                    <a:pt x="346" y="293"/>
                  </a:lnTo>
                  <a:cubicBezTo>
                    <a:pt x="354" y="280"/>
                    <a:pt x="360" y="266"/>
                    <a:pt x="363" y="251"/>
                  </a:cubicBezTo>
                  <a:lnTo>
                    <a:pt x="427" y="240"/>
                  </a:lnTo>
                  <a:close/>
                  <a:moveTo>
                    <a:pt x="214" y="288"/>
                  </a:moveTo>
                  <a:cubicBezTo>
                    <a:pt x="173" y="288"/>
                    <a:pt x="139" y="255"/>
                    <a:pt x="139" y="214"/>
                  </a:cubicBezTo>
                  <a:cubicBezTo>
                    <a:pt x="139" y="173"/>
                    <a:pt x="173" y="139"/>
                    <a:pt x="214" y="139"/>
                  </a:cubicBezTo>
                  <a:cubicBezTo>
                    <a:pt x="255" y="139"/>
                    <a:pt x="288" y="173"/>
                    <a:pt x="288" y="214"/>
                  </a:cubicBezTo>
                  <a:cubicBezTo>
                    <a:pt x="288" y="255"/>
                    <a:pt x="255" y="288"/>
                    <a:pt x="214" y="288"/>
                  </a:cubicBez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4" name="Группа 13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81135" y="4545124"/>
            <a:ext cx="367563" cy="356445"/>
            <a:chOff x="2154187" y="4126930"/>
            <a:chExt cx="1284385" cy="1291432"/>
          </a:xfrm>
        </p:grpSpPr>
        <p:sp>
          <p:nvSpPr>
            <p:cNvPr id="15" name="Овал 14"/>
            <p:cNvSpPr/>
            <p:nvPr/>
          </p:nvSpPr>
          <p:spPr>
            <a:xfrm>
              <a:off x="2297779" y="4274046"/>
              <a:ext cx="997200" cy="997200"/>
            </a:xfrm>
            <a:prstGeom prst="ellipse">
              <a:avLst/>
            </a:prstGeom>
            <a:solidFill>
              <a:srgbClr val="E6E6E6"/>
            </a:solidFill>
            <a:ln w="7938" cap="flat">
              <a:solidFill>
                <a:srgbClr val="FEFEF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16" name="Группа 15"/>
            <p:cNvGrpSpPr/>
            <p:nvPr/>
          </p:nvGrpSpPr>
          <p:grpSpPr>
            <a:xfrm>
              <a:off x="2154187" y="4126930"/>
              <a:ext cx="1284385" cy="1291432"/>
              <a:chOff x="2182018" y="4039169"/>
              <a:chExt cx="1284385" cy="1291432"/>
            </a:xfrm>
            <a:solidFill>
              <a:schemeClr val="accent2"/>
            </a:solidFill>
          </p:grpSpPr>
          <p:sp>
            <p:nvSpPr>
              <p:cNvPr id="23" name="Freeform 8"/>
              <p:cNvSpPr>
                <a:spLocks noEditPoints="1"/>
              </p:cNvSpPr>
              <p:nvPr/>
            </p:nvSpPr>
            <p:spPr bwMode="auto">
              <a:xfrm>
                <a:off x="2819806" y="4398585"/>
                <a:ext cx="646597" cy="932016"/>
              </a:xfrm>
              <a:custGeom>
                <a:avLst/>
                <a:gdLst>
                  <a:gd name="T0" fmla="*/ 0 w 1609"/>
                  <a:gd name="T1" fmla="*/ 2187 h 2327"/>
                  <a:gd name="T2" fmla="*/ 0 w 1609"/>
                  <a:gd name="T3" fmla="*/ 2187 h 2327"/>
                  <a:gd name="T4" fmla="*/ 31 w 1609"/>
                  <a:gd name="T5" fmla="*/ 2327 h 2327"/>
                  <a:gd name="T6" fmla="*/ 165 w 1609"/>
                  <a:gd name="T7" fmla="*/ 2319 h 2327"/>
                  <a:gd name="T8" fmla="*/ 295 w 1609"/>
                  <a:gd name="T9" fmla="*/ 2300 h 2327"/>
                  <a:gd name="T10" fmla="*/ 422 w 1609"/>
                  <a:gd name="T11" fmla="*/ 2271 h 2327"/>
                  <a:gd name="T12" fmla="*/ 545 w 1609"/>
                  <a:gd name="T13" fmla="*/ 2233 h 2327"/>
                  <a:gd name="T14" fmla="*/ 450 w 1609"/>
                  <a:gd name="T15" fmla="*/ 1969 h 2327"/>
                  <a:gd name="T16" fmla="*/ 349 w 1609"/>
                  <a:gd name="T17" fmla="*/ 2001 h 2327"/>
                  <a:gd name="T18" fmla="*/ 244 w 1609"/>
                  <a:gd name="T19" fmla="*/ 2025 h 2327"/>
                  <a:gd name="T20" fmla="*/ 136 w 1609"/>
                  <a:gd name="T21" fmla="*/ 2040 h 2327"/>
                  <a:gd name="T22" fmla="*/ 26 w 1609"/>
                  <a:gd name="T23" fmla="*/ 2047 h 2327"/>
                  <a:gd name="T24" fmla="*/ 1454 w 1609"/>
                  <a:gd name="T25" fmla="*/ 21 h 2327"/>
                  <a:gd name="T26" fmla="*/ 1470 w 1609"/>
                  <a:gd name="T27" fmla="*/ 55 h 2327"/>
                  <a:gd name="T28" fmla="*/ 1485 w 1609"/>
                  <a:gd name="T29" fmla="*/ 90 h 2327"/>
                  <a:gd name="T30" fmla="*/ 1499 w 1609"/>
                  <a:gd name="T31" fmla="*/ 125 h 2327"/>
                  <a:gd name="T32" fmla="*/ 1512 w 1609"/>
                  <a:gd name="T33" fmla="*/ 160 h 2327"/>
                  <a:gd name="T34" fmla="*/ 1525 w 1609"/>
                  <a:gd name="T35" fmla="*/ 196 h 2327"/>
                  <a:gd name="T36" fmla="*/ 1537 w 1609"/>
                  <a:gd name="T37" fmla="*/ 231 h 2327"/>
                  <a:gd name="T38" fmla="*/ 1548 w 1609"/>
                  <a:gd name="T39" fmla="*/ 267 h 2327"/>
                  <a:gd name="T40" fmla="*/ 1558 w 1609"/>
                  <a:gd name="T41" fmla="*/ 303 h 2327"/>
                  <a:gd name="T42" fmla="*/ 1567 w 1609"/>
                  <a:gd name="T43" fmla="*/ 340 h 2327"/>
                  <a:gd name="T44" fmla="*/ 1575 w 1609"/>
                  <a:gd name="T45" fmla="*/ 377 h 2327"/>
                  <a:gd name="T46" fmla="*/ 1583 w 1609"/>
                  <a:gd name="T47" fmla="*/ 414 h 2327"/>
                  <a:gd name="T48" fmla="*/ 1589 w 1609"/>
                  <a:gd name="T49" fmla="*/ 450 h 2327"/>
                  <a:gd name="T50" fmla="*/ 1595 w 1609"/>
                  <a:gd name="T51" fmla="*/ 488 h 2327"/>
                  <a:gd name="T52" fmla="*/ 1314 w 1609"/>
                  <a:gd name="T53" fmla="*/ 504 h 2327"/>
                  <a:gd name="T54" fmla="*/ 1309 w 1609"/>
                  <a:gd name="T55" fmla="*/ 473 h 2327"/>
                  <a:gd name="T56" fmla="*/ 1303 w 1609"/>
                  <a:gd name="T57" fmla="*/ 443 h 2327"/>
                  <a:gd name="T58" fmla="*/ 1296 w 1609"/>
                  <a:gd name="T59" fmla="*/ 412 h 2327"/>
                  <a:gd name="T60" fmla="*/ 1289 w 1609"/>
                  <a:gd name="T61" fmla="*/ 382 h 2327"/>
                  <a:gd name="T62" fmla="*/ 1281 w 1609"/>
                  <a:gd name="T63" fmla="*/ 352 h 2327"/>
                  <a:gd name="T64" fmla="*/ 1272 w 1609"/>
                  <a:gd name="T65" fmla="*/ 322 h 2327"/>
                  <a:gd name="T66" fmla="*/ 1262 w 1609"/>
                  <a:gd name="T67" fmla="*/ 293 h 2327"/>
                  <a:gd name="T68" fmla="*/ 1252 w 1609"/>
                  <a:gd name="T69" fmla="*/ 263 h 2327"/>
                  <a:gd name="T70" fmla="*/ 1241 w 1609"/>
                  <a:gd name="T71" fmla="*/ 234 h 2327"/>
                  <a:gd name="T72" fmla="*/ 1229 w 1609"/>
                  <a:gd name="T73" fmla="*/ 205 h 2327"/>
                  <a:gd name="T74" fmla="*/ 1217 w 1609"/>
                  <a:gd name="T75" fmla="*/ 177 h 2327"/>
                  <a:gd name="T76" fmla="*/ 1204 w 1609"/>
                  <a:gd name="T77" fmla="*/ 148 h 2327"/>
                  <a:gd name="T78" fmla="*/ 1609 w 1609"/>
                  <a:gd name="T79" fmla="*/ 794 h 2327"/>
                  <a:gd name="T80" fmla="*/ 1598 w 1609"/>
                  <a:gd name="T81" fmla="*/ 921 h 2327"/>
                  <a:gd name="T82" fmla="*/ 1577 w 1609"/>
                  <a:gd name="T83" fmla="*/ 1050 h 2327"/>
                  <a:gd name="T84" fmla="*/ 1545 w 1609"/>
                  <a:gd name="T85" fmla="*/ 1176 h 2327"/>
                  <a:gd name="T86" fmla="*/ 1503 w 1609"/>
                  <a:gd name="T87" fmla="*/ 1298 h 2327"/>
                  <a:gd name="T88" fmla="*/ 1217 w 1609"/>
                  <a:gd name="T89" fmla="*/ 1256 h 2327"/>
                  <a:gd name="T90" fmla="*/ 1256 w 1609"/>
                  <a:gd name="T91" fmla="*/ 1158 h 2327"/>
                  <a:gd name="T92" fmla="*/ 1287 w 1609"/>
                  <a:gd name="T93" fmla="*/ 1057 h 2327"/>
                  <a:gd name="T94" fmla="*/ 1311 w 1609"/>
                  <a:gd name="T95" fmla="*/ 952 h 2327"/>
                  <a:gd name="T96" fmla="*/ 1325 w 1609"/>
                  <a:gd name="T97" fmla="*/ 844 h 2327"/>
                  <a:gd name="T98" fmla="*/ 1297 w 1609"/>
                  <a:gd name="T99" fmla="*/ 1672 h 2327"/>
                  <a:gd name="T100" fmla="*/ 1218 w 1609"/>
                  <a:gd name="T101" fmla="*/ 1770 h 2327"/>
                  <a:gd name="T102" fmla="*/ 1133 w 1609"/>
                  <a:gd name="T103" fmla="*/ 1862 h 2327"/>
                  <a:gd name="T104" fmla="*/ 1040 w 1609"/>
                  <a:gd name="T105" fmla="*/ 1947 h 2327"/>
                  <a:gd name="T106" fmla="*/ 941 w 1609"/>
                  <a:gd name="T107" fmla="*/ 2024 h 2327"/>
                  <a:gd name="T108" fmla="*/ 738 w 1609"/>
                  <a:gd name="T109" fmla="*/ 1824 h 2327"/>
                  <a:gd name="T110" fmla="*/ 822 w 1609"/>
                  <a:gd name="T111" fmla="*/ 1763 h 2327"/>
                  <a:gd name="T112" fmla="*/ 901 w 1609"/>
                  <a:gd name="T113" fmla="*/ 1696 h 2327"/>
                  <a:gd name="T114" fmla="*/ 975 w 1609"/>
                  <a:gd name="T115" fmla="*/ 1623 h 2327"/>
                  <a:gd name="T116" fmla="*/ 1043 w 1609"/>
                  <a:gd name="T117" fmla="*/ 1544 h 2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09" h="2327">
                    <a:moveTo>
                      <a:pt x="0" y="2047"/>
                    </a:move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327"/>
                    </a:lnTo>
                    <a:lnTo>
                      <a:pt x="11" y="2327"/>
                    </a:lnTo>
                    <a:lnTo>
                      <a:pt x="21" y="2327"/>
                    </a:lnTo>
                    <a:lnTo>
                      <a:pt x="31" y="2327"/>
                    </a:lnTo>
                    <a:lnTo>
                      <a:pt x="42" y="2327"/>
                    </a:lnTo>
                    <a:lnTo>
                      <a:pt x="52" y="2326"/>
                    </a:lnTo>
                    <a:lnTo>
                      <a:pt x="62" y="2326"/>
                    </a:lnTo>
                    <a:lnTo>
                      <a:pt x="73" y="2326"/>
                    </a:lnTo>
                    <a:lnTo>
                      <a:pt x="83" y="2325"/>
                    </a:lnTo>
                    <a:lnTo>
                      <a:pt x="93" y="2325"/>
                    </a:lnTo>
                    <a:lnTo>
                      <a:pt x="104" y="2324"/>
                    </a:lnTo>
                    <a:lnTo>
                      <a:pt x="114" y="2323"/>
                    </a:lnTo>
                    <a:lnTo>
                      <a:pt x="124" y="2322"/>
                    </a:lnTo>
                    <a:lnTo>
                      <a:pt x="134" y="2322"/>
                    </a:lnTo>
                    <a:lnTo>
                      <a:pt x="144" y="2321"/>
                    </a:lnTo>
                    <a:lnTo>
                      <a:pt x="155" y="2320"/>
                    </a:lnTo>
                    <a:lnTo>
                      <a:pt x="165" y="2319"/>
                    </a:lnTo>
                    <a:lnTo>
                      <a:pt x="175" y="2318"/>
                    </a:lnTo>
                    <a:lnTo>
                      <a:pt x="185" y="2317"/>
                    </a:lnTo>
                    <a:lnTo>
                      <a:pt x="195" y="2315"/>
                    </a:lnTo>
                    <a:lnTo>
                      <a:pt x="205" y="2314"/>
                    </a:lnTo>
                    <a:lnTo>
                      <a:pt x="215" y="2313"/>
                    </a:lnTo>
                    <a:lnTo>
                      <a:pt x="225" y="2312"/>
                    </a:lnTo>
                    <a:lnTo>
                      <a:pt x="235" y="2310"/>
                    </a:lnTo>
                    <a:lnTo>
                      <a:pt x="245" y="2309"/>
                    </a:lnTo>
                    <a:lnTo>
                      <a:pt x="255" y="2307"/>
                    </a:lnTo>
                    <a:lnTo>
                      <a:pt x="265" y="2305"/>
                    </a:lnTo>
                    <a:lnTo>
                      <a:pt x="275" y="2304"/>
                    </a:lnTo>
                    <a:lnTo>
                      <a:pt x="285" y="2302"/>
                    </a:lnTo>
                    <a:lnTo>
                      <a:pt x="295" y="2300"/>
                    </a:lnTo>
                    <a:lnTo>
                      <a:pt x="305" y="2298"/>
                    </a:lnTo>
                    <a:lnTo>
                      <a:pt x="315" y="2296"/>
                    </a:lnTo>
                    <a:lnTo>
                      <a:pt x="325" y="2294"/>
                    </a:lnTo>
                    <a:lnTo>
                      <a:pt x="335" y="2292"/>
                    </a:lnTo>
                    <a:lnTo>
                      <a:pt x="344" y="2290"/>
                    </a:lnTo>
                    <a:lnTo>
                      <a:pt x="354" y="2288"/>
                    </a:lnTo>
                    <a:lnTo>
                      <a:pt x="364" y="2286"/>
                    </a:lnTo>
                    <a:lnTo>
                      <a:pt x="374" y="2284"/>
                    </a:lnTo>
                    <a:lnTo>
                      <a:pt x="383" y="2281"/>
                    </a:lnTo>
                    <a:lnTo>
                      <a:pt x="393" y="2279"/>
                    </a:lnTo>
                    <a:lnTo>
                      <a:pt x="403" y="2276"/>
                    </a:lnTo>
                    <a:lnTo>
                      <a:pt x="412" y="2274"/>
                    </a:lnTo>
                    <a:lnTo>
                      <a:pt x="422" y="2271"/>
                    </a:lnTo>
                    <a:lnTo>
                      <a:pt x="432" y="2269"/>
                    </a:lnTo>
                    <a:lnTo>
                      <a:pt x="441" y="2266"/>
                    </a:lnTo>
                    <a:lnTo>
                      <a:pt x="451" y="2263"/>
                    </a:lnTo>
                    <a:lnTo>
                      <a:pt x="460" y="2260"/>
                    </a:lnTo>
                    <a:lnTo>
                      <a:pt x="470" y="2258"/>
                    </a:lnTo>
                    <a:lnTo>
                      <a:pt x="479" y="2255"/>
                    </a:lnTo>
                    <a:lnTo>
                      <a:pt x="489" y="2252"/>
                    </a:lnTo>
                    <a:lnTo>
                      <a:pt x="498" y="2249"/>
                    </a:lnTo>
                    <a:lnTo>
                      <a:pt x="508" y="2246"/>
                    </a:lnTo>
                    <a:lnTo>
                      <a:pt x="517" y="2242"/>
                    </a:lnTo>
                    <a:lnTo>
                      <a:pt x="526" y="2239"/>
                    </a:lnTo>
                    <a:lnTo>
                      <a:pt x="536" y="2236"/>
                    </a:lnTo>
                    <a:lnTo>
                      <a:pt x="545" y="2233"/>
                    </a:lnTo>
                    <a:lnTo>
                      <a:pt x="554" y="2229"/>
                    </a:lnTo>
                    <a:lnTo>
                      <a:pt x="563" y="2226"/>
                    </a:lnTo>
                    <a:lnTo>
                      <a:pt x="573" y="2222"/>
                    </a:lnTo>
                    <a:lnTo>
                      <a:pt x="582" y="2219"/>
                    </a:lnTo>
                    <a:lnTo>
                      <a:pt x="591" y="2215"/>
                    </a:lnTo>
                    <a:lnTo>
                      <a:pt x="598" y="2212"/>
                    </a:lnTo>
                    <a:lnTo>
                      <a:pt x="496" y="1952"/>
                    </a:lnTo>
                    <a:lnTo>
                      <a:pt x="488" y="1955"/>
                    </a:lnTo>
                    <a:lnTo>
                      <a:pt x="481" y="1958"/>
                    </a:lnTo>
                    <a:lnTo>
                      <a:pt x="473" y="1961"/>
                    </a:lnTo>
                    <a:lnTo>
                      <a:pt x="466" y="1964"/>
                    </a:lnTo>
                    <a:lnTo>
                      <a:pt x="458" y="1966"/>
                    </a:lnTo>
                    <a:lnTo>
                      <a:pt x="450" y="1969"/>
                    </a:lnTo>
                    <a:lnTo>
                      <a:pt x="443" y="1972"/>
                    </a:lnTo>
                    <a:lnTo>
                      <a:pt x="435" y="1975"/>
                    </a:lnTo>
                    <a:lnTo>
                      <a:pt x="427" y="1977"/>
                    </a:lnTo>
                    <a:lnTo>
                      <a:pt x="420" y="1980"/>
                    </a:lnTo>
                    <a:lnTo>
                      <a:pt x="412" y="1982"/>
                    </a:lnTo>
                    <a:lnTo>
                      <a:pt x="404" y="1985"/>
                    </a:lnTo>
                    <a:lnTo>
                      <a:pt x="396" y="1987"/>
                    </a:lnTo>
                    <a:lnTo>
                      <a:pt x="388" y="1990"/>
                    </a:lnTo>
                    <a:lnTo>
                      <a:pt x="380" y="1992"/>
                    </a:lnTo>
                    <a:lnTo>
                      <a:pt x="373" y="1994"/>
                    </a:lnTo>
                    <a:lnTo>
                      <a:pt x="365" y="1997"/>
                    </a:lnTo>
                    <a:lnTo>
                      <a:pt x="357" y="1999"/>
                    </a:lnTo>
                    <a:lnTo>
                      <a:pt x="349" y="2001"/>
                    </a:lnTo>
                    <a:lnTo>
                      <a:pt x="341" y="2003"/>
                    </a:lnTo>
                    <a:lnTo>
                      <a:pt x="333" y="2005"/>
                    </a:lnTo>
                    <a:lnTo>
                      <a:pt x="325" y="2007"/>
                    </a:lnTo>
                    <a:lnTo>
                      <a:pt x="317" y="2009"/>
                    </a:lnTo>
                    <a:lnTo>
                      <a:pt x="309" y="2011"/>
                    </a:lnTo>
                    <a:lnTo>
                      <a:pt x="301" y="2013"/>
                    </a:lnTo>
                    <a:lnTo>
                      <a:pt x="293" y="2015"/>
                    </a:lnTo>
                    <a:lnTo>
                      <a:pt x="285" y="2017"/>
                    </a:lnTo>
                    <a:lnTo>
                      <a:pt x="277" y="2018"/>
                    </a:lnTo>
                    <a:lnTo>
                      <a:pt x="269" y="2020"/>
                    </a:lnTo>
                    <a:lnTo>
                      <a:pt x="261" y="2022"/>
                    </a:lnTo>
                    <a:lnTo>
                      <a:pt x="252" y="2023"/>
                    </a:lnTo>
                    <a:lnTo>
                      <a:pt x="244" y="2025"/>
                    </a:lnTo>
                    <a:lnTo>
                      <a:pt x="236" y="2026"/>
                    </a:lnTo>
                    <a:lnTo>
                      <a:pt x="228" y="2028"/>
                    </a:lnTo>
                    <a:lnTo>
                      <a:pt x="220" y="2029"/>
                    </a:lnTo>
                    <a:lnTo>
                      <a:pt x="211" y="2031"/>
                    </a:lnTo>
                    <a:lnTo>
                      <a:pt x="203" y="2032"/>
                    </a:lnTo>
                    <a:lnTo>
                      <a:pt x="195" y="2033"/>
                    </a:lnTo>
                    <a:lnTo>
                      <a:pt x="187" y="2034"/>
                    </a:lnTo>
                    <a:lnTo>
                      <a:pt x="178" y="2035"/>
                    </a:lnTo>
                    <a:lnTo>
                      <a:pt x="170" y="2036"/>
                    </a:lnTo>
                    <a:lnTo>
                      <a:pt x="162" y="2038"/>
                    </a:lnTo>
                    <a:lnTo>
                      <a:pt x="153" y="2038"/>
                    </a:lnTo>
                    <a:lnTo>
                      <a:pt x="145" y="2039"/>
                    </a:lnTo>
                    <a:lnTo>
                      <a:pt x="136" y="2040"/>
                    </a:lnTo>
                    <a:lnTo>
                      <a:pt x="128" y="2041"/>
                    </a:lnTo>
                    <a:lnTo>
                      <a:pt x="120" y="2042"/>
                    </a:lnTo>
                    <a:lnTo>
                      <a:pt x="111" y="2043"/>
                    </a:lnTo>
                    <a:lnTo>
                      <a:pt x="103" y="2043"/>
                    </a:lnTo>
                    <a:lnTo>
                      <a:pt x="94" y="2044"/>
                    </a:lnTo>
                    <a:lnTo>
                      <a:pt x="86" y="2044"/>
                    </a:lnTo>
                    <a:lnTo>
                      <a:pt x="77" y="2045"/>
                    </a:lnTo>
                    <a:lnTo>
                      <a:pt x="69" y="2045"/>
                    </a:lnTo>
                    <a:lnTo>
                      <a:pt x="60" y="2046"/>
                    </a:lnTo>
                    <a:lnTo>
                      <a:pt x="52" y="2046"/>
                    </a:lnTo>
                    <a:lnTo>
                      <a:pt x="43" y="2046"/>
                    </a:lnTo>
                    <a:lnTo>
                      <a:pt x="35" y="2047"/>
                    </a:lnTo>
                    <a:lnTo>
                      <a:pt x="26" y="2047"/>
                    </a:lnTo>
                    <a:lnTo>
                      <a:pt x="18" y="2047"/>
                    </a:lnTo>
                    <a:lnTo>
                      <a:pt x="9" y="2047"/>
                    </a:lnTo>
                    <a:lnTo>
                      <a:pt x="0" y="2047"/>
                    </a:lnTo>
                    <a:close/>
                    <a:moveTo>
                      <a:pt x="1193" y="125"/>
                    </a:moveTo>
                    <a:lnTo>
                      <a:pt x="1444" y="0"/>
                    </a:lnTo>
                    <a:lnTo>
                      <a:pt x="1445" y="3"/>
                    </a:lnTo>
                    <a:lnTo>
                      <a:pt x="1446" y="6"/>
                    </a:lnTo>
                    <a:lnTo>
                      <a:pt x="1447" y="8"/>
                    </a:lnTo>
                    <a:lnTo>
                      <a:pt x="1449" y="11"/>
                    </a:lnTo>
                    <a:lnTo>
                      <a:pt x="1450" y="13"/>
                    </a:lnTo>
                    <a:lnTo>
                      <a:pt x="1451" y="16"/>
                    </a:lnTo>
                    <a:lnTo>
                      <a:pt x="1453" y="19"/>
                    </a:lnTo>
                    <a:lnTo>
                      <a:pt x="1454" y="21"/>
                    </a:lnTo>
                    <a:lnTo>
                      <a:pt x="1455" y="24"/>
                    </a:lnTo>
                    <a:lnTo>
                      <a:pt x="1456" y="26"/>
                    </a:lnTo>
                    <a:lnTo>
                      <a:pt x="1458" y="29"/>
                    </a:lnTo>
                    <a:lnTo>
                      <a:pt x="1459" y="32"/>
                    </a:lnTo>
                    <a:lnTo>
                      <a:pt x="1460" y="34"/>
                    </a:lnTo>
                    <a:lnTo>
                      <a:pt x="1461" y="37"/>
                    </a:lnTo>
                    <a:lnTo>
                      <a:pt x="1462" y="40"/>
                    </a:lnTo>
                    <a:lnTo>
                      <a:pt x="1464" y="42"/>
                    </a:lnTo>
                    <a:lnTo>
                      <a:pt x="1465" y="45"/>
                    </a:lnTo>
                    <a:lnTo>
                      <a:pt x="1466" y="48"/>
                    </a:lnTo>
                    <a:lnTo>
                      <a:pt x="1467" y="50"/>
                    </a:lnTo>
                    <a:lnTo>
                      <a:pt x="1468" y="53"/>
                    </a:lnTo>
                    <a:lnTo>
                      <a:pt x="1470" y="55"/>
                    </a:lnTo>
                    <a:lnTo>
                      <a:pt x="1471" y="58"/>
                    </a:lnTo>
                    <a:lnTo>
                      <a:pt x="1472" y="61"/>
                    </a:lnTo>
                    <a:lnTo>
                      <a:pt x="1473" y="63"/>
                    </a:lnTo>
                    <a:lnTo>
                      <a:pt x="1474" y="66"/>
                    </a:lnTo>
                    <a:lnTo>
                      <a:pt x="1476" y="69"/>
                    </a:lnTo>
                    <a:lnTo>
                      <a:pt x="1477" y="71"/>
                    </a:lnTo>
                    <a:lnTo>
                      <a:pt x="1478" y="74"/>
                    </a:lnTo>
                    <a:lnTo>
                      <a:pt x="1479" y="77"/>
                    </a:lnTo>
                    <a:lnTo>
                      <a:pt x="1480" y="79"/>
                    </a:lnTo>
                    <a:lnTo>
                      <a:pt x="1481" y="82"/>
                    </a:lnTo>
                    <a:lnTo>
                      <a:pt x="1483" y="85"/>
                    </a:lnTo>
                    <a:lnTo>
                      <a:pt x="1484" y="87"/>
                    </a:lnTo>
                    <a:lnTo>
                      <a:pt x="1485" y="90"/>
                    </a:lnTo>
                    <a:lnTo>
                      <a:pt x="1486" y="93"/>
                    </a:lnTo>
                    <a:lnTo>
                      <a:pt x="1487" y="95"/>
                    </a:lnTo>
                    <a:lnTo>
                      <a:pt x="1488" y="98"/>
                    </a:lnTo>
                    <a:lnTo>
                      <a:pt x="1489" y="101"/>
                    </a:lnTo>
                    <a:lnTo>
                      <a:pt x="1490" y="103"/>
                    </a:lnTo>
                    <a:lnTo>
                      <a:pt x="1491" y="106"/>
                    </a:lnTo>
                    <a:lnTo>
                      <a:pt x="1492" y="109"/>
                    </a:lnTo>
                    <a:lnTo>
                      <a:pt x="1494" y="112"/>
                    </a:lnTo>
                    <a:lnTo>
                      <a:pt x="1495" y="114"/>
                    </a:lnTo>
                    <a:lnTo>
                      <a:pt x="1496" y="117"/>
                    </a:lnTo>
                    <a:lnTo>
                      <a:pt x="1497" y="120"/>
                    </a:lnTo>
                    <a:lnTo>
                      <a:pt x="1498" y="122"/>
                    </a:lnTo>
                    <a:lnTo>
                      <a:pt x="1499" y="125"/>
                    </a:lnTo>
                    <a:lnTo>
                      <a:pt x="1500" y="127"/>
                    </a:lnTo>
                    <a:lnTo>
                      <a:pt x="1501" y="130"/>
                    </a:lnTo>
                    <a:lnTo>
                      <a:pt x="1502" y="133"/>
                    </a:lnTo>
                    <a:lnTo>
                      <a:pt x="1503" y="136"/>
                    </a:lnTo>
                    <a:lnTo>
                      <a:pt x="1504" y="138"/>
                    </a:lnTo>
                    <a:lnTo>
                      <a:pt x="1505" y="141"/>
                    </a:lnTo>
                    <a:lnTo>
                      <a:pt x="1506" y="144"/>
                    </a:lnTo>
                    <a:lnTo>
                      <a:pt x="1507" y="147"/>
                    </a:lnTo>
                    <a:lnTo>
                      <a:pt x="1508" y="149"/>
                    </a:lnTo>
                    <a:lnTo>
                      <a:pt x="1509" y="152"/>
                    </a:lnTo>
                    <a:lnTo>
                      <a:pt x="1510" y="154"/>
                    </a:lnTo>
                    <a:lnTo>
                      <a:pt x="1511" y="158"/>
                    </a:lnTo>
                    <a:lnTo>
                      <a:pt x="1512" y="160"/>
                    </a:lnTo>
                    <a:lnTo>
                      <a:pt x="1513" y="163"/>
                    </a:lnTo>
                    <a:lnTo>
                      <a:pt x="1514" y="165"/>
                    </a:lnTo>
                    <a:lnTo>
                      <a:pt x="1515" y="168"/>
                    </a:lnTo>
                    <a:lnTo>
                      <a:pt x="1516" y="171"/>
                    </a:lnTo>
                    <a:lnTo>
                      <a:pt x="1517" y="174"/>
                    </a:lnTo>
                    <a:lnTo>
                      <a:pt x="1518" y="176"/>
                    </a:lnTo>
                    <a:lnTo>
                      <a:pt x="1519" y="179"/>
                    </a:lnTo>
                    <a:lnTo>
                      <a:pt x="1520" y="182"/>
                    </a:lnTo>
                    <a:lnTo>
                      <a:pt x="1521" y="185"/>
                    </a:lnTo>
                    <a:lnTo>
                      <a:pt x="1522" y="187"/>
                    </a:lnTo>
                    <a:lnTo>
                      <a:pt x="1523" y="190"/>
                    </a:lnTo>
                    <a:lnTo>
                      <a:pt x="1524" y="193"/>
                    </a:lnTo>
                    <a:lnTo>
                      <a:pt x="1525" y="196"/>
                    </a:lnTo>
                    <a:lnTo>
                      <a:pt x="1526" y="198"/>
                    </a:lnTo>
                    <a:lnTo>
                      <a:pt x="1527" y="201"/>
                    </a:lnTo>
                    <a:lnTo>
                      <a:pt x="1528" y="204"/>
                    </a:lnTo>
                    <a:lnTo>
                      <a:pt x="1529" y="207"/>
                    </a:lnTo>
                    <a:lnTo>
                      <a:pt x="1530" y="209"/>
                    </a:lnTo>
                    <a:lnTo>
                      <a:pt x="1531" y="212"/>
                    </a:lnTo>
                    <a:lnTo>
                      <a:pt x="1531" y="215"/>
                    </a:lnTo>
                    <a:lnTo>
                      <a:pt x="1532" y="217"/>
                    </a:lnTo>
                    <a:lnTo>
                      <a:pt x="1533" y="220"/>
                    </a:lnTo>
                    <a:lnTo>
                      <a:pt x="1534" y="223"/>
                    </a:lnTo>
                    <a:lnTo>
                      <a:pt x="1535" y="226"/>
                    </a:lnTo>
                    <a:lnTo>
                      <a:pt x="1536" y="228"/>
                    </a:lnTo>
                    <a:lnTo>
                      <a:pt x="1537" y="231"/>
                    </a:lnTo>
                    <a:lnTo>
                      <a:pt x="1538" y="234"/>
                    </a:lnTo>
                    <a:lnTo>
                      <a:pt x="1538" y="237"/>
                    </a:lnTo>
                    <a:lnTo>
                      <a:pt x="1539" y="240"/>
                    </a:lnTo>
                    <a:lnTo>
                      <a:pt x="1540" y="242"/>
                    </a:lnTo>
                    <a:lnTo>
                      <a:pt x="1541" y="245"/>
                    </a:lnTo>
                    <a:lnTo>
                      <a:pt x="1542" y="248"/>
                    </a:lnTo>
                    <a:lnTo>
                      <a:pt x="1543" y="251"/>
                    </a:lnTo>
                    <a:lnTo>
                      <a:pt x="1544" y="253"/>
                    </a:lnTo>
                    <a:lnTo>
                      <a:pt x="1544" y="256"/>
                    </a:lnTo>
                    <a:lnTo>
                      <a:pt x="1545" y="259"/>
                    </a:lnTo>
                    <a:lnTo>
                      <a:pt x="1546" y="262"/>
                    </a:lnTo>
                    <a:lnTo>
                      <a:pt x="1547" y="264"/>
                    </a:lnTo>
                    <a:lnTo>
                      <a:pt x="1548" y="267"/>
                    </a:lnTo>
                    <a:lnTo>
                      <a:pt x="1548" y="270"/>
                    </a:lnTo>
                    <a:lnTo>
                      <a:pt x="1549" y="273"/>
                    </a:lnTo>
                    <a:lnTo>
                      <a:pt x="1550" y="276"/>
                    </a:lnTo>
                    <a:lnTo>
                      <a:pt x="1551" y="278"/>
                    </a:lnTo>
                    <a:lnTo>
                      <a:pt x="1552" y="281"/>
                    </a:lnTo>
                    <a:lnTo>
                      <a:pt x="1552" y="284"/>
                    </a:lnTo>
                    <a:lnTo>
                      <a:pt x="1553" y="287"/>
                    </a:lnTo>
                    <a:lnTo>
                      <a:pt x="1554" y="290"/>
                    </a:lnTo>
                    <a:lnTo>
                      <a:pt x="1555" y="292"/>
                    </a:lnTo>
                    <a:lnTo>
                      <a:pt x="1555" y="295"/>
                    </a:lnTo>
                    <a:lnTo>
                      <a:pt x="1556" y="298"/>
                    </a:lnTo>
                    <a:lnTo>
                      <a:pt x="1557" y="301"/>
                    </a:lnTo>
                    <a:lnTo>
                      <a:pt x="1558" y="303"/>
                    </a:lnTo>
                    <a:lnTo>
                      <a:pt x="1558" y="306"/>
                    </a:lnTo>
                    <a:lnTo>
                      <a:pt x="1559" y="309"/>
                    </a:lnTo>
                    <a:lnTo>
                      <a:pt x="1560" y="312"/>
                    </a:lnTo>
                    <a:lnTo>
                      <a:pt x="1561" y="315"/>
                    </a:lnTo>
                    <a:lnTo>
                      <a:pt x="1561" y="317"/>
                    </a:lnTo>
                    <a:lnTo>
                      <a:pt x="1562" y="321"/>
                    </a:lnTo>
                    <a:lnTo>
                      <a:pt x="1563" y="323"/>
                    </a:lnTo>
                    <a:lnTo>
                      <a:pt x="1563" y="326"/>
                    </a:lnTo>
                    <a:lnTo>
                      <a:pt x="1564" y="329"/>
                    </a:lnTo>
                    <a:lnTo>
                      <a:pt x="1565" y="332"/>
                    </a:lnTo>
                    <a:lnTo>
                      <a:pt x="1565" y="334"/>
                    </a:lnTo>
                    <a:lnTo>
                      <a:pt x="1566" y="337"/>
                    </a:lnTo>
                    <a:lnTo>
                      <a:pt x="1567" y="340"/>
                    </a:lnTo>
                    <a:lnTo>
                      <a:pt x="1567" y="343"/>
                    </a:lnTo>
                    <a:lnTo>
                      <a:pt x="1568" y="346"/>
                    </a:lnTo>
                    <a:lnTo>
                      <a:pt x="1569" y="349"/>
                    </a:lnTo>
                    <a:lnTo>
                      <a:pt x="1569" y="351"/>
                    </a:lnTo>
                    <a:lnTo>
                      <a:pt x="1570" y="354"/>
                    </a:lnTo>
                    <a:lnTo>
                      <a:pt x="1571" y="357"/>
                    </a:lnTo>
                    <a:lnTo>
                      <a:pt x="1571" y="360"/>
                    </a:lnTo>
                    <a:lnTo>
                      <a:pt x="1572" y="363"/>
                    </a:lnTo>
                    <a:lnTo>
                      <a:pt x="1573" y="365"/>
                    </a:lnTo>
                    <a:lnTo>
                      <a:pt x="1573" y="368"/>
                    </a:lnTo>
                    <a:lnTo>
                      <a:pt x="1574" y="371"/>
                    </a:lnTo>
                    <a:lnTo>
                      <a:pt x="1575" y="374"/>
                    </a:lnTo>
                    <a:lnTo>
                      <a:pt x="1575" y="377"/>
                    </a:lnTo>
                    <a:lnTo>
                      <a:pt x="1576" y="380"/>
                    </a:lnTo>
                    <a:lnTo>
                      <a:pt x="1576" y="382"/>
                    </a:lnTo>
                    <a:lnTo>
                      <a:pt x="1577" y="385"/>
                    </a:lnTo>
                    <a:lnTo>
                      <a:pt x="1578" y="388"/>
                    </a:lnTo>
                    <a:lnTo>
                      <a:pt x="1578" y="391"/>
                    </a:lnTo>
                    <a:lnTo>
                      <a:pt x="1579" y="394"/>
                    </a:lnTo>
                    <a:lnTo>
                      <a:pt x="1579" y="396"/>
                    </a:lnTo>
                    <a:lnTo>
                      <a:pt x="1580" y="399"/>
                    </a:lnTo>
                    <a:lnTo>
                      <a:pt x="1580" y="402"/>
                    </a:lnTo>
                    <a:lnTo>
                      <a:pt x="1581" y="405"/>
                    </a:lnTo>
                    <a:lnTo>
                      <a:pt x="1582" y="408"/>
                    </a:lnTo>
                    <a:lnTo>
                      <a:pt x="1582" y="411"/>
                    </a:lnTo>
                    <a:lnTo>
                      <a:pt x="1583" y="414"/>
                    </a:lnTo>
                    <a:lnTo>
                      <a:pt x="1583" y="416"/>
                    </a:lnTo>
                    <a:lnTo>
                      <a:pt x="1584" y="419"/>
                    </a:lnTo>
                    <a:lnTo>
                      <a:pt x="1584" y="422"/>
                    </a:lnTo>
                    <a:lnTo>
                      <a:pt x="1585" y="425"/>
                    </a:lnTo>
                    <a:lnTo>
                      <a:pt x="1585" y="428"/>
                    </a:lnTo>
                    <a:lnTo>
                      <a:pt x="1586" y="430"/>
                    </a:lnTo>
                    <a:lnTo>
                      <a:pt x="1586" y="433"/>
                    </a:lnTo>
                    <a:lnTo>
                      <a:pt x="1587" y="436"/>
                    </a:lnTo>
                    <a:lnTo>
                      <a:pt x="1587" y="439"/>
                    </a:lnTo>
                    <a:lnTo>
                      <a:pt x="1588" y="442"/>
                    </a:lnTo>
                    <a:lnTo>
                      <a:pt x="1588" y="445"/>
                    </a:lnTo>
                    <a:lnTo>
                      <a:pt x="1589" y="448"/>
                    </a:lnTo>
                    <a:lnTo>
                      <a:pt x="1589" y="450"/>
                    </a:lnTo>
                    <a:lnTo>
                      <a:pt x="1590" y="453"/>
                    </a:lnTo>
                    <a:lnTo>
                      <a:pt x="1590" y="456"/>
                    </a:lnTo>
                    <a:lnTo>
                      <a:pt x="1591" y="459"/>
                    </a:lnTo>
                    <a:lnTo>
                      <a:pt x="1591" y="462"/>
                    </a:lnTo>
                    <a:lnTo>
                      <a:pt x="1592" y="465"/>
                    </a:lnTo>
                    <a:lnTo>
                      <a:pt x="1592" y="467"/>
                    </a:lnTo>
                    <a:lnTo>
                      <a:pt x="1593" y="470"/>
                    </a:lnTo>
                    <a:lnTo>
                      <a:pt x="1593" y="473"/>
                    </a:lnTo>
                    <a:lnTo>
                      <a:pt x="1593" y="476"/>
                    </a:lnTo>
                    <a:lnTo>
                      <a:pt x="1594" y="479"/>
                    </a:lnTo>
                    <a:lnTo>
                      <a:pt x="1594" y="482"/>
                    </a:lnTo>
                    <a:lnTo>
                      <a:pt x="1595" y="485"/>
                    </a:lnTo>
                    <a:lnTo>
                      <a:pt x="1595" y="488"/>
                    </a:lnTo>
                    <a:lnTo>
                      <a:pt x="1595" y="488"/>
                    </a:lnTo>
                    <a:lnTo>
                      <a:pt x="1318" y="528"/>
                    </a:lnTo>
                    <a:lnTo>
                      <a:pt x="1318" y="527"/>
                    </a:lnTo>
                    <a:lnTo>
                      <a:pt x="1318" y="525"/>
                    </a:lnTo>
                    <a:lnTo>
                      <a:pt x="1317" y="523"/>
                    </a:lnTo>
                    <a:lnTo>
                      <a:pt x="1317" y="520"/>
                    </a:lnTo>
                    <a:lnTo>
                      <a:pt x="1317" y="518"/>
                    </a:lnTo>
                    <a:lnTo>
                      <a:pt x="1316" y="515"/>
                    </a:lnTo>
                    <a:lnTo>
                      <a:pt x="1316" y="513"/>
                    </a:lnTo>
                    <a:lnTo>
                      <a:pt x="1315" y="511"/>
                    </a:lnTo>
                    <a:lnTo>
                      <a:pt x="1315" y="508"/>
                    </a:lnTo>
                    <a:lnTo>
                      <a:pt x="1315" y="506"/>
                    </a:lnTo>
                    <a:lnTo>
                      <a:pt x="1314" y="504"/>
                    </a:lnTo>
                    <a:lnTo>
                      <a:pt x="1314" y="501"/>
                    </a:lnTo>
                    <a:lnTo>
                      <a:pt x="1314" y="499"/>
                    </a:lnTo>
                    <a:lnTo>
                      <a:pt x="1313" y="497"/>
                    </a:lnTo>
                    <a:lnTo>
                      <a:pt x="1313" y="494"/>
                    </a:lnTo>
                    <a:lnTo>
                      <a:pt x="1312" y="492"/>
                    </a:lnTo>
                    <a:lnTo>
                      <a:pt x="1312" y="490"/>
                    </a:lnTo>
                    <a:lnTo>
                      <a:pt x="1312" y="487"/>
                    </a:lnTo>
                    <a:lnTo>
                      <a:pt x="1311" y="485"/>
                    </a:lnTo>
                    <a:lnTo>
                      <a:pt x="1311" y="483"/>
                    </a:lnTo>
                    <a:lnTo>
                      <a:pt x="1310" y="480"/>
                    </a:lnTo>
                    <a:lnTo>
                      <a:pt x="1310" y="478"/>
                    </a:lnTo>
                    <a:lnTo>
                      <a:pt x="1309" y="476"/>
                    </a:lnTo>
                    <a:lnTo>
                      <a:pt x="1309" y="473"/>
                    </a:lnTo>
                    <a:lnTo>
                      <a:pt x="1309" y="471"/>
                    </a:lnTo>
                    <a:lnTo>
                      <a:pt x="1308" y="468"/>
                    </a:lnTo>
                    <a:lnTo>
                      <a:pt x="1308" y="466"/>
                    </a:lnTo>
                    <a:lnTo>
                      <a:pt x="1307" y="464"/>
                    </a:lnTo>
                    <a:lnTo>
                      <a:pt x="1307" y="461"/>
                    </a:lnTo>
                    <a:lnTo>
                      <a:pt x="1306" y="459"/>
                    </a:lnTo>
                    <a:lnTo>
                      <a:pt x="1306" y="457"/>
                    </a:lnTo>
                    <a:lnTo>
                      <a:pt x="1305" y="454"/>
                    </a:lnTo>
                    <a:lnTo>
                      <a:pt x="1305" y="452"/>
                    </a:lnTo>
                    <a:lnTo>
                      <a:pt x="1304" y="450"/>
                    </a:lnTo>
                    <a:lnTo>
                      <a:pt x="1304" y="447"/>
                    </a:lnTo>
                    <a:lnTo>
                      <a:pt x="1303" y="445"/>
                    </a:lnTo>
                    <a:lnTo>
                      <a:pt x="1303" y="443"/>
                    </a:lnTo>
                    <a:lnTo>
                      <a:pt x="1302" y="440"/>
                    </a:lnTo>
                    <a:lnTo>
                      <a:pt x="1302" y="438"/>
                    </a:lnTo>
                    <a:lnTo>
                      <a:pt x="1301" y="436"/>
                    </a:lnTo>
                    <a:lnTo>
                      <a:pt x="1301" y="434"/>
                    </a:lnTo>
                    <a:lnTo>
                      <a:pt x="1300" y="431"/>
                    </a:lnTo>
                    <a:lnTo>
                      <a:pt x="1300" y="429"/>
                    </a:lnTo>
                    <a:lnTo>
                      <a:pt x="1299" y="426"/>
                    </a:lnTo>
                    <a:lnTo>
                      <a:pt x="1299" y="424"/>
                    </a:lnTo>
                    <a:lnTo>
                      <a:pt x="1298" y="422"/>
                    </a:lnTo>
                    <a:lnTo>
                      <a:pt x="1298" y="419"/>
                    </a:lnTo>
                    <a:lnTo>
                      <a:pt x="1297" y="417"/>
                    </a:lnTo>
                    <a:lnTo>
                      <a:pt x="1297" y="415"/>
                    </a:lnTo>
                    <a:lnTo>
                      <a:pt x="1296" y="412"/>
                    </a:lnTo>
                    <a:lnTo>
                      <a:pt x="1296" y="410"/>
                    </a:lnTo>
                    <a:lnTo>
                      <a:pt x="1295" y="408"/>
                    </a:lnTo>
                    <a:lnTo>
                      <a:pt x="1295" y="405"/>
                    </a:lnTo>
                    <a:lnTo>
                      <a:pt x="1294" y="403"/>
                    </a:lnTo>
                    <a:lnTo>
                      <a:pt x="1294" y="401"/>
                    </a:lnTo>
                    <a:lnTo>
                      <a:pt x="1293" y="398"/>
                    </a:lnTo>
                    <a:lnTo>
                      <a:pt x="1292" y="396"/>
                    </a:lnTo>
                    <a:lnTo>
                      <a:pt x="1292" y="394"/>
                    </a:lnTo>
                    <a:lnTo>
                      <a:pt x="1291" y="391"/>
                    </a:lnTo>
                    <a:lnTo>
                      <a:pt x="1291" y="389"/>
                    </a:lnTo>
                    <a:lnTo>
                      <a:pt x="1290" y="387"/>
                    </a:lnTo>
                    <a:lnTo>
                      <a:pt x="1289" y="385"/>
                    </a:lnTo>
                    <a:lnTo>
                      <a:pt x="1289" y="382"/>
                    </a:lnTo>
                    <a:lnTo>
                      <a:pt x="1288" y="380"/>
                    </a:lnTo>
                    <a:lnTo>
                      <a:pt x="1288" y="378"/>
                    </a:lnTo>
                    <a:lnTo>
                      <a:pt x="1287" y="375"/>
                    </a:lnTo>
                    <a:lnTo>
                      <a:pt x="1286" y="373"/>
                    </a:lnTo>
                    <a:lnTo>
                      <a:pt x="1286" y="371"/>
                    </a:lnTo>
                    <a:lnTo>
                      <a:pt x="1285" y="368"/>
                    </a:lnTo>
                    <a:lnTo>
                      <a:pt x="1285" y="366"/>
                    </a:lnTo>
                    <a:lnTo>
                      <a:pt x="1284" y="364"/>
                    </a:lnTo>
                    <a:lnTo>
                      <a:pt x="1283" y="361"/>
                    </a:lnTo>
                    <a:lnTo>
                      <a:pt x="1283" y="359"/>
                    </a:lnTo>
                    <a:lnTo>
                      <a:pt x="1282" y="357"/>
                    </a:lnTo>
                    <a:lnTo>
                      <a:pt x="1281" y="355"/>
                    </a:lnTo>
                    <a:lnTo>
                      <a:pt x="1281" y="352"/>
                    </a:lnTo>
                    <a:lnTo>
                      <a:pt x="1280" y="350"/>
                    </a:lnTo>
                    <a:lnTo>
                      <a:pt x="1279" y="348"/>
                    </a:lnTo>
                    <a:lnTo>
                      <a:pt x="1279" y="345"/>
                    </a:lnTo>
                    <a:lnTo>
                      <a:pt x="1278" y="343"/>
                    </a:lnTo>
                    <a:lnTo>
                      <a:pt x="1277" y="341"/>
                    </a:lnTo>
                    <a:lnTo>
                      <a:pt x="1277" y="338"/>
                    </a:lnTo>
                    <a:lnTo>
                      <a:pt x="1276" y="336"/>
                    </a:lnTo>
                    <a:lnTo>
                      <a:pt x="1275" y="334"/>
                    </a:lnTo>
                    <a:lnTo>
                      <a:pt x="1275" y="332"/>
                    </a:lnTo>
                    <a:lnTo>
                      <a:pt x="1274" y="329"/>
                    </a:lnTo>
                    <a:lnTo>
                      <a:pt x="1273" y="327"/>
                    </a:lnTo>
                    <a:lnTo>
                      <a:pt x="1273" y="325"/>
                    </a:lnTo>
                    <a:lnTo>
                      <a:pt x="1272" y="322"/>
                    </a:lnTo>
                    <a:lnTo>
                      <a:pt x="1271" y="320"/>
                    </a:lnTo>
                    <a:lnTo>
                      <a:pt x="1270" y="318"/>
                    </a:lnTo>
                    <a:lnTo>
                      <a:pt x="1270" y="316"/>
                    </a:lnTo>
                    <a:lnTo>
                      <a:pt x="1269" y="313"/>
                    </a:lnTo>
                    <a:lnTo>
                      <a:pt x="1268" y="311"/>
                    </a:lnTo>
                    <a:lnTo>
                      <a:pt x="1268" y="309"/>
                    </a:lnTo>
                    <a:lnTo>
                      <a:pt x="1267" y="307"/>
                    </a:lnTo>
                    <a:lnTo>
                      <a:pt x="1266" y="304"/>
                    </a:lnTo>
                    <a:lnTo>
                      <a:pt x="1265" y="302"/>
                    </a:lnTo>
                    <a:lnTo>
                      <a:pt x="1265" y="300"/>
                    </a:lnTo>
                    <a:lnTo>
                      <a:pt x="1264" y="297"/>
                    </a:lnTo>
                    <a:lnTo>
                      <a:pt x="1263" y="295"/>
                    </a:lnTo>
                    <a:lnTo>
                      <a:pt x="1262" y="293"/>
                    </a:lnTo>
                    <a:lnTo>
                      <a:pt x="1262" y="291"/>
                    </a:lnTo>
                    <a:lnTo>
                      <a:pt x="1261" y="288"/>
                    </a:lnTo>
                    <a:lnTo>
                      <a:pt x="1260" y="286"/>
                    </a:lnTo>
                    <a:lnTo>
                      <a:pt x="1259" y="284"/>
                    </a:lnTo>
                    <a:lnTo>
                      <a:pt x="1258" y="282"/>
                    </a:lnTo>
                    <a:lnTo>
                      <a:pt x="1258" y="279"/>
                    </a:lnTo>
                    <a:lnTo>
                      <a:pt x="1257" y="277"/>
                    </a:lnTo>
                    <a:lnTo>
                      <a:pt x="1256" y="275"/>
                    </a:lnTo>
                    <a:lnTo>
                      <a:pt x="1255" y="272"/>
                    </a:lnTo>
                    <a:lnTo>
                      <a:pt x="1254" y="270"/>
                    </a:lnTo>
                    <a:lnTo>
                      <a:pt x="1254" y="268"/>
                    </a:lnTo>
                    <a:lnTo>
                      <a:pt x="1253" y="266"/>
                    </a:lnTo>
                    <a:lnTo>
                      <a:pt x="1252" y="263"/>
                    </a:lnTo>
                    <a:lnTo>
                      <a:pt x="1251" y="261"/>
                    </a:lnTo>
                    <a:lnTo>
                      <a:pt x="1250" y="259"/>
                    </a:lnTo>
                    <a:lnTo>
                      <a:pt x="1250" y="257"/>
                    </a:lnTo>
                    <a:lnTo>
                      <a:pt x="1249" y="254"/>
                    </a:lnTo>
                    <a:lnTo>
                      <a:pt x="1248" y="252"/>
                    </a:lnTo>
                    <a:lnTo>
                      <a:pt x="1247" y="250"/>
                    </a:lnTo>
                    <a:lnTo>
                      <a:pt x="1246" y="248"/>
                    </a:lnTo>
                    <a:lnTo>
                      <a:pt x="1245" y="245"/>
                    </a:lnTo>
                    <a:lnTo>
                      <a:pt x="1245" y="243"/>
                    </a:lnTo>
                    <a:lnTo>
                      <a:pt x="1244" y="241"/>
                    </a:lnTo>
                    <a:lnTo>
                      <a:pt x="1243" y="239"/>
                    </a:lnTo>
                    <a:lnTo>
                      <a:pt x="1242" y="236"/>
                    </a:lnTo>
                    <a:lnTo>
                      <a:pt x="1241" y="234"/>
                    </a:lnTo>
                    <a:lnTo>
                      <a:pt x="1240" y="232"/>
                    </a:lnTo>
                    <a:lnTo>
                      <a:pt x="1239" y="230"/>
                    </a:lnTo>
                    <a:lnTo>
                      <a:pt x="1238" y="228"/>
                    </a:lnTo>
                    <a:lnTo>
                      <a:pt x="1238" y="225"/>
                    </a:lnTo>
                    <a:lnTo>
                      <a:pt x="1237" y="223"/>
                    </a:lnTo>
                    <a:lnTo>
                      <a:pt x="1236" y="221"/>
                    </a:lnTo>
                    <a:lnTo>
                      <a:pt x="1235" y="219"/>
                    </a:lnTo>
                    <a:lnTo>
                      <a:pt x="1234" y="216"/>
                    </a:lnTo>
                    <a:lnTo>
                      <a:pt x="1233" y="214"/>
                    </a:lnTo>
                    <a:lnTo>
                      <a:pt x="1232" y="212"/>
                    </a:lnTo>
                    <a:lnTo>
                      <a:pt x="1231" y="210"/>
                    </a:lnTo>
                    <a:lnTo>
                      <a:pt x="1230" y="208"/>
                    </a:lnTo>
                    <a:lnTo>
                      <a:pt x="1229" y="205"/>
                    </a:lnTo>
                    <a:lnTo>
                      <a:pt x="1229" y="203"/>
                    </a:lnTo>
                    <a:lnTo>
                      <a:pt x="1228" y="201"/>
                    </a:lnTo>
                    <a:lnTo>
                      <a:pt x="1227" y="199"/>
                    </a:lnTo>
                    <a:lnTo>
                      <a:pt x="1226" y="197"/>
                    </a:lnTo>
                    <a:lnTo>
                      <a:pt x="1225" y="194"/>
                    </a:lnTo>
                    <a:lnTo>
                      <a:pt x="1224" y="192"/>
                    </a:lnTo>
                    <a:lnTo>
                      <a:pt x="1223" y="190"/>
                    </a:lnTo>
                    <a:lnTo>
                      <a:pt x="1222" y="188"/>
                    </a:lnTo>
                    <a:lnTo>
                      <a:pt x="1221" y="186"/>
                    </a:lnTo>
                    <a:lnTo>
                      <a:pt x="1220" y="183"/>
                    </a:lnTo>
                    <a:lnTo>
                      <a:pt x="1219" y="181"/>
                    </a:lnTo>
                    <a:lnTo>
                      <a:pt x="1218" y="179"/>
                    </a:lnTo>
                    <a:lnTo>
                      <a:pt x="1217" y="177"/>
                    </a:lnTo>
                    <a:lnTo>
                      <a:pt x="1216" y="175"/>
                    </a:lnTo>
                    <a:lnTo>
                      <a:pt x="1215" y="172"/>
                    </a:lnTo>
                    <a:lnTo>
                      <a:pt x="1214" y="170"/>
                    </a:lnTo>
                    <a:lnTo>
                      <a:pt x="1213" y="168"/>
                    </a:lnTo>
                    <a:lnTo>
                      <a:pt x="1212" y="166"/>
                    </a:lnTo>
                    <a:lnTo>
                      <a:pt x="1211" y="164"/>
                    </a:lnTo>
                    <a:lnTo>
                      <a:pt x="1210" y="161"/>
                    </a:lnTo>
                    <a:lnTo>
                      <a:pt x="1209" y="159"/>
                    </a:lnTo>
                    <a:lnTo>
                      <a:pt x="1208" y="157"/>
                    </a:lnTo>
                    <a:lnTo>
                      <a:pt x="1207" y="155"/>
                    </a:lnTo>
                    <a:lnTo>
                      <a:pt x="1206" y="153"/>
                    </a:lnTo>
                    <a:lnTo>
                      <a:pt x="1205" y="151"/>
                    </a:lnTo>
                    <a:lnTo>
                      <a:pt x="1204" y="148"/>
                    </a:lnTo>
                    <a:lnTo>
                      <a:pt x="1203" y="146"/>
                    </a:lnTo>
                    <a:lnTo>
                      <a:pt x="1202" y="144"/>
                    </a:lnTo>
                    <a:lnTo>
                      <a:pt x="1201" y="142"/>
                    </a:lnTo>
                    <a:lnTo>
                      <a:pt x="1200" y="140"/>
                    </a:lnTo>
                    <a:lnTo>
                      <a:pt x="1199" y="138"/>
                    </a:lnTo>
                    <a:lnTo>
                      <a:pt x="1198" y="135"/>
                    </a:lnTo>
                    <a:lnTo>
                      <a:pt x="1197" y="133"/>
                    </a:lnTo>
                    <a:lnTo>
                      <a:pt x="1196" y="131"/>
                    </a:lnTo>
                    <a:lnTo>
                      <a:pt x="1195" y="129"/>
                    </a:lnTo>
                    <a:lnTo>
                      <a:pt x="1194" y="127"/>
                    </a:lnTo>
                    <a:lnTo>
                      <a:pt x="1193" y="125"/>
                    </a:lnTo>
                    <a:close/>
                    <a:moveTo>
                      <a:pt x="1330" y="780"/>
                    </a:moveTo>
                    <a:lnTo>
                      <a:pt x="1609" y="794"/>
                    </a:lnTo>
                    <a:lnTo>
                      <a:pt x="1609" y="799"/>
                    </a:lnTo>
                    <a:lnTo>
                      <a:pt x="1609" y="809"/>
                    </a:lnTo>
                    <a:lnTo>
                      <a:pt x="1608" y="819"/>
                    </a:lnTo>
                    <a:lnTo>
                      <a:pt x="1607" y="830"/>
                    </a:lnTo>
                    <a:lnTo>
                      <a:pt x="1607" y="840"/>
                    </a:lnTo>
                    <a:lnTo>
                      <a:pt x="1606" y="850"/>
                    </a:lnTo>
                    <a:lnTo>
                      <a:pt x="1605" y="860"/>
                    </a:lnTo>
                    <a:lnTo>
                      <a:pt x="1604" y="870"/>
                    </a:lnTo>
                    <a:lnTo>
                      <a:pt x="1603" y="881"/>
                    </a:lnTo>
                    <a:lnTo>
                      <a:pt x="1602" y="891"/>
                    </a:lnTo>
                    <a:lnTo>
                      <a:pt x="1601" y="901"/>
                    </a:lnTo>
                    <a:lnTo>
                      <a:pt x="1600" y="911"/>
                    </a:lnTo>
                    <a:lnTo>
                      <a:pt x="1598" y="921"/>
                    </a:lnTo>
                    <a:lnTo>
                      <a:pt x="1597" y="931"/>
                    </a:lnTo>
                    <a:lnTo>
                      <a:pt x="1596" y="941"/>
                    </a:lnTo>
                    <a:lnTo>
                      <a:pt x="1594" y="951"/>
                    </a:lnTo>
                    <a:lnTo>
                      <a:pt x="1593" y="961"/>
                    </a:lnTo>
                    <a:lnTo>
                      <a:pt x="1591" y="971"/>
                    </a:lnTo>
                    <a:lnTo>
                      <a:pt x="1590" y="981"/>
                    </a:lnTo>
                    <a:lnTo>
                      <a:pt x="1588" y="991"/>
                    </a:lnTo>
                    <a:lnTo>
                      <a:pt x="1586" y="1001"/>
                    </a:lnTo>
                    <a:lnTo>
                      <a:pt x="1584" y="1011"/>
                    </a:lnTo>
                    <a:lnTo>
                      <a:pt x="1583" y="1021"/>
                    </a:lnTo>
                    <a:lnTo>
                      <a:pt x="1581" y="1031"/>
                    </a:lnTo>
                    <a:lnTo>
                      <a:pt x="1579" y="1041"/>
                    </a:lnTo>
                    <a:lnTo>
                      <a:pt x="1577" y="1050"/>
                    </a:lnTo>
                    <a:lnTo>
                      <a:pt x="1574" y="1060"/>
                    </a:lnTo>
                    <a:lnTo>
                      <a:pt x="1572" y="1070"/>
                    </a:lnTo>
                    <a:lnTo>
                      <a:pt x="1570" y="1080"/>
                    </a:lnTo>
                    <a:lnTo>
                      <a:pt x="1568" y="1090"/>
                    </a:lnTo>
                    <a:lnTo>
                      <a:pt x="1565" y="1099"/>
                    </a:lnTo>
                    <a:lnTo>
                      <a:pt x="1563" y="1109"/>
                    </a:lnTo>
                    <a:lnTo>
                      <a:pt x="1561" y="1119"/>
                    </a:lnTo>
                    <a:lnTo>
                      <a:pt x="1558" y="1128"/>
                    </a:lnTo>
                    <a:lnTo>
                      <a:pt x="1556" y="1138"/>
                    </a:lnTo>
                    <a:lnTo>
                      <a:pt x="1553" y="1148"/>
                    </a:lnTo>
                    <a:lnTo>
                      <a:pt x="1550" y="1157"/>
                    </a:lnTo>
                    <a:lnTo>
                      <a:pt x="1547" y="1167"/>
                    </a:lnTo>
                    <a:lnTo>
                      <a:pt x="1545" y="1176"/>
                    </a:lnTo>
                    <a:lnTo>
                      <a:pt x="1542" y="1186"/>
                    </a:lnTo>
                    <a:lnTo>
                      <a:pt x="1539" y="1195"/>
                    </a:lnTo>
                    <a:lnTo>
                      <a:pt x="1536" y="1205"/>
                    </a:lnTo>
                    <a:lnTo>
                      <a:pt x="1533" y="1214"/>
                    </a:lnTo>
                    <a:lnTo>
                      <a:pt x="1530" y="1223"/>
                    </a:lnTo>
                    <a:lnTo>
                      <a:pt x="1527" y="1233"/>
                    </a:lnTo>
                    <a:lnTo>
                      <a:pt x="1523" y="1242"/>
                    </a:lnTo>
                    <a:lnTo>
                      <a:pt x="1520" y="1251"/>
                    </a:lnTo>
                    <a:lnTo>
                      <a:pt x="1517" y="1261"/>
                    </a:lnTo>
                    <a:lnTo>
                      <a:pt x="1514" y="1270"/>
                    </a:lnTo>
                    <a:lnTo>
                      <a:pt x="1510" y="1279"/>
                    </a:lnTo>
                    <a:lnTo>
                      <a:pt x="1507" y="1289"/>
                    </a:lnTo>
                    <a:lnTo>
                      <a:pt x="1503" y="1298"/>
                    </a:lnTo>
                    <a:lnTo>
                      <a:pt x="1500" y="1307"/>
                    </a:lnTo>
                    <a:lnTo>
                      <a:pt x="1496" y="1316"/>
                    </a:lnTo>
                    <a:lnTo>
                      <a:pt x="1492" y="1325"/>
                    </a:lnTo>
                    <a:lnTo>
                      <a:pt x="1488" y="1334"/>
                    </a:lnTo>
                    <a:lnTo>
                      <a:pt x="1485" y="1343"/>
                    </a:lnTo>
                    <a:lnTo>
                      <a:pt x="1481" y="1352"/>
                    </a:lnTo>
                    <a:lnTo>
                      <a:pt x="1477" y="1361"/>
                    </a:lnTo>
                    <a:lnTo>
                      <a:pt x="1473" y="1370"/>
                    </a:lnTo>
                    <a:lnTo>
                      <a:pt x="1469" y="1379"/>
                    </a:lnTo>
                    <a:lnTo>
                      <a:pt x="1466" y="1387"/>
                    </a:lnTo>
                    <a:lnTo>
                      <a:pt x="1211" y="1270"/>
                    </a:lnTo>
                    <a:lnTo>
                      <a:pt x="1214" y="1264"/>
                    </a:lnTo>
                    <a:lnTo>
                      <a:pt x="1217" y="1256"/>
                    </a:lnTo>
                    <a:lnTo>
                      <a:pt x="1220" y="1249"/>
                    </a:lnTo>
                    <a:lnTo>
                      <a:pt x="1224" y="1242"/>
                    </a:lnTo>
                    <a:lnTo>
                      <a:pt x="1227" y="1234"/>
                    </a:lnTo>
                    <a:lnTo>
                      <a:pt x="1230" y="1227"/>
                    </a:lnTo>
                    <a:lnTo>
                      <a:pt x="1233" y="1219"/>
                    </a:lnTo>
                    <a:lnTo>
                      <a:pt x="1236" y="1212"/>
                    </a:lnTo>
                    <a:lnTo>
                      <a:pt x="1239" y="1204"/>
                    </a:lnTo>
                    <a:lnTo>
                      <a:pt x="1242" y="1197"/>
                    </a:lnTo>
                    <a:lnTo>
                      <a:pt x="1245" y="1189"/>
                    </a:lnTo>
                    <a:lnTo>
                      <a:pt x="1248" y="1181"/>
                    </a:lnTo>
                    <a:lnTo>
                      <a:pt x="1251" y="1174"/>
                    </a:lnTo>
                    <a:lnTo>
                      <a:pt x="1253" y="1166"/>
                    </a:lnTo>
                    <a:lnTo>
                      <a:pt x="1256" y="1158"/>
                    </a:lnTo>
                    <a:lnTo>
                      <a:pt x="1259" y="1151"/>
                    </a:lnTo>
                    <a:lnTo>
                      <a:pt x="1261" y="1143"/>
                    </a:lnTo>
                    <a:lnTo>
                      <a:pt x="1264" y="1135"/>
                    </a:lnTo>
                    <a:lnTo>
                      <a:pt x="1267" y="1128"/>
                    </a:lnTo>
                    <a:lnTo>
                      <a:pt x="1269" y="1120"/>
                    </a:lnTo>
                    <a:lnTo>
                      <a:pt x="1272" y="1112"/>
                    </a:lnTo>
                    <a:lnTo>
                      <a:pt x="1274" y="1104"/>
                    </a:lnTo>
                    <a:lnTo>
                      <a:pt x="1276" y="1096"/>
                    </a:lnTo>
                    <a:lnTo>
                      <a:pt x="1279" y="1088"/>
                    </a:lnTo>
                    <a:lnTo>
                      <a:pt x="1281" y="1081"/>
                    </a:lnTo>
                    <a:lnTo>
                      <a:pt x="1283" y="1073"/>
                    </a:lnTo>
                    <a:lnTo>
                      <a:pt x="1285" y="1065"/>
                    </a:lnTo>
                    <a:lnTo>
                      <a:pt x="1287" y="1057"/>
                    </a:lnTo>
                    <a:lnTo>
                      <a:pt x="1289" y="1049"/>
                    </a:lnTo>
                    <a:lnTo>
                      <a:pt x="1292" y="1041"/>
                    </a:lnTo>
                    <a:lnTo>
                      <a:pt x="1293" y="1033"/>
                    </a:lnTo>
                    <a:lnTo>
                      <a:pt x="1295" y="1025"/>
                    </a:lnTo>
                    <a:lnTo>
                      <a:pt x="1297" y="1017"/>
                    </a:lnTo>
                    <a:lnTo>
                      <a:pt x="1299" y="1009"/>
                    </a:lnTo>
                    <a:lnTo>
                      <a:pt x="1301" y="1001"/>
                    </a:lnTo>
                    <a:lnTo>
                      <a:pt x="1303" y="993"/>
                    </a:lnTo>
                    <a:lnTo>
                      <a:pt x="1304" y="985"/>
                    </a:lnTo>
                    <a:lnTo>
                      <a:pt x="1306" y="976"/>
                    </a:lnTo>
                    <a:lnTo>
                      <a:pt x="1308" y="968"/>
                    </a:lnTo>
                    <a:lnTo>
                      <a:pt x="1309" y="960"/>
                    </a:lnTo>
                    <a:lnTo>
                      <a:pt x="1311" y="952"/>
                    </a:lnTo>
                    <a:lnTo>
                      <a:pt x="1312" y="944"/>
                    </a:lnTo>
                    <a:lnTo>
                      <a:pt x="1313" y="935"/>
                    </a:lnTo>
                    <a:lnTo>
                      <a:pt x="1315" y="927"/>
                    </a:lnTo>
                    <a:lnTo>
                      <a:pt x="1316" y="919"/>
                    </a:lnTo>
                    <a:lnTo>
                      <a:pt x="1317" y="911"/>
                    </a:lnTo>
                    <a:lnTo>
                      <a:pt x="1318" y="902"/>
                    </a:lnTo>
                    <a:lnTo>
                      <a:pt x="1320" y="894"/>
                    </a:lnTo>
                    <a:lnTo>
                      <a:pt x="1321" y="886"/>
                    </a:lnTo>
                    <a:lnTo>
                      <a:pt x="1322" y="877"/>
                    </a:lnTo>
                    <a:lnTo>
                      <a:pt x="1323" y="869"/>
                    </a:lnTo>
                    <a:lnTo>
                      <a:pt x="1324" y="861"/>
                    </a:lnTo>
                    <a:lnTo>
                      <a:pt x="1325" y="852"/>
                    </a:lnTo>
                    <a:lnTo>
                      <a:pt x="1325" y="844"/>
                    </a:lnTo>
                    <a:lnTo>
                      <a:pt x="1326" y="836"/>
                    </a:lnTo>
                    <a:lnTo>
                      <a:pt x="1327" y="827"/>
                    </a:lnTo>
                    <a:lnTo>
                      <a:pt x="1327" y="819"/>
                    </a:lnTo>
                    <a:lnTo>
                      <a:pt x="1328" y="810"/>
                    </a:lnTo>
                    <a:lnTo>
                      <a:pt x="1329" y="802"/>
                    </a:lnTo>
                    <a:lnTo>
                      <a:pt x="1329" y="793"/>
                    </a:lnTo>
                    <a:lnTo>
                      <a:pt x="1330" y="785"/>
                    </a:lnTo>
                    <a:lnTo>
                      <a:pt x="1330" y="780"/>
                    </a:lnTo>
                    <a:close/>
                    <a:moveTo>
                      <a:pt x="1085" y="1488"/>
                    </a:moveTo>
                    <a:lnTo>
                      <a:pt x="1312" y="1652"/>
                    </a:lnTo>
                    <a:lnTo>
                      <a:pt x="1308" y="1657"/>
                    </a:lnTo>
                    <a:lnTo>
                      <a:pt x="1303" y="1665"/>
                    </a:lnTo>
                    <a:lnTo>
                      <a:pt x="1297" y="1672"/>
                    </a:lnTo>
                    <a:lnTo>
                      <a:pt x="1291" y="1680"/>
                    </a:lnTo>
                    <a:lnTo>
                      <a:pt x="1285" y="1688"/>
                    </a:lnTo>
                    <a:lnTo>
                      <a:pt x="1280" y="1696"/>
                    </a:lnTo>
                    <a:lnTo>
                      <a:pt x="1274" y="1703"/>
                    </a:lnTo>
                    <a:lnTo>
                      <a:pt x="1268" y="1711"/>
                    </a:lnTo>
                    <a:lnTo>
                      <a:pt x="1262" y="1718"/>
                    </a:lnTo>
                    <a:lnTo>
                      <a:pt x="1256" y="1726"/>
                    </a:lnTo>
                    <a:lnTo>
                      <a:pt x="1250" y="1733"/>
                    </a:lnTo>
                    <a:lnTo>
                      <a:pt x="1243" y="1741"/>
                    </a:lnTo>
                    <a:lnTo>
                      <a:pt x="1237" y="1748"/>
                    </a:lnTo>
                    <a:lnTo>
                      <a:pt x="1231" y="1756"/>
                    </a:lnTo>
                    <a:lnTo>
                      <a:pt x="1225" y="1763"/>
                    </a:lnTo>
                    <a:lnTo>
                      <a:pt x="1218" y="1770"/>
                    </a:lnTo>
                    <a:lnTo>
                      <a:pt x="1212" y="1778"/>
                    </a:lnTo>
                    <a:lnTo>
                      <a:pt x="1206" y="1785"/>
                    </a:lnTo>
                    <a:lnTo>
                      <a:pt x="1199" y="1792"/>
                    </a:lnTo>
                    <a:lnTo>
                      <a:pt x="1193" y="1799"/>
                    </a:lnTo>
                    <a:lnTo>
                      <a:pt x="1186" y="1807"/>
                    </a:lnTo>
                    <a:lnTo>
                      <a:pt x="1180" y="1814"/>
                    </a:lnTo>
                    <a:lnTo>
                      <a:pt x="1173" y="1821"/>
                    </a:lnTo>
                    <a:lnTo>
                      <a:pt x="1166" y="1828"/>
                    </a:lnTo>
                    <a:lnTo>
                      <a:pt x="1160" y="1835"/>
                    </a:lnTo>
                    <a:lnTo>
                      <a:pt x="1153" y="1842"/>
                    </a:lnTo>
                    <a:lnTo>
                      <a:pt x="1146" y="1848"/>
                    </a:lnTo>
                    <a:lnTo>
                      <a:pt x="1139" y="1855"/>
                    </a:lnTo>
                    <a:lnTo>
                      <a:pt x="1133" y="1862"/>
                    </a:lnTo>
                    <a:lnTo>
                      <a:pt x="1126" y="1869"/>
                    </a:lnTo>
                    <a:lnTo>
                      <a:pt x="1119" y="1876"/>
                    </a:lnTo>
                    <a:lnTo>
                      <a:pt x="1112" y="1882"/>
                    </a:lnTo>
                    <a:lnTo>
                      <a:pt x="1105" y="1889"/>
                    </a:lnTo>
                    <a:lnTo>
                      <a:pt x="1098" y="1895"/>
                    </a:lnTo>
                    <a:lnTo>
                      <a:pt x="1091" y="1902"/>
                    </a:lnTo>
                    <a:lnTo>
                      <a:pt x="1084" y="1909"/>
                    </a:lnTo>
                    <a:lnTo>
                      <a:pt x="1076" y="1915"/>
                    </a:lnTo>
                    <a:lnTo>
                      <a:pt x="1069" y="1921"/>
                    </a:lnTo>
                    <a:lnTo>
                      <a:pt x="1062" y="1928"/>
                    </a:lnTo>
                    <a:lnTo>
                      <a:pt x="1055" y="1934"/>
                    </a:lnTo>
                    <a:lnTo>
                      <a:pt x="1047" y="1941"/>
                    </a:lnTo>
                    <a:lnTo>
                      <a:pt x="1040" y="1947"/>
                    </a:lnTo>
                    <a:lnTo>
                      <a:pt x="1033" y="1953"/>
                    </a:lnTo>
                    <a:lnTo>
                      <a:pt x="1025" y="1959"/>
                    </a:lnTo>
                    <a:lnTo>
                      <a:pt x="1018" y="1965"/>
                    </a:lnTo>
                    <a:lnTo>
                      <a:pt x="1010" y="1971"/>
                    </a:lnTo>
                    <a:lnTo>
                      <a:pt x="1003" y="1977"/>
                    </a:lnTo>
                    <a:lnTo>
                      <a:pt x="995" y="1983"/>
                    </a:lnTo>
                    <a:lnTo>
                      <a:pt x="987" y="1989"/>
                    </a:lnTo>
                    <a:lnTo>
                      <a:pt x="980" y="1995"/>
                    </a:lnTo>
                    <a:lnTo>
                      <a:pt x="972" y="2001"/>
                    </a:lnTo>
                    <a:lnTo>
                      <a:pt x="964" y="2007"/>
                    </a:lnTo>
                    <a:lnTo>
                      <a:pt x="957" y="2013"/>
                    </a:lnTo>
                    <a:lnTo>
                      <a:pt x="949" y="2019"/>
                    </a:lnTo>
                    <a:lnTo>
                      <a:pt x="941" y="2024"/>
                    </a:lnTo>
                    <a:lnTo>
                      <a:pt x="933" y="2030"/>
                    </a:lnTo>
                    <a:lnTo>
                      <a:pt x="925" y="2035"/>
                    </a:lnTo>
                    <a:lnTo>
                      <a:pt x="917" y="2041"/>
                    </a:lnTo>
                    <a:lnTo>
                      <a:pt x="909" y="2046"/>
                    </a:lnTo>
                    <a:lnTo>
                      <a:pt x="901" y="2052"/>
                    </a:lnTo>
                    <a:lnTo>
                      <a:pt x="893" y="2057"/>
                    </a:lnTo>
                    <a:lnTo>
                      <a:pt x="885" y="2063"/>
                    </a:lnTo>
                    <a:lnTo>
                      <a:pt x="877" y="2068"/>
                    </a:lnTo>
                    <a:lnTo>
                      <a:pt x="871" y="2072"/>
                    </a:lnTo>
                    <a:lnTo>
                      <a:pt x="720" y="1836"/>
                    </a:lnTo>
                    <a:lnTo>
                      <a:pt x="724" y="1833"/>
                    </a:lnTo>
                    <a:lnTo>
                      <a:pt x="731" y="1829"/>
                    </a:lnTo>
                    <a:lnTo>
                      <a:pt x="738" y="1824"/>
                    </a:lnTo>
                    <a:lnTo>
                      <a:pt x="744" y="1820"/>
                    </a:lnTo>
                    <a:lnTo>
                      <a:pt x="751" y="1815"/>
                    </a:lnTo>
                    <a:lnTo>
                      <a:pt x="758" y="1811"/>
                    </a:lnTo>
                    <a:lnTo>
                      <a:pt x="764" y="1806"/>
                    </a:lnTo>
                    <a:lnTo>
                      <a:pt x="771" y="1802"/>
                    </a:lnTo>
                    <a:lnTo>
                      <a:pt x="777" y="1797"/>
                    </a:lnTo>
                    <a:lnTo>
                      <a:pt x="784" y="1792"/>
                    </a:lnTo>
                    <a:lnTo>
                      <a:pt x="790" y="1788"/>
                    </a:lnTo>
                    <a:lnTo>
                      <a:pt x="797" y="1783"/>
                    </a:lnTo>
                    <a:lnTo>
                      <a:pt x="803" y="1778"/>
                    </a:lnTo>
                    <a:lnTo>
                      <a:pt x="809" y="1773"/>
                    </a:lnTo>
                    <a:lnTo>
                      <a:pt x="816" y="1768"/>
                    </a:lnTo>
                    <a:lnTo>
                      <a:pt x="822" y="1763"/>
                    </a:lnTo>
                    <a:lnTo>
                      <a:pt x="828" y="1758"/>
                    </a:lnTo>
                    <a:lnTo>
                      <a:pt x="835" y="1753"/>
                    </a:lnTo>
                    <a:lnTo>
                      <a:pt x="841" y="1748"/>
                    </a:lnTo>
                    <a:lnTo>
                      <a:pt x="847" y="1743"/>
                    </a:lnTo>
                    <a:lnTo>
                      <a:pt x="853" y="1738"/>
                    </a:lnTo>
                    <a:lnTo>
                      <a:pt x="859" y="1733"/>
                    </a:lnTo>
                    <a:lnTo>
                      <a:pt x="865" y="1728"/>
                    </a:lnTo>
                    <a:lnTo>
                      <a:pt x="871" y="1723"/>
                    </a:lnTo>
                    <a:lnTo>
                      <a:pt x="877" y="1717"/>
                    </a:lnTo>
                    <a:lnTo>
                      <a:pt x="883" y="1712"/>
                    </a:lnTo>
                    <a:lnTo>
                      <a:pt x="889" y="1707"/>
                    </a:lnTo>
                    <a:lnTo>
                      <a:pt x="895" y="1701"/>
                    </a:lnTo>
                    <a:lnTo>
                      <a:pt x="901" y="1696"/>
                    </a:lnTo>
                    <a:lnTo>
                      <a:pt x="907" y="1691"/>
                    </a:lnTo>
                    <a:lnTo>
                      <a:pt x="913" y="1685"/>
                    </a:lnTo>
                    <a:lnTo>
                      <a:pt x="919" y="1680"/>
                    </a:lnTo>
                    <a:lnTo>
                      <a:pt x="924" y="1674"/>
                    </a:lnTo>
                    <a:lnTo>
                      <a:pt x="930" y="1669"/>
                    </a:lnTo>
                    <a:lnTo>
                      <a:pt x="936" y="1663"/>
                    </a:lnTo>
                    <a:lnTo>
                      <a:pt x="942" y="1657"/>
                    </a:lnTo>
                    <a:lnTo>
                      <a:pt x="947" y="1652"/>
                    </a:lnTo>
                    <a:lnTo>
                      <a:pt x="953" y="1646"/>
                    </a:lnTo>
                    <a:lnTo>
                      <a:pt x="958" y="1640"/>
                    </a:lnTo>
                    <a:lnTo>
                      <a:pt x="964" y="1634"/>
                    </a:lnTo>
                    <a:lnTo>
                      <a:pt x="969" y="1629"/>
                    </a:lnTo>
                    <a:lnTo>
                      <a:pt x="975" y="1623"/>
                    </a:lnTo>
                    <a:lnTo>
                      <a:pt x="980" y="1617"/>
                    </a:lnTo>
                    <a:lnTo>
                      <a:pt x="986" y="1611"/>
                    </a:lnTo>
                    <a:lnTo>
                      <a:pt x="991" y="1605"/>
                    </a:lnTo>
                    <a:lnTo>
                      <a:pt x="996" y="1599"/>
                    </a:lnTo>
                    <a:lnTo>
                      <a:pt x="1002" y="1593"/>
                    </a:lnTo>
                    <a:lnTo>
                      <a:pt x="1007" y="1587"/>
                    </a:lnTo>
                    <a:lnTo>
                      <a:pt x="1012" y="1581"/>
                    </a:lnTo>
                    <a:lnTo>
                      <a:pt x="1017" y="1575"/>
                    </a:lnTo>
                    <a:lnTo>
                      <a:pt x="1022" y="1569"/>
                    </a:lnTo>
                    <a:lnTo>
                      <a:pt x="1027" y="1563"/>
                    </a:lnTo>
                    <a:lnTo>
                      <a:pt x="1033" y="1557"/>
                    </a:lnTo>
                    <a:lnTo>
                      <a:pt x="1038" y="1550"/>
                    </a:lnTo>
                    <a:lnTo>
                      <a:pt x="1043" y="1544"/>
                    </a:lnTo>
                    <a:lnTo>
                      <a:pt x="1048" y="1538"/>
                    </a:lnTo>
                    <a:lnTo>
                      <a:pt x="1052" y="1531"/>
                    </a:lnTo>
                    <a:lnTo>
                      <a:pt x="1057" y="1525"/>
                    </a:lnTo>
                    <a:lnTo>
                      <a:pt x="1062" y="1519"/>
                    </a:lnTo>
                    <a:lnTo>
                      <a:pt x="1067" y="1512"/>
                    </a:lnTo>
                    <a:lnTo>
                      <a:pt x="1072" y="1506"/>
                    </a:lnTo>
                    <a:lnTo>
                      <a:pt x="1077" y="1500"/>
                    </a:lnTo>
                    <a:lnTo>
                      <a:pt x="1081" y="1493"/>
                    </a:lnTo>
                    <a:lnTo>
                      <a:pt x="1085" y="1488"/>
                    </a:lnTo>
                    <a:close/>
                    <a:moveTo>
                      <a:pt x="0" y="2327"/>
                    </a:moveTo>
                    <a:lnTo>
                      <a:pt x="0" y="204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4" name="Freeform 9"/>
              <p:cNvSpPr>
                <a:spLocks/>
              </p:cNvSpPr>
              <p:nvPr/>
            </p:nvSpPr>
            <p:spPr bwMode="auto">
              <a:xfrm>
                <a:off x="2182018" y="4039169"/>
                <a:ext cx="1161056" cy="1279099"/>
              </a:xfrm>
              <a:custGeom>
                <a:avLst/>
                <a:gdLst>
                  <a:gd name="T0" fmla="*/ 2617 w 2894"/>
                  <a:gd name="T1" fmla="*/ 111 h 3192"/>
                  <a:gd name="T2" fmla="*/ 2756 w 2894"/>
                  <a:gd name="T3" fmla="*/ 408 h 3192"/>
                  <a:gd name="T4" fmla="*/ 2894 w 2894"/>
                  <a:gd name="T5" fmla="*/ 705 h 3192"/>
                  <a:gd name="T6" fmla="*/ 2567 w 2894"/>
                  <a:gd name="T7" fmla="*/ 676 h 3192"/>
                  <a:gd name="T8" fmla="*/ 2241 w 2894"/>
                  <a:gd name="T9" fmla="*/ 647 h 3192"/>
                  <a:gd name="T10" fmla="*/ 2345 w 2894"/>
                  <a:gd name="T11" fmla="*/ 500 h 3192"/>
                  <a:gd name="T12" fmla="*/ 2097 w 2894"/>
                  <a:gd name="T13" fmla="*/ 371 h 3192"/>
                  <a:gd name="T14" fmla="*/ 1611 w 2894"/>
                  <a:gd name="T15" fmla="*/ 280 h 3192"/>
                  <a:gd name="T16" fmla="*/ 670 w 2894"/>
                  <a:gd name="T17" fmla="*/ 670 h 3192"/>
                  <a:gd name="T18" fmla="*/ 280 w 2894"/>
                  <a:gd name="T19" fmla="*/ 1611 h 3192"/>
                  <a:gd name="T20" fmla="*/ 584 w 2894"/>
                  <a:gd name="T21" fmla="*/ 2458 h 3192"/>
                  <a:gd name="T22" fmla="*/ 1357 w 2894"/>
                  <a:gd name="T23" fmla="*/ 2918 h 3192"/>
                  <a:gd name="T24" fmla="*/ 1304 w 2894"/>
                  <a:gd name="T25" fmla="*/ 3192 h 3192"/>
                  <a:gd name="T26" fmla="*/ 368 w 2894"/>
                  <a:gd name="T27" fmla="*/ 2635 h 3192"/>
                  <a:gd name="T28" fmla="*/ 0 w 2894"/>
                  <a:gd name="T29" fmla="*/ 1611 h 3192"/>
                  <a:gd name="T30" fmla="*/ 472 w 2894"/>
                  <a:gd name="T31" fmla="*/ 472 h 3192"/>
                  <a:gd name="T32" fmla="*/ 1611 w 2894"/>
                  <a:gd name="T33" fmla="*/ 0 h 3192"/>
                  <a:gd name="T34" fmla="*/ 2198 w 2894"/>
                  <a:gd name="T35" fmla="*/ 111 h 3192"/>
                  <a:gd name="T36" fmla="*/ 2505 w 2894"/>
                  <a:gd name="T37" fmla="*/ 271 h 3192"/>
                  <a:gd name="T38" fmla="*/ 2617 w 2894"/>
                  <a:gd name="T39" fmla="*/ 111 h 3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94" h="3192">
                    <a:moveTo>
                      <a:pt x="2617" y="111"/>
                    </a:moveTo>
                    <a:lnTo>
                      <a:pt x="2756" y="408"/>
                    </a:lnTo>
                    <a:lnTo>
                      <a:pt x="2894" y="705"/>
                    </a:lnTo>
                    <a:lnTo>
                      <a:pt x="2567" y="676"/>
                    </a:lnTo>
                    <a:lnTo>
                      <a:pt x="2241" y="647"/>
                    </a:lnTo>
                    <a:lnTo>
                      <a:pt x="2345" y="500"/>
                    </a:lnTo>
                    <a:cubicBezTo>
                      <a:pt x="2267" y="448"/>
                      <a:pt x="2183" y="405"/>
                      <a:pt x="2097" y="371"/>
                    </a:cubicBezTo>
                    <a:cubicBezTo>
                      <a:pt x="1944" y="312"/>
                      <a:pt x="1779" y="280"/>
                      <a:pt x="1611" y="280"/>
                    </a:cubicBezTo>
                    <a:cubicBezTo>
                      <a:pt x="1243" y="280"/>
                      <a:pt x="911" y="429"/>
                      <a:pt x="670" y="670"/>
                    </a:cubicBezTo>
                    <a:cubicBezTo>
                      <a:pt x="429" y="911"/>
                      <a:pt x="280" y="1243"/>
                      <a:pt x="280" y="1611"/>
                    </a:cubicBezTo>
                    <a:cubicBezTo>
                      <a:pt x="280" y="1930"/>
                      <a:pt x="393" y="2227"/>
                      <a:pt x="584" y="2458"/>
                    </a:cubicBezTo>
                    <a:cubicBezTo>
                      <a:pt x="775" y="2690"/>
                      <a:pt x="1044" y="2857"/>
                      <a:pt x="1357" y="2918"/>
                    </a:cubicBezTo>
                    <a:lnTo>
                      <a:pt x="1304" y="3192"/>
                    </a:lnTo>
                    <a:cubicBezTo>
                      <a:pt x="926" y="3119"/>
                      <a:pt x="600" y="2916"/>
                      <a:pt x="368" y="2635"/>
                    </a:cubicBezTo>
                    <a:cubicBezTo>
                      <a:pt x="137" y="2355"/>
                      <a:pt x="0" y="1996"/>
                      <a:pt x="0" y="1611"/>
                    </a:cubicBezTo>
                    <a:cubicBezTo>
                      <a:pt x="0" y="1166"/>
                      <a:pt x="180" y="763"/>
                      <a:pt x="472" y="472"/>
                    </a:cubicBezTo>
                    <a:cubicBezTo>
                      <a:pt x="763" y="180"/>
                      <a:pt x="1166" y="0"/>
                      <a:pt x="1611" y="0"/>
                    </a:cubicBezTo>
                    <a:cubicBezTo>
                      <a:pt x="1813" y="0"/>
                      <a:pt x="2012" y="38"/>
                      <a:pt x="2198" y="111"/>
                    </a:cubicBezTo>
                    <a:cubicBezTo>
                      <a:pt x="2305" y="153"/>
                      <a:pt x="2408" y="207"/>
                      <a:pt x="2505" y="271"/>
                    </a:cubicBezTo>
                    <a:lnTo>
                      <a:pt x="2617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17" name="Группа 16"/>
            <p:cNvGrpSpPr/>
            <p:nvPr/>
          </p:nvGrpSpPr>
          <p:grpSpPr>
            <a:xfrm>
              <a:off x="2789185" y="4426694"/>
              <a:ext cx="0" cy="756000"/>
              <a:chOff x="2791616" y="4277018"/>
              <a:chExt cx="0" cy="863494"/>
            </a:xfrm>
          </p:grpSpPr>
          <p:cxnSp>
            <p:nvCxnSpPr>
              <p:cNvPr id="21" name="Прямая соединительная линия 20"/>
              <p:cNvCxnSpPr/>
              <p:nvPr/>
            </p:nvCxnSpPr>
            <p:spPr>
              <a:xfrm>
                <a:off x="2791616" y="4277018"/>
                <a:ext cx="0" cy="431747"/>
              </a:xfrm>
              <a:prstGeom prst="line">
                <a:avLst/>
              </a:prstGeom>
              <a:ln w="76200" cap="rnd">
                <a:solidFill>
                  <a:srgbClr val="FF24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Прямая соединительная линия 21"/>
              <p:cNvCxnSpPr/>
              <p:nvPr/>
            </p:nvCxnSpPr>
            <p:spPr>
              <a:xfrm>
                <a:off x="2791616" y="4708765"/>
                <a:ext cx="0" cy="431747"/>
              </a:xfrm>
              <a:prstGeom prst="line">
                <a:avLst/>
              </a:prstGeom>
              <a:ln w="76200" cap="rnd">
                <a:solidFill>
                  <a:srgbClr val="FFFFFF">
                    <a:alpha val="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Группа 17"/>
            <p:cNvGrpSpPr/>
            <p:nvPr/>
          </p:nvGrpSpPr>
          <p:grpSpPr>
            <a:xfrm>
              <a:off x="2789185" y="4426694"/>
              <a:ext cx="0" cy="756000"/>
              <a:chOff x="2791616" y="4277018"/>
              <a:chExt cx="0" cy="863494"/>
            </a:xfrm>
          </p:grpSpPr>
          <p:cxnSp>
            <p:nvCxnSpPr>
              <p:cNvPr id="19" name="Прямая соединительная линия 18"/>
              <p:cNvCxnSpPr/>
              <p:nvPr/>
            </p:nvCxnSpPr>
            <p:spPr>
              <a:xfrm>
                <a:off x="2791616" y="4277018"/>
                <a:ext cx="0" cy="431747"/>
              </a:xfrm>
              <a:prstGeom prst="line">
                <a:avLst/>
              </a:prstGeom>
              <a:ln w="76200" cap="rnd">
                <a:solidFill>
                  <a:srgbClr val="FF24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Прямая соединительная линия 19"/>
              <p:cNvCxnSpPr/>
              <p:nvPr/>
            </p:nvCxnSpPr>
            <p:spPr>
              <a:xfrm>
                <a:off x="2791616" y="4708765"/>
                <a:ext cx="0" cy="431747"/>
              </a:xfrm>
              <a:prstGeom prst="line">
                <a:avLst/>
              </a:prstGeom>
              <a:ln w="76200" cap="rnd">
                <a:solidFill>
                  <a:srgbClr val="FFFFFF">
                    <a:alpha val="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5" name="Группа 24"/>
          <p:cNvGrpSpPr>
            <a:grpSpLocks noChangeAspect="1"/>
          </p:cNvGrpSpPr>
          <p:nvPr/>
        </p:nvGrpSpPr>
        <p:grpSpPr>
          <a:xfrm>
            <a:off x="374380" y="5049180"/>
            <a:ext cx="370218" cy="314442"/>
            <a:chOff x="3779912" y="3144143"/>
            <a:chExt cx="1597755" cy="1298760"/>
          </a:xfrm>
        </p:grpSpPr>
        <p:grpSp>
          <p:nvGrpSpPr>
            <p:cNvPr id="26" name="Группа 25"/>
            <p:cNvGrpSpPr/>
            <p:nvPr/>
          </p:nvGrpSpPr>
          <p:grpSpPr>
            <a:xfrm>
              <a:off x="3779912" y="3144143"/>
              <a:ext cx="1597755" cy="1298760"/>
              <a:chOff x="4267121" y="3612182"/>
              <a:chExt cx="814388" cy="763588"/>
            </a:xfrm>
          </p:grpSpPr>
          <p:sp>
            <p:nvSpPr>
              <p:cNvPr id="28" name="Freeform 109"/>
              <p:cNvSpPr>
                <a:spLocks noEditPoints="1"/>
              </p:cNvSpPr>
              <p:nvPr/>
            </p:nvSpPr>
            <p:spPr bwMode="auto">
              <a:xfrm>
                <a:off x="4267121" y="3713782"/>
                <a:ext cx="254000" cy="661988"/>
              </a:xfrm>
              <a:custGeom>
                <a:avLst/>
                <a:gdLst>
                  <a:gd name="T0" fmla="*/ 564 w 705"/>
                  <a:gd name="T1" fmla="*/ 0 h 1835"/>
                  <a:gd name="T2" fmla="*/ 141 w 705"/>
                  <a:gd name="T3" fmla="*/ 0 h 1835"/>
                  <a:gd name="T4" fmla="*/ 0 w 705"/>
                  <a:gd name="T5" fmla="*/ 141 h 1835"/>
                  <a:gd name="T6" fmla="*/ 0 w 705"/>
                  <a:gd name="T7" fmla="*/ 1694 h 1835"/>
                  <a:gd name="T8" fmla="*/ 141 w 705"/>
                  <a:gd name="T9" fmla="*/ 1835 h 1835"/>
                  <a:gd name="T10" fmla="*/ 564 w 705"/>
                  <a:gd name="T11" fmla="*/ 1835 h 1835"/>
                  <a:gd name="T12" fmla="*/ 705 w 705"/>
                  <a:gd name="T13" fmla="*/ 1694 h 1835"/>
                  <a:gd name="T14" fmla="*/ 705 w 705"/>
                  <a:gd name="T15" fmla="*/ 141 h 1835"/>
                  <a:gd name="T16" fmla="*/ 564 w 705"/>
                  <a:gd name="T17" fmla="*/ 0 h 1835"/>
                  <a:gd name="T18" fmla="*/ 211 w 705"/>
                  <a:gd name="T19" fmla="*/ 1411 h 1835"/>
                  <a:gd name="T20" fmla="*/ 141 w 705"/>
                  <a:gd name="T21" fmla="*/ 1341 h 1835"/>
                  <a:gd name="T22" fmla="*/ 211 w 705"/>
                  <a:gd name="T23" fmla="*/ 1270 h 1835"/>
                  <a:gd name="T24" fmla="*/ 282 w 705"/>
                  <a:gd name="T25" fmla="*/ 1341 h 1835"/>
                  <a:gd name="T26" fmla="*/ 211 w 705"/>
                  <a:gd name="T27" fmla="*/ 1411 h 1835"/>
                  <a:gd name="T28" fmla="*/ 564 w 705"/>
                  <a:gd name="T29" fmla="*/ 565 h 1835"/>
                  <a:gd name="T30" fmla="*/ 141 w 705"/>
                  <a:gd name="T31" fmla="*/ 565 h 1835"/>
                  <a:gd name="T32" fmla="*/ 141 w 705"/>
                  <a:gd name="T33" fmla="*/ 424 h 1835"/>
                  <a:gd name="T34" fmla="*/ 564 w 705"/>
                  <a:gd name="T35" fmla="*/ 424 h 1835"/>
                  <a:gd name="T36" fmla="*/ 564 w 705"/>
                  <a:gd name="T37" fmla="*/ 565 h 1835"/>
                  <a:gd name="T38" fmla="*/ 564 w 705"/>
                  <a:gd name="T39" fmla="*/ 283 h 1835"/>
                  <a:gd name="T40" fmla="*/ 141 w 705"/>
                  <a:gd name="T41" fmla="*/ 283 h 1835"/>
                  <a:gd name="T42" fmla="*/ 141 w 705"/>
                  <a:gd name="T43" fmla="*/ 141 h 1835"/>
                  <a:gd name="T44" fmla="*/ 564 w 705"/>
                  <a:gd name="T45" fmla="*/ 141 h 1835"/>
                  <a:gd name="T46" fmla="*/ 564 w 705"/>
                  <a:gd name="T47" fmla="*/ 283 h 18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05" h="1835">
                    <a:moveTo>
                      <a:pt x="564" y="0"/>
                    </a:moveTo>
                    <a:lnTo>
                      <a:pt x="141" y="0"/>
                    </a:lnTo>
                    <a:cubicBezTo>
                      <a:pt x="63" y="0"/>
                      <a:pt x="0" y="64"/>
                      <a:pt x="0" y="141"/>
                    </a:cubicBezTo>
                    <a:lnTo>
                      <a:pt x="0" y="1694"/>
                    </a:lnTo>
                    <a:cubicBezTo>
                      <a:pt x="0" y="1772"/>
                      <a:pt x="63" y="1835"/>
                      <a:pt x="141" y="1835"/>
                    </a:cubicBezTo>
                    <a:lnTo>
                      <a:pt x="564" y="1835"/>
                    </a:lnTo>
                    <a:cubicBezTo>
                      <a:pt x="642" y="1835"/>
                      <a:pt x="705" y="1772"/>
                      <a:pt x="705" y="1694"/>
                    </a:cubicBezTo>
                    <a:lnTo>
                      <a:pt x="705" y="141"/>
                    </a:lnTo>
                    <a:cubicBezTo>
                      <a:pt x="705" y="64"/>
                      <a:pt x="642" y="0"/>
                      <a:pt x="564" y="0"/>
                    </a:cubicBezTo>
                    <a:close/>
                    <a:moveTo>
                      <a:pt x="211" y="1411"/>
                    </a:moveTo>
                    <a:cubicBezTo>
                      <a:pt x="172" y="1411"/>
                      <a:pt x="141" y="1380"/>
                      <a:pt x="141" y="1341"/>
                    </a:cubicBezTo>
                    <a:cubicBezTo>
                      <a:pt x="141" y="1302"/>
                      <a:pt x="172" y="1270"/>
                      <a:pt x="211" y="1270"/>
                    </a:cubicBezTo>
                    <a:cubicBezTo>
                      <a:pt x="250" y="1270"/>
                      <a:pt x="282" y="1302"/>
                      <a:pt x="282" y="1341"/>
                    </a:cubicBezTo>
                    <a:cubicBezTo>
                      <a:pt x="282" y="1380"/>
                      <a:pt x="250" y="1411"/>
                      <a:pt x="211" y="1411"/>
                    </a:cubicBezTo>
                    <a:close/>
                    <a:moveTo>
                      <a:pt x="564" y="565"/>
                    </a:moveTo>
                    <a:lnTo>
                      <a:pt x="141" y="565"/>
                    </a:lnTo>
                    <a:lnTo>
                      <a:pt x="141" y="424"/>
                    </a:lnTo>
                    <a:lnTo>
                      <a:pt x="564" y="424"/>
                    </a:lnTo>
                    <a:lnTo>
                      <a:pt x="564" y="565"/>
                    </a:lnTo>
                    <a:close/>
                    <a:moveTo>
                      <a:pt x="564" y="283"/>
                    </a:moveTo>
                    <a:lnTo>
                      <a:pt x="141" y="283"/>
                    </a:lnTo>
                    <a:lnTo>
                      <a:pt x="141" y="141"/>
                    </a:lnTo>
                    <a:lnTo>
                      <a:pt x="564" y="141"/>
                    </a:lnTo>
                    <a:lnTo>
                      <a:pt x="564" y="28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grpSp>
            <p:nvGrpSpPr>
              <p:cNvPr id="29" name="Группа 28"/>
              <p:cNvGrpSpPr/>
              <p:nvPr/>
            </p:nvGrpSpPr>
            <p:grpSpPr>
              <a:xfrm>
                <a:off x="4368721" y="3612182"/>
                <a:ext cx="712788" cy="712788"/>
                <a:chOff x="4368721" y="3612182"/>
                <a:chExt cx="712788" cy="712788"/>
              </a:xfrm>
            </p:grpSpPr>
            <p:sp>
              <p:nvSpPr>
                <p:cNvPr id="30" name="Freeform 110"/>
                <p:cNvSpPr>
                  <a:spLocks/>
                </p:cNvSpPr>
                <p:nvPr/>
              </p:nvSpPr>
              <p:spPr bwMode="auto">
                <a:xfrm>
                  <a:off x="4597321" y="4223370"/>
                  <a:ext cx="254000" cy="101600"/>
                </a:xfrm>
                <a:custGeom>
                  <a:avLst/>
                  <a:gdLst>
                    <a:gd name="T0" fmla="*/ 564 w 706"/>
                    <a:gd name="T1" fmla="*/ 142 h 283"/>
                    <a:gd name="T2" fmla="*/ 564 w 706"/>
                    <a:gd name="T3" fmla="*/ 0 h 283"/>
                    <a:gd name="T4" fmla="*/ 141 w 706"/>
                    <a:gd name="T5" fmla="*/ 0 h 283"/>
                    <a:gd name="T6" fmla="*/ 141 w 706"/>
                    <a:gd name="T7" fmla="*/ 142 h 283"/>
                    <a:gd name="T8" fmla="*/ 0 w 706"/>
                    <a:gd name="T9" fmla="*/ 283 h 283"/>
                    <a:gd name="T10" fmla="*/ 706 w 706"/>
                    <a:gd name="T11" fmla="*/ 283 h 283"/>
                    <a:gd name="T12" fmla="*/ 564 w 706"/>
                    <a:gd name="T13" fmla="*/ 142 h 2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06" h="283">
                      <a:moveTo>
                        <a:pt x="564" y="142"/>
                      </a:moveTo>
                      <a:lnTo>
                        <a:pt x="564" y="0"/>
                      </a:lnTo>
                      <a:lnTo>
                        <a:pt x="141" y="0"/>
                      </a:lnTo>
                      <a:lnTo>
                        <a:pt x="141" y="142"/>
                      </a:lnTo>
                      <a:cubicBezTo>
                        <a:pt x="63" y="142"/>
                        <a:pt x="0" y="205"/>
                        <a:pt x="0" y="283"/>
                      </a:cubicBezTo>
                      <a:lnTo>
                        <a:pt x="706" y="283"/>
                      </a:lnTo>
                      <a:cubicBezTo>
                        <a:pt x="706" y="205"/>
                        <a:pt x="642" y="142"/>
                        <a:pt x="564" y="142"/>
                      </a:cubicBezTo>
                      <a:close/>
                    </a:path>
                  </a:pathLst>
                </a:custGeom>
                <a:solidFill>
                  <a:srgbClr val="FF24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" name="Freeform 111"/>
                <p:cNvSpPr>
                  <a:spLocks noEditPoints="1"/>
                </p:cNvSpPr>
                <p:nvPr/>
              </p:nvSpPr>
              <p:spPr bwMode="auto">
                <a:xfrm>
                  <a:off x="4368721" y="3612182"/>
                  <a:ext cx="712788" cy="560388"/>
                </a:xfrm>
                <a:custGeom>
                  <a:avLst/>
                  <a:gdLst>
                    <a:gd name="T0" fmla="*/ 1834 w 1976"/>
                    <a:gd name="T1" fmla="*/ 0 h 1552"/>
                    <a:gd name="T2" fmla="*/ 141 w 1976"/>
                    <a:gd name="T3" fmla="*/ 0 h 1552"/>
                    <a:gd name="T4" fmla="*/ 0 w 1976"/>
                    <a:gd name="T5" fmla="*/ 141 h 1552"/>
                    <a:gd name="T6" fmla="*/ 1834 w 1976"/>
                    <a:gd name="T7" fmla="*/ 141 h 1552"/>
                    <a:gd name="T8" fmla="*/ 1834 w 1976"/>
                    <a:gd name="T9" fmla="*/ 1270 h 1552"/>
                    <a:gd name="T10" fmla="*/ 564 w 1976"/>
                    <a:gd name="T11" fmla="*/ 1270 h 1552"/>
                    <a:gd name="T12" fmla="*/ 564 w 1976"/>
                    <a:gd name="T13" fmla="*/ 1552 h 1552"/>
                    <a:gd name="T14" fmla="*/ 1834 w 1976"/>
                    <a:gd name="T15" fmla="*/ 1552 h 1552"/>
                    <a:gd name="T16" fmla="*/ 1976 w 1976"/>
                    <a:gd name="T17" fmla="*/ 1411 h 1552"/>
                    <a:gd name="T18" fmla="*/ 1976 w 1976"/>
                    <a:gd name="T19" fmla="*/ 141 h 1552"/>
                    <a:gd name="T20" fmla="*/ 1834 w 1976"/>
                    <a:gd name="T21" fmla="*/ 0 h 1552"/>
                    <a:gd name="T22" fmla="*/ 988 w 1976"/>
                    <a:gd name="T23" fmla="*/ 1482 h 1552"/>
                    <a:gd name="T24" fmla="*/ 917 w 1976"/>
                    <a:gd name="T25" fmla="*/ 1411 h 1552"/>
                    <a:gd name="T26" fmla="*/ 988 w 1976"/>
                    <a:gd name="T27" fmla="*/ 1341 h 1552"/>
                    <a:gd name="T28" fmla="*/ 1058 w 1976"/>
                    <a:gd name="T29" fmla="*/ 1411 h 1552"/>
                    <a:gd name="T30" fmla="*/ 988 w 1976"/>
                    <a:gd name="T31" fmla="*/ 1482 h 15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76" h="1552">
                      <a:moveTo>
                        <a:pt x="1834" y="0"/>
                      </a:moveTo>
                      <a:lnTo>
                        <a:pt x="141" y="0"/>
                      </a:lnTo>
                      <a:cubicBezTo>
                        <a:pt x="63" y="0"/>
                        <a:pt x="0" y="63"/>
                        <a:pt x="0" y="141"/>
                      </a:cubicBezTo>
                      <a:lnTo>
                        <a:pt x="1834" y="141"/>
                      </a:lnTo>
                      <a:lnTo>
                        <a:pt x="1834" y="1270"/>
                      </a:lnTo>
                      <a:lnTo>
                        <a:pt x="564" y="1270"/>
                      </a:lnTo>
                      <a:lnTo>
                        <a:pt x="564" y="1552"/>
                      </a:lnTo>
                      <a:lnTo>
                        <a:pt x="1834" y="1552"/>
                      </a:lnTo>
                      <a:cubicBezTo>
                        <a:pt x="1912" y="1552"/>
                        <a:pt x="1976" y="1489"/>
                        <a:pt x="1976" y="1411"/>
                      </a:cubicBezTo>
                      <a:lnTo>
                        <a:pt x="1976" y="141"/>
                      </a:lnTo>
                      <a:cubicBezTo>
                        <a:pt x="1976" y="63"/>
                        <a:pt x="1912" y="0"/>
                        <a:pt x="1834" y="0"/>
                      </a:cubicBezTo>
                      <a:close/>
                      <a:moveTo>
                        <a:pt x="988" y="1482"/>
                      </a:moveTo>
                      <a:cubicBezTo>
                        <a:pt x="949" y="1482"/>
                        <a:pt x="917" y="1450"/>
                        <a:pt x="917" y="1411"/>
                      </a:cubicBezTo>
                      <a:cubicBezTo>
                        <a:pt x="917" y="1372"/>
                        <a:pt x="949" y="1341"/>
                        <a:pt x="988" y="1341"/>
                      </a:cubicBezTo>
                      <a:cubicBezTo>
                        <a:pt x="1027" y="1341"/>
                        <a:pt x="1058" y="1372"/>
                        <a:pt x="1058" y="1411"/>
                      </a:cubicBezTo>
                      <a:cubicBezTo>
                        <a:pt x="1058" y="1450"/>
                        <a:pt x="1027" y="1482"/>
                        <a:pt x="988" y="1482"/>
                      </a:cubicBezTo>
                      <a:close/>
                    </a:path>
                  </a:pathLst>
                </a:custGeom>
                <a:solidFill>
                  <a:srgbClr val="FF24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</p:grpSp>
        </p:grpSp>
        <p:sp>
          <p:nvSpPr>
            <p:cNvPr id="27" name="Oval 145"/>
            <p:cNvSpPr>
              <a:spLocks noChangeArrowheads="1"/>
            </p:cNvSpPr>
            <p:nvPr/>
          </p:nvSpPr>
          <p:spPr bwMode="auto">
            <a:xfrm>
              <a:off x="3874207" y="4100946"/>
              <a:ext cx="85725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32" name="Группа 31"/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392786" y="5445224"/>
            <a:ext cx="378871" cy="334226"/>
            <a:chOff x="5555373" y="1835374"/>
            <a:chExt cx="1231900" cy="1131888"/>
          </a:xfrm>
        </p:grpSpPr>
        <p:grpSp>
          <p:nvGrpSpPr>
            <p:cNvPr id="33" name="Группа 32"/>
            <p:cNvGrpSpPr/>
            <p:nvPr/>
          </p:nvGrpSpPr>
          <p:grpSpPr>
            <a:xfrm>
              <a:off x="5555373" y="2130649"/>
              <a:ext cx="393700" cy="684213"/>
              <a:chOff x="2212976" y="2042888"/>
              <a:chExt cx="393700" cy="684213"/>
            </a:xfrm>
            <a:solidFill>
              <a:schemeClr val="accent3"/>
            </a:solidFill>
          </p:grpSpPr>
          <p:sp>
            <p:nvSpPr>
              <p:cNvPr id="46" name="Freeform 11"/>
              <p:cNvSpPr>
                <a:spLocks/>
              </p:cNvSpPr>
              <p:nvPr/>
            </p:nvSpPr>
            <p:spPr bwMode="auto">
              <a:xfrm>
                <a:off x="2212976" y="2344513"/>
                <a:ext cx="377825" cy="382588"/>
              </a:xfrm>
              <a:custGeom>
                <a:avLst/>
                <a:gdLst>
                  <a:gd name="T0" fmla="*/ 1050 w 1050"/>
                  <a:gd name="T1" fmla="*/ 346 h 1060"/>
                  <a:gd name="T2" fmla="*/ 897 w 1050"/>
                  <a:gd name="T3" fmla="*/ 2 h 1060"/>
                  <a:gd name="T4" fmla="*/ 859 w 1050"/>
                  <a:gd name="T5" fmla="*/ 0 h 1060"/>
                  <a:gd name="T6" fmla="*/ 517 w 1050"/>
                  <a:gd name="T7" fmla="*/ 0 h 1060"/>
                  <a:gd name="T8" fmla="*/ 0 w 1050"/>
                  <a:gd name="T9" fmla="*/ 516 h 1060"/>
                  <a:gd name="T10" fmla="*/ 0 w 1050"/>
                  <a:gd name="T11" fmla="*/ 935 h 1060"/>
                  <a:gd name="T12" fmla="*/ 1 w 1050"/>
                  <a:gd name="T13" fmla="*/ 942 h 1060"/>
                  <a:gd name="T14" fmla="*/ 30 w 1050"/>
                  <a:gd name="T15" fmla="*/ 951 h 1060"/>
                  <a:gd name="T16" fmla="*/ 612 w 1050"/>
                  <a:gd name="T17" fmla="*/ 1060 h 1060"/>
                  <a:gd name="T18" fmla="*/ 612 w 1050"/>
                  <a:gd name="T19" fmla="*/ 934 h 1060"/>
                  <a:gd name="T20" fmla="*/ 1050 w 1050"/>
                  <a:gd name="T21" fmla="*/ 346 h 10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0" h="1060">
                    <a:moveTo>
                      <a:pt x="1050" y="346"/>
                    </a:moveTo>
                    <a:cubicBezTo>
                      <a:pt x="959" y="259"/>
                      <a:pt x="901" y="137"/>
                      <a:pt x="897" y="2"/>
                    </a:cubicBezTo>
                    <a:cubicBezTo>
                      <a:pt x="884" y="1"/>
                      <a:pt x="872" y="0"/>
                      <a:pt x="859" y="0"/>
                    </a:cubicBezTo>
                    <a:lnTo>
                      <a:pt x="517" y="0"/>
                    </a:lnTo>
                    <a:cubicBezTo>
                      <a:pt x="232" y="0"/>
                      <a:pt x="0" y="231"/>
                      <a:pt x="0" y="516"/>
                    </a:cubicBezTo>
                    <a:lnTo>
                      <a:pt x="0" y="935"/>
                    </a:lnTo>
                    <a:lnTo>
                      <a:pt x="1" y="942"/>
                    </a:lnTo>
                    <a:lnTo>
                      <a:pt x="30" y="951"/>
                    </a:lnTo>
                    <a:cubicBezTo>
                      <a:pt x="248" y="1019"/>
                      <a:pt x="443" y="1050"/>
                      <a:pt x="612" y="1060"/>
                    </a:cubicBezTo>
                    <a:lnTo>
                      <a:pt x="612" y="934"/>
                    </a:lnTo>
                    <a:cubicBezTo>
                      <a:pt x="612" y="656"/>
                      <a:pt x="797" y="421"/>
                      <a:pt x="1050" y="3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7" name="Freeform 12"/>
              <p:cNvSpPr>
                <a:spLocks/>
              </p:cNvSpPr>
              <p:nvPr/>
            </p:nvSpPr>
            <p:spPr bwMode="auto">
              <a:xfrm>
                <a:off x="2314576" y="2042888"/>
                <a:ext cx="292100" cy="290513"/>
              </a:xfrm>
              <a:custGeom>
                <a:avLst/>
                <a:gdLst>
                  <a:gd name="T0" fmla="*/ 404 w 807"/>
                  <a:gd name="T1" fmla="*/ 807 h 807"/>
                  <a:gd name="T2" fmla="*/ 619 w 807"/>
                  <a:gd name="T3" fmla="*/ 745 h 807"/>
                  <a:gd name="T4" fmla="*/ 806 w 807"/>
                  <a:gd name="T5" fmla="*/ 426 h 807"/>
                  <a:gd name="T6" fmla="*/ 807 w 807"/>
                  <a:gd name="T7" fmla="*/ 403 h 807"/>
                  <a:gd name="T8" fmla="*/ 404 w 807"/>
                  <a:gd name="T9" fmla="*/ 0 h 807"/>
                  <a:gd name="T10" fmla="*/ 0 w 807"/>
                  <a:gd name="T11" fmla="*/ 403 h 807"/>
                  <a:gd name="T12" fmla="*/ 404 w 807"/>
                  <a:gd name="T13" fmla="*/ 807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07" h="807">
                    <a:moveTo>
                      <a:pt x="404" y="807"/>
                    </a:moveTo>
                    <a:cubicBezTo>
                      <a:pt x="483" y="807"/>
                      <a:pt x="556" y="784"/>
                      <a:pt x="619" y="745"/>
                    </a:cubicBezTo>
                    <a:cubicBezTo>
                      <a:pt x="638" y="616"/>
                      <a:pt x="707" y="503"/>
                      <a:pt x="806" y="426"/>
                    </a:cubicBezTo>
                    <a:cubicBezTo>
                      <a:pt x="807" y="419"/>
                      <a:pt x="807" y="411"/>
                      <a:pt x="807" y="403"/>
                    </a:cubicBezTo>
                    <a:cubicBezTo>
                      <a:pt x="807" y="181"/>
                      <a:pt x="627" y="0"/>
                      <a:pt x="404" y="0"/>
                    </a:cubicBezTo>
                    <a:cubicBezTo>
                      <a:pt x="181" y="0"/>
                      <a:pt x="0" y="181"/>
                      <a:pt x="0" y="403"/>
                    </a:cubicBezTo>
                    <a:cubicBezTo>
                      <a:pt x="0" y="626"/>
                      <a:pt x="181" y="807"/>
                      <a:pt x="404" y="80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34" name="Группа 33"/>
            <p:cNvGrpSpPr/>
            <p:nvPr/>
          </p:nvGrpSpPr>
          <p:grpSpPr>
            <a:xfrm>
              <a:off x="6393573" y="1983012"/>
              <a:ext cx="393700" cy="685800"/>
              <a:chOff x="3051176" y="1895251"/>
              <a:chExt cx="393700" cy="685800"/>
            </a:xfrm>
            <a:solidFill>
              <a:schemeClr val="accent2">
                <a:lumMod val="60000"/>
                <a:lumOff val="40000"/>
              </a:schemeClr>
            </a:solidFill>
          </p:grpSpPr>
          <p:sp>
            <p:nvSpPr>
              <p:cNvPr id="44" name="Freeform 13"/>
              <p:cNvSpPr>
                <a:spLocks/>
              </p:cNvSpPr>
              <p:nvPr/>
            </p:nvSpPr>
            <p:spPr bwMode="auto">
              <a:xfrm>
                <a:off x="3081338" y="2196876"/>
                <a:ext cx="363538" cy="384175"/>
              </a:xfrm>
              <a:custGeom>
                <a:avLst/>
                <a:gdLst>
                  <a:gd name="T0" fmla="*/ 493 w 1010"/>
                  <a:gd name="T1" fmla="*/ 0 h 1064"/>
                  <a:gd name="T2" fmla="*/ 153 w 1010"/>
                  <a:gd name="T3" fmla="*/ 0 h 1064"/>
                  <a:gd name="T4" fmla="*/ 0 w 1010"/>
                  <a:gd name="T5" fmla="*/ 347 h 1064"/>
                  <a:gd name="T6" fmla="*/ 438 w 1010"/>
                  <a:gd name="T7" fmla="*/ 935 h 1064"/>
                  <a:gd name="T8" fmla="*/ 438 w 1010"/>
                  <a:gd name="T9" fmla="*/ 1064 h 1064"/>
                  <a:gd name="T10" fmla="*/ 980 w 1010"/>
                  <a:gd name="T11" fmla="*/ 950 h 1064"/>
                  <a:gd name="T12" fmla="*/ 1007 w 1010"/>
                  <a:gd name="T13" fmla="*/ 936 h 1064"/>
                  <a:gd name="T14" fmla="*/ 1010 w 1010"/>
                  <a:gd name="T15" fmla="*/ 936 h 1064"/>
                  <a:gd name="T16" fmla="*/ 1010 w 1010"/>
                  <a:gd name="T17" fmla="*/ 517 h 1064"/>
                  <a:gd name="T18" fmla="*/ 493 w 1010"/>
                  <a:gd name="T19" fmla="*/ 0 h 10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10" h="1064">
                    <a:moveTo>
                      <a:pt x="493" y="0"/>
                    </a:moveTo>
                    <a:lnTo>
                      <a:pt x="153" y="0"/>
                    </a:lnTo>
                    <a:cubicBezTo>
                      <a:pt x="150" y="137"/>
                      <a:pt x="92" y="259"/>
                      <a:pt x="0" y="347"/>
                    </a:cubicBezTo>
                    <a:cubicBezTo>
                      <a:pt x="253" y="422"/>
                      <a:pt x="438" y="657"/>
                      <a:pt x="438" y="935"/>
                    </a:cubicBezTo>
                    <a:lnTo>
                      <a:pt x="438" y="1064"/>
                    </a:lnTo>
                    <a:cubicBezTo>
                      <a:pt x="774" y="1051"/>
                      <a:pt x="968" y="956"/>
                      <a:pt x="980" y="950"/>
                    </a:cubicBezTo>
                    <a:lnTo>
                      <a:pt x="1007" y="936"/>
                    </a:lnTo>
                    <a:lnTo>
                      <a:pt x="1010" y="936"/>
                    </a:lnTo>
                    <a:lnTo>
                      <a:pt x="1010" y="517"/>
                    </a:lnTo>
                    <a:cubicBezTo>
                      <a:pt x="1010" y="232"/>
                      <a:pt x="778" y="0"/>
                      <a:pt x="49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" name="Freeform 14"/>
              <p:cNvSpPr>
                <a:spLocks/>
              </p:cNvSpPr>
              <p:nvPr/>
            </p:nvSpPr>
            <p:spPr bwMode="auto">
              <a:xfrm>
                <a:off x="3051176" y="1895251"/>
                <a:ext cx="292100" cy="292100"/>
              </a:xfrm>
              <a:custGeom>
                <a:avLst/>
                <a:gdLst>
                  <a:gd name="T0" fmla="*/ 0 w 807"/>
                  <a:gd name="T1" fmla="*/ 397 h 807"/>
                  <a:gd name="T2" fmla="*/ 233 w 807"/>
                  <a:gd name="T3" fmla="*/ 769 h 807"/>
                  <a:gd name="T4" fmla="*/ 403 w 807"/>
                  <a:gd name="T5" fmla="*/ 807 h 807"/>
                  <a:gd name="T6" fmla="*/ 807 w 807"/>
                  <a:gd name="T7" fmla="*/ 403 h 807"/>
                  <a:gd name="T8" fmla="*/ 403 w 807"/>
                  <a:gd name="T9" fmla="*/ 0 h 807"/>
                  <a:gd name="T10" fmla="*/ 0 w 807"/>
                  <a:gd name="T11" fmla="*/ 397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07" h="807">
                    <a:moveTo>
                      <a:pt x="0" y="397"/>
                    </a:moveTo>
                    <a:cubicBezTo>
                      <a:pt x="127" y="477"/>
                      <a:pt x="216" y="612"/>
                      <a:pt x="233" y="769"/>
                    </a:cubicBezTo>
                    <a:cubicBezTo>
                      <a:pt x="284" y="793"/>
                      <a:pt x="342" y="807"/>
                      <a:pt x="403" y="807"/>
                    </a:cubicBezTo>
                    <a:cubicBezTo>
                      <a:pt x="626" y="807"/>
                      <a:pt x="807" y="626"/>
                      <a:pt x="807" y="403"/>
                    </a:cubicBezTo>
                    <a:cubicBezTo>
                      <a:pt x="807" y="181"/>
                      <a:pt x="626" y="0"/>
                      <a:pt x="403" y="0"/>
                    </a:cubicBezTo>
                    <a:cubicBezTo>
                      <a:pt x="182" y="0"/>
                      <a:pt x="3" y="177"/>
                      <a:pt x="0" y="3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35" name="Группа 34"/>
            <p:cNvGrpSpPr/>
            <p:nvPr/>
          </p:nvGrpSpPr>
          <p:grpSpPr>
            <a:xfrm>
              <a:off x="5810960" y="2281462"/>
              <a:ext cx="495300" cy="685800"/>
              <a:chOff x="2468563" y="2193701"/>
              <a:chExt cx="495300" cy="685800"/>
            </a:xfrm>
            <a:solidFill>
              <a:srgbClr val="FF2400"/>
            </a:solidFill>
          </p:grpSpPr>
          <p:sp>
            <p:nvSpPr>
              <p:cNvPr id="42" name="Freeform 16"/>
              <p:cNvSpPr>
                <a:spLocks/>
              </p:cNvSpPr>
              <p:nvPr/>
            </p:nvSpPr>
            <p:spPr bwMode="auto">
              <a:xfrm>
                <a:off x="2468563" y="2493738"/>
                <a:ext cx="495300" cy="385763"/>
              </a:xfrm>
              <a:custGeom>
                <a:avLst/>
                <a:gdLst>
                  <a:gd name="T0" fmla="*/ 859 w 1376"/>
                  <a:gd name="T1" fmla="*/ 0 h 1065"/>
                  <a:gd name="T2" fmla="*/ 517 w 1376"/>
                  <a:gd name="T3" fmla="*/ 0 h 1065"/>
                  <a:gd name="T4" fmla="*/ 0 w 1376"/>
                  <a:gd name="T5" fmla="*/ 517 h 1065"/>
                  <a:gd name="T6" fmla="*/ 0 w 1376"/>
                  <a:gd name="T7" fmla="*/ 936 h 1065"/>
                  <a:gd name="T8" fmla="*/ 1 w 1376"/>
                  <a:gd name="T9" fmla="*/ 942 h 1065"/>
                  <a:gd name="T10" fmla="*/ 30 w 1376"/>
                  <a:gd name="T11" fmla="*/ 951 h 1065"/>
                  <a:gd name="T12" fmla="*/ 732 w 1376"/>
                  <a:gd name="T13" fmla="*/ 1065 h 1065"/>
                  <a:gd name="T14" fmla="*/ 1346 w 1376"/>
                  <a:gd name="T15" fmla="*/ 950 h 1065"/>
                  <a:gd name="T16" fmla="*/ 1373 w 1376"/>
                  <a:gd name="T17" fmla="*/ 936 h 1065"/>
                  <a:gd name="T18" fmla="*/ 1376 w 1376"/>
                  <a:gd name="T19" fmla="*/ 936 h 1065"/>
                  <a:gd name="T20" fmla="*/ 1376 w 1376"/>
                  <a:gd name="T21" fmla="*/ 517 h 1065"/>
                  <a:gd name="T22" fmla="*/ 859 w 1376"/>
                  <a:gd name="T23" fmla="*/ 0 h 10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376" h="1065">
                    <a:moveTo>
                      <a:pt x="859" y="0"/>
                    </a:moveTo>
                    <a:lnTo>
                      <a:pt x="517" y="0"/>
                    </a:lnTo>
                    <a:cubicBezTo>
                      <a:pt x="232" y="0"/>
                      <a:pt x="0" y="232"/>
                      <a:pt x="0" y="517"/>
                    </a:cubicBezTo>
                    <a:lnTo>
                      <a:pt x="0" y="936"/>
                    </a:lnTo>
                    <a:lnTo>
                      <a:pt x="1" y="942"/>
                    </a:lnTo>
                    <a:lnTo>
                      <a:pt x="30" y="951"/>
                    </a:lnTo>
                    <a:cubicBezTo>
                      <a:pt x="302" y="1036"/>
                      <a:pt x="538" y="1065"/>
                      <a:pt x="732" y="1065"/>
                    </a:cubicBezTo>
                    <a:cubicBezTo>
                      <a:pt x="1112" y="1065"/>
                      <a:pt x="1332" y="956"/>
                      <a:pt x="1346" y="950"/>
                    </a:cubicBezTo>
                    <a:lnTo>
                      <a:pt x="1373" y="936"/>
                    </a:lnTo>
                    <a:lnTo>
                      <a:pt x="1376" y="936"/>
                    </a:lnTo>
                    <a:lnTo>
                      <a:pt x="1376" y="517"/>
                    </a:lnTo>
                    <a:cubicBezTo>
                      <a:pt x="1376" y="232"/>
                      <a:pt x="1144" y="0"/>
                      <a:pt x="859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Oval 17"/>
              <p:cNvSpPr>
                <a:spLocks noChangeArrowheads="1"/>
              </p:cNvSpPr>
              <p:nvPr/>
            </p:nvSpPr>
            <p:spPr bwMode="auto">
              <a:xfrm>
                <a:off x="2570163" y="2193701"/>
                <a:ext cx="292100" cy="2905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36" name="Группа 35"/>
            <p:cNvGrpSpPr/>
            <p:nvPr/>
          </p:nvGrpSpPr>
          <p:grpSpPr>
            <a:xfrm>
              <a:off x="6153860" y="2130649"/>
              <a:ext cx="393701" cy="685800"/>
              <a:chOff x="2811463" y="2042888"/>
              <a:chExt cx="393701" cy="685800"/>
            </a:xfrm>
            <a:solidFill>
              <a:schemeClr val="accent4"/>
            </a:solidFill>
          </p:grpSpPr>
          <p:sp>
            <p:nvSpPr>
              <p:cNvPr id="40" name="Freeform 15"/>
              <p:cNvSpPr>
                <a:spLocks/>
              </p:cNvSpPr>
              <p:nvPr/>
            </p:nvSpPr>
            <p:spPr bwMode="auto">
              <a:xfrm>
                <a:off x="2841626" y="2344513"/>
                <a:ext cx="363538" cy="384175"/>
              </a:xfrm>
              <a:custGeom>
                <a:avLst/>
                <a:gdLst>
                  <a:gd name="T0" fmla="*/ 493 w 1010"/>
                  <a:gd name="T1" fmla="*/ 0 h 1063"/>
                  <a:gd name="T2" fmla="*/ 153 w 1010"/>
                  <a:gd name="T3" fmla="*/ 0 h 1063"/>
                  <a:gd name="T4" fmla="*/ 0 w 1010"/>
                  <a:gd name="T5" fmla="*/ 346 h 1063"/>
                  <a:gd name="T6" fmla="*/ 438 w 1010"/>
                  <a:gd name="T7" fmla="*/ 934 h 1063"/>
                  <a:gd name="T8" fmla="*/ 438 w 1010"/>
                  <a:gd name="T9" fmla="*/ 1063 h 1063"/>
                  <a:gd name="T10" fmla="*/ 980 w 1010"/>
                  <a:gd name="T11" fmla="*/ 949 h 1063"/>
                  <a:gd name="T12" fmla="*/ 1007 w 1010"/>
                  <a:gd name="T13" fmla="*/ 935 h 1063"/>
                  <a:gd name="T14" fmla="*/ 1010 w 1010"/>
                  <a:gd name="T15" fmla="*/ 935 h 1063"/>
                  <a:gd name="T16" fmla="*/ 1010 w 1010"/>
                  <a:gd name="T17" fmla="*/ 516 h 1063"/>
                  <a:gd name="T18" fmla="*/ 493 w 1010"/>
                  <a:gd name="T19" fmla="*/ 0 h 1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010" h="1063">
                    <a:moveTo>
                      <a:pt x="493" y="0"/>
                    </a:moveTo>
                    <a:lnTo>
                      <a:pt x="153" y="0"/>
                    </a:lnTo>
                    <a:cubicBezTo>
                      <a:pt x="149" y="136"/>
                      <a:pt x="91" y="258"/>
                      <a:pt x="0" y="346"/>
                    </a:cubicBezTo>
                    <a:cubicBezTo>
                      <a:pt x="253" y="421"/>
                      <a:pt x="438" y="656"/>
                      <a:pt x="438" y="934"/>
                    </a:cubicBezTo>
                    <a:lnTo>
                      <a:pt x="438" y="1063"/>
                    </a:lnTo>
                    <a:cubicBezTo>
                      <a:pt x="774" y="1050"/>
                      <a:pt x="967" y="955"/>
                      <a:pt x="980" y="949"/>
                    </a:cubicBezTo>
                    <a:lnTo>
                      <a:pt x="1007" y="935"/>
                    </a:lnTo>
                    <a:lnTo>
                      <a:pt x="1010" y="935"/>
                    </a:lnTo>
                    <a:lnTo>
                      <a:pt x="1010" y="516"/>
                    </a:lnTo>
                    <a:cubicBezTo>
                      <a:pt x="1010" y="231"/>
                      <a:pt x="778" y="0"/>
                      <a:pt x="493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" name="Freeform 18"/>
              <p:cNvSpPr>
                <a:spLocks/>
              </p:cNvSpPr>
              <p:nvPr/>
            </p:nvSpPr>
            <p:spPr bwMode="auto">
              <a:xfrm>
                <a:off x="2811463" y="2042888"/>
                <a:ext cx="290513" cy="290513"/>
              </a:xfrm>
              <a:custGeom>
                <a:avLst/>
                <a:gdLst>
                  <a:gd name="T0" fmla="*/ 0 w 807"/>
                  <a:gd name="T1" fmla="*/ 397 h 807"/>
                  <a:gd name="T2" fmla="*/ 233 w 807"/>
                  <a:gd name="T3" fmla="*/ 769 h 807"/>
                  <a:gd name="T4" fmla="*/ 404 w 807"/>
                  <a:gd name="T5" fmla="*/ 807 h 807"/>
                  <a:gd name="T6" fmla="*/ 807 w 807"/>
                  <a:gd name="T7" fmla="*/ 403 h 807"/>
                  <a:gd name="T8" fmla="*/ 404 w 807"/>
                  <a:gd name="T9" fmla="*/ 0 h 807"/>
                  <a:gd name="T10" fmla="*/ 0 w 807"/>
                  <a:gd name="T11" fmla="*/ 397 h 8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07" h="807">
                    <a:moveTo>
                      <a:pt x="0" y="397"/>
                    </a:moveTo>
                    <a:cubicBezTo>
                      <a:pt x="128" y="477"/>
                      <a:pt x="217" y="612"/>
                      <a:pt x="233" y="769"/>
                    </a:cubicBezTo>
                    <a:cubicBezTo>
                      <a:pt x="285" y="793"/>
                      <a:pt x="343" y="807"/>
                      <a:pt x="404" y="807"/>
                    </a:cubicBezTo>
                    <a:cubicBezTo>
                      <a:pt x="627" y="807"/>
                      <a:pt x="807" y="626"/>
                      <a:pt x="807" y="403"/>
                    </a:cubicBezTo>
                    <a:cubicBezTo>
                      <a:pt x="807" y="181"/>
                      <a:pt x="627" y="0"/>
                      <a:pt x="404" y="0"/>
                    </a:cubicBezTo>
                    <a:cubicBezTo>
                      <a:pt x="183" y="0"/>
                      <a:pt x="4" y="177"/>
                      <a:pt x="0" y="39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37" name="Группа 36"/>
            <p:cNvGrpSpPr/>
            <p:nvPr/>
          </p:nvGrpSpPr>
          <p:grpSpPr>
            <a:xfrm>
              <a:off x="5893510" y="1835374"/>
              <a:ext cx="315913" cy="431800"/>
              <a:chOff x="2551113" y="1747613"/>
              <a:chExt cx="315913" cy="431800"/>
            </a:xfrm>
            <a:solidFill>
              <a:schemeClr val="accent2"/>
            </a:solidFill>
          </p:grpSpPr>
          <p:sp>
            <p:nvSpPr>
              <p:cNvPr id="38" name="Freeform 19"/>
              <p:cNvSpPr>
                <a:spLocks/>
              </p:cNvSpPr>
              <p:nvPr/>
            </p:nvSpPr>
            <p:spPr bwMode="auto">
              <a:xfrm>
                <a:off x="2600326" y="2074638"/>
                <a:ext cx="217488" cy="104775"/>
              </a:xfrm>
              <a:custGeom>
                <a:avLst/>
                <a:gdLst>
                  <a:gd name="T0" fmla="*/ 510 w 600"/>
                  <a:gd name="T1" fmla="*/ 268 h 288"/>
                  <a:gd name="T2" fmla="*/ 600 w 600"/>
                  <a:gd name="T3" fmla="*/ 11 h 288"/>
                  <a:gd name="T4" fmla="*/ 486 w 600"/>
                  <a:gd name="T5" fmla="*/ 0 h 288"/>
                  <a:gd name="T6" fmla="*/ 114 w 600"/>
                  <a:gd name="T7" fmla="*/ 0 h 288"/>
                  <a:gd name="T8" fmla="*/ 0 w 600"/>
                  <a:gd name="T9" fmla="*/ 11 h 288"/>
                  <a:gd name="T10" fmla="*/ 90 w 600"/>
                  <a:gd name="T11" fmla="*/ 288 h 288"/>
                  <a:gd name="T12" fmla="*/ 320 w 600"/>
                  <a:gd name="T13" fmla="*/ 229 h 288"/>
                  <a:gd name="T14" fmla="*/ 510 w 600"/>
                  <a:gd name="T15" fmla="*/ 268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00" h="288">
                    <a:moveTo>
                      <a:pt x="510" y="268"/>
                    </a:moveTo>
                    <a:cubicBezTo>
                      <a:pt x="515" y="173"/>
                      <a:pt x="548" y="84"/>
                      <a:pt x="600" y="11"/>
                    </a:cubicBezTo>
                    <a:cubicBezTo>
                      <a:pt x="563" y="4"/>
                      <a:pt x="525" y="0"/>
                      <a:pt x="486" y="0"/>
                    </a:cubicBezTo>
                    <a:lnTo>
                      <a:pt x="114" y="0"/>
                    </a:lnTo>
                    <a:cubicBezTo>
                      <a:pt x="75" y="0"/>
                      <a:pt x="36" y="4"/>
                      <a:pt x="0" y="11"/>
                    </a:cubicBezTo>
                    <a:cubicBezTo>
                      <a:pt x="56" y="89"/>
                      <a:pt x="89" y="185"/>
                      <a:pt x="90" y="288"/>
                    </a:cubicBezTo>
                    <a:cubicBezTo>
                      <a:pt x="158" y="250"/>
                      <a:pt x="237" y="229"/>
                      <a:pt x="320" y="229"/>
                    </a:cubicBezTo>
                    <a:cubicBezTo>
                      <a:pt x="388" y="229"/>
                      <a:pt x="452" y="243"/>
                      <a:pt x="510" y="2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" name="Oval 20"/>
              <p:cNvSpPr>
                <a:spLocks noChangeArrowheads="1"/>
              </p:cNvSpPr>
              <p:nvPr/>
            </p:nvSpPr>
            <p:spPr bwMode="auto">
              <a:xfrm>
                <a:off x="2551113" y="1747613"/>
                <a:ext cx="315913" cy="315913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7939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quareLastMonthChart1"/>
          <p:cNvSpPr/>
          <p:nvPr>
            <p:custDataLst>
              <p:tags r:id="rId1"/>
            </p:custDataLst>
          </p:nvPr>
        </p:nvSpPr>
        <p:spPr>
          <a:xfrm>
            <a:off x="1148578" y="1398273"/>
            <a:ext cx="432000" cy="2016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545353"/>
              </a:solidFill>
            </a:endParaRPr>
          </a:p>
        </p:txBody>
      </p:sp>
      <p:sp>
        <p:nvSpPr>
          <p:cNvPr id="39" name="SquareLastMonthChart2"/>
          <p:cNvSpPr/>
          <p:nvPr>
            <p:custDataLst>
              <p:tags r:id="rId2"/>
            </p:custDataLst>
          </p:nvPr>
        </p:nvSpPr>
        <p:spPr>
          <a:xfrm>
            <a:off x="4797549" y="4205410"/>
            <a:ext cx="432048" cy="20089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 b="0" i="0" u="none" strike="noStrike" kern="1200" baseline="0">
              <a:solidFill>
                <a:srgbClr val="004077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6" name="Chart1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868824114"/>
              </p:ext>
            </p:extLst>
          </p:nvPr>
        </p:nvGraphicFramePr>
        <p:xfrm>
          <a:off x="287339" y="1388228"/>
          <a:ext cx="6840944" cy="233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29" name="Chart2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95625179"/>
              </p:ext>
            </p:extLst>
          </p:nvPr>
        </p:nvGraphicFramePr>
        <p:xfrm>
          <a:off x="303854" y="4205410"/>
          <a:ext cx="6824430" cy="2288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30" name="SquareInfo1"/>
          <p:cNvSpPr/>
          <p:nvPr>
            <p:custDataLst>
              <p:tags r:id="rId5"/>
            </p:custDataLst>
          </p:nvPr>
        </p:nvSpPr>
        <p:spPr>
          <a:xfrm>
            <a:off x="7068926" y="1304764"/>
            <a:ext cx="1799885" cy="2464398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endParaRPr lang="ru-RU" sz="800" b="1" dirty="0" smtClean="0">
              <a:solidFill>
                <a:schemeClr val="tx2"/>
              </a:solidFill>
            </a:endParaRPr>
          </a:p>
        </p:txBody>
      </p:sp>
      <p:sp>
        <p:nvSpPr>
          <p:cNvPr id="3" name="TitleSlide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1298985" y="329308"/>
            <a:ext cx="7525022" cy="607021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Дирекция по добыче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Эксплуатационное бурение </a:t>
            </a:r>
            <a:br>
              <a:rPr lang="ru-RU" sz="12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Физические показатели</a:t>
            </a:r>
            <a:endParaRPr lang="ru-RU" sz="1600" dirty="0">
              <a:solidFill>
                <a:srgbClr val="545353"/>
              </a:solidFill>
            </a:endParaRPr>
          </a:p>
        </p:txBody>
      </p:sp>
      <p:sp>
        <p:nvSpPr>
          <p:cNvPr id="11" name="Прямоугольник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287337" y="1124744"/>
            <a:ext cx="8569461" cy="180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defTabSz="931343" eaLnBrk="0" hangingPunct="0"/>
            <a:r>
              <a:rPr lang="ru-RU" sz="800" b="1" dirty="0" smtClean="0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rPr>
              <a:t>Прирост добычи и кол-во введенных скважин по ЭБ, тыс. т и шт.*</a:t>
            </a:r>
            <a:endParaRPr lang="ru-RU" sz="800" b="1" dirty="0">
              <a:solidFill>
                <a:srgbClr val="545353"/>
              </a:solidFill>
              <a:latin typeface="Arial" pitchFamily="34" charset="0"/>
              <a:cs typeface="Arabic Typesetting" pitchFamily="66" charset="-78"/>
            </a:endParaRPr>
          </a:p>
        </p:txBody>
      </p:sp>
      <p:grpSp>
        <p:nvGrpSpPr>
          <p:cNvPr id="18" name="Группа 17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303854" y="260648"/>
            <a:ext cx="803835" cy="890037"/>
            <a:chOff x="7051636" y="2029408"/>
            <a:chExt cx="561975" cy="571500"/>
          </a:xfrm>
        </p:grpSpPr>
        <p:grpSp>
          <p:nvGrpSpPr>
            <p:cNvPr id="19" name="Группа 18"/>
            <p:cNvGrpSpPr/>
            <p:nvPr/>
          </p:nvGrpSpPr>
          <p:grpSpPr>
            <a:xfrm>
              <a:off x="7051636" y="2029408"/>
              <a:ext cx="561975" cy="571500"/>
              <a:chOff x="7051636" y="2029408"/>
              <a:chExt cx="561975" cy="571500"/>
            </a:xfrm>
            <a:solidFill>
              <a:schemeClr val="accent2"/>
            </a:solidFill>
          </p:grpSpPr>
          <p:sp>
            <p:nvSpPr>
              <p:cNvPr id="21" name="Freeform 146"/>
              <p:cNvSpPr>
                <a:spLocks/>
              </p:cNvSpPr>
              <p:nvPr/>
            </p:nvSpPr>
            <p:spPr bwMode="auto">
              <a:xfrm>
                <a:off x="7051636" y="2248483"/>
                <a:ext cx="561975" cy="352425"/>
              </a:xfrm>
              <a:custGeom>
                <a:avLst/>
                <a:gdLst>
                  <a:gd name="T0" fmla="*/ 1522 w 1556"/>
                  <a:gd name="T1" fmla="*/ 444 h 977"/>
                  <a:gd name="T2" fmla="*/ 33 w 1556"/>
                  <a:gd name="T3" fmla="*/ 444 h 977"/>
                  <a:gd name="T4" fmla="*/ 0 w 1556"/>
                  <a:gd name="T5" fmla="*/ 478 h 977"/>
                  <a:gd name="T6" fmla="*/ 0 w 1556"/>
                  <a:gd name="T7" fmla="*/ 524 h 977"/>
                  <a:gd name="T8" fmla="*/ 33 w 1556"/>
                  <a:gd name="T9" fmla="*/ 558 h 977"/>
                  <a:gd name="T10" fmla="*/ 1522 w 1556"/>
                  <a:gd name="T11" fmla="*/ 558 h 977"/>
                  <a:gd name="T12" fmla="*/ 1556 w 1556"/>
                  <a:gd name="T13" fmla="*/ 524 h 977"/>
                  <a:gd name="T14" fmla="*/ 1556 w 1556"/>
                  <a:gd name="T15" fmla="*/ 478 h 977"/>
                  <a:gd name="T16" fmla="*/ 1522 w 1556"/>
                  <a:gd name="T17" fmla="*/ 44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6" h="977">
                    <a:moveTo>
                      <a:pt x="1522" y="444"/>
                    </a:moveTo>
                    <a:cubicBezTo>
                      <a:pt x="1031" y="444"/>
                      <a:pt x="391" y="444"/>
                      <a:pt x="33" y="444"/>
                    </a:cubicBezTo>
                    <a:cubicBezTo>
                      <a:pt x="15" y="444"/>
                      <a:pt x="0" y="459"/>
                      <a:pt x="0" y="478"/>
                    </a:cubicBezTo>
                    <a:cubicBezTo>
                      <a:pt x="0" y="977"/>
                      <a:pt x="0" y="0"/>
                      <a:pt x="0" y="524"/>
                    </a:cubicBezTo>
                    <a:cubicBezTo>
                      <a:pt x="0" y="543"/>
                      <a:pt x="15" y="558"/>
                      <a:pt x="33" y="558"/>
                    </a:cubicBezTo>
                    <a:cubicBezTo>
                      <a:pt x="560" y="558"/>
                      <a:pt x="1075" y="558"/>
                      <a:pt x="1522" y="558"/>
                    </a:cubicBezTo>
                    <a:cubicBezTo>
                      <a:pt x="1541" y="558"/>
                      <a:pt x="1556" y="543"/>
                      <a:pt x="1556" y="524"/>
                    </a:cubicBezTo>
                    <a:lnTo>
                      <a:pt x="1556" y="478"/>
                    </a:lnTo>
                    <a:cubicBezTo>
                      <a:pt x="1556" y="459"/>
                      <a:pt x="1541" y="444"/>
                      <a:pt x="1522" y="4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2" name="Oval 147"/>
              <p:cNvSpPr>
                <a:spLocks noChangeArrowheads="1"/>
              </p:cNvSpPr>
              <p:nvPr/>
            </p:nvSpPr>
            <p:spPr bwMode="auto">
              <a:xfrm>
                <a:off x="7167523" y="2029408"/>
                <a:ext cx="277813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3" name="Freeform 148"/>
              <p:cNvSpPr>
                <a:spLocks/>
              </p:cNvSpPr>
              <p:nvPr/>
            </p:nvSpPr>
            <p:spPr bwMode="auto">
              <a:xfrm>
                <a:off x="7167523" y="2237370"/>
                <a:ext cx="169863" cy="109538"/>
              </a:xfrm>
              <a:custGeom>
                <a:avLst/>
                <a:gdLst>
                  <a:gd name="T0" fmla="*/ 473 w 473"/>
                  <a:gd name="T1" fmla="*/ 226 h 302"/>
                  <a:gd name="T2" fmla="*/ 421 w 473"/>
                  <a:gd name="T3" fmla="*/ 170 h 302"/>
                  <a:gd name="T4" fmla="*/ 384 w 473"/>
                  <a:gd name="T5" fmla="*/ 171 h 302"/>
                  <a:gd name="T6" fmla="*/ 0 w 473"/>
                  <a:gd name="T7" fmla="*/ 0 h 302"/>
                  <a:gd name="T8" fmla="*/ 0 w 473"/>
                  <a:gd name="T9" fmla="*/ 131 h 302"/>
                  <a:gd name="T10" fmla="*/ 384 w 473"/>
                  <a:gd name="T11" fmla="*/ 302 h 302"/>
                  <a:gd name="T12" fmla="*/ 473 w 473"/>
                  <a:gd name="T13" fmla="*/ 297 h 302"/>
                  <a:gd name="T14" fmla="*/ 473 w 473"/>
                  <a:gd name="T15" fmla="*/ 226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3" h="302">
                    <a:moveTo>
                      <a:pt x="473" y="226"/>
                    </a:moveTo>
                    <a:cubicBezTo>
                      <a:pt x="446" y="219"/>
                      <a:pt x="426" y="197"/>
                      <a:pt x="421" y="170"/>
                    </a:cubicBezTo>
                    <a:cubicBezTo>
                      <a:pt x="409" y="171"/>
                      <a:pt x="3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ubicBezTo>
                      <a:pt x="415" y="302"/>
                      <a:pt x="444" y="300"/>
                      <a:pt x="473" y="297"/>
                    </a:cubicBezTo>
                    <a:cubicBezTo>
                      <a:pt x="461" y="275"/>
                      <a:pt x="460" y="248"/>
                      <a:pt x="473" y="2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4" name="Freeform 149"/>
              <p:cNvSpPr>
                <a:spLocks/>
              </p:cNvSpPr>
              <p:nvPr/>
            </p:nvSpPr>
            <p:spPr bwMode="auto">
              <a:xfrm>
                <a:off x="7167523" y="2172283"/>
                <a:ext cx="171450" cy="109538"/>
              </a:xfrm>
              <a:custGeom>
                <a:avLst/>
                <a:gdLst>
                  <a:gd name="T0" fmla="*/ 384 w 474"/>
                  <a:gd name="T1" fmla="*/ 302 h 302"/>
                  <a:gd name="T2" fmla="*/ 420 w 474"/>
                  <a:gd name="T3" fmla="*/ 301 h 302"/>
                  <a:gd name="T4" fmla="*/ 420 w 474"/>
                  <a:gd name="T5" fmla="*/ 281 h 302"/>
                  <a:gd name="T6" fmla="*/ 474 w 474"/>
                  <a:gd name="T7" fmla="*/ 213 h 302"/>
                  <a:gd name="T8" fmla="*/ 464 w 474"/>
                  <a:gd name="T9" fmla="*/ 167 h 302"/>
                  <a:gd name="T10" fmla="*/ 384 w 474"/>
                  <a:gd name="T11" fmla="*/ 171 h 302"/>
                  <a:gd name="T12" fmla="*/ 0 w 474"/>
                  <a:gd name="T13" fmla="*/ 0 h 302"/>
                  <a:gd name="T14" fmla="*/ 0 w 474"/>
                  <a:gd name="T15" fmla="*/ 131 h 302"/>
                  <a:gd name="T16" fmla="*/ 384 w 474"/>
                  <a:gd name="T1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4" h="302">
                    <a:moveTo>
                      <a:pt x="384" y="302"/>
                    </a:moveTo>
                    <a:cubicBezTo>
                      <a:pt x="396" y="302"/>
                      <a:pt x="408" y="302"/>
                      <a:pt x="420" y="301"/>
                    </a:cubicBezTo>
                    <a:lnTo>
                      <a:pt x="420" y="281"/>
                    </a:lnTo>
                    <a:cubicBezTo>
                      <a:pt x="420" y="249"/>
                      <a:pt x="442" y="220"/>
                      <a:pt x="474" y="213"/>
                    </a:cubicBezTo>
                    <a:cubicBezTo>
                      <a:pt x="465" y="199"/>
                      <a:pt x="463" y="183"/>
                      <a:pt x="464" y="167"/>
                    </a:cubicBezTo>
                    <a:cubicBezTo>
                      <a:pt x="439" y="170"/>
                      <a:pt x="412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5" name="Freeform 150"/>
              <p:cNvSpPr>
                <a:spLocks/>
              </p:cNvSpPr>
              <p:nvPr/>
            </p:nvSpPr>
            <p:spPr bwMode="auto">
              <a:xfrm>
                <a:off x="7167523" y="2108783"/>
                <a:ext cx="277813" cy="109538"/>
              </a:xfrm>
              <a:custGeom>
                <a:avLst/>
                <a:gdLst>
                  <a:gd name="T0" fmla="*/ 384 w 769"/>
                  <a:gd name="T1" fmla="*/ 302 h 302"/>
                  <a:gd name="T2" fmla="*/ 494 w 769"/>
                  <a:gd name="T3" fmla="*/ 295 h 302"/>
                  <a:gd name="T4" fmla="*/ 522 w 769"/>
                  <a:gd name="T5" fmla="*/ 266 h 302"/>
                  <a:gd name="T6" fmla="*/ 573 w 769"/>
                  <a:gd name="T7" fmla="*/ 245 h 302"/>
                  <a:gd name="T8" fmla="*/ 609 w 769"/>
                  <a:gd name="T9" fmla="*/ 255 h 302"/>
                  <a:gd name="T10" fmla="*/ 677 w 769"/>
                  <a:gd name="T11" fmla="*/ 202 h 302"/>
                  <a:gd name="T12" fmla="*/ 731 w 769"/>
                  <a:gd name="T13" fmla="*/ 202 h 302"/>
                  <a:gd name="T14" fmla="*/ 734 w 769"/>
                  <a:gd name="T15" fmla="*/ 202 h 302"/>
                  <a:gd name="T16" fmla="*/ 769 w 769"/>
                  <a:gd name="T17" fmla="*/ 131 h 302"/>
                  <a:gd name="T18" fmla="*/ 769 w 769"/>
                  <a:gd name="T19" fmla="*/ 0 h 302"/>
                  <a:gd name="T20" fmla="*/ 384 w 769"/>
                  <a:gd name="T21" fmla="*/ 171 h 302"/>
                  <a:gd name="T22" fmla="*/ 0 w 769"/>
                  <a:gd name="T23" fmla="*/ 0 h 302"/>
                  <a:gd name="T24" fmla="*/ 0 w 769"/>
                  <a:gd name="T25" fmla="*/ 131 h 302"/>
                  <a:gd name="T26" fmla="*/ 384 w 769"/>
                  <a:gd name="T2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9" h="302">
                    <a:moveTo>
                      <a:pt x="384" y="302"/>
                    </a:moveTo>
                    <a:cubicBezTo>
                      <a:pt x="422" y="302"/>
                      <a:pt x="459" y="299"/>
                      <a:pt x="494" y="295"/>
                    </a:cubicBezTo>
                    <a:lnTo>
                      <a:pt x="522" y="266"/>
                    </a:lnTo>
                    <a:cubicBezTo>
                      <a:pt x="536" y="252"/>
                      <a:pt x="554" y="245"/>
                      <a:pt x="573" y="245"/>
                    </a:cubicBezTo>
                    <a:cubicBezTo>
                      <a:pt x="585" y="245"/>
                      <a:pt x="598" y="249"/>
                      <a:pt x="609" y="255"/>
                    </a:cubicBezTo>
                    <a:cubicBezTo>
                      <a:pt x="617" y="224"/>
                      <a:pt x="645" y="202"/>
                      <a:pt x="677" y="202"/>
                    </a:cubicBezTo>
                    <a:lnTo>
                      <a:pt x="731" y="202"/>
                    </a:lnTo>
                    <a:cubicBezTo>
                      <a:pt x="732" y="202"/>
                      <a:pt x="733" y="202"/>
                      <a:pt x="734" y="202"/>
                    </a:cubicBezTo>
                    <a:cubicBezTo>
                      <a:pt x="756" y="180"/>
                      <a:pt x="769" y="156"/>
                      <a:pt x="769" y="131"/>
                    </a:cubicBezTo>
                    <a:lnTo>
                      <a:pt x="769" y="0"/>
                    </a:lnTo>
                    <a:cubicBezTo>
                      <a:pt x="769" y="94"/>
                      <a:pt x="5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sp>
          <p:nvSpPr>
            <p:cNvPr id="20" name="Freeform 151"/>
            <p:cNvSpPr>
              <a:spLocks noEditPoints="1"/>
            </p:cNvSpPr>
            <p:nvPr/>
          </p:nvSpPr>
          <p:spPr bwMode="auto">
            <a:xfrm>
              <a:off x="7343736" y="2207208"/>
              <a:ext cx="153988" cy="153988"/>
            </a:xfrm>
            <a:custGeom>
              <a:avLst/>
              <a:gdLst>
                <a:gd name="T0" fmla="*/ 427 w 427"/>
                <a:gd name="T1" fmla="*/ 240 h 427"/>
                <a:gd name="T2" fmla="*/ 427 w 427"/>
                <a:gd name="T3" fmla="*/ 186 h 427"/>
                <a:gd name="T4" fmla="*/ 363 w 427"/>
                <a:gd name="T5" fmla="*/ 176 h 427"/>
                <a:gd name="T6" fmla="*/ 346 w 427"/>
                <a:gd name="T7" fmla="*/ 134 h 427"/>
                <a:gd name="T8" fmla="*/ 383 w 427"/>
                <a:gd name="T9" fmla="*/ 81 h 427"/>
                <a:gd name="T10" fmla="*/ 345 w 427"/>
                <a:gd name="T11" fmla="*/ 44 h 427"/>
                <a:gd name="T12" fmla="*/ 293 w 427"/>
                <a:gd name="T13" fmla="*/ 81 h 427"/>
                <a:gd name="T14" fmla="*/ 251 w 427"/>
                <a:gd name="T15" fmla="*/ 63 h 427"/>
                <a:gd name="T16" fmla="*/ 240 w 427"/>
                <a:gd name="T17" fmla="*/ 0 h 427"/>
                <a:gd name="T18" fmla="*/ 186 w 427"/>
                <a:gd name="T19" fmla="*/ 0 h 427"/>
                <a:gd name="T20" fmla="*/ 176 w 427"/>
                <a:gd name="T21" fmla="*/ 63 h 427"/>
                <a:gd name="T22" fmla="*/ 134 w 427"/>
                <a:gd name="T23" fmla="*/ 81 h 427"/>
                <a:gd name="T24" fmla="*/ 82 w 427"/>
                <a:gd name="T25" fmla="*/ 44 h 427"/>
                <a:gd name="T26" fmla="*/ 44 w 427"/>
                <a:gd name="T27" fmla="*/ 81 h 427"/>
                <a:gd name="T28" fmla="*/ 80 w 427"/>
                <a:gd name="T29" fmla="*/ 133 h 427"/>
                <a:gd name="T30" fmla="*/ 63 w 427"/>
                <a:gd name="T31" fmla="*/ 176 h 427"/>
                <a:gd name="T32" fmla="*/ 0 w 427"/>
                <a:gd name="T33" fmla="*/ 186 h 427"/>
                <a:gd name="T34" fmla="*/ 0 w 427"/>
                <a:gd name="T35" fmla="*/ 240 h 427"/>
                <a:gd name="T36" fmla="*/ 63 w 427"/>
                <a:gd name="T37" fmla="*/ 251 h 427"/>
                <a:gd name="T38" fmla="*/ 80 w 427"/>
                <a:gd name="T39" fmla="*/ 294 h 427"/>
                <a:gd name="T40" fmla="*/ 43 w 427"/>
                <a:gd name="T41" fmla="*/ 345 h 427"/>
                <a:gd name="T42" fmla="*/ 81 w 427"/>
                <a:gd name="T43" fmla="*/ 383 h 427"/>
                <a:gd name="T44" fmla="*/ 133 w 427"/>
                <a:gd name="T45" fmla="*/ 346 h 427"/>
                <a:gd name="T46" fmla="*/ 176 w 427"/>
                <a:gd name="T47" fmla="*/ 364 h 427"/>
                <a:gd name="T48" fmla="*/ 186 w 427"/>
                <a:gd name="T49" fmla="*/ 427 h 427"/>
                <a:gd name="T50" fmla="*/ 240 w 427"/>
                <a:gd name="T51" fmla="*/ 427 h 427"/>
                <a:gd name="T52" fmla="*/ 251 w 427"/>
                <a:gd name="T53" fmla="*/ 364 h 427"/>
                <a:gd name="T54" fmla="*/ 293 w 427"/>
                <a:gd name="T55" fmla="*/ 346 h 427"/>
                <a:gd name="T56" fmla="*/ 346 w 427"/>
                <a:gd name="T57" fmla="*/ 383 h 427"/>
                <a:gd name="T58" fmla="*/ 384 w 427"/>
                <a:gd name="T59" fmla="*/ 345 h 427"/>
                <a:gd name="T60" fmla="*/ 346 w 427"/>
                <a:gd name="T61" fmla="*/ 293 h 427"/>
                <a:gd name="T62" fmla="*/ 363 w 427"/>
                <a:gd name="T63" fmla="*/ 251 h 427"/>
                <a:gd name="T64" fmla="*/ 427 w 427"/>
                <a:gd name="T65" fmla="*/ 240 h 427"/>
                <a:gd name="T66" fmla="*/ 214 w 427"/>
                <a:gd name="T67" fmla="*/ 288 h 427"/>
                <a:gd name="T68" fmla="*/ 139 w 427"/>
                <a:gd name="T69" fmla="*/ 214 h 427"/>
                <a:gd name="T70" fmla="*/ 214 w 427"/>
                <a:gd name="T71" fmla="*/ 139 h 427"/>
                <a:gd name="T72" fmla="*/ 288 w 427"/>
                <a:gd name="T73" fmla="*/ 214 h 427"/>
                <a:gd name="T74" fmla="*/ 214 w 427"/>
                <a:gd name="T75" fmla="*/ 28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7" h="427">
                  <a:moveTo>
                    <a:pt x="427" y="240"/>
                  </a:moveTo>
                  <a:lnTo>
                    <a:pt x="427" y="186"/>
                  </a:lnTo>
                  <a:lnTo>
                    <a:pt x="363" y="176"/>
                  </a:lnTo>
                  <a:cubicBezTo>
                    <a:pt x="360" y="161"/>
                    <a:pt x="354" y="147"/>
                    <a:pt x="346" y="134"/>
                  </a:cubicBezTo>
                  <a:lnTo>
                    <a:pt x="383" y="81"/>
                  </a:lnTo>
                  <a:lnTo>
                    <a:pt x="345" y="44"/>
                  </a:lnTo>
                  <a:lnTo>
                    <a:pt x="293" y="81"/>
                  </a:lnTo>
                  <a:cubicBezTo>
                    <a:pt x="280" y="73"/>
                    <a:pt x="266" y="67"/>
                    <a:pt x="251" y="63"/>
                  </a:cubicBezTo>
                  <a:lnTo>
                    <a:pt x="240" y="0"/>
                  </a:lnTo>
                  <a:lnTo>
                    <a:pt x="186" y="0"/>
                  </a:lnTo>
                  <a:lnTo>
                    <a:pt x="176" y="63"/>
                  </a:lnTo>
                  <a:cubicBezTo>
                    <a:pt x="161" y="67"/>
                    <a:pt x="147" y="73"/>
                    <a:pt x="134" y="81"/>
                  </a:cubicBezTo>
                  <a:lnTo>
                    <a:pt x="82" y="44"/>
                  </a:lnTo>
                  <a:lnTo>
                    <a:pt x="44" y="81"/>
                  </a:lnTo>
                  <a:lnTo>
                    <a:pt x="80" y="133"/>
                  </a:lnTo>
                  <a:cubicBezTo>
                    <a:pt x="73" y="147"/>
                    <a:pt x="67" y="161"/>
                    <a:pt x="63" y="176"/>
                  </a:cubicBezTo>
                  <a:lnTo>
                    <a:pt x="0" y="186"/>
                  </a:lnTo>
                  <a:lnTo>
                    <a:pt x="0" y="240"/>
                  </a:lnTo>
                  <a:lnTo>
                    <a:pt x="63" y="251"/>
                  </a:lnTo>
                  <a:cubicBezTo>
                    <a:pt x="67" y="266"/>
                    <a:pt x="72" y="280"/>
                    <a:pt x="80" y="294"/>
                  </a:cubicBezTo>
                  <a:lnTo>
                    <a:pt x="43" y="345"/>
                  </a:lnTo>
                  <a:lnTo>
                    <a:pt x="81" y="383"/>
                  </a:lnTo>
                  <a:lnTo>
                    <a:pt x="133" y="346"/>
                  </a:lnTo>
                  <a:cubicBezTo>
                    <a:pt x="147" y="354"/>
                    <a:pt x="161" y="360"/>
                    <a:pt x="176" y="364"/>
                  </a:cubicBezTo>
                  <a:lnTo>
                    <a:pt x="186" y="427"/>
                  </a:lnTo>
                  <a:lnTo>
                    <a:pt x="240" y="427"/>
                  </a:lnTo>
                  <a:lnTo>
                    <a:pt x="251" y="364"/>
                  </a:lnTo>
                  <a:cubicBezTo>
                    <a:pt x="266" y="360"/>
                    <a:pt x="280" y="354"/>
                    <a:pt x="293" y="346"/>
                  </a:cubicBezTo>
                  <a:lnTo>
                    <a:pt x="346" y="383"/>
                  </a:lnTo>
                  <a:lnTo>
                    <a:pt x="384" y="345"/>
                  </a:lnTo>
                  <a:lnTo>
                    <a:pt x="346" y="293"/>
                  </a:lnTo>
                  <a:cubicBezTo>
                    <a:pt x="354" y="280"/>
                    <a:pt x="360" y="266"/>
                    <a:pt x="363" y="251"/>
                  </a:cubicBezTo>
                  <a:lnTo>
                    <a:pt x="427" y="240"/>
                  </a:lnTo>
                  <a:close/>
                  <a:moveTo>
                    <a:pt x="214" y="288"/>
                  </a:moveTo>
                  <a:cubicBezTo>
                    <a:pt x="173" y="288"/>
                    <a:pt x="139" y="255"/>
                    <a:pt x="139" y="214"/>
                  </a:cubicBezTo>
                  <a:cubicBezTo>
                    <a:pt x="139" y="173"/>
                    <a:pt x="173" y="139"/>
                    <a:pt x="214" y="139"/>
                  </a:cubicBezTo>
                  <a:cubicBezTo>
                    <a:pt x="255" y="139"/>
                    <a:pt x="288" y="173"/>
                    <a:pt x="288" y="214"/>
                  </a:cubicBezTo>
                  <a:cubicBezTo>
                    <a:pt x="288" y="255"/>
                    <a:pt x="255" y="288"/>
                    <a:pt x="214" y="288"/>
                  </a:cubicBez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7" name="Прямоугольник 8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99350" y="3897276"/>
            <a:ext cx="8569461" cy="180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defTabSz="931343" eaLnBrk="0" hangingPunct="0"/>
            <a:r>
              <a:rPr lang="ru-RU" sz="800" b="1" dirty="0" smtClean="0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rPr>
              <a:t>Кол-во бригад и кол-во законченных бурением скважин по ЭБ, шт.</a:t>
            </a:r>
            <a:endParaRPr lang="ru-RU" sz="800" b="1" dirty="0">
              <a:solidFill>
                <a:srgbClr val="545353"/>
              </a:solidFill>
              <a:latin typeface="Arial" pitchFamily="34" charset="0"/>
              <a:cs typeface="Arabic Typesetting" pitchFamily="66" charset="-78"/>
            </a:endParaRPr>
          </a:p>
        </p:txBody>
      </p:sp>
      <p:sp>
        <p:nvSpPr>
          <p:cNvPr id="2" name="Прямоугольник 1"/>
          <p:cNvSpPr/>
          <p:nvPr>
            <p:custDataLst>
              <p:tags r:id="rId10"/>
            </p:custDataLst>
          </p:nvPr>
        </p:nvSpPr>
        <p:spPr>
          <a:xfrm>
            <a:off x="323528" y="3753036"/>
            <a:ext cx="3368046" cy="90122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r>
              <a:rPr lang="ru-RU" sz="800" dirty="0">
                <a:solidFill>
                  <a:srgbClr val="545353"/>
                </a:solidFill>
              </a:rPr>
              <a:t>* - </a:t>
            </a:r>
            <a:r>
              <a:rPr lang="ru-RU" sz="800" dirty="0" smtClean="0">
                <a:solidFill>
                  <a:srgbClr val="545353"/>
                </a:solidFill>
              </a:rPr>
              <a:t>без учёта ввода </a:t>
            </a:r>
            <a:r>
              <a:rPr lang="ru-RU" sz="800" dirty="0">
                <a:solidFill>
                  <a:srgbClr val="545353"/>
                </a:solidFill>
              </a:rPr>
              <a:t>скважин из других категорий</a:t>
            </a:r>
          </a:p>
        </p:txBody>
      </p:sp>
      <p:sp>
        <p:nvSpPr>
          <p:cNvPr id="31" name="SquareInfo2"/>
          <p:cNvSpPr/>
          <p:nvPr>
            <p:custDataLst>
              <p:tags r:id="rId11"/>
            </p:custDataLst>
          </p:nvPr>
        </p:nvSpPr>
        <p:spPr>
          <a:xfrm>
            <a:off x="7068926" y="4081720"/>
            <a:ext cx="1799885" cy="2412268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endParaRPr lang="ru-RU" sz="800" b="0" i="0" u="none" strike="noStrike" kern="1200" baseline="0" dirty="0">
              <a:solidFill>
                <a:srgbClr val="5453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386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quareLastMonthChart1"/>
          <p:cNvSpPr/>
          <p:nvPr>
            <p:custDataLst>
              <p:tags r:id="rId1"/>
            </p:custDataLst>
          </p:nvPr>
        </p:nvSpPr>
        <p:spPr>
          <a:xfrm>
            <a:off x="4774015" y="1358516"/>
            <a:ext cx="404835" cy="2016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545353"/>
              </a:solidFill>
            </a:endParaRPr>
          </a:p>
        </p:txBody>
      </p:sp>
      <p:sp>
        <p:nvSpPr>
          <p:cNvPr id="35" name="SquareLastMonthChart2"/>
          <p:cNvSpPr/>
          <p:nvPr>
            <p:custDataLst>
              <p:tags r:id="rId2"/>
            </p:custDataLst>
          </p:nvPr>
        </p:nvSpPr>
        <p:spPr>
          <a:xfrm>
            <a:off x="4810777" y="4155076"/>
            <a:ext cx="404835" cy="20522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graphicFrame>
        <p:nvGraphicFramePr>
          <p:cNvPr id="31" name="Chart1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73831242"/>
              </p:ext>
            </p:extLst>
          </p:nvPr>
        </p:nvGraphicFramePr>
        <p:xfrm>
          <a:off x="287339" y="1388228"/>
          <a:ext cx="6840944" cy="233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32" name="Chart2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295068122"/>
              </p:ext>
            </p:extLst>
          </p:nvPr>
        </p:nvGraphicFramePr>
        <p:xfrm>
          <a:off x="303854" y="4205410"/>
          <a:ext cx="6824430" cy="2288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29" name="SquareInfo1"/>
          <p:cNvSpPr/>
          <p:nvPr>
            <p:custDataLst>
              <p:tags r:id="rId5"/>
            </p:custDataLst>
          </p:nvPr>
        </p:nvSpPr>
        <p:spPr>
          <a:xfrm>
            <a:off x="7068926" y="1292338"/>
            <a:ext cx="1860390" cy="2556284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endParaRPr lang="ru-RU" sz="800" b="0" i="0" u="none" strike="noStrike" kern="1200" baseline="0" dirty="0">
              <a:solidFill>
                <a:schemeClr val="tx2"/>
              </a:solidFill>
            </a:endParaRPr>
          </a:p>
        </p:txBody>
      </p:sp>
      <p:sp>
        <p:nvSpPr>
          <p:cNvPr id="33" name="SquareInfo2"/>
          <p:cNvSpPr/>
          <p:nvPr>
            <p:custDataLst>
              <p:tags r:id="rId6"/>
            </p:custDataLst>
          </p:nvPr>
        </p:nvSpPr>
        <p:spPr>
          <a:xfrm>
            <a:off x="7068925" y="4041068"/>
            <a:ext cx="1860390" cy="2412268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endParaRPr lang="ru-RU" sz="800" b="0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3" name="TitleSlide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298985" y="329308"/>
            <a:ext cx="7525022" cy="607021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Дирекция по добыче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Зарезка Боковых Стволов</a:t>
            </a:r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Физические </a:t>
            </a: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показатели</a:t>
            </a:r>
            <a:endParaRPr lang="ru-RU" sz="1600" dirty="0">
              <a:solidFill>
                <a:srgbClr val="545353"/>
              </a:solidFill>
            </a:endParaRPr>
          </a:p>
        </p:txBody>
      </p:sp>
      <p:grpSp>
        <p:nvGrpSpPr>
          <p:cNvPr id="18" name="Группа 17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303854" y="260648"/>
            <a:ext cx="803835" cy="890037"/>
            <a:chOff x="7051636" y="2029408"/>
            <a:chExt cx="561975" cy="571500"/>
          </a:xfrm>
        </p:grpSpPr>
        <p:grpSp>
          <p:nvGrpSpPr>
            <p:cNvPr id="19" name="Группа 18"/>
            <p:cNvGrpSpPr/>
            <p:nvPr/>
          </p:nvGrpSpPr>
          <p:grpSpPr>
            <a:xfrm>
              <a:off x="7051636" y="2029408"/>
              <a:ext cx="561975" cy="571500"/>
              <a:chOff x="7051636" y="2029408"/>
              <a:chExt cx="561975" cy="571500"/>
            </a:xfrm>
            <a:solidFill>
              <a:schemeClr val="accent2"/>
            </a:solidFill>
          </p:grpSpPr>
          <p:sp>
            <p:nvSpPr>
              <p:cNvPr id="21" name="Freeform 146"/>
              <p:cNvSpPr>
                <a:spLocks/>
              </p:cNvSpPr>
              <p:nvPr/>
            </p:nvSpPr>
            <p:spPr bwMode="auto">
              <a:xfrm>
                <a:off x="7051636" y="2248483"/>
                <a:ext cx="561975" cy="352425"/>
              </a:xfrm>
              <a:custGeom>
                <a:avLst/>
                <a:gdLst>
                  <a:gd name="T0" fmla="*/ 1522 w 1556"/>
                  <a:gd name="T1" fmla="*/ 444 h 977"/>
                  <a:gd name="T2" fmla="*/ 33 w 1556"/>
                  <a:gd name="T3" fmla="*/ 444 h 977"/>
                  <a:gd name="T4" fmla="*/ 0 w 1556"/>
                  <a:gd name="T5" fmla="*/ 478 h 977"/>
                  <a:gd name="T6" fmla="*/ 0 w 1556"/>
                  <a:gd name="T7" fmla="*/ 524 h 977"/>
                  <a:gd name="T8" fmla="*/ 33 w 1556"/>
                  <a:gd name="T9" fmla="*/ 558 h 977"/>
                  <a:gd name="T10" fmla="*/ 1522 w 1556"/>
                  <a:gd name="T11" fmla="*/ 558 h 977"/>
                  <a:gd name="T12" fmla="*/ 1556 w 1556"/>
                  <a:gd name="T13" fmla="*/ 524 h 977"/>
                  <a:gd name="T14" fmla="*/ 1556 w 1556"/>
                  <a:gd name="T15" fmla="*/ 478 h 977"/>
                  <a:gd name="T16" fmla="*/ 1522 w 1556"/>
                  <a:gd name="T17" fmla="*/ 44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6" h="977">
                    <a:moveTo>
                      <a:pt x="1522" y="444"/>
                    </a:moveTo>
                    <a:cubicBezTo>
                      <a:pt x="1031" y="444"/>
                      <a:pt x="391" y="444"/>
                      <a:pt x="33" y="444"/>
                    </a:cubicBezTo>
                    <a:cubicBezTo>
                      <a:pt x="15" y="444"/>
                      <a:pt x="0" y="459"/>
                      <a:pt x="0" y="478"/>
                    </a:cubicBezTo>
                    <a:cubicBezTo>
                      <a:pt x="0" y="977"/>
                      <a:pt x="0" y="0"/>
                      <a:pt x="0" y="524"/>
                    </a:cubicBezTo>
                    <a:cubicBezTo>
                      <a:pt x="0" y="543"/>
                      <a:pt x="15" y="558"/>
                      <a:pt x="33" y="558"/>
                    </a:cubicBezTo>
                    <a:cubicBezTo>
                      <a:pt x="560" y="558"/>
                      <a:pt x="1075" y="558"/>
                      <a:pt x="1522" y="558"/>
                    </a:cubicBezTo>
                    <a:cubicBezTo>
                      <a:pt x="1541" y="558"/>
                      <a:pt x="1556" y="543"/>
                      <a:pt x="1556" y="524"/>
                    </a:cubicBezTo>
                    <a:lnTo>
                      <a:pt x="1556" y="478"/>
                    </a:lnTo>
                    <a:cubicBezTo>
                      <a:pt x="1556" y="459"/>
                      <a:pt x="1541" y="444"/>
                      <a:pt x="1522" y="4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2" name="Oval 147"/>
              <p:cNvSpPr>
                <a:spLocks noChangeArrowheads="1"/>
              </p:cNvSpPr>
              <p:nvPr/>
            </p:nvSpPr>
            <p:spPr bwMode="auto">
              <a:xfrm>
                <a:off x="7167523" y="2029408"/>
                <a:ext cx="277813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3" name="Freeform 148"/>
              <p:cNvSpPr>
                <a:spLocks/>
              </p:cNvSpPr>
              <p:nvPr/>
            </p:nvSpPr>
            <p:spPr bwMode="auto">
              <a:xfrm>
                <a:off x="7167523" y="2237370"/>
                <a:ext cx="169863" cy="109538"/>
              </a:xfrm>
              <a:custGeom>
                <a:avLst/>
                <a:gdLst>
                  <a:gd name="T0" fmla="*/ 473 w 473"/>
                  <a:gd name="T1" fmla="*/ 226 h 302"/>
                  <a:gd name="T2" fmla="*/ 421 w 473"/>
                  <a:gd name="T3" fmla="*/ 170 h 302"/>
                  <a:gd name="T4" fmla="*/ 384 w 473"/>
                  <a:gd name="T5" fmla="*/ 171 h 302"/>
                  <a:gd name="T6" fmla="*/ 0 w 473"/>
                  <a:gd name="T7" fmla="*/ 0 h 302"/>
                  <a:gd name="T8" fmla="*/ 0 w 473"/>
                  <a:gd name="T9" fmla="*/ 131 h 302"/>
                  <a:gd name="T10" fmla="*/ 384 w 473"/>
                  <a:gd name="T11" fmla="*/ 302 h 302"/>
                  <a:gd name="T12" fmla="*/ 473 w 473"/>
                  <a:gd name="T13" fmla="*/ 297 h 302"/>
                  <a:gd name="T14" fmla="*/ 473 w 473"/>
                  <a:gd name="T15" fmla="*/ 226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3" h="302">
                    <a:moveTo>
                      <a:pt x="473" y="226"/>
                    </a:moveTo>
                    <a:cubicBezTo>
                      <a:pt x="446" y="219"/>
                      <a:pt x="426" y="197"/>
                      <a:pt x="421" y="170"/>
                    </a:cubicBezTo>
                    <a:cubicBezTo>
                      <a:pt x="409" y="171"/>
                      <a:pt x="3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ubicBezTo>
                      <a:pt x="415" y="302"/>
                      <a:pt x="444" y="300"/>
                      <a:pt x="473" y="297"/>
                    </a:cubicBezTo>
                    <a:cubicBezTo>
                      <a:pt x="461" y="275"/>
                      <a:pt x="460" y="248"/>
                      <a:pt x="473" y="2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4" name="Freeform 149"/>
              <p:cNvSpPr>
                <a:spLocks/>
              </p:cNvSpPr>
              <p:nvPr/>
            </p:nvSpPr>
            <p:spPr bwMode="auto">
              <a:xfrm>
                <a:off x="7167523" y="2172283"/>
                <a:ext cx="171450" cy="109538"/>
              </a:xfrm>
              <a:custGeom>
                <a:avLst/>
                <a:gdLst>
                  <a:gd name="T0" fmla="*/ 384 w 474"/>
                  <a:gd name="T1" fmla="*/ 302 h 302"/>
                  <a:gd name="T2" fmla="*/ 420 w 474"/>
                  <a:gd name="T3" fmla="*/ 301 h 302"/>
                  <a:gd name="T4" fmla="*/ 420 w 474"/>
                  <a:gd name="T5" fmla="*/ 281 h 302"/>
                  <a:gd name="T6" fmla="*/ 474 w 474"/>
                  <a:gd name="T7" fmla="*/ 213 h 302"/>
                  <a:gd name="T8" fmla="*/ 464 w 474"/>
                  <a:gd name="T9" fmla="*/ 167 h 302"/>
                  <a:gd name="T10" fmla="*/ 384 w 474"/>
                  <a:gd name="T11" fmla="*/ 171 h 302"/>
                  <a:gd name="T12" fmla="*/ 0 w 474"/>
                  <a:gd name="T13" fmla="*/ 0 h 302"/>
                  <a:gd name="T14" fmla="*/ 0 w 474"/>
                  <a:gd name="T15" fmla="*/ 131 h 302"/>
                  <a:gd name="T16" fmla="*/ 384 w 474"/>
                  <a:gd name="T1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4" h="302">
                    <a:moveTo>
                      <a:pt x="384" y="302"/>
                    </a:moveTo>
                    <a:cubicBezTo>
                      <a:pt x="396" y="302"/>
                      <a:pt x="408" y="302"/>
                      <a:pt x="420" y="301"/>
                    </a:cubicBezTo>
                    <a:lnTo>
                      <a:pt x="420" y="281"/>
                    </a:lnTo>
                    <a:cubicBezTo>
                      <a:pt x="420" y="249"/>
                      <a:pt x="442" y="220"/>
                      <a:pt x="474" y="213"/>
                    </a:cubicBezTo>
                    <a:cubicBezTo>
                      <a:pt x="465" y="199"/>
                      <a:pt x="463" y="183"/>
                      <a:pt x="464" y="167"/>
                    </a:cubicBezTo>
                    <a:cubicBezTo>
                      <a:pt x="439" y="170"/>
                      <a:pt x="412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5" name="Freeform 150"/>
              <p:cNvSpPr>
                <a:spLocks/>
              </p:cNvSpPr>
              <p:nvPr/>
            </p:nvSpPr>
            <p:spPr bwMode="auto">
              <a:xfrm>
                <a:off x="7167523" y="2108783"/>
                <a:ext cx="277813" cy="109538"/>
              </a:xfrm>
              <a:custGeom>
                <a:avLst/>
                <a:gdLst>
                  <a:gd name="T0" fmla="*/ 384 w 769"/>
                  <a:gd name="T1" fmla="*/ 302 h 302"/>
                  <a:gd name="T2" fmla="*/ 494 w 769"/>
                  <a:gd name="T3" fmla="*/ 295 h 302"/>
                  <a:gd name="T4" fmla="*/ 522 w 769"/>
                  <a:gd name="T5" fmla="*/ 266 h 302"/>
                  <a:gd name="T6" fmla="*/ 573 w 769"/>
                  <a:gd name="T7" fmla="*/ 245 h 302"/>
                  <a:gd name="T8" fmla="*/ 609 w 769"/>
                  <a:gd name="T9" fmla="*/ 255 h 302"/>
                  <a:gd name="T10" fmla="*/ 677 w 769"/>
                  <a:gd name="T11" fmla="*/ 202 h 302"/>
                  <a:gd name="T12" fmla="*/ 731 w 769"/>
                  <a:gd name="T13" fmla="*/ 202 h 302"/>
                  <a:gd name="T14" fmla="*/ 734 w 769"/>
                  <a:gd name="T15" fmla="*/ 202 h 302"/>
                  <a:gd name="T16" fmla="*/ 769 w 769"/>
                  <a:gd name="T17" fmla="*/ 131 h 302"/>
                  <a:gd name="T18" fmla="*/ 769 w 769"/>
                  <a:gd name="T19" fmla="*/ 0 h 302"/>
                  <a:gd name="T20" fmla="*/ 384 w 769"/>
                  <a:gd name="T21" fmla="*/ 171 h 302"/>
                  <a:gd name="T22" fmla="*/ 0 w 769"/>
                  <a:gd name="T23" fmla="*/ 0 h 302"/>
                  <a:gd name="T24" fmla="*/ 0 w 769"/>
                  <a:gd name="T25" fmla="*/ 131 h 302"/>
                  <a:gd name="T26" fmla="*/ 384 w 769"/>
                  <a:gd name="T2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9" h="302">
                    <a:moveTo>
                      <a:pt x="384" y="302"/>
                    </a:moveTo>
                    <a:cubicBezTo>
                      <a:pt x="422" y="302"/>
                      <a:pt x="459" y="299"/>
                      <a:pt x="494" y="295"/>
                    </a:cubicBezTo>
                    <a:lnTo>
                      <a:pt x="522" y="266"/>
                    </a:lnTo>
                    <a:cubicBezTo>
                      <a:pt x="536" y="252"/>
                      <a:pt x="554" y="245"/>
                      <a:pt x="573" y="245"/>
                    </a:cubicBezTo>
                    <a:cubicBezTo>
                      <a:pt x="585" y="245"/>
                      <a:pt x="598" y="249"/>
                      <a:pt x="609" y="255"/>
                    </a:cubicBezTo>
                    <a:cubicBezTo>
                      <a:pt x="617" y="224"/>
                      <a:pt x="645" y="202"/>
                      <a:pt x="677" y="202"/>
                    </a:cubicBezTo>
                    <a:lnTo>
                      <a:pt x="731" y="202"/>
                    </a:lnTo>
                    <a:cubicBezTo>
                      <a:pt x="732" y="202"/>
                      <a:pt x="733" y="202"/>
                      <a:pt x="734" y="202"/>
                    </a:cubicBezTo>
                    <a:cubicBezTo>
                      <a:pt x="756" y="180"/>
                      <a:pt x="769" y="156"/>
                      <a:pt x="769" y="131"/>
                    </a:cubicBezTo>
                    <a:lnTo>
                      <a:pt x="769" y="0"/>
                    </a:lnTo>
                    <a:cubicBezTo>
                      <a:pt x="769" y="94"/>
                      <a:pt x="5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sp>
          <p:nvSpPr>
            <p:cNvPr id="20" name="Freeform 151"/>
            <p:cNvSpPr>
              <a:spLocks noEditPoints="1"/>
            </p:cNvSpPr>
            <p:nvPr/>
          </p:nvSpPr>
          <p:spPr bwMode="auto">
            <a:xfrm>
              <a:off x="7343736" y="2207208"/>
              <a:ext cx="153988" cy="153988"/>
            </a:xfrm>
            <a:custGeom>
              <a:avLst/>
              <a:gdLst>
                <a:gd name="T0" fmla="*/ 427 w 427"/>
                <a:gd name="T1" fmla="*/ 240 h 427"/>
                <a:gd name="T2" fmla="*/ 427 w 427"/>
                <a:gd name="T3" fmla="*/ 186 h 427"/>
                <a:gd name="T4" fmla="*/ 363 w 427"/>
                <a:gd name="T5" fmla="*/ 176 h 427"/>
                <a:gd name="T6" fmla="*/ 346 w 427"/>
                <a:gd name="T7" fmla="*/ 134 h 427"/>
                <a:gd name="T8" fmla="*/ 383 w 427"/>
                <a:gd name="T9" fmla="*/ 81 h 427"/>
                <a:gd name="T10" fmla="*/ 345 w 427"/>
                <a:gd name="T11" fmla="*/ 44 h 427"/>
                <a:gd name="T12" fmla="*/ 293 w 427"/>
                <a:gd name="T13" fmla="*/ 81 h 427"/>
                <a:gd name="T14" fmla="*/ 251 w 427"/>
                <a:gd name="T15" fmla="*/ 63 h 427"/>
                <a:gd name="T16" fmla="*/ 240 w 427"/>
                <a:gd name="T17" fmla="*/ 0 h 427"/>
                <a:gd name="T18" fmla="*/ 186 w 427"/>
                <a:gd name="T19" fmla="*/ 0 h 427"/>
                <a:gd name="T20" fmla="*/ 176 w 427"/>
                <a:gd name="T21" fmla="*/ 63 h 427"/>
                <a:gd name="T22" fmla="*/ 134 w 427"/>
                <a:gd name="T23" fmla="*/ 81 h 427"/>
                <a:gd name="T24" fmla="*/ 82 w 427"/>
                <a:gd name="T25" fmla="*/ 44 h 427"/>
                <a:gd name="T26" fmla="*/ 44 w 427"/>
                <a:gd name="T27" fmla="*/ 81 h 427"/>
                <a:gd name="T28" fmla="*/ 80 w 427"/>
                <a:gd name="T29" fmla="*/ 133 h 427"/>
                <a:gd name="T30" fmla="*/ 63 w 427"/>
                <a:gd name="T31" fmla="*/ 176 h 427"/>
                <a:gd name="T32" fmla="*/ 0 w 427"/>
                <a:gd name="T33" fmla="*/ 186 h 427"/>
                <a:gd name="T34" fmla="*/ 0 w 427"/>
                <a:gd name="T35" fmla="*/ 240 h 427"/>
                <a:gd name="T36" fmla="*/ 63 w 427"/>
                <a:gd name="T37" fmla="*/ 251 h 427"/>
                <a:gd name="T38" fmla="*/ 80 w 427"/>
                <a:gd name="T39" fmla="*/ 294 h 427"/>
                <a:gd name="T40" fmla="*/ 43 w 427"/>
                <a:gd name="T41" fmla="*/ 345 h 427"/>
                <a:gd name="T42" fmla="*/ 81 w 427"/>
                <a:gd name="T43" fmla="*/ 383 h 427"/>
                <a:gd name="T44" fmla="*/ 133 w 427"/>
                <a:gd name="T45" fmla="*/ 346 h 427"/>
                <a:gd name="T46" fmla="*/ 176 w 427"/>
                <a:gd name="T47" fmla="*/ 364 h 427"/>
                <a:gd name="T48" fmla="*/ 186 w 427"/>
                <a:gd name="T49" fmla="*/ 427 h 427"/>
                <a:gd name="T50" fmla="*/ 240 w 427"/>
                <a:gd name="T51" fmla="*/ 427 h 427"/>
                <a:gd name="T52" fmla="*/ 251 w 427"/>
                <a:gd name="T53" fmla="*/ 364 h 427"/>
                <a:gd name="T54" fmla="*/ 293 w 427"/>
                <a:gd name="T55" fmla="*/ 346 h 427"/>
                <a:gd name="T56" fmla="*/ 346 w 427"/>
                <a:gd name="T57" fmla="*/ 383 h 427"/>
                <a:gd name="T58" fmla="*/ 384 w 427"/>
                <a:gd name="T59" fmla="*/ 345 h 427"/>
                <a:gd name="T60" fmla="*/ 346 w 427"/>
                <a:gd name="T61" fmla="*/ 293 h 427"/>
                <a:gd name="T62" fmla="*/ 363 w 427"/>
                <a:gd name="T63" fmla="*/ 251 h 427"/>
                <a:gd name="T64" fmla="*/ 427 w 427"/>
                <a:gd name="T65" fmla="*/ 240 h 427"/>
                <a:gd name="T66" fmla="*/ 214 w 427"/>
                <a:gd name="T67" fmla="*/ 288 h 427"/>
                <a:gd name="T68" fmla="*/ 139 w 427"/>
                <a:gd name="T69" fmla="*/ 214 h 427"/>
                <a:gd name="T70" fmla="*/ 214 w 427"/>
                <a:gd name="T71" fmla="*/ 139 h 427"/>
                <a:gd name="T72" fmla="*/ 288 w 427"/>
                <a:gd name="T73" fmla="*/ 214 h 427"/>
                <a:gd name="T74" fmla="*/ 214 w 427"/>
                <a:gd name="T75" fmla="*/ 28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7" h="427">
                  <a:moveTo>
                    <a:pt x="427" y="240"/>
                  </a:moveTo>
                  <a:lnTo>
                    <a:pt x="427" y="186"/>
                  </a:lnTo>
                  <a:lnTo>
                    <a:pt x="363" y="176"/>
                  </a:lnTo>
                  <a:cubicBezTo>
                    <a:pt x="360" y="161"/>
                    <a:pt x="354" y="147"/>
                    <a:pt x="346" y="134"/>
                  </a:cubicBezTo>
                  <a:lnTo>
                    <a:pt x="383" y="81"/>
                  </a:lnTo>
                  <a:lnTo>
                    <a:pt x="345" y="44"/>
                  </a:lnTo>
                  <a:lnTo>
                    <a:pt x="293" y="81"/>
                  </a:lnTo>
                  <a:cubicBezTo>
                    <a:pt x="280" y="73"/>
                    <a:pt x="266" y="67"/>
                    <a:pt x="251" y="63"/>
                  </a:cubicBezTo>
                  <a:lnTo>
                    <a:pt x="240" y="0"/>
                  </a:lnTo>
                  <a:lnTo>
                    <a:pt x="186" y="0"/>
                  </a:lnTo>
                  <a:lnTo>
                    <a:pt x="176" y="63"/>
                  </a:lnTo>
                  <a:cubicBezTo>
                    <a:pt x="161" y="67"/>
                    <a:pt x="147" y="73"/>
                    <a:pt x="134" y="81"/>
                  </a:cubicBezTo>
                  <a:lnTo>
                    <a:pt x="82" y="44"/>
                  </a:lnTo>
                  <a:lnTo>
                    <a:pt x="44" y="81"/>
                  </a:lnTo>
                  <a:lnTo>
                    <a:pt x="80" y="133"/>
                  </a:lnTo>
                  <a:cubicBezTo>
                    <a:pt x="73" y="147"/>
                    <a:pt x="67" y="161"/>
                    <a:pt x="63" y="176"/>
                  </a:cubicBezTo>
                  <a:lnTo>
                    <a:pt x="0" y="186"/>
                  </a:lnTo>
                  <a:lnTo>
                    <a:pt x="0" y="240"/>
                  </a:lnTo>
                  <a:lnTo>
                    <a:pt x="63" y="251"/>
                  </a:lnTo>
                  <a:cubicBezTo>
                    <a:pt x="67" y="266"/>
                    <a:pt x="72" y="280"/>
                    <a:pt x="80" y="294"/>
                  </a:cubicBezTo>
                  <a:lnTo>
                    <a:pt x="43" y="345"/>
                  </a:lnTo>
                  <a:lnTo>
                    <a:pt x="81" y="383"/>
                  </a:lnTo>
                  <a:lnTo>
                    <a:pt x="133" y="346"/>
                  </a:lnTo>
                  <a:cubicBezTo>
                    <a:pt x="147" y="354"/>
                    <a:pt x="161" y="360"/>
                    <a:pt x="176" y="364"/>
                  </a:cubicBezTo>
                  <a:lnTo>
                    <a:pt x="186" y="427"/>
                  </a:lnTo>
                  <a:lnTo>
                    <a:pt x="240" y="427"/>
                  </a:lnTo>
                  <a:lnTo>
                    <a:pt x="251" y="364"/>
                  </a:lnTo>
                  <a:cubicBezTo>
                    <a:pt x="266" y="360"/>
                    <a:pt x="280" y="354"/>
                    <a:pt x="293" y="346"/>
                  </a:cubicBezTo>
                  <a:lnTo>
                    <a:pt x="346" y="383"/>
                  </a:lnTo>
                  <a:lnTo>
                    <a:pt x="384" y="345"/>
                  </a:lnTo>
                  <a:lnTo>
                    <a:pt x="346" y="293"/>
                  </a:lnTo>
                  <a:cubicBezTo>
                    <a:pt x="354" y="280"/>
                    <a:pt x="360" y="266"/>
                    <a:pt x="363" y="251"/>
                  </a:cubicBezTo>
                  <a:lnTo>
                    <a:pt x="427" y="240"/>
                  </a:lnTo>
                  <a:close/>
                  <a:moveTo>
                    <a:pt x="214" y="288"/>
                  </a:moveTo>
                  <a:cubicBezTo>
                    <a:pt x="173" y="288"/>
                    <a:pt x="139" y="255"/>
                    <a:pt x="139" y="214"/>
                  </a:cubicBezTo>
                  <a:cubicBezTo>
                    <a:pt x="139" y="173"/>
                    <a:pt x="173" y="139"/>
                    <a:pt x="214" y="139"/>
                  </a:cubicBezTo>
                  <a:cubicBezTo>
                    <a:pt x="255" y="139"/>
                    <a:pt x="288" y="173"/>
                    <a:pt x="288" y="214"/>
                  </a:cubicBezTo>
                  <a:cubicBezTo>
                    <a:pt x="288" y="255"/>
                    <a:pt x="255" y="288"/>
                    <a:pt x="214" y="288"/>
                  </a:cubicBez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26" name="Прямоугольник 8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287525" y="1124744"/>
            <a:ext cx="8579164" cy="180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defTabSz="931343" eaLnBrk="0" hangingPunct="0"/>
            <a:r>
              <a:rPr lang="ru-RU" sz="800" b="1" dirty="0" smtClean="0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rPr>
              <a:t>Прирост добычи и кол-во введенных скважин по ЗБС, тыс. т и шт.*</a:t>
            </a:r>
            <a:endParaRPr lang="ru-RU" sz="800" b="1" dirty="0">
              <a:solidFill>
                <a:srgbClr val="545353"/>
              </a:solidFill>
              <a:latin typeface="Arial" pitchFamily="34" charset="0"/>
              <a:cs typeface="Arabic Typesetting" pitchFamily="66" charset="-78"/>
            </a:endParaRPr>
          </a:p>
        </p:txBody>
      </p:sp>
      <p:sp>
        <p:nvSpPr>
          <p:cNvPr id="30" name="Прямоугольник 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23528" y="3861048"/>
            <a:ext cx="8578142" cy="180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defTabSz="931343" eaLnBrk="0" hangingPunct="0"/>
            <a:r>
              <a:rPr lang="ru-RU" sz="800" b="1" dirty="0" smtClean="0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rPr>
              <a:t>Кол-во бригад и кол-во законченных бурением скважин по ЗБС, шт.</a:t>
            </a:r>
            <a:endParaRPr lang="ru-RU" sz="800" b="1" dirty="0">
              <a:solidFill>
                <a:srgbClr val="545353"/>
              </a:solidFill>
              <a:latin typeface="Arial" pitchFamily="34" charset="0"/>
              <a:cs typeface="Arabic Typesetting" pitchFamily="66" charset="-78"/>
            </a:endParaRPr>
          </a:p>
        </p:txBody>
      </p:sp>
      <p:sp>
        <p:nvSpPr>
          <p:cNvPr id="27" name="Прямоугольник 26"/>
          <p:cNvSpPr/>
          <p:nvPr>
            <p:custDataLst>
              <p:tags r:id="rId11"/>
            </p:custDataLst>
          </p:nvPr>
        </p:nvSpPr>
        <p:spPr>
          <a:xfrm>
            <a:off x="323528" y="3753036"/>
            <a:ext cx="3368046" cy="90122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r>
              <a:rPr lang="ru-RU" sz="800" dirty="0">
                <a:solidFill>
                  <a:srgbClr val="545353"/>
                </a:solidFill>
              </a:rPr>
              <a:t>* - </a:t>
            </a:r>
            <a:r>
              <a:rPr lang="ru-RU" sz="800" dirty="0" smtClean="0">
                <a:solidFill>
                  <a:srgbClr val="545353"/>
                </a:solidFill>
              </a:rPr>
              <a:t>без учёта </a:t>
            </a:r>
            <a:r>
              <a:rPr lang="ru-RU" sz="800" dirty="0">
                <a:solidFill>
                  <a:srgbClr val="545353"/>
                </a:solidFill>
              </a:rPr>
              <a:t>ввода скважин из других категорий</a:t>
            </a:r>
          </a:p>
        </p:txBody>
      </p:sp>
    </p:spTree>
    <p:extLst>
      <p:ext uri="{BB962C8B-B14F-4D97-AF65-F5344CB8AC3E}">
        <p14:creationId xmlns:p14="http://schemas.microsoft.com/office/powerpoint/2010/main" val="270327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ChartGS_squareMnth"/>
          <p:cNvSpPr/>
          <p:nvPr>
            <p:custDataLst>
              <p:tags r:id="rId1"/>
            </p:custDataLst>
          </p:nvPr>
        </p:nvSpPr>
        <p:spPr>
          <a:xfrm>
            <a:off x="7882970" y="1455536"/>
            <a:ext cx="319686" cy="1843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 dirty="0">
              <a:solidFill>
                <a:srgbClr val="004077"/>
              </a:solidFill>
            </a:endParaRPr>
          </a:p>
        </p:txBody>
      </p:sp>
      <p:grpSp>
        <p:nvGrpSpPr>
          <p:cNvPr id="94" name="GroupChartNNS"/>
          <p:cNvGrpSpPr/>
          <p:nvPr>
            <p:custDataLst>
              <p:tags r:id="rId2"/>
            </p:custDataLst>
          </p:nvPr>
        </p:nvGrpSpPr>
        <p:grpSpPr>
          <a:xfrm>
            <a:off x="539552" y="1321718"/>
            <a:ext cx="3693600" cy="457200"/>
            <a:chOff x="-8523323" y="-2003398"/>
            <a:chExt cx="728663" cy="1262529"/>
          </a:xfrm>
        </p:grpSpPr>
        <p:cxnSp>
          <p:nvCxnSpPr>
            <p:cNvPr id="95" name="Прямая соединительная линия 94"/>
            <p:cNvCxnSpPr/>
            <p:nvPr/>
          </p:nvCxnSpPr>
          <p:spPr bwMode="auto">
            <a:xfrm flipH="1">
              <a:off x="-7794660" y="-1689435"/>
              <a:ext cx="0" cy="948566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Прямая соединительная линия 95"/>
            <p:cNvCxnSpPr/>
            <p:nvPr/>
          </p:nvCxnSpPr>
          <p:spPr bwMode="auto">
            <a:xfrm>
              <a:off x="-8523323" y="-1689435"/>
              <a:ext cx="728663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Прямая соединительная линия 96"/>
            <p:cNvCxnSpPr/>
            <p:nvPr/>
          </p:nvCxnSpPr>
          <p:spPr bwMode="auto">
            <a:xfrm flipV="1">
              <a:off x="-8523323" y="-1689432"/>
              <a:ext cx="0" cy="948563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ChartNNS_percent"/>
            <p:cNvSpPr/>
            <p:nvPr/>
          </p:nvSpPr>
          <p:spPr bwMode="auto">
            <a:xfrm>
              <a:off x="-8206829" y="-2003398"/>
              <a:ext cx="85276" cy="6279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000" b="1" dirty="0" smtClean="0">
                  <a:solidFill>
                    <a:srgbClr val="00B050"/>
                  </a:solidFill>
                  <a:sym typeface="+mn-lt"/>
                </a:rPr>
                <a:t>perc</a:t>
              </a:r>
              <a:endParaRPr lang="ru-RU" sz="1000" b="1" dirty="0" smtClean="0">
                <a:solidFill>
                  <a:srgbClr val="00B050"/>
                </a:solidFill>
                <a:sym typeface="+mn-lt"/>
              </a:endParaRPr>
            </a:p>
          </p:txBody>
        </p:sp>
      </p:grpSp>
      <p:sp>
        <p:nvSpPr>
          <p:cNvPr id="24" name="ChartNNS_squareMnth"/>
          <p:cNvSpPr/>
          <p:nvPr>
            <p:custDataLst>
              <p:tags r:id="rId3"/>
            </p:custDataLst>
          </p:nvPr>
        </p:nvSpPr>
        <p:spPr>
          <a:xfrm>
            <a:off x="3559108" y="1455536"/>
            <a:ext cx="327273" cy="1843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graphicFrame>
        <p:nvGraphicFramePr>
          <p:cNvPr id="4" name="ChartNNS"/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684255681"/>
              </p:ext>
            </p:extLst>
          </p:nvPr>
        </p:nvGraphicFramePr>
        <p:xfrm>
          <a:off x="314896" y="1426586"/>
          <a:ext cx="4205040" cy="2189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grpSp>
        <p:nvGrpSpPr>
          <p:cNvPr id="89" name="GroupChartGS"/>
          <p:cNvGrpSpPr/>
          <p:nvPr>
            <p:custDataLst>
              <p:tags r:id="rId5"/>
            </p:custDataLst>
          </p:nvPr>
        </p:nvGrpSpPr>
        <p:grpSpPr>
          <a:xfrm>
            <a:off x="4860032" y="1328344"/>
            <a:ext cx="3693600" cy="457200"/>
            <a:chOff x="-8523323" y="-2003398"/>
            <a:chExt cx="728663" cy="1262529"/>
          </a:xfrm>
        </p:grpSpPr>
        <p:cxnSp>
          <p:nvCxnSpPr>
            <p:cNvPr id="90" name="Прямая соединительная линия 89"/>
            <p:cNvCxnSpPr/>
            <p:nvPr/>
          </p:nvCxnSpPr>
          <p:spPr bwMode="auto">
            <a:xfrm flipH="1">
              <a:off x="-7794660" y="-1689435"/>
              <a:ext cx="0" cy="948566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Прямая соединительная линия 90"/>
            <p:cNvCxnSpPr/>
            <p:nvPr/>
          </p:nvCxnSpPr>
          <p:spPr bwMode="auto">
            <a:xfrm>
              <a:off x="-8523323" y="-1689435"/>
              <a:ext cx="728663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Прямая соединительная линия 91"/>
            <p:cNvCxnSpPr/>
            <p:nvPr/>
          </p:nvCxnSpPr>
          <p:spPr bwMode="auto">
            <a:xfrm flipV="1">
              <a:off x="-8523323" y="-1689432"/>
              <a:ext cx="0" cy="948563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ChartGS_percent"/>
            <p:cNvSpPr/>
            <p:nvPr/>
          </p:nvSpPr>
          <p:spPr bwMode="auto">
            <a:xfrm>
              <a:off x="-8206829" y="-2003398"/>
              <a:ext cx="85276" cy="6279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000" b="1" dirty="0" smtClean="0">
                  <a:solidFill>
                    <a:srgbClr val="00B050"/>
                  </a:solidFill>
                  <a:sym typeface="+mn-lt"/>
                </a:rPr>
                <a:t>perc</a:t>
              </a:r>
            </a:p>
          </p:txBody>
        </p:sp>
      </p:grpSp>
      <p:sp>
        <p:nvSpPr>
          <p:cNvPr id="72" name="Square2"/>
          <p:cNvSpPr/>
          <p:nvPr>
            <p:custDataLst>
              <p:tags r:id="rId6"/>
            </p:custDataLst>
          </p:nvPr>
        </p:nvSpPr>
        <p:spPr>
          <a:xfrm>
            <a:off x="7731579" y="3865248"/>
            <a:ext cx="290624" cy="24549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sp>
        <p:nvSpPr>
          <p:cNvPr id="73" name="Square1"/>
          <p:cNvSpPr/>
          <p:nvPr>
            <p:custDataLst>
              <p:tags r:id="rId7"/>
            </p:custDataLst>
          </p:nvPr>
        </p:nvSpPr>
        <p:spPr>
          <a:xfrm>
            <a:off x="3398399" y="3861048"/>
            <a:ext cx="290624" cy="2459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sp>
        <p:nvSpPr>
          <p:cNvPr id="6" name="Текст 14"/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4610100" y="1088740"/>
            <a:ext cx="4246881" cy="215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ГС, </a:t>
            </a:r>
            <a:r>
              <a:rPr lang="ru-RU" sz="800" dirty="0" err="1" smtClean="0">
                <a:solidFill>
                  <a:srgbClr val="545353"/>
                </a:solidFill>
                <a:cs typeface="Arabic Typesetting" pitchFamily="66" charset="-78"/>
              </a:rPr>
              <a:t>сут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./1000м, в целом по Дирекции </a:t>
            </a:r>
            <a:r>
              <a:rPr lang="ru-RU" sz="800" dirty="0">
                <a:solidFill>
                  <a:srgbClr val="545353"/>
                </a:solidFill>
                <a:cs typeface="Arabic Typesetting" pitchFamily="66" charset="-78"/>
              </a:rPr>
              <a:t>Д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обычи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sp>
        <p:nvSpPr>
          <p:cNvPr id="7" name="Текст 11"/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287524" y="1088768"/>
            <a:ext cx="4246376" cy="215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ННС, </a:t>
            </a:r>
            <a:r>
              <a:rPr lang="ru-RU" sz="800" dirty="0" err="1" smtClean="0">
                <a:solidFill>
                  <a:srgbClr val="545353"/>
                </a:solidFill>
                <a:cs typeface="Arabic Typesetting" pitchFamily="66" charset="-78"/>
              </a:rPr>
              <a:t>сут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./1000м, в целом по Дирекции Добычи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sp>
        <p:nvSpPr>
          <p:cNvPr id="14" name="TitleSlide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>
          <a:xfrm>
            <a:off x="1295635" y="314843"/>
            <a:ext cx="7561027" cy="607021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Дирекция по добыче 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Эксплуатационное бурение</a:t>
            </a:r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Динамика скорости бурения</a:t>
            </a:r>
            <a:endParaRPr lang="ru-RU" sz="1200" dirty="0">
              <a:solidFill>
                <a:srgbClr val="545353"/>
              </a:solidFill>
            </a:endParaRPr>
          </a:p>
        </p:txBody>
      </p:sp>
      <p:grpSp>
        <p:nvGrpSpPr>
          <p:cNvPr id="15" name="Группа 14"/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303854" y="260648"/>
            <a:ext cx="803835" cy="890037"/>
            <a:chOff x="7051636" y="2029408"/>
            <a:chExt cx="561975" cy="571500"/>
          </a:xfrm>
        </p:grpSpPr>
        <p:grpSp>
          <p:nvGrpSpPr>
            <p:cNvPr id="16" name="Группа 15"/>
            <p:cNvGrpSpPr/>
            <p:nvPr/>
          </p:nvGrpSpPr>
          <p:grpSpPr>
            <a:xfrm>
              <a:off x="7051636" y="2029408"/>
              <a:ext cx="561975" cy="571500"/>
              <a:chOff x="7051636" y="2029408"/>
              <a:chExt cx="561975" cy="571500"/>
            </a:xfrm>
            <a:solidFill>
              <a:schemeClr val="accent2"/>
            </a:solidFill>
          </p:grpSpPr>
          <p:sp>
            <p:nvSpPr>
              <p:cNvPr id="18" name="Freeform 146"/>
              <p:cNvSpPr>
                <a:spLocks/>
              </p:cNvSpPr>
              <p:nvPr/>
            </p:nvSpPr>
            <p:spPr bwMode="auto">
              <a:xfrm>
                <a:off x="7051636" y="2248483"/>
                <a:ext cx="561975" cy="352425"/>
              </a:xfrm>
              <a:custGeom>
                <a:avLst/>
                <a:gdLst>
                  <a:gd name="T0" fmla="*/ 1522 w 1556"/>
                  <a:gd name="T1" fmla="*/ 444 h 977"/>
                  <a:gd name="T2" fmla="*/ 33 w 1556"/>
                  <a:gd name="T3" fmla="*/ 444 h 977"/>
                  <a:gd name="T4" fmla="*/ 0 w 1556"/>
                  <a:gd name="T5" fmla="*/ 478 h 977"/>
                  <a:gd name="T6" fmla="*/ 0 w 1556"/>
                  <a:gd name="T7" fmla="*/ 524 h 977"/>
                  <a:gd name="T8" fmla="*/ 33 w 1556"/>
                  <a:gd name="T9" fmla="*/ 558 h 977"/>
                  <a:gd name="T10" fmla="*/ 1522 w 1556"/>
                  <a:gd name="T11" fmla="*/ 558 h 977"/>
                  <a:gd name="T12" fmla="*/ 1556 w 1556"/>
                  <a:gd name="T13" fmla="*/ 524 h 977"/>
                  <a:gd name="T14" fmla="*/ 1556 w 1556"/>
                  <a:gd name="T15" fmla="*/ 478 h 977"/>
                  <a:gd name="T16" fmla="*/ 1522 w 1556"/>
                  <a:gd name="T17" fmla="*/ 44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6" h="977">
                    <a:moveTo>
                      <a:pt x="1522" y="444"/>
                    </a:moveTo>
                    <a:cubicBezTo>
                      <a:pt x="1031" y="444"/>
                      <a:pt x="391" y="444"/>
                      <a:pt x="33" y="444"/>
                    </a:cubicBezTo>
                    <a:cubicBezTo>
                      <a:pt x="15" y="444"/>
                      <a:pt x="0" y="459"/>
                      <a:pt x="0" y="478"/>
                    </a:cubicBezTo>
                    <a:cubicBezTo>
                      <a:pt x="0" y="977"/>
                      <a:pt x="0" y="0"/>
                      <a:pt x="0" y="524"/>
                    </a:cubicBezTo>
                    <a:cubicBezTo>
                      <a:pt x="0" y="543"/>
                      <a:pt x="15" y="558"/>
                      <a:pt x="33" y="558"/>
                    </a:cubicBezTo>
                    <a:cubicBezTo>
                      <a:pt x="560" y="558"/>
                      <a:pt x="1075" y="558"/>
                      <a:pt x="1522" y="558"/>
                    </a:cubicBezTo>
                    <a:cubicBezTo>
                      <a:pt x="1541" y="558"/>
                      <a:pt x="1556" y="543"/>
                      <a:pt x="1556" y="524"/>
                    </a:cubicBezTo>
                    <a:lnTo>
                      <a:pt x="1556" y="478"/>
                    </a:lnTo>
                    <a:cubicBezTo>
                      <a:pt x="1556" y="459"/>
                      <a:pt x="1541" y="444"/>
                      <a:pt x="1522" y="4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9" name="Oval 147"/>
              <p:cNvSpPr>
                <a:spLocks noChangeArrowheads="1"/>
              </p:cNvSpPr>
              <p:nvPr/>
            </p:nvSpPr>
            <p:spPr bwMode="auto">
              <a:xfrm>
                <a:off x="7167523" y="2029408"/>
                <a:ext cx="277813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0" name="Freeform 148"/>
              <p:cNvSpPr>
                <a:spLocks/>
              </p:cNvSpPr>
              <p:nvPr/>
            </p:nvSpPr>
            <p:spPr bwMode="auto">
              <a:xfrm>
                <a:off x="7167523" y="2237370"/>
                <a:ext cx="169863" cy="109538"/>
              </a:xfrm>
              <a:custGeom>
                <a:avLst/>
                <a:gdLst>
                  <a:gd name="T0" fmla="*/ 473 w 473"/>
                  <a:gd name="T1" fmla="*/ 226 h 302"/>
                  <a:gd name="T2" fmla="*/ 421 w 473"/>
                  <a:gd name="T3" fmla="*/ 170 h 302"/>
                  <a:gd name="T4" fmla="*/ 384 w 473"/>
                  <a:gd name="T5" fmla="*/ 171 h 302"/>
                  <a:gd name="T6" fmla="*/ 0 w 473"/>
                  <a:gd name="T7" fmla="*/ 0 h 302"/>
                  <a:gd name="T8" fmla="*/ 0 w 473"/>
                  <a:gd name="T9" fmla="*/ 131 h 302"/>
                  <a:gd name="T10" fmla="*/ 384 w 473"/>
                  <a:gd name="T11" fmla="*/ 302 h 302"/>
                  <a:gd name="T12" fmla="*/ 473 w 473"/>
                  <a:gd name="T13" fmla="*/ 297 h 302"/>
                  <a:gd name="T14" fmla="*/ 473 w 473"/>
                  <a:gd name="T15" fmla="*/ 226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3" h="302">
                    <a:moveTo>
                      <a:pt x="473" y="226"/>
                    </a:moveTo>
                    <a:cubicBezTo>
                      <a:pt x="446" y="219"/>
                      <a:pt x="426" y="197"/>
                      <a:pt x="421" y="170"/>
                    </a:cubicBezTo>
                    <a:cubicBezTo>
                      <a:pt x="409" y="171"/>
                      <a:pt x="3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ubicBezTo>
                      <a:pt x="415" y="302"/>
                      <a:pt x="444" y="300"/>
                      <a:pt x="473" y="297"/>
                    </a:cubicBezTo>
                    <a:cubicBezTo>
                      <a:pt x="461" y="275"/>
                      <a:pt x="460" y="248"/>
                      <a:pt x="473" y="2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1" name="Freeform 149"/>
              <p:cNvSpPr>
                <a:spLocks/>
              </p:cNvSpPr>
              <p:nvPr/>
            </p:nvSpPr>
            <p:spPr bwMode="auto">
              <a:xfrm>
                <a:off x="7167523" y="2172283"/>
                <a:ext cx="171450" cy="109538"/>
              </a:xfrm>
              <a:custGeom>
                <a:avLst/>
                <a:gdLst>
                  <a:gd name="T0" fmla="*/ 384 w 474"/>
                  <a:gd name="T1" fmla="*/ 302 h 302"/>
                  <a:gd name="T2" fmla="*/ 420 w 474"/>
                  <a:gd name="T3" fmla="*/ 301 h 302"/>
                  <a:gd name="T4" fmla="*/ 420 w 474"/>
                  <a:gd name="T5" fmla="*/ 281 h 302"/>
                  <a:gd name="T6" fmla="*/ 474 w 474"/>
                  <a:gd name="T7" fmla="*/ 213 h 302"/>
                  <a:gd name="T8" fmla="*/ 464 w 474"/>
                  <a:gd name="T9" fmla="*/ 167 h 302"/>
                  <a:gd name="T10" fmla="*/ 384 w 474"/>
                  <a:gd name="T11" fmla="*/ 171 h 302"/>
                  <a:gd name="T12" fmla="*/ 0 w 474"/>
                  <a:gd name="T13" fmla="*/ 0 h 302"/>
                  <a:gd name="T14" fmla="*/ 0 w 474"/>
                  <a:gd name="T15" fmla="*/ 131 h 302"/>
                  <a:gd name="T16" fmla="*/ 384 w 474"/>
                  <a:gd name="T1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4" h="302">
                    <a:moveTo>
                      <a:pt x="384" y="302"/>
                    </a:moveTo>
                    <a:cubicBezTo>
                      <a:pt x="396" y="302"/>
                      <a:pt x="408" y="302"/>
                      <a:pt x="420" y="301"/>
                    </a:cubicBezTo>
                    <a:lnTo>
                      <a:pt x="420" y="281"/>
                    </a:lnTo>
                    <a:cubicBezTo>
                      <a:pt x="420" y="249"/>
                      <a:pt x="442" y="220"/>
                      <a:pt x="474" y="213"/>
                    </a:cubicBezTo>
                    <a:cubicBezTo>
                      <a:pt x="465" y="199"/>
                      <a:pt x="463" y="183"/>
                      <a:pt x="464" y="167"/>
                    </a:cubicBezTo>
                    <a:cubicBezTo>
                      <a:pt x="439" y="170"/>
                      <a:pt x="412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2" name="Freeform 150"/>
              <p:cNvSpPr>
                <a:spLocks/>
              </p:cNvSpPr>
              <p:nvPr/>
            </p:nvSpPr>
            <p:spPr bwMode="auto">
              <a:xfrm>
                <a:off x="7167523" y="2108783"/>
                <a:ext cx="277813" cy="109538"/>
              </a:xfrm>
              <a:custGeom>
                <a:avLst/>
                <a:gdLst>
                  <a:gd name="T0" fmla="*/ 384 w 769"/>
                  <a:gd name="T1" fmla="*/ 302 h 302"/>
                  <a:gd name="T2" fmla="*/ 494 w 769"/>
                  <a:gd name="T3" fmla="*/ 295 h 302"/>
                  <a:gd name="T4" fmla="*/ 522 w 769"/>
                  <a:gd name="T5" fmla="*/ 266 h 302"/>
                  <a:gd name="T6" fmla="*/ 573 w 769"/>
                  <a:gd name="T7" fmla="*/ 245 h 302"/>
                  <a:gd name="T8" fmla="*/ 609 w 769"/>
                  <a:gd name="T9" fmla="*/ 255 h 302"/>
                  <a:gd name="T10" fmla="*/ 677 w 769"/>
                  <a:gd name="T11" fmla="*/ 202 h 302"/>
                  <a:gd name="T12" fmla="*/ 731 w 769"/>
                  <a:gd name="T13" fmla="*/ 202 h 302"/>
                  <a:gd name="T14" fmla="*/ 734 w 769"/>
                  <a:gd name="T15" fmla="*/ 202 h 302"/>
                  <a:gd name="T16" fmla="*/ 769 w 769"/>
                  <a:gd name="T17" fmla="*/ 131 h 302"/>
                  <a:gd name="T18" fmla="*/ 769 w 769"/>
                  <a:gd name="T19" fmla="*/ 0 h 302"/>
                  <a:gd name="T20" fmla="*/ 384 w 769"/>
                  <a:gd name="T21" fmla="*/ 171 h 302"/>
                  <a:gd name="T22" fmla="*/ 0 w 769"/>
                  <a:gd name="T23" fmla="*/ 0 h 302"/>
                  <a:gd name="T24" fmla="*/ 0 w 769"/>
                  <a:gd name="T25" fmla="*/ 131 h 302"/>
                  <a:gd name="T26" fmla="*/ 384 w 769"/>
                  <a:gd name="T2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9" h="302">
                    <a:moveTo>
                      <a:pt x="384" y="302"/>
                    </a:moveTo>
                    <a:cubicBezTo>
                      <a:pt x="422" y="302"/>
                      <a:pt x="459" y="299"/>
                      <a:pt x="494" y="295"/>
                    </a:cubicBezTo>
                    <a:lnTo>
                      <a:pt x="522" y="266"/>
                    </a:lnTo>
                    <a:cubicBezTo>
                      <a:pt x="536" y="252"/>
                      <a:pt x="554" y="245"/>
                      <a:pt x="573" y="245"/>
                    </a:cubicBezTo>
                    <a:cubicBezTo>
                      <a:pt x="585" y="245"/>
                      <a:pt x="598" y="249"/>
                      <a:pt x="609" y="255"/>
                    </a:cubicBezTo>
                    <a:cubicBezTo>
                      <a:pt x="617" y="224"/>
                      <a:pt x="645" y="202"/>
                      <a:pt x="677" y="202"/>
                    </a:cubicBezTo>
                    <a:lnTo>
                      <a:pt x="731" y="202"/>
                    </a:lnTo>
                    <a:cubicBezTo>
                      <a:pt x="732" y="202"/>
                      <a:pt x="733" y="202"/>
                      <a:pt x="734" y="202"/>
                    </a:cubicBezTo>
                    <a:cubicBezTo>
                      <a:pt x="756" y="180"/>
                      <a:pt x="769" y="156"/>
                      <a:pt x="769" y="131"/>
                    </a:cubicBezTo>
                    <a:lnTo>
                      <a:pt x="769" y="0"/>
                    </a:lnTo>
                    <a:cubicBezTo>
                      <a:pt x="769" y="94"/>
                      <a:pt x="5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sp>
          <p:nvSpPr>
            <p:cNvPr id="17" name="Freeform 151"/>
            <p:cNvSpPr>
              <a:spLocks noEditPoints="1"/>
            </p:cNvSpPr>
            <p:nvPr/>
          </p:nvSpPr>
          <p:spPr bwMode="auto">
            <a:xfrm>
              <a:off x="7343736" y="2207208"/>
              <a:ext cx="153988" cy="153988"/>
            </a:xfrm>
            <a:custGeom>
              <a:avLst/>
              <a:gdLst>
                <a:gd name="T0" fmla="*/ 427 w 427"/>
                <a:gd name="T1" fmla="*/ 240 h 427"/>
                <a:gd name="T2" fmla="*/ 427 w 427"/>
                <a:gd name="T3" fmla="*/ 186 h 427"/>
                <a:gd name="T4" fmla="*/ 363 w 427"/>
                <a:gd name="T5" fmla="*/ 176 h 427"/>
                <a:gd name="T6" fmla="*/ 346 w 427"/>
                <a:gd name="T7" fmla="*/ 134 h 427"/>
                <a:gd name="T8" fmla="*/ 383 w 427"/>
                <a:gd name="T9" fmla="*/ 81 h 427"/>
                <a:gd name="T10" fmla="*/ 345 w 427"/>
                <a:gd name="T11" fmla="*/ 44 h 427"/>
                <a:gd name="T12" fmla="*/ 293 w 427"/>
                <a:gd name="T13" fmla="*/ 81 h 427"/>
                <a:gd name="T14" fmla="*/ 251 w 427"/>
                <a:gd name="T15" fmla="*/ 63 h 427"/>
                <a:gd name="T16" fmla="*/ 240 w 427"/>
                <a:gd name="T17" fmla="*/ 0 h 427"/>
                <a:gd name="T18" fmla="*/ 186 w 427"/>
                <a:gd name="T19" fmla="*/ 0 h 427"/>
                <a:gd name="T20" fmla="*/ 176 w 427"/>
                <a:gd name="T21" fmla="*/ 63 h 427"/>
                <a:gd name="T22" fmla="*/ 134 w 427"/>
                <a:gd name="T23" fmla="*/ 81 h 427"/>
                <a:gd name="T24" fmla="*/ 82 w 427"/>
                <a:gd name="T25" fmla="*/ 44 h 427"/>
                <a:gd name="T26" fmla="*/ 44 w 427"/>
                <a:gd name="T27" fmla="*/ 81 h 427"/>
                <a:gd name="T28" fmla="*/ 80 w 427"/>
                <a:gd name="T29" fmla="*/ 133 h 427"/>
                <a:gd name="T30" fmla="*/ 63 w 427"/>
                <a:gd name="T31" fmla="*/ 176 h 427"/>
                <a:gd name="T32" fmla="*/ 0 w 427"/>
                <a:gd name="T33" fmla="*/ 186 h 427"/>
                <a:gd name="T34" fmla="*/ 0 w 427"/>
                <a:gd name="T35" fmla="*/ 240 h 427"/>
                <a:gd name="T36" fmla="*/ 63 w 427"/>
                <a:gd name="T37" fmla="*/ 251 h 427"/>
                <a:gd name="T38" fmla="*/ 80 w 427"/>
                <a:gd name="T39" fmla="*/ 294 h 427"/>
                <a:gd name="T40" fmla="*/ 43 w 427"/>
                <a:gd name="T41" fmla="*/ 345 h 427"/>
                <a:gd name="T42" fmla="*/ 81 w 427"/>
                <a:gd name="T43" fmla="*/ 383 h 427"/>
                <a:gd name="T44" fmla="*/ 133 w 427"/>
                <a:gd name="T45" fmla="*/ 346 h 427"/>
                <a:gd name="T46" fmla="*/ 176 w 427"/>
                <a:gd name="T47" fmla="*/ 364 h 427"/>
                <a:gd name="T48" fmla="*/ 186 w 427"/>
                <a:gd name="T49" fmla="*/ 427 h 427"/>
                <a:gd name="T50" fmla="*/ 240 w 427"/>
                <a:gd name="T51" fmla="*/ 427 h 427"/>
                <a:gd name="T52" fmla="*/ 251 w 427"/>
                <a:gd name="T53" fmla="*/ 364 h 427"/>
                <a:gd name="T54" fmla="*/ 293 w 427"/>
                <a:gd name="T55" fmla="*/ 346 h 427"/>
                <a:gd name="T56" fmla="*/ 346 w 427"/>
                <a:gd name="T57" fmla="*/ 383 h 427"/>
                <a:gd name="T58" fmla="*/ 384 w 427"/>
                <a:gd name="T59" fmla="*/ 345 h 427"/>
                <a:gd name="T60" fmla="*/ 346 w 427"/>
                <a:gd name="T61" fmla="*/ 293 h 427"/>
                <a:gd name="T62" fmla="*/ 363 w 427"/>
                <a:gd name="T63" fmla="*/ 251 h 427"/>
                <a:gd name="T64" fmla="*/ 427 w 427"/>
                <a:gd name="T65" fmla="*/ 240 h 427"/>
                <a:gd name="T66" fmla="*/ 214 w 427"/>
                <a:gd name="T67" fmla="*/ 288 h 427"/>
                <a:gd name="T68" fmla="*/ 139 w 427"/>
                <a:gd name="T69" fmla="*/ 214 h 427"/>
                <a:gd name="T70" fmla="*/ 214 w 427"/>
                <a:gd name="T71" fmla="*/ 139 h 427"/>
                <a:gd name="T72" fmla="*/ 288 w 427"/>
                <a:gd name="T73" fmla="*/ 214 h 427"/>
                <a:gd name="T74" fmla="*/ 214 w 427"/>
                <a:gd name="T75" fmla="*/ 28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7" h="427">
                  <a:moveTo>
                    <a:pt x="427" y="240"/>
                  </a:moveTo>
                  <a:lnTo>
                    <a:pt x="427" y="186"/>
                  </a:lnTo>
                  <a:lnTo>
                    <a:pt x="363" y="176"/>
                  </a:lnTo>
                  <a:cubicBezTo>
                    <a:pt x="360" y="161"/>
                    <a:pt x="354" y="147"/>
                    <a:pt x="346" y="134"/>
                  </a:cubicBezTo>
                  <a:lnTo>
                    <a:pt x="383" y="81"/>
                  </a:lnTo>
                  <a:lnTo>
                    <a:pt x="345" y="44"/>
                  </a:lnTo>
                  <a:lnTo>
                    <a:pt x="293" y="81"/>
                  </a:lnTo>
                  <a:cubicBezTo>
                    <a:pt x="280" y="73"/>
                    <a:pt x="266" y="67"/>
                    <a:pt x="251" y="63"/>
                  </a:cubicBezTo>
                  <a:lnTo>
                    <a:pt x="240" y="0"/>
                  </a:lnTo>
                  <a:lnTo>
                    <a:pt x="186" y="0"/>
                  </a:lnTo>
                  <a:lnTo>
                    <a:pt x="176" y="63"/>
                  </a:lnTo>
                  <a:cubicBezTo>
                    <a:pt x="161" y="67"/>
                    <a:pt x="147" y="73"/>
                    <a:pt x="134" y="81"/>
                  </a:cubicBezTo>
                  <a:lnTo>
                    <a:pt x="82" y="44"/>
                  </a:lnTo>
                  <a:lnTo>
                    <a:pt x="44" y="81"/>
                  </a:lnTo>
                  <a:lnTo>
                    <a:pt x="80" y="133"/>
                  </a:lnTo>
                  <a:cubicBezTo>
                    <a:pt x="73" y="147"/>
                    <a:pt x="67" y="161"/>
                    <a:pt x="63" y="176"/>
                  </a:cubicBezTo>
                  <a:lnTo>
                    <a:pt x="0" y="186"/>
                  </a:lnTo>
                  <a:lnTo>
                    <a:pt x="0" y="240"/>
                  </a:lnTo>
                  <a:lnTo>
                    <a:pt x="63" y="251"/>
                  </a:lnTo>
                  <a:cubicBezTo>
                    <a:pt x="67" y="266"/>
                    <a:pt x="72" y="280"/>
                    <a:pt x="80" y="294"/>
                  </a:cubicBezTo>
                  <a:lnTo>
                    <a:pt x="43" y="345"/>
                  </a:lnTo>
                  <a:lnTo>
                    <a:pt x="81" y="383"/>
                  </a:lnTo>
                  <a:lnTo>
                    <a:pt x="133" y="346"/>
                  </a:lnTo>
                  <a:cubicBezTo>
                    <a:pt x="147" y="354"/>
                    <a:pt x="161" y="360"/>
                    <a:pt x="176" y="364"/>
                  </a:cubicBezTo>
                  <a:lnTo>
                    <a:pt x="186" y="427"/>
                  </a:lnTo>
                  <a:lnTo>
                    <a:pt x="240" y="427"/>
                  </a:lnTo>
                  <a:lnTo>
                    <a:pt x="251" y="364"/>
                  </a:lnTo>
                  <a:cubicBezTo>
                    <a:pt x="266" y="360"/>
                    <a:pt x="280" y="354"/>
                    <a:pt x="293" y="346"/>
                  </a:cubicBezTo>
                  <a:lnTo>
                    <a:pt x="346" y="383"/>
                  </a:lnTo>
                  <a:lnTo>
                    <a:pt x="384" y="345"/>
                  </a:lnTo>
                  <a:lnTo>
                    <a:pt x="346" y="293"/>
                  </a:lnTo>
                  <a:cubicBezTo>
                    <a:pt x="354" y="280"/>
                    <a:pt x="360" y="266"/>
                    <a:pt x="363" y="251"/>
                  </a:cubicBezTo>
                  <a:lnTo>
                    <a:pt x="427" y="240"/>
                  </a:lnTo>
                  <a:close/>
                  <a:moveTo>
                    <a:pt x="214" y="288"/>
                  </a:moveTo>
                  <a:cubicBezTo>
                    <a:pt x="173" y="288"/>
                    <a:pt x="139" y="255"/>
                    <a:pt x="139" y="214"/>
                  </a:cubicBezTo>
                  <a:cubicBezTo>
                    <a:pt x="139" y="173"/>
                    <a:pt x="173" y="139"/>
                    <a:pt x="214" y="139"/>
                  </a:cubicBezTo>
                  <a:cubicBezTo>
                    <a:pt x="255" y="139"/>
                    <a:pt x="288" y="173"/>
                    <a:pt x="288" y="214"/>
                  </a:cubicBezTo>
                  <a:cubicBezTo>
                    <a:pt x="288" y="255"/>
                    <a:pt x="255" y="288"/>
                    <a:pt x="214" y="288"/>
                  </a:cubicBez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cxnSp>
        <p:nvCxnSpPr>
          <p:cNvPr id="27" name="Прямая соединительная линия 26"/>
          <p:cNvCxnSpPr/>
          <p:nvPr>
            <p:custDataLst>
              <p:tags r:id="rId12"/>
            </p:custDataLst>
          </p:nvPr>
        </p:nvCxnSpPr>
        <p:spPr>
          <a:xfrm>
            <a:off x="698808" y="1569720"/>
            <a:ext cx="0" cy="1895284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>
            <p:custDataLst>
              <p:tags r:id="rId13"/>
            </p:custDataLst>
          </p:nvPr>
        </p:nvCxnSpPr>
        <p:spPr>
          <a:xfrm>
            <a:off x="5040052" y="1569720"/>
            <a:ext cx="0" cy="1895284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Name1A"/>
          <p:cNvSpPr/>
          <p:nvPr>
            <p:custDataLst>
              <p:tags r:id="rId14"/>
            </p:custDataLst>
          </p:nvPr>
        </p:nvSpPr>
        <p:spPr>
          <a:xfrm>
            <a:off x="303854" y="3982871"/>
            <a:ext cx="4277526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Муравленко</a:t>
            </a:r>
            <a:endParaRPr lang="ru-RU" sz="6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5" name="Name1B"/>
          <p:cNvSpPr/>
          <p:nvPr>
            <p:custDataLst>
              <p:tags r:id="rId15"/>
            </p:custDataLst>
          </p:nvPr>
        </p:nvSpPr>
        <p:spPr>
          <a:xfrm>
            <a:off x="293614" y="4499029"/>
            <a:ext cx="4277526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Ноябрьск</a:t>
            </a:r>
            <a:endParaRPr lang="ru-RU" sz="6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" name="Name1C"/>
          <p:cNvSpPr/>
          <p:nvPr>
            <p:custDataLst>
              <p:tags r:id="rId16"/>
            </p:custDataLst>
          </p:nvPr>
        </p:nvSpPr>
        <p:spPr>
          <a:xfrm>
            <a:off x="293614" y="4945431"/>
            <a:ext cx="4284000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dirty="0" err="1" smtClean="0">
                <a:solidFill>
                  <a:srgbClr val="545353"/>
                </a:solidFill>
              </a:rPr>
              <a:t>Хантос</a:t>
            </a:r>
            <a:endParaRPr lang="ru-RU" sz="6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53" name="Name1D"/>
          <p:cNvSpPr/>
          <p:nvPr>
            <p:custDataLst>
              <p:tags r:id="rId17"/>
            </p:custDataLst>
          </p:nvPr>
        </p:nvSpPr>
        <p:spPr>
          <a:xfrm>
            <a:off x="288559" y="5383148"/>
            <a:ext cx="4277526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dirty="0" smtClean="0">
                <a:solidFill>
                  <a:srgbClr val="545353"/>
                </a:solidFill>
              </a:rPr>
              <a:t>Восток</a:t>
            </a:r>
            <a:endParaRPr lang="ru-RU" sz="6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52" name="Name1E"/>
          <p:cNvSpPr/>
          <p:nvPr>
            <p:custDataLst>
              <p:tags r:id="rId18"/>
            </p:custDataLst>
          </p:nvPr>
        </p:nvSpPr>
        <p:spPr>
          <a:xfrm>
            <a:off x="287140" y="5861824"/>
            <a:ext cx="4284000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dirty="0" smtClean="0">
                <a:solidFill>
                  <a:srgbClr val="545353"/>
                </a:solidFill>
              </a:rPr>
              <a:t>Оренбург</a:t>
            </a:r>
            <a:endParaRPr lang="ru-RU" sz="6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63" name="Name2A"/>
          <p:cNvSpPr/>
          <p:nvPr>
            <p:custDataLst>
              <p:tags r:id="rId19"/>
            </p:custDataLst>
          </p:nvPr>
        </p:nvSpPr>
        <p:spPr>
          <a:xfrm>
            <a:off x="4644008" y="3989616"/>
            <a:ext cx="4170223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Муравленко</a:t>
            </a:r>
            <a:endParaRPr lang="ru-RU" sz="6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4" name="Name2B"/>
          <p:cNvSpPr/>
          <p:nvPr>
            <p:custDataLst>
              <p:tags r:id="rId20"/>
            </p:custDataLst>
          </p:nvPr>
        </p:nvSpPr>
        <p:spPr>
          <a:xfrm>
            <a:off x="4644008" y="4457668"/>
            <a:ext cx="4170224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Ноябрьск</a:t>
            </a:r>
            <a:endParaRPr lang="ru-RU" sz="6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0" name="Name2C"/>
          <p:cNvSpPr/>
          <p:nvPr>
            <p:custDataLst>
              <p:tags r:id="rId21"/>
            </p:custDataLst>
          </p:nvPr>
        </p:nvSpPr>
        <p:spPr>
          <a:xfrm>
            <a:off x="4644008" y="4925720"/>
            <a:ext cx="4170224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dirty="0" err="1" smtClean="0">
                <a:solidFill>
                  <a:srgbClr val="545353"/>
                </a:solidFill>
              </a:rPr>
              <a:t>Хантос</a:t>
            </a:r>
            <a:endParaRPr lang="ru-RU" sz="6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62" name="Name2D"/>
          <p:cNvSpPr/>
          <p:nvPr>
            <p:custDataLst>
              <p:tags r:id="rId22"/>
            </p:custDataLst>
          </p:nvPr>
        </p:nvSpPr>
        <p:spPr>
          <a:xfrm>
            <a:off x="4644008" y="5393772"/>
            <a:ext cx="4170224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dirty="0" smtClean="0">
                <a:solidFill>
                  <a:srgbClr val="545353"/>
                </a:solidFill>
              </a:rPr>
              <a:t>Восток</a:t>
            </a:r>
            <a:endParaRPr lang="ru-RU" sz="6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61" name="Name2E"/>
          <p:cNvSpPr/>
          <p:nvPr>
            <p:custDataLst>
              <p:tags r:id="rId23"/>
            </p:custDataLst>
          </p:nvPr>
        </p:nvSpPr>
        <p:spPr>
          <a:xfrm>
            <a:off x="4644008" y="5861824"/>
            <a:ext cx="4170223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dirty="0" smtClean="0">
                <a:solidFill>
                  <a:srgbClr val="545353"/>
                </a:solidFill>
              </a:rPr>
              <a:t>Оренбург</a:t>
            </a:r>
            <a:endParaRPr lang="ru-RU" sz="6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70" name="Текст 14"/>
          <p:cNvSpPr txBox="1">
            <a:spLocks/>
          </p:cNvSpPr>
          <p:nvPr>
            <p:custDataLst>
              <p:tags r:id="rId24"/>
            </p:custDataLst>
          </p:nvPr>
        </p:nvSpPr>
        <p:spPr>
          <a:xfrm>
            <a:off x="4605678" y="3609049"/>
            <a:ext cx="4246881" cy="215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ГС, </a:t>
            </a:r>
            <a:r>
              <a:rPr lang="ru-RU" sz="800" dirty="0" err="1" smtClean="0">
                <a:solidFill>
                  <a:srgbClr val="545353"/>
                </a:solidFill>
                <a:cs typeface="Arabic Typesetting" pitchFamily="66" charset="-78"/>
              </a:rPr>
              <a:t>сут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./1000м по ДО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sp>
        <p:nvSpPr>
          <p:cNvPr id="71" name="Текст 11"/>
          <p:cNvSpPr txBox="1">
            <a:spLocks/>
          </p:cNvSpPr>
          <p:nvPr>
            <p:custDataLst>
              <p:tags r:id="rId25"/>
            </p:custDataLst>
          </p:nvPr>
        </p:nvSpPr>
        <p:spPr>
          <a:xfrm>
            <a:off x="287524" y="3609049"/>
            <a:ext cx="4246376" cy="215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ННС, </a:t>
            </a:r>
            <a:r>
              <a:rPr lang="ru-RU" sz="800" dirty="0" err="1" smtClean="0">
                <a:solidFill>
                  <a:srgbClr val="545353"/>
                </a:solidFill>
                <a:cs typeface="Arabic Typesetting" pitchFamily="66" charset="-78"/>
              </a:rPr>
              <a:t>сут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./1000м по ДО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cxnSp>
        <p:nvCxnSpPr>
          <p:cNvPr id="74" name="Прямая соединительная линия 73"/>
          <p:cNvCxnSpPr/>
          <p:nvPr>
            <p:custDataLst>
              <p:tags r:id="rId26"/>
            </p:custDataLst>
          </p:nvPr>
        </p:nvCxnSpPr>
        <p:spPr>
          <a:xfrm>
            <a:off x="1007604" y="3933056"/>
            <a:ext cx="0" cy="2448272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единительная линия 74"/>
          <p:cNvCxnSpPr/>
          <p:nvPr>
            <p:custDataLst>
              <p:tags r:id="rId27"/>
            </p:custDataLst>
          </p:nvPr>
        </p:nvCxnSpPr>
        <p:spPr>
          <a:xfrm>
            <a:off x="5334434" y="3933056"/>
            <a:ext cx="0" cy="2448272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6" name="ГПН-МН_NNS"/>
          <p:cNvGraphicFramePr>
            <a:graphicFrameLocks/>
          </p:cNvGraphicFramePr>
          <p:nvPr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3576672602"/>
              </p:ext>
            </p:extLst>
          </p:nvPr>
        </p:nvGraphicFramePr>
        <p:xfrm>
          <a:off x="649803" y="4036675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graphicFrame>
        <p:nvGraphicFramePr>
          <p:cNvPr id="59" name="ГПН-Оренбург_NNS"/>
          <p:cNvGraphicFramePr>
            <a:graphicFrameLocks/>
          </p:cNvGraphicFramePr>
          <p:nvPr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4187451893"/>
              </p:ext>
            </p:extLst>
          </p:nvPr>
        </p:nvGraphicFramePr>
        <p:xfrm>
          <a:off x="653044" y="5790203"/>
          <a:ext cx="4040472" cy="7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78" name="ChartNNS_roundVal"/>
          <p:cNvSpPr/>
          <p:nvPr>
            <p:custDataLst>
              <p:tags r:id="rId30"/>
            </p:custDataLst>
          </p:nvPr>
        </p:nvSpPr>
        <p:spPr>
          <a:xfrm>
            <a:off x="3914388" y="2247579"/>
            <a:ext cx="288000" cy="288000"/>
          </a:xfrm>
          <a:prstGeom prst="ellipse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ChartGS_roundVal"/>
          <p:cNvSpPr/>
          <p:nvPr>
            <p:custDataLst>
              <p:tags r:id="rId31"/>
            </p:custDataLst>
          </p:nvPr>
        </p:nvSpPr>
        <p:spPr>
          <a:xfrm>
            <a:off x="8234144" y="1892436"/>
            <a:ext cx="288000" cy="288000"/>
          </a:xfrm>
          <a:prstGeom prst="ellipse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80" name="ChartGS"/>
          <p:cNvGraphicFramePr>
            <a:graphicFrameLocks/>
          </p:cNvGraphicFramePr>
          <p:nvPr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2386248173"/>
              </p:ext>
            </p:extLst>
          </p:nvPr>
        </p:nvGraphicFramePr>
        <p:xfrm>
          <a:off x="4675126" y="1419223"/>
          <a:ext cx="4205040" cy="2189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5"/>
          </a:graphicData>
        </a:graphic>
      </p:graphicFrame>
      <p:graphicFrame>
        <p:nvGraphicFramePr>
          <p:cNvPr id="81" name="ГПН-ННГ_NNS"/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2834608456"/>
              </p:ext>
            </p:extLst>
          </p:nvPr>
        </p:nvGraphicFramePr>
        <p:xfrm>
          <a:off x="661153" y="4549212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6"/>
          </a:graphicData>
        </a:graphic>
      </p:graphicFrame>
      <p:graphicFrame>
        <p:nvGraphicFramePr>
          <p:cNvPr id="82" name="ГПН-Хантос_NNS"/>
          <p:cNvGraphicFramePr>
            <a:graphicFrameLocks/>
          </p:cNvGraphicFramePr>
          <p:nvPr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3891442090"/>
              </p:ext>
            </p:extLst>
          </p:nvPr>
        </p:nvGraphicFramePr>
        <p:xfrm>
          <a:off x="649803" y="4994908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graphicFrame>
        <p:nvGraphicFramePr>
          <p:cNvPr id="83" name="ГПН-Восток_NNS"/>
          <p:cNvGraphicFramePr>
            <a:graphicFrameLocks/>
          </p:cNvGraphicFramePr>
          <p:nvPr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3206355656"/>
              </p:ext>
            </p:extLst>
          </p:nvPr>
        </p:nvGraphicFramePr>
        <p:xfrm>
          <a:off x="653044" y="5434028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graphicFrame>
        <p:nvGraphicFramePr>
          <p:cNvPr id="84" name="ГПН-МН_GS"/>
          <p:cNvGraphicFramePr>
            <a:graphicFrameLocks/>
          </p:cNvGraphicFramePr>
          <p:nvPr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3082418010"/>
              </p:ext>
            </p:extLst>
          </p:nvPr>
        </p:nvGraphicFramePr>
        <p:xfrm>
          <a:off x="4991550" y="3982871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9"/>
          </a:graphicData>
        </a:graphic>
      </p:graphicFrame>
      <p:graphicFrame>
        <p:nvGraphicFramePr>
          <p:cNvPr id="85" name="ГПН-Оренбург_GS"/>
          <p:cNvGraphicFramePr>
            <a:graphicFrameLocks/>
          </p:cNvGraphicFramePr>
          <p:nvPr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4055811405"/>
              </p:ext>
            </p:extLst>
          </p:nvPr>
        </p:nvGraphicFramePr>
        <p:xfrm>
          <a:off x="4994791" y="5736399"/>
          <a:ext cx="4040472" cy="7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graphicFrame>
        <p:nvGraphicFramePr>
          <p:cNvPr id="86" name="ГПН-ННГ_GS"/>
          <p:cNvGraphicFramePr>
            <a:graphicFrameLocks/>
          </p:cNvGraphicFramePr>
          <p:nvPr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1106988635"/>
              </p:ext>
            </p:extLst>
          </p:nvPr>
        </p:nvGraphicFramePr>
        <p:xfrm>
          <a:off x="5002900" y="4495408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1"/>
          </a:graphicData>
        </a:graphic>
      </p:graphicFrame>
      <p:graphicFrame>
        <p:nvGraphicFramePr>
          <p:cNvPr id="87" name="ГПН-Хантос_GS"/>
          <p:cNvGraphicFramePr>
            <a:graphicFrameLocks/>
          </p:cNvGraphicFramePr>
          <p:nvPr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1113678082"/>
              </p:ext>
            </p:extLst>
          </p:nvPr>
        </p:nvGraphicFramePr>
        <p:xfrm>
          <a:off x="4991550" y="4941104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2"/>
          </a:graphicData>
        </a:graphic>
      </p:graphicFrame>
      <p:graphicFrame>
        <p:nvGraphicFramePr>
          <p:cNvPr id="99" name="ГПН-Восток_GS"/>
          <p:cNvGraphicFramePr>
            <a:graphicFrameLocks/>
          </p:cNvGraphicFramePr>
          <p:nvPr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3363687174"/>
              </p:ext>
            </p:extLst>
          </p:nvPr>
        </p:nvGraphicFramePr>
        <p:xfrm>
          <a:off x="4994791" y="5380224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3"/>
          </a:graphicData>
        </a:graphic>
      </p:graphicFrame>
    </p:spTree>
    <p:extLst>
      <p:ext uri="{BB962C8B-B14F-4D97-AF65-F5344CB8AC3E}">
        <p14:creationId xmlns:p14="http://schemas.microsoft.com/office/powerpoint/2010/main" val="366459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quare2"/>
          <p:cNvSpPr/>
          <p:nvPr>
            <p:custDataLst>
              <p:tags r:id="rId1"/>
            </p:custDataLst>
          </p:nvPr>
        </p:nvSpPr>
        <p:spPr>
          <a:xfrm>
            <a:off x="5364088" y="4034408"/>
            <a:ext cx="290624" cy="24549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sp>
        <p:nvSpPr>
          <p:cNvPr id="152" name="Square1"/>
          <p:cNvSpPr/>
          <p:nvPr>
            <p:custDataLst>
              <p:tags r:id="rId2"/>
            </p:custDataLst>
          </p:nvPr>
        </p:nvSpPr>
        <p:spPr>
          <a:xfrm>
            <a:off x="1043608" y="4041068"/>
            <a:ext cx="290624" cy="2459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sp>
        <p:nvSpPr>
          <p:cNvPr id="3" name="TitleSlide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295635" y="314843"/>
            <a:ext cx="7561027" cy="607021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Дирекция по добыче 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Зарезка Боковых Стволов</a:t>
            </a:r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Динамика скорости бурения</a:t>
            </a:r>
            <a:endParaRPr lang="ru-RU" sz="1200" dirty="0">
              <a:solidFill>
                <a:srgbClr val="545353"/>
              </a:solidFill>
            </a:endParaRPr>
          </a:p>
        </p:txBody>
      </p:sp>
      <p:grpSp>
        <p:nvGrpSpPr>
          <p:cNvPr id="98" name="Группа 97"/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303854" y="260648"/>
            <a:ext cx="803835" cy="890037"/>
            <a:chOff x="7051636" y="2029408"/>
            <a:chExt cx="561975" cy="571500"/>
          </a:xfrm>
        </p:grpSpPr>
        <p:grpSp>
          <p:nvGrpSpPr>
            <p:cNvPr id="99" name="Группа 98"/>
            <p:cNvGrpSpPr/>
            <p:nvPr/>
          </p:nvGrpSpPr>
          <p:grpSpPr>
            <a:xfrm>
              <a:off x="7051636" y="2029408"/>
              <a:ext cx="561975" cy="571500"/>
              <a:chOff x="7051636" y="2029408"/>
              <a:chExt cx="561975" cy="571500"/>
            </a:xfrm>
            <a:solidFill>
              <a:schemeClr val="accent2"/>
            </a:solidFill>
          </p:grpSpPr>
          <p:sp>
            <p:nvSpPr>
              <p:cNvPr id="101" name="Freeform 146"/>
              <p:cNvSpPr>
                <a:spLocks/>
              </p:cNvSpPr>
              <p:nvPr/>
            </p:nvSpPr>
            <p:spPr bwMode="auto">
              <a:xfrm>
                <a:off x="7051636" y="2248483"/>
                <a:ext cx="561975" cy="352425"/>
              </a:xfrm>
              <a:custGeom>
                <a:avLst/>
                <a:gdLst>
                  <a:gd name="T0" fmla="*/ 1522 w 1556"/>
                  <a:gd name="T1" fmla="*/ 444 h 977"/>
                  <a:gd name="T2" fmla="*/ 33 w 1556"/>
                  <a:gd name="T3" fmla="*/ 444 h 977"/>
                  <a:gd name="T4" fmla="*/ 0 w 1556"/>
                  <a:gd name="T5" fmla="*/ 478 h 977"/>
                  <a:gd name="T6" fmla="*/ 0 w 1556"/>
                  <a:gd name="T7" fmla="*/ 524 h 977"/>
                  <a:gd name="T8" fmla="*/ 33 w 1556"/>
                  <a:gd name="T9" fmla="*/ 558 h 977"/>
                  <a:gd name="T10" fmla="*/ 1522 w 1556"/>
                  <a:gd name="T11" fmla="*/ 558 h 977"/>
                  <a:gd name="T12" fmla="*/ 1556 w 1556"/>
                  <a:gd name="T13" fmla="*/ 524 h 977"/>
                  <a:gd name="T14" fmla="*/ 1556 w 1556"/>
                  <a:gd name="T15" fmla="*/ 478 h 977"/>
                  <a:gd name="T16" fmla="*/ 1522 w 1556"/>
                  <a:gd name="T17" fmla="*/ 44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6" h="977">
                    <a:moveTo>
                      <a:pt x="1522" y="444"/>
                    </a:moveTo>
                    <a:cubicBezTo>
                      <a:pt x="1031" y="444"/>
                      <a:pt x="391" y="444"/>
                      <a:pt x="33" y="444"/>
                    </a:cubicBezTo>
                    <a:cubicBezTo>
                      <a:pt x="15" y="444"/>
                      <a:pt x="0" y="459"/>
                      <a:pt x="0" y="478"/>
                    </a:cubicBezTo>
                    <a:cubicBezTo>
                      <a:pt x="0" y="977"/>
                      <a:pt x="0" y="0"/>
                      <a:pt x="0" y="524"/>
                    </a:cubicBezTo>
                    <a:cubicBezTo>
                      <a:pt x="0" y="543"/>
                      <a:pt x="15" y="558"/>
                      <a:pt x="33" y="558"/>
                    </a:cubicBezTo>
                    <a:cubicBezTo>
                      <a:pt x="560" y="558"/>
                      <a:pt x="1075" y="558"/>
                      <a:pt x="1522" y="558"/>
                    </a:cubicBezTo>
                    <a:cubicBezTo>
                      <a:pt x="1541" y="558"/>
                      <a:pt x="1556" y="543"/>
                      <a:pt x="1556" y="524"/>
                    </a:cubicBezTo>
                    <a:lnTo>
                      <a:pt x="1556" y="478"/>
                    </a:lnTo>
                    <a:cubicBezTo>
                      <a:pt x="1556" y="459"/>
                      <a:pt x="1541" y="444"/>
                      <a:pt x="1522" y="4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02" name="Oval 147"/>
              <p:cNvSpPr>
                <a:spLocks noChangeArrowheads="1"/>
              </p:cNvSpPr>
              <p:nvPr/>
            </p:nvSpPr>
            <p:spPr bwMode="auto">
              <a:xfrm>
                <a:off x="7167523" y="2029408"/>
                <a:ext cx="277813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03" name="Freeform 148"/>
              <p:cNvSpPr>
                <a:spLocks/>
              </p:cNvSpPr>
              <p:nvPr/>
            </p:nvSpPr>
            <p:spPr bwMode="auto">
              <a:xfrm>
                <a:off x="7167523" y="2237370"/>
                <a:ext cx="169863" cy="109538"/>
              </a:xfrm>
              <a:custGeom>
                <a:avLst/>
                <a:gdLst>
                  <a:gd name="T0" fmla="*/ 473 w 473"/>
                  <a:gd name="T1" fmla="*/ 226 h 302"/>
                  <a:gd name="T2" fmla="*/ 421 w 473"/>
                  <a:gd name="T3" fmla="*/ 170 h 302"/>
                  <a:gd name="T4" fmla="*/ 384 w 473"/>
                  <a:gd name="T5" fmla="*/ 171 h 302"/>
                  <a:gd name="T6" fmla="*/ 0 w 473"/>
                  <a:gd name="T7" fmla="*/ 0 h 302"/>
                  <a:gd name="T8" fmla="*/ 0 w 473"/>
                  <a:gd name="T9" fmla="*/ 131 h 302"/>
                  <a:gd name="T10" fmla="*/ 384 w 473"/>
                  <a:gd name="T11" fmla="*/ 302 h 302"/>
                  <a:gd name="T12" fmla="*/ 473 w 473"/>
                  <a:gd name="T13" fmla="*/ 297 h 302"/>
                  <a:gd name="T14" fmla="*/ 473 w 473"/>
                  <a:gd name="T15" fmla="*/ 226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3" h="302">
                    <a:moveTo>
                      <a:pt x="473" y="226"/>
                    </a:moveTo>
                    <a:cubicBezTo>
                      <a:pt x="446" y="219"/>
                      <a:pt x="426" y="197"/>
                      <a:pt x="421" y="170"/>
                    </a:cubicBezTo>
                    <a:cubicBezTo>
                      <a:pt x="409" y="171"/>
                      <a:pt x="3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ubicBezTo>
                      <a:pt x="415" y="302"/>
                      <a:pt x="444" y="300"/>
                      <a:pt x="473" y="297"/>
                    </a:cubicBezTo>
                    <a:cubicBezTo>
                      <a:pt x="461" y="275"/>
                      <a:pt x="460" y="248"/>
                      <a:pt x="473" y="2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04" name="Freeform 149"/>
              <p:cNvSpPr>
                <a:spLocks/>
              </p:cNvSpPr>
              <p:nvPr/>
            </p:nvSpPr>
            <p:spPr bwMode="auto">
              <a:xfrm>
                <a:off x="7167523" y="2172283"/>
                <a:ext cx="171450" cy="109538"/>
              </a:xfrm>
              <a:custGeom>
                <a:avLst/>
                <a:gdLst>
                  <a:gd name="T0" fmla="*/ 384 w 474"/>
                  <a:gd name="T1" fmla="*/ 302 h 302"/>
                  <a:gd name="T2" fmla="*/ 420 w 474"/>
                  <a:gd name="T3" fmla="*/ 301 h 302"/>
                  <a:gd name="T4" fmla="*/ 420 w 474"/>
                  <a:gd name="T5" fmla="*/ 281 h 302"/>
                  <a:gd name="T6" fmla="*/ 474 w 474"/>
                  <a:gd name="T7" fmla="*/ 213 h 302"/>
                  <a:gd name="T8" fmla="*/ 464 w 474"/>
                  <a:gd name="T9" fmla="*/ 167 h 302"/>
                  <a:gd name="T10" fmla="*/ 384 w 474"/>
                  <a:gd name="T11" fmla="*/ 171 h 302"/>
                  <a:gd name="T12" fmla="*/ 0 w 474"/>
                  <a:gd name="T13" fmla="*/ 0 h 302"/>
                  <a:gd name="T14" fmla="*/ 0 w 474"/>
                  <a:gd name="T15" fmla="*/ 131 h 302"/>
                  <a:gd name="T16" fmla="*/ 384 w 474"/>
                  <a:gd name="T1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4" h="302">
                    <a:moveTo>
                      <a:pt x="384" y="302"/>
                    </a:moveTo>
                    <a:cubicBezTo>
                      <a:pt x="396" y="302"/>
                      <a:pt x="408" y="302"/>
                      <a:pt x="420" y="301"/>
                    </a:cubicBezTo>
                    <a:lnTo>
                      <a:pt x="420" y="281"/>
                    </a:lnTo>
                    <a:cubicBezTo>
                      <a:pt x="420" y="249"/>
                      <a:pt x="442" y="220"/>
                      <a:pt x="474" y="213"/>
                    </a:cubicBezTo>
                    <a:cubicBezTo>
                      <a:pt x="465" y="199"/>
                      <a:pt x="463" y="183"/>
                      <a:pt x="464" y="167"/>
                    </a:cubicBezTo>
                    <a:cubicBezTo>
                      <a:pt x="439" y="170"/>
                      <a:pt x="412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05" name="Freeform 150"/>
              <p:cNvSpPr>
                <a:spLocks/>
              </p:cNvSpPr>
              <p:nvPr/>
            </p:nvSpPr>
            <p:spPr bwMode="auto">
              <a:xfrm>
                <a:off x="7167523" y="2108783"/>
                <a:ext cx="277813" cy="109538"/>
              </a:xfrm>
              <a:custGeom>
                <a:avLst/>
                <a:gdLst>
                  <a:gd name="T0" fmla="*/ 384 w 769"/>
                  <a:gd name="T1" fmla="*/ 302 h 302"/>
                  <a:gd name="T2" fmla="*/ 494 w 769"/>
                  <a:gd name="T3" fmla="*/ 295 h 302"/>
                  <a:gd name="T4" fmla="*/ 522 w 769"/>
                  <a:gd name="T5" fmla="*/ 266 h 302"/>
                  <a:gd name="T6" fmla="*/ 573 w 769"/>
                  <a:gd name="T7" fmla="*/ 245 h 302"/>
                  <a:gd name="T8" fmla="*/ 609 w 769"/>
                  <a:gd name="T9" fmla="*/ 255 h 302"/>
                  <a:gd name="T10" fmla="*/ 677 w 769"/>
                  <a:gd name="T11" fmla="*/ 202 h 302"/>
                  <a:gd name="T12" fmla="*/ 731 w 769"/>
                  <a:gd name="T13" fmla="*/ 202 h 302"/>
                  <a:gd name="T14" fmla="*/ 734 w 769"/>
                  <a:gd name="T15" fmla="*/ 202 h 302"/>
                  <a:gd name="T16" fmla="*/ 769 w 769"/>
                  <a:gd name="T17" fmla="*/ 131 h 302"/>
                  <a:gd name="T18" fmla="*/ 769 w 769"/>
                  <a:gd name="T19" fmla="*/ 0 h 302"/>
                  <a:gd name="T20" fmla="*/ 384 w 769"/>
                  <a:gd name="T21" fmla="*/ 171 h 302"/>
                  <a:gd name="T22" fmla="*/ 0 w 769"/>
                  <a:gd name="T23" fmla="*/ 0 h 302"/>
                  <a:gd name="T24" fmla="*/ 0 w 769"/>
                  <a:gd name="T25" fmla="*/ 131 h 302"/>
                  <a:gd name="T26" fmla="*/ 384 w 769"/>
                  <a:gd name="T2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9" h="302">
                    <a:moveTo>
                      <a:pt x="384" y="302"/>
                    </a:moveTo>
                    <a:cubicBezTo>
                      <a:pt x="422" y="302"/>
                      <a:pt x="459" y="299"/>
                      <a:pt x="494" y="295"/>
                    </a:cubicBezTo>
                    <a:lnTo>
                      <a:pt x="522" y="266"/>
                    </a:lnTo>
                    <a:cubicBezTo>
                      <a:pt x="536" y="252"/>
                      <a:pt x="554" y="245"/>
                      <a:pt x="573" y="245"/>
                    </a:cubicBezTo>
                    <a:cubicBezTo>
                      <a:pt x="585" y="245"/>
                      <a:pt x="598" y="249"/>
                      <a:pt x="609" y="255"/>
                    </a:cubicBezTo>
                    <a:cubicBezTo>
                      <a:pt x="617" y="224"/>
                      <a:pt x="645" y="202"/>
                      <a:pt x="677" y="202"/>
                    </a:cubicBezTo>
                    <a:lnTo>
                      <a:pt x="731" y="202"/>
                    </a:lnTo>
                    <a:cubicBezTo>
                      <a:pt x="732" y="202"/>
                      <a:pt x="733" y="202"/>
                      <a:pt x="734" y="202"/>
                    </a:cubicBezTo>
                    <a:cubicBezTo>
                      <a:pt x="756" y="180"/>
                      <a:pt x="769" y="156"/>
                      <a:pt x="769" y="131"/>
                    </a:cubicBezTo>
                    <a:lnTo>
                      <a:pt x="769" y="0"/>
                    </a:lnTo>
                    <a:cubicBezTo>
                      <a:pt x="769" y="94"/>
                      <a:pt x="5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sp>
          <p:nvSpPr>
            <p:cNvPr id="100" name="Freeform 151"/>
            <p:cNvSpPr>
              <a:spLocks noEditPoints="1"/>
            </p:cNvSpPr>
            <p:nvPr/>
          </p:nvSpPr>
          <p:spPr bwMode="auto">
            <a:xfrm>
              <a:off x="7343736" y="2207208"/>
              <a:ext cx="153988" cy="153988"/>
            </a:xfrm>
            <a:custGeom>
              <a:avLst/>
              <a:gdLst>
                <a:gd name="T0" fmla="*/ 427 w 427"/>
                <a:gd name="T1" fmla="*/ 240 h 427"/>
                <a:gd name="T2" fmla="*/ 427 w 427"/>
                <a:gd name="T3" fmla="*/ 186 h 427"/>
                <a:gd name="T4" fmla="*/ 363 w 427"/>
                <a:gd name="T5" fmla="*/ 176 h 427"/>
                <a:gd name="T6" fmla="*/ 346 w 427"/>
                <a:gd name="T7" fmla="*/ 134 h 427"/>
                <a:gd name="T8" fmla="*/ 383 w 427"/>
                <a:gd name="T9" fmla="*/ 81 h 427"/>
                <a:gd name="T10" fmla="*/ 345 w 427"/>
                <a:gd name="T11" fmla="*/ 44 h 427"/>
                <a:gd name="T12" fmla="*/ 293 w 427"/>
                <a:gd name="T13" fmla="*/ 81 h 427"/>
                <a:gd name="T14" fmla="*/ 251 w 427"/>
                <a:gd name="T15" fmla="*/ 63 h 427"/>
                <a:gd name="T16" fmla="*/ 240 w 427"/>
                <a:gd name="T17" fmla="*/ 0 h 427"/>
                <a:gd name="T18" fmla="*/ 186 w 427"/>
                <a:gd name="T19" fmla="*/ 0 h 427"/>
                <a:gd name="T20" fmla="*/ 176 w 427"/>
                <a:gd name="T21" fmla="*/ 63 h 427"/>
                <a:gd name="T22" fmla="*/ 134 w 427"/>
                <a:gd name="T23" fmla="*/ 81 h 427"/>
                <a:gd name="T24" fmla="*/ 82 w 427"/>
                <a:gd name="T25" fmla="*/ 44 h 427"/>
                <a:gd name="T26" fmla="*/ 44 w 427"/>
                <a:gd name="T27" fmla="*/ 81 h 427"/>
                <a:gd name="T28" fmla="*/ 80 w 427"/>
                <a:gd name="T29" fmla="*/ 133 h 427"/>
                <a:gd name="T30" fmla="*/ 63 w 427"/>
                <a:gd name="T31" fmla="*/ 176 h 427"/>
                <a:gd name="T32" fmla="*/ 0 w 427"/>
                <a:gd name="T33" fmla="*/ 186 h 427"/>
                <a:gd name="T34" fmla="*/ 0 w 427"/>
                <a:gd name="T35" fmla="*/ 240 h 427"/>
                <a:gd name="T36" fmla="*/ 63 w 427"/>
                <a:gd name="T37" fmla="*/ 251 h 427"/>
                <a:gd name="T38" fmla="*/ 80 w 427"/>
                <a:gd name="T39" fmla="*/ 294 h 427"/>
                <a:gd name="T40" fmla="*/ 43 w 427"/>
                <a:gd name="T41" fmla="*/ 345 h 427"/>
                <a:gd name="T42" fmla="*/ 81 w 427"/>
                <a:gd name="T43" fmla="*/ 383 h 427"/>
                <a:gd name="T44" fmla="*/ 133 w 427"/>
                <a:gd name="T45" fmla="*/ 346 h 427"/>
                <a:gd name="T46" fmla="*/ 176 w 427"/>
                <a:gd name="T47" fmla="*/ 364 h 427"/>
                <a:gd name="T48" fmla="*/ 186 w 427"/>
                <a:gd name="T49" fmla="*/ 427 h 427"/>
                <a:gd name="T50" fmla="*/ 240 w 427"/>
                <a:gd name="T51" fmla="*/ 427 h 427"/>
                <a:gd name="T52" fmla="*/ 251 w 427"/>
                <a:gd name="T53" fmla="*/ 364 h 427"/>
                <a:gd name="T54" fmla="*/ 293 w 427"/>
                <a:gd name="T55" fmla="*/ 346 h 427"/>
                <a:gd name="T56" fmla="*/ 346 w 427"/>
                <a:gd name="T57" fmla="*/ 383 h 427"/>
                <a:gd name="T58" fmla="*/ 384 w 427"/>
                <a:gd name="T59" fmla="*/ 345 h 427"/>
                <a:gd name="T60" fmla="*/ 346 w 427"/>
                <a:gd name="T61" fmla="*/ 293 h 427"/>
                <a:gd name="T62" fmla="*/ 363 w 427"/>
                <a:gd name="T63" fmla="*/ 251 h 427"/>
                <a:gd name="T64" fmla="*/ 427 w 427"/>
                <a:gd name="T65" fmla="*/ 240 h 427"/>
                <a:gd name="T66" fmla="*/ 214 w 427"/>
                <a:gd name="T67" fmla="*/ 288 h 427"/>
                <a:gd name="T68" fmla="*/ 139 w 427"/>
                <a:gd name="T69" fmla="*/ 214 h 427"/>
                <a:gd name="T70" fmla="*/ 214 w 427"/>
                <a:gd name="T71" fmla="*/ 139 h 427"/>
                <a:gd name="T72" fmla="*/ 288 w 427"/>
                <a:gd name="T73" fmla="*/ 214 h 427"/>
                <a:gd name="T74" fmla="*/ 214 w 427"/>
                <a:gd name="T75" fmla="*/ 28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7" h="427">
                  <a:moveTo>
                    <a:pt x="427" y="240"/>
                  </a:moveTo>
                  <a:lnTo>
                    <a:pt x="427" y="186"/>
                  </a:lnTo>
                  <a:lnTo>
                    <a:pt x="363" y="176"/>
                  </a:lnTo>
                  <a:cubicBezTo>
                    <a:pt x="360" y="161"/>
                    <a:pt x="354" y="147"/>
                    <a:pt x="346" y="134"/>
                  </a:cubicBezTo>
                  <a:lnTo>
                    <a:pt x="383" y="81"/>
                  </a:lnTo>
                  <a:lnTo>
                    <a:pt x="345" y="44"/>
                  </a:lnTo>
                  <a:lnTo>
                    <a:pt x="293" y="81"/>
                  </a:lnTo>
                  <a:cubicBezTo>
                    <a:pt x="280" y="73"/>
                    <a:pt x="266" y="67"/>
                    <a:pt x="251" y="63"/>
                  </a:cubicBezTo>
                  <a:lnTo>
                    <a:pt x="240" y="0"/>
                  </a:lnTo>
                  <a:lnTo>
                    <a:pt x="186" y="0"/>
                  </a:lnTo>
                  <a:lnTo>
                    <a:pt x="176" y="63"/>
                  </a:lnTo>
                  <a:cubicBezTo>
                    <a:pt x="161" y="67"/>
                    <a:pt x="147" y="73"/>
                    <a:pt x="134" y="81"/>
                  </a:cubicBezTo>
                  <a:lnTo>
                    <a:pt x="82" y="44"/>
                  </a:lnTo>
                  <a:lnTo>
                    <a:pt x="44" y="81"/>
                  </a:lnTo>
                  <a:lnTo>
                    <a:pt x="80" y="133"/>
                  </a:lnTo>
                  <a:cubicBezTo>
                    <a:pt x="73" y="147"/>
                    <a:pt x="67" y="161"/>
                    <a:pt x="63" y="176"/>
                  </a:cubicBezTo>
                  <a:lnTo>
                    <a:pt x="0" y="186"/>
                  </a:lnTo>
                  <a:lnTo>
                    <a:pt x="0" y="240"/>
                  </a:lnTo>
                  <a:lnTo>
                    <a:pt x="63" y="251"/>
                  </a:lnTo>
                  <a:cubicBezTo>
                    <a:pt x="67" y="266"/>
                    <a:pt x="72" y="280"/>
                    <a:pt x="80" y="294"/>
                  </a:cubicBezTo>
                  <a:lnTo>
                    <a:pt x="43" y="345"/>
                  </a:lnTo>
                  <a:lnTo>
                    <a:pt x="81" y="383"/>
                  </a:lnTo>
                  <a:lnTo>
                    <a:pt x="133" y="346"/>
                  </a:lnTo>
                  <a:cubicBezTo>
                    <a:pt x="147" y="354"/>
                    <a:pt x="161" y="360"/>
                    <a:pt x="176" y="364"/>
                  </a:cubicBezTo>
                  <a:lnTo>
                    <a:pt x="186" y="427"/>
                  </a:lnTo>
                  <a:lnTo>
                    <a:pt x="240" y="427"/>
                  </a:lnTo>
                  <a:lnTo>
                    <a:pt x="251" y="364"/>
                  </a:lnTo>
                  <a:cubicBezTo>
                    <a:pt x="266" y="360"/>
                    <a:pt x="280" y="354"/>
                    <a:pt x="293" y="346"/>
                  </a:cubicBezTo>
                  <a:lnTo>
                    <a:pt x="346" y="383"/>
                  </a:lnTo>
                  <a:lnTo>
                    <a:pt x="384" y="345"/>
                  </a:lnTo>
                  <a:lnTo>
                    <a:pt x="346" y="293"/>
                  </a:lnTo>
                  <a:cubicBezTo>
                    <a:pt x="354" y="280"/>
                    <a:pt x="360" y="266"/>
                    <a:pt x="363" y="251"/>
                  </a:cubicBezTo>
                  <a:lnTo>
                    <a:pt x="427" y="240"/>
                  </a:lnTo>
                  <a:close/>
                  <a:moveTo>
                    <a:pt x="214" y="288"/>
                  </a:moveTo>
                  <a:cubicBezTo>
                    <a:pt x="173" y="288"/>
                    <a:pt x="139" y="255"/>
                    <a:pt x="139" y="214"/>
                  </a:cubicBezTo>
                  <a:cubicBezTo>
                    <a:pt x="139" y="173"/>
                    <a:pt x="173" y="139"/>
                    <a:pt x="214" y="139"/>
                  </a:cubicBezTo>
                  <a:cubicBezTo>
                    <a:pt x="255" y="139"/>
                    <a:pt x="288" y="173"/>
                    <a:pt x="288" y="214"/>
                  </a:cubicBezTo>
                  <a:cubicBezTo>
                    <a:pt x="288" y="255"/>
                    <a:pt x="255" y="288"/>
                    <a:pt x="214" y="288"/>
                  </a:cubicBez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71" name="Текст 14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4610100" y="1125020"/>
            <a:ext cx="4246881" cy="203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БГС, </a:t>
            </a:r>
            <a:r>
              <a:rPr lang="ru-RU" sz="800" dirty="0" err="1" smtClean="0">
                <a:solidFill>
                  <a:srgbClr val="545353"/>
                </a:solidFill>
                <a:cs typeface="Arabic Typesetting" pitchFamily="66" charset="-78"/>
              </a:rPr>
              <a:t>сут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./</a:t>
            </a:r>
            <a:r>
              <a:rPr lang="ru-RU" sz="800" dirty="0">
                <a:solidFill>
                  <a:srgbClr val="545353"/>
                </a:solidFill>
                <a:cs typeface="Arabic Typesetting" pitchFamily="66" charset="-78"/>
              </a:rPr>
              <a:t>1000м  в целом по Дирекции Добычи</a:t>
            </a:r>
          </a:p>
        </p:txBody>
      </p:sp>
      <p:sp>
        <p:nvSpPr>
          <p:cNvPr id="72" name="Текст 11"/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87140" y="1125020"/>
            <a:ext cx="4246760" cy="203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БННС, </a:t>
            </a:r>
            <a:r>
              <a:rPr lang="ru-RU" sz="800" dirty="0" err="1" smtClean="0">
                <a:solidFill>
                  <a:srgbClr val="545353"/>
                </a:solidFill>
                <a:cs typeface="Arabic Typesetting" pitchFamily="66" charset="-78"/>
              </a:rPr>
              <a:t>сут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./</a:t>
            </a:r>
            <a:r>
              <a:rPr lang="ru-RU" sz="800" dirty="0">
                <a:solidFill>
                  <a:srgbClr val="545353"/>
                </a:solidFill>
                <a:cs typeface="Arabic Typesetting" pitchFamily="66" charset="-78"/>
              </a:rPr>
              <a:t>1000м  в целом по Дирекции Добычи</a:t>
            </a:r>
          </a:p>
        </p:txBody>
      </p:sp>
      <p:sp>
        <p:nvSpPr>
          <p:cNvPr id="126" name="Текст 14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4590846" y="3812157"/>
            <a:ext cx="4246881" cy="203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БГС, </a:t>
            </a:r>
            <a:r>
              <a:rPr lang="ru-RU" sz="800" dirty="0" err="1" smtClean="0">
                <a:solidFill>
                  <a:srgbClr val="545353"/>
                </a:solidFill>
                <a:cs typeface="Arabic Typesetting" pitchFamily="66" charset="-78"/>
              </a:rPr>
              <a:t>сут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./1000м по ДО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sp>
        <p:nvSpPr>
          <p:cNvPr id="130" name="Текст 11"/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313320" y="3813045"/>
            <a:ext cx="4246760" cy="203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БННС, </a:t>
            </a:r>
            <a:r>
              <a:rPr lang="ru-RU" sz="800" dirty="0" err="1" smtClean="0">
                <a:solidFill>
                  <a:srgbClr val="545353"/>
                </a:solidFill>
                <a:cs typeface="Arabic Typesetting" pitchFamily="66" charset="-78"/>
              </a:rPr>
              <a:t>сут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./1000м по ДО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sp>
        <p:nvSpPr>
          <p:cNvPr id="57" name="ChartGS_squareMnth"/>
          <p:cNvSpPr/>
          <p:nvPr>
            <p:custDataLst>
              <p:tags r:id="rId9"/>
            </p:custDataLst>
          </p:nvPr>
        </p:nvSpPr>
        <p:spPr>
          <a:xfrm>
            <a:off x="7882970" y="1455536"/>
            <a:ext cx="319686" cy="1843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 dirty="0">
              <a:solidFill>
                <a:srgbClr val="004077"/>
              </a:solidFill>
            </a:endParaRPr>
          </a:p>
        </p:txBody>
      </p:sp>
      <p:grpSp>
        <p:nvGrpSpPr>
          <p:cNvPr id="58" name="GroupChartNNS"/>
          <p:cNvGrpSpPr/>
          <p:nvPr>
            <p:custDataLst>
              <p:tags r:id="rId10"/>
            </p:custDataLst>
          </p:nvPr>
        </p:nvGrpSpPr>
        <p:grpSpPr>
          <a:xfrm>
            <a:off x="539552" y="1321718"/>
            <a:ext cx="3693600" cy="457200"/>
            <a:chOff x="-8523323" y="-2003398"/>
            <a:chExt cx="728663" cy="1262529"/>
          </a:xfrm>
        </p:grpSpPr>
        <p:cxnSp>
          <p:nvCxnSpPr>
            <p:cNvPr id="59" name="Прямая соединительная линия 58"/>
            <p:cNvCxnSpPr/>
            <p:nvPr/>
          </p:nvCxnSpPr>
          <p:spPr bwMode="auto">
            <a:xfrm flipH="1">
              <a:off x="-7794660" y="-1689435"/>
              <a:ext cx="0" cy="948566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единительная линия 59"/>
            <p:cNvCxnSpPr/>
            <p:nvPr/>
          </p:nvCxnSpPr>
          <p:spPr bwMode="auto">
            <a:xfrm>
              <a:off x="-8523323" y="-1689435"/>
              <a:ext cx="728663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единительная линия 60"/>
            <p:cNvCxnSpPr/>
            <p:nvPr/>
          </p:nvCxnSpPr>
          <p:spPr bwMode="auto">
            <a:xfrm flipV="1">
              <a:off x="-8523323" y="-1689432"/>
              <a:ext cx="0" cy="948563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hartNNS_percent"/>
            <p:cNvSpPr/>
            <p:nvPr/>
          </p:nvSpPr>
          <p:spPr bwMode="auto">
            <a:xfrm>
              <a:off x="-8206829" y="-2003398"/>
              <a:ext cx="85276" cy="6279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000" b="1" dirty="0" smtClean="0">
                  <a:solidFill>
                    <a:srgbClr val="00B050"/>
                  </a:solidFill>
                  <a:sym typeface="+mn-lt"/>
                </a:rPr>
                <a:t>perc</a:t>
              </a:r>
              <a:endParaRPr lang="ru-RU" sz="1000" b="1" dirty="0" smtClean="0">
                <a:solidFill>
                  <a:srgbClr val="00B050"/>
                </a:solidFill>
                <a:sym typeface="+mn-lt"/>
              </a:endParaRPr>
            </a:p>
          </p:txBody>
        </p:sp>
      </p:grpSp>
      <p:sp>
        <p:nvSpPr>
          <p:cNvPr id="63" name="ChartNNS_squareMnth"/>
          <p:cNvSpPr/>
          <p:nvPr>
            <p:custDataLst>
              <p:tags r:id="rId11"/>
            </p:custDataLst>
          </p:nvPr>
        </p:nvSpPr>
        <p:spPr>
          <a:xfrm>
            <a:off x="3559108" y="1455536"/>
            <a:ext cx="327273" cy="18438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graphicFrame>
        <p:nvGraphicFramePr>
          <p:cNvPr id="64" name="ChartNNS"/>
          <p:cNvGraphicFramePr>
            <a:graphicFrameLocks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434347844"/>
              </p:ext>
            </p:extLst>
          </p:nvPr>
        </p:nvGraphicFramePr>
        <p:xfrm>
          <a:off x="314896" y="1426586"/>
          <a:ext cx="4205040" cy="2189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grpSp>
        <p:nvGrpSpPr>
          <p:cNvPr id="73" name="GroupChartGS"/>
          <p:cNvGrpSpPr/>
          <p:nvPr>
            <p:custDataLst>
              <p:tags r:id="rId13"/>
            </p:custDataLst>
          </p:nvPr>
        </p:nvGrpSpPr>
        <p:grpSpPr>
          <a:xfrm>
            <a:off x="4860032" y="1328344"/>
            <a:ext cx="3693600" cy="457200"/>
            <a:chOff x="-8523323" y="-2003398"/>
            <a:chExt cx="728663" cy="1262529"/>
          </a:xfrm>
        </p:grpSpPr>
        <p:cxnSp>
          <p:nvCxnSpPr>
            <p:cNvPr id="74" name="Прямая соединительная линия 73"/>
            <p:cNvCxnSpPr/>
            <p:nvPr/>
          </p:nvCxnSpPr>
          <p:spPr bwMode="auto">
            <a:xfrm flipH="1">
              <a:off x="-7794660" y="-1689435"/>
              <a:ext cx="0" cy="948566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Прямая соединительная линия 74"/>
            <p:cNvCxnSpPr/>
            <p:nvPr/>
          </p:nvCxnSpPr>
          <p:spPr bwMode="auto">
            <a:xfrm>
              <a:off x="-8523323" y="-1689435"/>
              <a:ext cx="728663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Прямая соединительная линия 75"/>
            <p:cNvCxnSpPr/>
            <p:nvPr/>
          </p:nvCxnSpPr>
          <p:spPr bwMode="auto">
            <a:xfrm flipV="1">
              <a:off x="-8523323" y="-1689432"/>
              <a:ext cx="0" cy="948563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ChartGS_percent"/>
            <p:cNvSpPr/>
            <p:nvPr/>
          </p:nvSpPr>
          <p:spPr bwMode="auto">
            <a:xfrm>
              <a:off x="-8206829" y="-2003398"/>
              <a:ext cx="85276" cy="6279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000" b="1" dirty="0" smtClean="0">
                  <a:solidFill>
                    <a:srgbClr val="00B050"/>
                  </a:solidFill>
                  <a:sym typeface="+mn-lt"/>
                </a:rPr>
                <a:t>perc</a:t>
              </a:r>
            </a:p>
          </p:txBody>
        </p:sp>
      </p:grpSp>
      <p:cxnSp>
        <p:nvCxnSpPr>
          <p:cNvPr id="91" name="Прямая соединительная линия 90"/>
          <p:cNvCxnSpPr/>
          <p:nvPr>
            <p:custDataLst>
              <p:tags r:id="rId14"/>
            </p:custDataLst>
          </p:nvPr>
        </p:nvCxnSpPr>
        <p:spPr>
          <a:xfrm>
            <a:off x="698808" y="1569720"/>
            <a:ext cx="0" cy="1895284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Прямая соединительная линия 91"/>
          <p:cNvCxnSpPr/>
          <p:nvPr>
            <p:custDataLst>
              <p:tags r:id="rId15"/>
            </p:custDataLst>
          </p:nvPr>
        </p:nvCxnSpPr>
        <p:spPr>
          <a:xfrm>
            <a:off x="5040052" y="1569720"/>
            <a:ext cx="0" cy="1895284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Name1A"/>
          <p:cNvSpPr/>
          <p:nvPr>
            <p:custDataLst>
              <p:tags r:id="rId16"/>
            </p:custDataLst>
          </p:nvPr>
        </p:nvSpPr>
        <p:spPr>
          <a:xfrm>
            <a:off x="303854" y="3982871"/>
            <a:ext cx="4277526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Муравленко</a:t>
            </a:r>
            <a:endParaRPr lang="ru-RU" sz="6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4" name="Name1B"/>
          <p:cNvSpPr/>
          <p:nvPr>
            <p:custDataLst>
              <p:tags r:id="rId17"/>
            </p:custDataLst>
          </p:nvPr>
        </p:nvSpPr>
        <p:spPr>
          <a:xfrm>
            <a:off x="293614" y="4499029"/>
            <a:ext cx="4277526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Ноябрьск</a:t>
            </a:r>
            <a:endParaRPr lang="ru-RU" sz="6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5" name="Name1C"/>
          <p:cNvSpPr/>
          <p:nvPr>
            <p:custDataLst>
              <p:tags r:id="rId18"/>
            </p:custDataLst>
          </p:nvPr>
        </p:nvSpPr>
        <p:spPr>
          <a:xfrm>
            <a:off x="293614" y="4945431"/>
            <a:ext cx="4284000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dirty="0" err="1" smtClean="0">
                <a:solidFill>
                  <a:srgbClr val="545353"/>
                </a:solidFill>
              </a:rPr>
              <a:t>Хантос</a:t>
            </a:r>
            <a:endParaRPr lang="ru-RU" sz="6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107" name="Name1D"/>
          <p:cNvSpPr/>
          <p:nvPr>
            <p:custDataLst>
              <p:tags r:id="rId19"/>
            </p:custDataLst>
          </p:nvPr>
        </p:nvSpPr>
        <p:spPr>
          <a:xfrm>
            <a:off x="288559" y="5383148"/>
            <a:ext cx="4277526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dirty="0" smtClean="0">
                <a:solidFill>
                  <a:srgbClr val="545353"/>
                </a:solidFill>
              </a:rPr>
              <a:t>Восток</a:t>
            </a:r>
            <a:endParaRPr lang="ru-RU" sz="6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112" name="Name1E"/>
          <p:cNvSpPr/>
          <p:nvPr>
            <p:custDataLst>
              <p:tags r:id="rId20"/>
            </p:custDataLst>
          </p:nvPr>
        </p:nvSpPr>
        <p:spPr>
          <a:xfrm>
            <a:off x="287140" y="5861824"/>
            <a:ext cx="4284000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dirty="0" smtClean="0">
                <a:solidFill>
                  <a:srgbClr val="545353"/>
                </a:solidFill>
              </a:rPr>
              <a:t>Оренбург</a:t>
            </a:r>
            <a:endParaRPr lang="ru-RU" sz="6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113" name="Name2A"/>
          <p:cNvSpPr/>
          <p:nvPr>
            <p:custDataLst>
              <p:tags r:id="rId21"/>
            </p:custDataLst>
          </p:nvPr>
        </p:nvSpPr>
        <p:spPr>
          <a:xfrm>
            <a:off x="4644008" y="3989616"/>
            <a:ext cx="4170223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Муравленко</a:t>
            </a:r>
            <a:endParaRPr lang="ru-RU" sz="6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4" name="Name2B"/>
          <p:cNvSpPr/>
          <p:nvPr>
            <p:custDataLst>
              <p:tags r:id="rId22"/>
            </p:custDataLst>
          </p:nvPr>
        </p:nvSpPr>
        <p:spPr>
          <a:xfrm>
            <a:off x="4644008" y="4457668"/>
            <a:ext cx="4170224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Ноябрьск</a:t>
            </a:r>
            <a:endParaRPr lang="ru-RU" sz="6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5" name="Name2C"/>
          <p:cNvSpPr/>
          <p:nvPr>
            <p:custDataLst>
              <p:tags r:id="rId23"/>
            </p:custDataLst>
          </p:nvPr>
        </p:nvSpPr>
        <p:spPr>
          <a:xfrm>
            <a:off x="4644008" y="4925720"/>
            <a:ext cx="4170224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dirty="0" err="1" smtClean="0">
                <a:solidFill>
                  <a:srgbClr val="545353"/>
                </a:solidFill>
              </a:rPr>
              <a:t>Хантос</a:t>
            </a:r>
            <a:endParaRPr lang="ru-RU" sz="6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116" name="Name2D"/>
          <p:cNvSpPr/>
          <p:nvPr>
            <p:custDataLst>
              <p:tags r:id="rId24"/>
            </p:custDataLst>
          </p:nvPr>
        </p:nvSpPr>
        <p:spPr>
          <a:xfrm>
            <a:off x="4644008" y="5393772"/>
            <a:ext cx="4170224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dirty="0" smtClean="0">
                <a:solidFill>
                  <a:srgbClr val="545353"/>
                </a:solidFill>
              </a:rPr>
              <a:t>Восток</a:t>
            </a:r>
            <a:endParaRPr lang="ru-RU" sz="6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117" name="Name2E"/>
          <p:cNvSpPr/>
          <p:nvPr>
            <p:custDataLst>
              <p:tags r:id="rId25"/>
            </p:custDataLst>
          </p:nvPr>
        </p:nvSpPr>
        <p:spPr>
          <a:xfrm>
            <a:off x="4644008" y="5861824"/>
            <a:ext cx="4170223" cy="432048"/>
          </a:xfrm>
          <a:prstGeom prst="rect">
            <a:avLst/>
          </a:prstGeom>
          <a:noFill/>
        </p:spPr>
        <p:txBody>
          <a:bodyPr lIns="0" tIns="0" rIns="0" bIns="0" rtlCol="0" anchor="ctr">
            <a:noAutofit/>
          </a:bodyPr>
          <a:lstStyle/>
          <a:p>
            <a:r>
              <a:rPr lang="ru-RU" sz="600" b="1" dirty="0" smtClean="0">
                <a:solidFill>
                  <a:srgbClr val="545353"/>
                </a:solidFill>
              </a:rPr>
              <a:t>Оренбург</a:t>
            </a:r>
            <a:endParaRPr lang="ru-RU" sz="600" b="1" i="0" u="none" strike="noStrike" kern="1200" baseline="0" dirty="0">
              <a:solidFill>
                <a:srgbClr val="545353"/>
              </a:solidFill>
            </a:endParaRPr>
          </a:p>
        </p:txBody>
      </p:sp>
      <p:cxnSp>
        <p:nvCxnSpPr>
          <p:cNvPr id="120" name="Прямая соединительная линия 119"/>
          <p:cNvCxnSpPr/>
          <p:nvPr>
            <p:custDataLst>
              <p:tags r:id="rId26"/>
            </p:custDataLst>
          </p:nvPr>
        </p:nvCxnSpPr>
        <p:spPr>
          <a:xfrm>
            <a:off x="1007604" y="3933056"/>
            <a:ext cx="0" cy="2448272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Прямая соединительная линия 123"/>
          <p:cNvCxnSpPr/>
          <p:nvPr>
            <p:custDataLst>
              <p:tags r:id="rId27"/>
            </p:custDataLst>
          </p:nvPr>
        </p:nvCxnSpPr>
        <p:spPr>
          <a:xfrm>
            <a:off x="5334434" y="3933056"/>
            <a:ext cx="0" cy="2448272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5" name="ГПН-МН_NNS"/>
          <p:cNvGraphicFramePr>
            <a:graphicFrameLocks/>
          </p:cNvGraphicFramePr>
          <p:nvPr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3030762798"/>
              </p:ext>
            </p:extLst>
          </p:nvPr>
        </p:nvGraphicFramePr>
        <p:xfrm>
          <a:off x="649803" y="4036675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graphicFrame>
        <p:nvGraphicFramePr>
          <p:cNvPr id="129" name="ГПН-Оренбург_NNS"/>
          <p:cNvGraphicFramePr>
            <a:graphicFrameLocks/>
          </p:cNvGraphicFramePr>
          <p:nvPr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3199908662"/>
              </p:ext>
            </p:extLst>
          </p:nvPr>
        </p:nvGraphicFramePr>
        <p:xfrm>
          <a:off x="653044" y="5790203"/>
          <a:ext cx="4040472" cy="7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5"/>
          </a:graphicData>
        </a:graphic>
      </p:graphicFrame>
      <p:sp>
        <p:nvSpPr>
          <p:cNvPr id="135" name="ChartNNS_roundVal"/>
          <p:cNvSpPr/>
          <p:nvPr>
            <p:custDataLst>
              <p:tags r:id="rId30"/>
            </p:custDataLst>
          </p:nvPr>
        </p:nvSpPr>
        <p:spPr>
          <a:xfrm>
            <a:off x="3914388" y="2247579"/>
            <a:ext cx="288000" cy="288000"/>
          </a:xfrm>
          <a:prstGeom prst="ellipse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8" name="ChartGS_roundVal"/>
          <p:cNvSpPr/>
          <p:nvPr>
            <p:custDataLst>
              <p:tags r:id="rId31"/>
            </p:custDataLst>
          </p:nvPr>
        </p:nvSpPr>
        <p:spPr>
          <a:xfrm>
            <a:off x="8234144" y="1892436"/>
            <a:ext cx="288000" cy="288000"/>
          </a:xfrm>
          <a:prstGeom prst="ellipse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39" name="ChartGS"/>
          <p:cNvGraphicFramePr>
            <a:graphicFrameLocks/>
          </p:cNvGraphicFramePr>
          <p:nvPr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497440821"/>
              </p:ext>
            </p:extLst>
          </p:nvPr>
        </p:nvGraphicFramePr>
        <p:xfrm>
          <a:off x="4675126" y="1419223"/>
          <a:ext cx="4205040" cy="2189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6"/>
          </a:graphicData>
        </a:graphic>
      </p:graphicFrame>
      <p:graphicFrame>
        <p:nvGraphicFramePr>
          <p:cNvPr id="140" name="ГПН-ННГ_NNS"/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940882628"/>
              </p:ext>
            </p:extLst>
          </p:nvPr>
        </p:nvGraphicFramePr>
        <p:xfrm>
          <a:off x="661153" y="4549212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graphicFrame>
        <p:nvGraphicFramePr>
          <p:cNvPr id="141" name="ГПН-Хантос_NNS"/>
          <p:cNvGraphicFramePr>
            <a:graphicFrameLocks/>
          </p:cNvGraphicFramePr>
          <p:nvPr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178605054"/>
              </p:ext>
            </p:extLst>
          </p:nvPr>
        </p:nvGraphicFramePr>
        <p:xfrm>
          <a:off x="649803" y="4994908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graphicFrame>
        <p:nvGraphicFramePr>
          <p:cNvPr id="142" name="ГПН-Восток_NNS"/>
          <p:cNvGraphicFramePr>
            <a:graphicFrameLocks/>
          </p:cNvGraphicFramePr>
          <p:nvPr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95388473"/>
              </p:ext>
            </p:extLst>
          </p:nvPr>
        </p:nvGraphicFramePr>
        <p:xfrm>
          <a:off x="653044" y="5434028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9"/>
          </a:graphicData>
        </a:graphic>
      </p:graphicFrame>
      <p:graphicFrame>
        <p:nvGraphicFramePr>
          <p:cNvPr id="143" name="ГПН-МН_GS"/>
          <p:cNvGraphicFramePr>
            <a:graphicFrameLocks/>
          </p:cNvGraphicFramePr>
          <p:nvPr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1512278227"/>
              </p:ext>
            </p:extLst>
          </p:nvPr>
        </p:nvGraphicFramePr>
        <p:xfrm>
          <a:off x="4991550" y="3982871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graphicFrame>
        <p:nvGraphicFramePr>
          <p:cNvPr id="144" name="ГПН-Оренбург_GS"/>
          <p:cNvGraphicFramePr>
            <a:graphicFrameLocks/>
          </p:cNvGraphicFramePr>
          <p:nvPr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1112212993"/>
              </p:ext>
            </p:extLst>
          </p:nvPr>
        </p:nvGraphicFramePr>
        <p:xfrm>
          <a:off x="4994791" y="5736399"/>
          <a:ext cx="4040472" cy="75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1"/>
          </a:graphicData>
        </a:graphic>
      </p:graphicFrame>
      <p:graphicFrame>
        <p:nvGraphicFramePr>
          <p:cNvPr id="146" name="ГПН-ННГ_GS"/>
          <p:cNvGraphicFramePr>
            <a:graphicFrameLocks/>
          </p:cNvGraphicFramePr>
          <p:nvPr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3728544030"/>
              </p:ext>
            </p:extLst>
          </p:nvPr>
        </p:nvGraphicFramePr>
        <p:xfrm>
          <a:off x="5002900" y="4495408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2"/>
          </a:graphicData>
        </a:graphic>
      </p:graphicFrame>
      <p:graphicFrame>
        <p:nvGraphicFramePr>
          <p:cNvPr id="149" name="ГПН-Хантос_GS"/>
          <p:cNvGraphicFramePr>
            <a:graphicFrameLocks/>
          </p:cNvGraphicFramePr>
          <p:nvPr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2172862445"/>
              </p:ext>
            </p:extLst>
          </p:nvPr>
        </p:nvGraphicFramePr>
        <p:xfrm>
          <a:off x="4991550" y="4941104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3"/>
          </a:graphicData>
        </a:graphic>
      </p:graphicFrame>
      <p:graphicFrame>
        <p:nvGraphicFramePr>
          <p:cNvPr id="150" name="ГПН-Восток_GS"/>
          <p:cNvGraphicFramePr>
            <a:graphicFrameLocks/>
          </p:cNvGraphicFramePr>
          <p:nvPr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1027603198"/>
              </p:ext>
            </p:extLst>
          </p:nvPr>
        </p:nvGraphicFramePr>
        <p:xfrm>
          <a:off x="4994791" y="5380224"/>
          <a:ext cx="4040472" cy="57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4"/>
          </a:graphicData>
        </a:graphic>
      </p:graphicFrame>
    </p:spTree>
    <p:extLst>
      <p:ext uri="{BB962C8B-B14F-4D97-AF65-F5344CB8AC3E}">
        <p14:creationId xmlns:p14="http://schemas.microsoft.com/office/powerpoint/2010/main" val="3926391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rtNNS_squareMnth"/>
          <p:cNvSpPr/>
          <p:nvPr>
            <p:custDataLst>
              <p:tags r:id="rId1"/>
            </p:custDataLst>
          </p:nvPr>
        </p:nvSpPr>
        <p:spPr>
          <a:xfrm>
            <a:off x="3691660" y="1323795"/>
            <a:ext cx="321137" cy="2080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graphicFrame>
        <p:nvGraphicFramePr>
          <p:cNvPr id="25" name="ChartNNS"/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57947889"/>
              </p:ext>
            </p:extLst>
          </p:nvPr>
        </p:nvGraphicFramePr>
        <p:xfrm>
          <a:off x="278767" y="1300120"/>
          <a:ext cx="4248472" cy="2380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295848" y="304272"/>
            <a:ext cx="7524000" cy="607021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ru-RU" sz="2000" b="1" dirty="0">
                <a:solidFill>
                  <a:srgbClr val="545353"/>
                </a:solidFill>
                <a:latin typeface="Arial" charset="0"/>
              </a:rPr>
              <a:t>Дирекция по добыче</a:t>
            </a:r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Эксплуатационное </a:t>
            </a: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бурение </a:t>
            </a:r>
            <a:r>
              <a:rPr lang="en-US" sz="1200" b="1" dirty="0" smtClean="0">
                <a:solidFill>
                  <a:srgbClr val="545353"/>
                </a:solidFill>
                <a:latin typeface="Arial" charset="0"/>
              </a:rPr>
              <a:t/>
            </a:r>
            <a:br>
              <a:rPr lang="en-US" sz="12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Динамика </a:t>
            </a: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удельной </a:t>
            </a: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стоимости скважин (без учета водозаборных скважин, и скважин с непринятыми затратами по бурению, телеметрии, растворам и пр.)</a:t>
            </a:r>
            <a:endParaRPr lang="ru-RU" sz="1200" b="1" dirty="0">
              <a:solidFill>
                <a:srgbClr val="545353"/>
              </a:solidFill>
              <a:latin typeface="Arial" charset="0"/>
            </a:endParaRPr>
          </a:p>
        </p:txBody>
      </p:sp>
      <p:sp>
        <p:nvSpPr>
          <p:cNvPr id="17" name="Текст 11"/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87523" y="1120120"/>
            <a:ext cx="4248473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ННС, </a:t>
            </a:r>
            <a:r>
              <a:rPr lang="ru-RU" dirty="0" err="1"/>
              <a:t>млн.р</a:t>
            </a:r>
            <a:r>
              <a:rPr lang="ru-RU" dirty="0"/>
              <a:t>./</a:t>
            </a:r>
            <a:r>
              <a:rPr lang="ru-RU" dirty="0" err="1"/>
              <a:t>скв</a:t>
            </a:r>
            <a:r>
              <a:rPr lang="ru-RU" dirty="0" smtClean="0"/>
              <a:t>. в целом по Дирекции добычи </a:t>
            </a:r>
            <a:endParaRPr lang="ru-RU" dirty="0"/>
          </a:p>
        </p:txBody>
      </p:sp>
      <p:sp>
        <p:nvSpPr>
          <p:cNvPr id="19" name="Текст 11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4595854" y="1120119"/>
            <a:ext cx="426062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ГС, </a:t>
            </a:r>
            <a:r>
              <a:rPr lang="ru-RU" dirty="0" err="1"/>
              <a:t>млн.р</a:t>
            </a:r>
            <a:r>
              <a:rPr lang="ru-RU" dirty="0"/>
              <a:t>./</a:t>
            </a:r>
            <a:r>
              <a:rPr lang="ru-RU" dirty="0" err="1"/>
              <a:t>скв</a:t>
            </a:r>
            <a:r>
              <a:rPr lang="ru-RU" dirty="0" smtClean="0"/>
              <a:t>. </a:t>
            </a:r>
            <a:r>
              <a:rPr lang="ru-RU" dirty="0"/>
              <a:t>в целом по Дирекции добычи </a:t>
            </a:r>
          </a:p>
        </p:txBody>
      </p:sp>
      <p:sp>
        <p:nvSpPr>
          <p:cNvPr id="12" name="Заголовок 1"/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359533" y="3429000"/>
            <a:ext cx="4140459" cy="50405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endParaRPr lang="ru-RU" sz="500" dirty="0">
              <a:solidFill>
                <a:schemeClr val="tx2"/>
              </a:solidFill>
              <a:latin typeface="Arial" charset="0"/>
            </a:endParaRPr>
          </a:p>
        </p:txBody>
      </p:sp>
      <p:grpSp>
        <p:nvGrpSpPr>
          <p:cNvPr id="35" name="Группа 34"/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303854" y="260648"/>
            <a:ext cx="803835" cy="890037"/>
            <a:chOff x="7051636" y="2029408"/>
            <a:chExt cx="561975" cy="571500"/>
          </a:xfrm>
        </p:grpSpPr>
        <p:grpSp>
          <p:nvGrpSpPr>
            <p:cNvPr id="36" name="Группа 35"/>
            <p:cNvGrpSpPr/>
            <p:nvPr/>
          </p:nvGrpSpPr>
          <p:grpSpPr>
            <a:xfrm>
              <a:off x="7051636" y="2029408"/>
              <a:ext cx="561975" cy="571500"/>
              <a:chOff x="7051636" y="2029408"/>
              <a:chExt cx="561975" cy="571500"/>
            </a:xfrm>
            <a:solidFill>
              <a:schemeClr val="accent2"/>
            </a:solidFill>
          </p:grpSpPr>
          <p:sp>
            <p:nvSpPr>
              <p:cNvPr id="38" name="Freeform 146"/>
              <p:cNvSpPr>
                <a:spLocks/>
              </p:cNvSpPr>
              <p:nvPr/>
            </p:nvSpPr>
            <p:spPr bwMode="auto">
              <a:xfrm>
                <a:off x="7051636" y="2248483"/>
                <a:ext cx="561975" cy="352425"/>
              </a:xfrm>
              <a:custGeom>
                <a:avLst/>
                <a:gdLst>
                  <a:gd name="T0" fmla="*/ 1522 w 1556"/>
                  <a:gd name="T1" fmla="*/ 444 h 977"/>
                  <a:gd name="T2" fmla="*/ 33 w 1556"/>
                  <a:gd name="T3" fmla="*/ 444 h 977"/>
                  <a:gd name="T4" fmla="*/ 0 w 1556"/>
                  <a:gd name="T5" fmla="*/ 478 h 977"/>
                  <a:gd name="T6" fmla="*/ 0 w 1556"/>
                  <a:gd name="T7" fmla="*/ 524 h 977"/>
                  <a:gd name="T8" fmla="*/ 33 w 1556"/>
                  <a:gd name="T9" fmla="*/ 558 h 977"/>
                  <a:gd name="T10" fmla="*/ 1522 w 1556"/>
                  <a:gd name="T11" fmla="*/ 558 h 977"/>
                  <a:gd name="T12" fmla="*/ 1556 w 1556"/>
                  <a:gd name="T13" fmla="*/ 524 h 977"/>
                  <a:gd name="T14" fmla="*/ 1556 w 1556"/>
                  <a:gd name="T15" fmla="*/ 478 h 977"/>
                  <a:gd name="T16" fmla="*/ 1522 w 1556"/>
                  <a:gd name="T17" fmla="*/ 44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6" h="977">
                    <a:moveTo>
                      <a:pt x="1522" y="444"/>
                    </a:moveTo>
                    <a:cubicBezTo>
                      <a:pt x="1031" y="444"/>
                      <a:pt x="391" y="444"/>
                      <a:pt x="33" y="444"/>
                    </a:cubicBezTo>
                    <a:cubicBezTo>
                      <a:pt x="15" y="444"/>
                      <a:pt x="0" y="459"/>
                      <a:pt x="0" y="478"/>
                    </a:cubicBezTo>
                    <a:cubicBezTo>
                      <a:pt x="0" y="977"/>
                      <a:pt x="0" y="0"/>
                      <a:pt x="0" y="524"/>
                    </a:cubicBezTo>
                    <a:cubicBezTo>
                      <a:pt x="0" y="543"/>
                      <a:pt x="15" y="558"/>
                      <a:pt x="33" y="558"/>
                    </a:cubicBezTo>
                    <a:cubicBezTo>
                      <a:pt x="560" y="558"/>
                      <a:pt x="1075" y="558"/>
                      <a:pt x="1522" y="558"/>
                    </a:cubicBezTo>
                    <a:cubicBezTo>
                      <a:pt x="1541" y="558"/>
                      <a:pt x="1556" y="543"/>
                      <a:pt x="1556" y="524"/>
                    </a:cubicBezTo>
                    <a:lnTo>
                      <a:pt x="1556" y="478"/>
                    </a:lnTo>
                    <a:cubicBezTo>
                      <a:pt x="1556" y="459"/>
                      <a:pt x="1541" y="444"/>
                      <a:pt x="1522" y="4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" name="Oval 147"/>
              <p:cNvSpPr>
                <a:spLocks noChangeArrowheads="1"/>
              </p:cNvSpPr>
              <p:nvPr/>
            </p:nvSpPr>
            <p:spPr bwMode="auto">
              <a:xfrm>
                <a:off x="7167523" y="2029408"/>
                <a:ext cx="277813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" name="Freeform 148"/>
              <p:cNvSpPr>
                <a:spLocks/>
              </p:cNvSpPr>
              <p:nvPr/>
            </p:nvSpPr>
            <p:spPr bwMode="auto">
              <a:xfrm>
                <a:off x="7167523" y="2237370"/>
                <a:ext cx="169863" cy="109538"/>
              </a:xfrm>
              <a:custGeom>
                <a:avLst/>
                <a:gdLst>
                  <a:gd name="T0" fmla="*/ 473 w 473"/>
                  <a:gd name="T1" fmla="*/ 226 h 302"/>
                  <a:gd name="T2" fmla="*/ 421 w 473"/>
                  <a:gd name="T3" fmla="*/ 170 h 302"/>
                  <a:gd name="T4" fmla="*/ 384 w 473"/>
                  <a:gd name="T5" fmla="*/ 171 h 302"/>
                  <a:gd name="T6" fmla="*/ 0 w 473"/>
                  <a:gd name="T7" fmla="*/ 0 h 302"/>
                  <a:gd name="T8" fmla="*/ 0 w 473"/>
                  <a:gd name="T9" fmla="*/ 131 h 302"/>
                  <a:gd name="T10" fmla="*/ 384 w 473"/>
                  <a:gd name="T11" fmla="*/ 302 h 302"/>
                  <a:gd name="T12" fmla="*/ 473 w 473"/>
                  <a:gd name="T13" fmla="*/ 297 h 302"/>
                  <a:gd name="T14" fmla="*/ 473 w 473"/>
                  <a:gd name="T15" fmla="*/ 226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3" h="302">
                    <a:moveTo>
                      <a:pt x="473" y="226"/>
                    </a:moveTo>
                    <a:cubicBezTo>
                      <a:pt x="446" y="219"/>
                      <a:pt x="426" y="197"/>
                      <a:pt x="421" y="170"/>
                    </a:cubicBezTo>
                    <a:cubicBezTo>
                      <a:pt x="409" y="171"/>
                      <a:pt x="3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ubicBezTo>
                      <a:pt x="415" y="302"/>
                      <a:pt x="444" y="300"/>
                      <a:pt x="473" y="297"/>
                    </a:cubicBezTo>
                    <a:cubicBezTo>
                      <a:pt x="461" y="275"/>
                      <a:pt x="460" y="248"/>
                      <a:pt x="473" y="2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" name="Freeform 149"/>
              <p:cNvSpPr>
                <a:spLocks/>
              </p:cNvSpPr>
              <p:nvPr/>
            </p:nvSpPr>
            <p:spPr bwMode="auto">
              <a:xfrm>
                <a:off x="7167523" y="2172283"/>
                <a:ext cx="171450" cy="109538"/>
              </a:xfrm>
              <a:custGeom>
                <a:avLst/>
                <a:gdLst>
                  <a:gd name="T0" fmla="*/ 384 w 474"/>
                  <a:gd name="T1" fmla="*/ 302 h 302"/>
                  <a:gd name="T2" fmla="*/ 420 w 474"/>
                  <a:gd name="T3" fmla="*/ 301 h 302"/>
                  <a:gd name="T4" fmla="*/ 420 w 474"/>
                  <a:gd name="T5" fmla="*/ 281 h 302"/>
                  <a:gd name="T6" fmla="*/ 474 w 474"/>
                  <a:gd name="T7" fmla="*/ 213 h 302"/>
                  <a:gd name="T8" fmla="*/ 464 w 474"/>
                  <a:gd name="T9" fmla="*/ 167 h 302"/>
                  <a:gd name="T10" fmla="*/ 384 w 474"/>
                  <a:gd name="T11" fmla="*/ 171 h 302"/>
                  <a:gd name="T12" fmla="*/ 0 w 474"/>
                  <a:gd name="T13" fmla="*/ 0 h 302"/>
                  <a:gd name="T14" fmla="*/ 0 w 474"/>
                  <a:gd name="T15" fmla="*/ 131 h 302"/>
                  <a:gd name="T16" fmla="*/ 384 w 474"/>
                  <a:gd name="T1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4" h="302">
                    <a:moveTo>
                      <a:pt x="384" y="302"/>
                    </a:moveTo>
                    <a:cubicBezTo>
                      <a:pt x="396" y="302"/>
                      <a:pt x="408" y="302"/>
                      <a:pt x="420" y="301"/>
                    </a:cubicBezTo>
                    <a:lnTo>
                      <a:pt x="420" y="281"/>
                    </a:lnTo>
                    <a:cubicBezTo>
                      <a:pt x="420" y="249"/>
                      <a:pt x="442" y="220"/>
                      <a:pt x="474" y="213"/>
                    </a:cubicBezTo>
                    <a:cubicBezTo>
                      <a:pt x="465" y="199"/>
                      <a:pt x="463" y="183"/>
                      <a:pt x="464" y="167"/>
                    </a:cubicBezTo>
                    <a:cubicBezTo>
                      <a:pt x="439" y="170"/>
                      <a:pt x="412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" name="Freeform 150"/>
              <p:cNvSpPr>
                <a:spLocks/>
              </p:cNvSpPr>
              <p:nvPr/>
            </p:nvSpPr>
            <p:spPr bwMode="auto">
              <a:xfrm>
                <a:off x="7167523" y="2108783"/>
                <a:ext cx="277813" cy="109538"/>
              </a:xfrm>
              <a:custGeom>
                <a:avLst/>
                <a:gdLst>
                  <a:gd name="T0" fmla="*/ 384 w 769"/>
                  <a:gd name="T1" fmla="*/ 302 h 302"/>
                  <a:gd name="T2" fmla="*/ 494 w 769"/>
                  <a:gd name="T3" fmla="*/ 295 h 302"/>
                  <a:gd name="T4" fmla="*/ 522 w 769"/>
                  <a:gd name="T5" fmla="*/ 266 h 302"/>
                  <a:gd name="T6" fmla="*/ 573 w 769"/>
                  <a:gd name="T7" fmla="*/ 245 h 302"/>
                  <a:gd name="T8" fmla="*/ 609 w 769"/>
                  <a:gd name="T9" fmla="*/ 255 h 302"/>
                  <a:gd name="T10" fmla="*/ 677 w 769"/>
                  <a:gd name="T11" fmla="*/ 202 h 302"/>
                  <a:gd name="T12" fmla="*/ 731 w 769"/>
                  <a:gd name="T13" fmla="*/ 202 h 302"/>
                  <a:gd name="T14" fmla="*/ 734 w 769"/>
                  <a:gd name="T15" fmla="*/ 202 h 302"/>
                  <a:gd name="T16" fmla="*/ 769 w 769"/>
                  <a:gd name="T17" fmla="*/ 131 h 302"/>
                  <a:gd name="T18" fmla="*/ 769 w 769"/>
                  <a:gd name="T19" fmla="*/ 0 h 302"/>
                  <a:gd name="T20" fmla="*/ 384 w 769"/>
                  <a:gd name="T21" fmla="*/ 171 h 302"/>
                  <a:gd name="T22" fmla="*/ 0 w 769"/>
                  <a:gd name="T23" fmla="*/ 0 h 302"/>
                  <a:gd name="T24" fmla="*/ 0 w 769"/>
                  <a:gd name="T25" fmla="*/ 131 h 302"/>
                  <a:gd name="T26" fmla="*/ 384 w 769"/>
                  <a:gd name="T2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9" h="302">
                    <a:moveTo>
                      <a:pt x="384" y="302"/>
                    </a:moveTo>
                    <a:cubicBezTo>
                      <a:pt x="422" y="302"/>
                      <a:pt x="459" y="299"/>
                      <a:pt x="494" y="295"/>
                    </a:cubicBezTo>
                    <a:lnTo>
                      <a:pt x="522" y="266"/>
                    </a:lnTo>
                    <a:cubicBezTo>
                      <a:pt x="536" y="252"/>
                      <a:pt x="554" y="245"/>
                      <a:pt x="573" y="245"/>
                    </a:cubicBezTo>
                    <a:cubicBezTo>
                      <a:pt x="585" y="245"/>
                      <a:pt x="598" y="249"/>
                      <a:pt x="609" y="255"/>
                    </a:cubicBezTo>
                    <a:cubicBezTo>
                      <a:pt x="617" y="224"/>
                      <a:pt x="645" y="202"/>
                      <a:pt x="677" y="202"/>
                    </a:cubicBezTo>
                    <a:lnTo>
                      <a:pt x="731" y="202"/>
                    </a:lnTo>
                    <a:cubicBezTo>
                      <a:pt x="732" y="202"/>
                      <a:pt x="733" y="202"/>
                      <a:pt x="734" y="202"/>
                    </a:cubicBezTo>
                    <a:cubicBezTo>
                      <a:pt x="756" y="180"/>
                      <a:pt x="769" y="156"/>
                      <a:pt x="769" y="131"/>
                    </a:cubicBezTo>
                    <a:lnTo>
                      <a:pt x="769" y="0"/>
                    </a:lnTo>
                    <a:cubicBezTo>
                      <a:pt x="769" y="94"/>
                      <a:pt x="5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sp>
          <p:nvSpPr>
            <p:cNvPr id="37" name="Freeform 151"/>
            <p:cNvSpPr>
              <a:spLocks noEditPoints="1"/>
            </p:cNvSpPr>
            <p:nvPr/>
          </p:nvSpPr>
          <p:spPr bwMode="auto">
            <a:xfrm>
              <a:off x="7343736" y="2207208"/>
              <a:ext cx="153988" cy="153988"/>
            </a:xfrm>
            <a:custGeom>
              <a:avLst/>
              <a:gdLst>
                <a:gd name="T0" fmla="*/ 427 w 427"/>
                <a:gd name="T1" fmla="*/ 240 h 427"/>
                <a:gd name="T2" fmla="*/ 427 w 427"/>
                <a:gd name="T3" fmla="*/ 186 h 427"/>
                <a:gd name="T4" fmla="*/ 363 w 427"/>
                <a:gd name="T5" fmla="*/ 176 h 427"/>
                <a:gd name="T6" fmla="*/ 346 w 427"/>
                <a:gd name="T7" fmla="*/ 134 h 427"/>
                <a:gd name="T8" fmla="*/ 383 w 427"/>
                <a:gd name="T9" fmla="*/ 81 h 427"/>
                <a:gd name="T10" fmla="*/ 345 w 427"/>
                <a:gd name="T11" fmla="*/ 44 h 427"/>
                <a:gd name="T12" fmla="*/ 293 w 427"/>
                <a:gd name="T13" fmla="*/ 81 h 427"/>
                <a:gd name="T14" fmla="*/ 251 w 427"/>
                <a:gd name="T15" fmla="*/ 63 h 427"/>
                <a:gd name="T16" fmla="*/ 240 w 427"/>
                <a:gd name="T17" fmla="*/ 0 h 427"/>
                <a:gd name="T18" fmla="*/ 186 w 427"/>
                <a:gd name="T19" fmla="*/ 0 h 427"/>
                <a:gd name="T20" fmla="*/ 176 w 427"/>
                <a:gd name="T21" fmla="*/ 63 h 427"/>
                <a:gd name="T22" fmla="*/ 134 w 427"/>
                <a:gd name="T23" fmla="*/ 81 h 427"/>
                <a:gd name="T24" fmla="*/ 82 w 427"/>
                <a:gd name="T25" fmla="*/ 44 h 427"/>
                <a:gd name="T26" fmla="*/ 44 w 427"/>
                <a:gd name="T27" fmla="*/ 81 h 427"/>
                <a:gd name="T28" fmla="*/ 80 w 427"/>
                <a:gd name="T29" fmla="*/ 133 h 427"/>
                <a:gd name="T30" fmla="*/ 63 w 427"/>
                <a:gd name="T31" fmla="*/ 176 h 427"/>
                <a:gd name="T32" fmla="*/ 0 w 427"/>
                <a:gd name="T33" fmla="*/ 186 h 427"/>
                <a:gd name="T34" fmla="*/ 0 w 427"/>
                <a:gd name="T35" fmla="*/ 240 h 427"/>
                <a:gd name="T36" fmla="*/ 63 w 427"/>
                <a:gd name="T37" fmla="*/ 251 h 427"/>
                <a:gd name="T38" fmla="*/ 80 w 427"/>
                <a:gd name="T39" fmla="*/ 294 h 427"/>
                <a:gd name="T40" fmla="*/ 43 w 427"/>
                <a:gd name="T41" fmla="*/ 345 h 427"/>
                <a:gd name="T42" fmla="*/ 81 w 427"/>
                <a:gd name="T43" fmla="*/ 383 h 427"/>
                <a:gd name="T44" fmla="*/ 133 w 427"/>
                <a:gd name="T45" fmla="*/ 346 h 427"/>
                <a:gd name="T46" fmla="*/ 176 w 427"/>
                <a:gd name="T47" fmla="*/ 364 h 427"/>
                <a:gd name="T48" fmla="*/ 186 w 427"/>
                <a:gd name="T49" fmla="*/ 427 h 427"/>
                <a:gd name="T50" fmla="*/ 240 w 427"/>
                <a:gd name="T51" fmla="*/ 427 h 427"/>
                <a:gd name="T52" fmla="*/ 251 w 427"/>
                <a:gd name="T53" fmla="*/ 364 h 427"/>
                <a:gd name="T54" fmla="*/ 293 w 427"/>
                <a:gd name="T55" fmla="*/ 346 h 427"/>
                <a:gd name="T56" fmla="*/ 346 w 427"/>
                <a:gd name="T57" fmla="*/ 383 h 427"/>
                <a:gd name="T58" fmla="*/ 384 w 427"/>
                <a:gd name="T59" fmla="*/ 345 h 427"/>
                <a:gd name="T60" fmla="*/ 346 w 427"/>
                <a:gd name="T61" fmla="*/ 293 h 427"/>
                <a:gd name="T62" fmla="*/ 363 w 427"/>
                <a:gd name="T63" fmla="*/ 251 h 427"/>
                <a:gd name="T64" fmla="*/ 427 w 427"/>
                <a:gd name="T65" fmla="*/ 240 h 427"/>
                <a:gd name="T66" fmla="*/ 214 w 427"/>
                <a:gd name="T67" fmla="*/ 288 h 427"/>
                <a:gd name="T68" fmla="*/ 139 w 427"/>
                <a:gd name="T69" fmla="*/ 214 h 427"/>
                <a:gd name="T70" fmla="*/ 214 w 427"/>
                <a:gd name="T71" fmla="*/ 139 h 427"/>
                <a:gd name="T72" fmla="*/ 288 w 427"/>
                <a:gd name="T73" fmla="*/ 214 h 427"/>
                <a:gd name="T74" fmla="*/ 214 w 427"/>
                <a:gd name="T75" fmla="*/ 28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7" h="427">
                  <a:moveTo>
                    <a:pt x="427" y="240"/>
                  </a:moveTo>
                  <a:lnTo>
                    <a:pt x="427" y="186"/>
                  </a:lnTo>
                  <a:lnTo>
                    <a:pt x="363" y="176"/>
                  </a:lnTo>
                  <a:cubicBezTo>
                    <a:pt x="360" y="161"/>
                    <a:pt x="354" y="147"/>
                    <a:pt x="346" y="134"/>
                  </a:cubicBezTo>
                  <a:lnTo>
                    <a:pt x="383" y="81"/>
                  </a:lnTo>
                  <a:lnTo>
                    <a:pt x="345" y="44"/>
                  </a:lnTo>
                  <a:lnTo>
                    <a:pt x="293" y="81"/>
                  </a:lnTo>
                  <a:cubicBezTo>
                    <a:pt x="280" y="73"/>
                    <a:pt x="266" y="67"/>
                    <a:pt x="251" y="63"/>
                  </a:cubicBezTo>
                  <a:lnTo>
                    <a:pt x="240" y="0"/>
                  </a:lnTo>
                  <a:lnTo>
                    <a:pt x="186" y="0"/>
                  </a:lnTo>
                  <a:lnTo>
                    <a:pt x="176" y="63"/>
                  </a:lnTo>
                  <a:cubicBezTo>
                    <a:pt x="161" y="67"/>
                    <a:pt x="147" y="73"/>
                    <a:pt x="134" y="81"/>
                  </a:cubicBezTo>
                  <a:lnTo>
                    <a:pt x="82" y="44"/>
                  </a:lnTo>
                  <a:lnTo>
                    <a:pt x="44" y="81"/>
                  </a:lnTo>
                  <a:lnTo>
                    <a:pt x="80" y="133"/>
                  </a:lnTo>
                  <a:cubicBezTo>
                    <a:pt x="73" y="147"/>
                    <a:pt x="67" y="161"/>
                    <a:pt x="63" y="176"/>
                  </a:cubicBezTo>
                  <a:lnTo>
                    <a:pt x="0" y="186"/>
                  </a:lnTo>
                  <a:lnTo>
                    <a:pt x="0" y="240"/>
                  </a:lnTo>
                  <a:lnTo>
                    <a:pt x="63" y="251"/>
                  </a:lnTo>
                  <a:cubicBezTo>
                    <a:pt x="67" y="266"/>
                    <a:pt x="72" y="280"/>
                    <a:pt x="80" y="294"/>
                  </a:cubicBezTo>
                  <a:lnTo>
                    <a:pt x="43" y="345"/>
                  </a:lnTo>
                  <a:lnTo>
                    <a:pt x="81" y="383"/>
                  </a:lnTo>
                  <a:lnTo>
                    <a:pt x="133" y="346"/>
                  </a:lnTo>
                  <a:cubicBezTo>
                    <a:pt x="147" y="354"/>
                    <a:pt x="161" y="360"/>
                    <a:pt x="176" y="364"/>
                  </a:cubicBezTo>
                  <a:lnTo>
                    <a:pt x="186" y="427"/>
                  </a:lnTo>
                  <a:lnTo>
                    <a:pt x="240" y="427"/>
                  </a:lnTo>
                  <a:lnTo>
                    <a:pt x="251" y="364"/>
                  </a:lnTo>
                  <a:cubicBezTo>
                    <a:pt x="266" y="360"/>
                    <a:pt x="280" y="354"/>
                    <a:pt x="293" y="346"/>
                  </a:cubicBezTo>
                  <a:lnTo>
                    <a:pt x="346" y="383"/>
                  </a:lnTo>
                  <a:lnTo>
                    <a:pt x="384" y="345"/>
                  </a:lnTo>
                  <a:lnTo>
                    <a:pt x="346" y="293"/>
                  </a:lnTo>
                  <a:cubicBezTo>
                    <a:pt x="354" y="280"/>
                    <a:pt x="360" y="266"/>
                    <a:pt x="363" y="251"/>
                  </a:cubicBezTo>
                  <a:lnTo>
                    <a:pt x="427" y="240"/>
                  </a:lnTo>
                  <a:close/>
                  <a:moveTo>
                    <a:pt x="214" y="288"/>
                  </a:moveTo>
                  <a:cubicBezTo>
                    <a:pt x="173" y="288"/>
                    <a:pt x="139" y="255"/>
                    <a:pt x="139" y="214"/>
                  </a:cubicBezTo>
                  <a:cubicBezTo>
                    <a:pt x="139" y="173"/>
                    <a:pt x="173" y="139"/>
                    <a:pt x="214" y="139"/>
                  </a:cubicBezTo>
                  <a:cubicBezTo>
                    <a:pt x="255" y="139"/>
                    <a:pt x="288" y="173"/>
                    <a:pt x="288" y="214"/>
                  </a:cubicBezTo>
                  <a:cubicBezTo>
                    <a:pt x="288" y="255"/>
                    <a:pt x="255" y="288"/>
                    <a:pt x="214" y="288"/>
                  </a:cubicBez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cxnSp>
        <p:nvCxnSpPr>
          <p:cNvPr id="31" name="Прямая соединительная линия 30"/>
          <p:cNvCxnSpPr/>
          <p:nvPr>
            <p:custDataLst>
              <p:tags r:id="rId8"/>
            </p:custDataLst>
          </p:nvPr>
        </p:nvCxnSpPr>
        <p:spPr>
          <a:xfrm>
            <a:off x="808993" y="1484784"/>
            <a:ext cx="0" cy="2080709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hartNNS_roundVal"/>
          <p:cNvSpPr/>
          <p:nvPr>
            <p:custDataLst>
              <p:tags r:id="rId9"/>
            </p:custDataLst>
          </p:nvPr>
        </p:nvSpPr>
        <p:spPr>
          <a:xfrm>
            <a:off x="3934838" y="1864701"/>
            <a:ext cx="432048" cy="432012"/>
          </a:xfrm>
          <a:prstGeom prst="ellipse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>
            <p:custDataLst>
              <p:tags r:id="rId10"/>
            </p:custDataLst>
          </p:nvPr>
        </p:nvSpPr>
        <p:spPr>
          <a:xfrm>
            <a:off x="269759" y="4979949"/>
            <a:ext cx="4284000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dirty="0" err="1" smtClean="0">
                <a:solidFill>
                  <a:srgbClr val="545353"/>
                </a:solidFill>
              </a:rPr>
              <a:t>Хантос</a:t>
            </a:r>
            <a:endParaRPr lang="ru-RU" sz="8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28" name="Прямоугольник 27"/>
          <p:cNvSpPr/>
          <p:nvPr>
            <p:custDataLst>
              <p:tags r:id="rId11"/>
            </p:custDataLst>
          </p:nvPr>
        </p:nvSpPr>
        <p:spPr>
          <a:xfrm>
            <a:off x="232150" y="5852483"/>
            <a:ext cx="4284000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dirty="0" smtClean="0">
                <a:solidFill>
                  <a:srgbClr val="545353"/>
                </a:solidFill>
              </a:rPr>
              <a:t>Оренбург</a:t>
            </a:r>
            <a:endParaRPr lang="ru-RU" sz="8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29" name="Прямоугольник 28"/>
          <p:cNvSpPr/>
          <p:nvPr>
            <p:custDataLst>
              <p:tags r:id="rId12"/>
            </p:custDataLst>
          </p:nvPr>
        </p:nvSpPr>
        <p:spPr>
          <a:xfrm>
            <a:off x="272996" y="5448131"/>
            <a:ext cx="4277526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dirty="0" smtClean="0">
                <a:solidFill>
                  <a:srgbClr val="545353"/>
                </a:solidFill>
              </a:rPr>
              <a:t>Восток</a:t>
            </a:r>
            <a:endParaRPr lang="ru-RU" sz="8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30" name="Прямоугольник 29"/>
          <p:cNvSpPr/>
          <p:nvPr>
            <p:custDataLst>
              <p:tags r:id="rId13"/>
            </p:custDataLst>
          </p:nvPr>
        </p:nvSpPr>
        <p:spPr>
          <a:xfrm>
            <a:off x="261964" y="4105262"/>
            <a:ext cx="4277526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Муравленко</a:t>
            </a:r>
            <a:endParaRPr lang="ru-RU" sz="8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2" name="Прямоугольник 31"/>
          <p:cNvSpPr/>
          <p:nvPr>
            <p:custDataLst>
              <p:tags r:id="rId14"/>
            </p:custDataLst>
          </p:nvPr>
        </p:nvSpPr>
        <p:spPr>
          <a:xfrm>
            <a:off x="264948" y="4505065"/>
            <a:ext cx="4277526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Ноябрьск</a:t>
            </a:r>
            <a:endParaRPr lang="ru-RU" sz="8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4" name="Прямоугольник 43"/>
          <p:cNvSpPr/>
          <p:nvPr>
            <p:custDataLst>
              <p:tags r:id="rId15"/>
            </p:custDataLst>
          </p:nvPr>
        </p:nvSpPr>
        <p:spPr>
          <a:xfrm>
            <a:off x="4685562" y="4980079"/>
            <a:ext cx="4170224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dirty="0" err="1" smtClean="0">
                <a:solidFill>
                  <a:srgbClr val="545353"/>
                </a:solidFill>
              </a:rPr>
              <a:t>Хантос</a:t>
            </a:r>
            <a:endParaRPr lang="ru-RU" sz="8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45" name="Прямоугольник 44"/>
          <p:cNvSpPr/>
          <p:nvPr>
            <p:custDataLst>
              <p:tags r:id="rId16"/>
            </p:custDataLst>
          </p:nvPr>
        </p:nvSpPr>
        <p:spPr>
          <a:xfrm>
            <a:off x="4685562" y="5832746"/>
            <a:ext cx="4170223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dirty="0" smtClean="0">
                <a:solidFill>
                  <a:srgbClr val="545353"/>
                </a:solidFill>
              </a:rPr>
              <a:t>Оренбург</a:t>
            </a:r>
            <a:endParaRPr lang="ru-RU" sz="8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46" name="Прямоугольник 45"/>
          <p:cNvSpPr/>
          <p:nvPr>
            <p:custDataLst>
              <p:tags r:id="rId17"/>
            </p:custDataLst>
          </p:nvPr>
        </p:nvSpPr>
        <p:spPr>
          <a:xfrm>
            <a:off x="4685562" y="5448131"/>
            <a:ext cx="4170224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dirty="0" smtClean="0">
                <a:solidFill>
                  <a:srgbClr val="545353"/>
                </a:solidFill>
              </a:rPr>
              <a:t>Восток</a:t>
            </a:r>
            <a:endParaRPr lang="ru-RU" sz="8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47" name="Прямоугольник 46"/>
          <p:cNvSpPr/>
          <p:nvPr>
            <p:custDataLst>
              <p:tags r:id="rId18"/>
            </p:custDataLst>
          </p:nvPr>
        </p:nvSpPr>
        <p:spPr>
          <a:xfrm>
            <a:off x="4674009" y="4112276"/>
            <a:ext cx="4170223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Муравленко</a:t>
            </a:r>
            <a:endParaRPr lang="ru-RU" sz="8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0" name="Прямоугольник 49"/>
          <p:cNvSpPr/>
          <p:nvPr>
            <p:custDataLst>
              <p:tags r:id="rId19"/>
            </p:custDataLst>
          </p:nvPr>
        </p:nvSpPr>
        <p:spPr>
          <a:xfrm>
            <a:off x="4685562" y="4512027"/>
            <a:ext cx="4170224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Ноябрьск</a:t>
            </a:r>
            <a:endParaRPr lang="ru-RU" sz="8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" name="Текст 14"/>
          <p:cNvSpPr txBox="1">
            <a:spLocks/>
          </p:cNvSpPr>
          <p:nvPr>
            <p:custDataLst>
              <p:tags r:id="rId20"/>
            </p:custDataLst>
          </p:nvPr>
        </p:nvSpPr>
        <p:spPr>
          <a:xfrm>
            <a:off x="4595854" y="3788995"/>
            <a:ext cx="426062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ГС, МЛН.Р./СКВ</a:t>
            </a:r>
            <a:r>
              <a:rPr lang="ru-RU" dirty="0" smtClean="0"/>
              <a:t>. </a:t>
            </a:r>
            <a:r>
              <a:rPr lang="ru-RU" dirty="0"/>
              <a:t>п</a:t>
            </a:r>
            <a:r>
              <a:rPr lang="ru-RU" dirty="0" smtClean="0"/>
              <a:t>о ДО</a:t>
            </a:r>
            <a:endParaRPr lang="ru-RU" dirty="0"/>
          </a:p>
        </p:txBody>
      </p:sp>
      <p:sp>
        <p:nvSpPr>
          <p:cNvPr id="52" name="Текст 11"/>
          <p:cNvSpPr txBox="1">
            <a:spLocks/>
          </p:cNvSpPr>
          <p:nvPr>
            <p:custDataLst>
              <p:tags r:id="rId21"/>
            </p:custDataLst>
          </p:nvPr>
        </p:nvSpPr>
        <p:spPr>
          <a:xfrm>
            <a:off x="287524" y="3789060"/>
            <a:ext cx="4248472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ННС, МЛН.Р./СКВ</a:t>
            </a:r>
            <a:r>
              <a:rPr lang="ru-RU" dirty="0" smtClean="0"/>
              <a:t>. </a:t>
            </a:r>
            <a:r>
              <a:rPr lang="ru-RU" dirty="0"/>
              <a:t>п</a:t>
            </a:r>
            <a:r>
              <a:rPr lang="ru-RU" dirty="0" smtClean="0"/>
              <a:t>о ДО</a:t>
            </a:r>
            <a:endParaRPr lang="ru-RU" dirty="0"/>
          </a:p>
        </p:txBody>
      </p:sp>
      <p:sp>
        <p:nvSpPr>
          <p:cNvPr id="53" name="Square2"/>
          <p:cNvSpPr/>
          <p:nvPr>
            <p:custDataLst>
              <p:tags r:id="rId22"/>
            </p:custDataLst>
          </p:nvPr>
        </p:nvSpPr>
        <p:spPr>
          <a:xfrm>
            <a:off x="8021664" y="4043975"/>
            <a:ext cx="294752" cy="2376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sp>
        <p:nvSpPr>
          <p:cNvPr id="54" name="Square1"/>
          <p:cNvSpPr/>
          <p:nvPr>
            <p:custDataLst>
              <p:tags r:id="rId23"/>
            </p:custDataLst>
          </p:nvPr>
        </p:nvSpPr>
        <p:spPr>
          <a:xfrm>
            <a:off x="3635896" y="4043975"/>
            <a:ext cx="324036" cy="2376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cxnSp>
        <p:nvCxnSpPr>
          <p:cNvPr id="55" name="Прямая соединительная линия 54"/>
          <p:cNvCxnSpPr/>
          <p:nvPr>
            <p:custDataLst>
              <p:tags r:id="rId24"/>
            </p:custDataLst>
          </p:nvPr>
        </p:nvCxnSpPr>
        <p:spPr>
          <a:xfrm>
            <a:off x="1115616" y="4155333"/>
            <a:ext cx="0" cy="2212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единительная линия 55"/>
          <p:cNvCxnSpPr/>
          <p:nvPr>
            <p:custDataLst>
              <p:tags r:id="rId25"/>
            </p:custDataLst>
          </p:nvPr>
        </p:nvCxnSpPr>
        <p:spPr>
          <a:xfrm>
            <a:off x="5508104" y="4135375"/>
            <a:ext cx="0" cy="2212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1" name="ГПН-МН_NNS"/>
          <p:cNvGraphicFramePr>
            <a:graphicFrameLocks/>
          </p:cNvGraphicFramePr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2846659623"/>
              </p:ext>
            </p:extLst>
          </p:nvPr>
        </p:nvGraphicFramePr>
        <p:xfrm>
          <a:off x="814483" y="4041067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5"/>
          </a:graphicData>
        </a:graphic>
      </p:graphicFrame>
      <p:graphicFrame>
        <p:nvGraphicFramePr>
          <p:cNvPr id="63" name="ГПН-Оренбург_NNS"/>
          <p:cNvGraphicFramePr>
            <a:graphicFrameLocks/>
          </p:cNvGraphicFramePr>
          <p:nvPr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816763639"/>
              </p:ext>
            </p:extLst>
          </p:nvPr>
        </p:nvGraphicFramePr>
        <p:xfrm>
          <a:off x="721667" y="5893885"/>
          <a:ext cx="3839869" cy="540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6"/>
          </a:graphicData>
        </a:graphic>
      </p:graphicFrame>
      <p:sp>
        <p:nvSpPr>
          <p:cNvPr id="77" name="ChartGS_squareMnth"/>
          <p:cNvSpPr/>
          <p:nvPr>
            <p:custDataLst>
              <p:tags r:id="rId28"/>
            </p:custDataLst>
          </p:nvPr>
        </p:nvSpPr>
        <p:spPr>
          <a:xfrm>
            <a:off x="8020206" y="1340896"/>
            <a:ext cx="321137" cy="2080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graphicFrame>
        <p:nvGraphicFramePr>
          <p:cNvPr id="78" name="ChartGS"/>
          <p:cNvGraphicFramePr>
            <a:graphicFrameLocks/>
          </p:cNvGraphicFramePr>
          <p:nvPr>
            <p:custDataLst>
              <p:tags r:id="rId29"/>
            </p:custDataLst>
            <p:extLst>
              <p:ext uri="{D42A27DB-BD31-4B8C-83A1-F6EECF244321}">
                <p14:modId xmlns:p14="http://schemas.microsoft.com/office/powerpoint/2010/main" val="4096082312"/>
              </p:ext>
            </p:extLst>
          </p:nvPr>
        </p:nvGraphicFramePr>
        <p:xfrm>
          <a:off x="4607313" y="1317221"/>
          <a:ext cx="4248472" cy="2380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sp>
        <p:nvSpPr>
          <p:cNvPr id="79" name="ChartGS_roundVal"/>
          <p:cNvSpPr/>
          <p:nvPr>
            <p:custDataLst>
              <p:tags r:id="rId30"/>
            </p:custDataLst>
          </p:nvPr>
        </p:nvSpPr>
        <p:spPr>
          <a:xfrm>
            <a:off x="8396490" y="1861925"/>
            <a:ext cx="432048" cy="432012"/>
          </a:xfrm>
          <a:prstGeom prst="ellipse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85" name="GroupChartNNS"/>
          <p:cNvGrpSpPr/>
          <p:nvPr>
            <p:custDataLst>
              <p:tags r:id="rId31"/>
            </p:custDataLst>
          </p:nvPr>
        </p:nvGrpSpPr>
        <p:grpSpPr>
          <a:xfrm>
            <a:off x="603431" y="1367666"/>
            <a:ext cx="3693600" cy="457200"/>
            <a:chOff x="-8523323" y="-2003398"/>
            <a:chExt cx="728663" cy="1262529"/>
          </a:xfrm>
        </p:grpSpPr>
        <p:cxnSp>
          <p:nvCxnSpPr>
            <p:cNvPr id="86" name="Прямая соединительная линия 85"/>
            <p:cNvCxnSpPr/>
            <p:nvPr/>
          </p:nvCxnSpPr>
          <p:spPr bwMode="auto">
            <a:xfrm flipH="1">
              <a:off x="-7794660" y="-1689435"/>
              <a:ext cx="0" cy="948566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Прямая соединительная линия 86"/>
            <p:cNvCxnSpPr/>
            <p:nvPr/>
          </p:nvCxnSpPr>
          <p:spPr bwMode="auto">
            <a:xfrm>
              <a:off x="-8523323" y="-1689435"/>
              <a:ext cx="728663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Прямая соединительная линия 87"/>
            <p:cNvCxnSpPr/>
            <p:nvPr/>
          </p:nvCxnSpPr>
          <p:spPr bwMode="auto">
            <a:xfrm flipV="1">
              <a:off x="-8523323" y="-1689432"/>
              <a:ext cx="0" cy="948563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ChartNNS_percent"/>
            <p:cNvSpPr/>
            <p:nvPr/>
          </p:nvSpPr>
          <p:spPr bwMode="auto">
            <a:xfrm>
              <a:off x="-8206829" y="-2003398"/>
              <a:ext cx="85276" cy="6279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000" b="1" dirty="0" smtClean="0">
                  <a:solidFill>
                    <a:srgbClr val="00B050"/>
                  </a:solidFill>
                  <a:sym typeface="+mn-lt"/>
                </a:rPr>
                <a:t>perc</a:t>
              </a:r>
              <a:endParaRPr lang="ru-RU" sz="1000" b="1" dirty="0" smtClean="0">
                <a:solidFill>
                  <a:srgbClr val="00B050"/>
                </a:solidFill>
                <a:sym typeface="+mn-lt"/>
              </a:endParaRPr>
            </a:p>
          </p:txBody>
        </p:sp>
      </p:grpSp>
      <p:grpSp>
        <p:nvGrpSpPr>
          <p:cNvPr id="90" name="GroupChartGS"/>
          <p:cNvGrpSpPr/>
          <p:nvPr>
            <p:custDataLst>
              <p:tags r:id="rId32"/>
            </p:custDataLst>
          </p:nvPr>
        </p:nvGrpSpPr>
        <p:grpSpPr>
          <a:xfrm>
            <a:off x="4968044" y="1354742"/>
            <a:ext cx="3693600" cy="457200"/>
            <a:chOff x="-8523323" y="-2003398"/>
            <a:chExt cx="728663" cy="1262529"/>
          </a:xfrm>
        </p:grpSpPr>
        <p:cxnSp>
          <p:nvCxnSpPr>
            <p:cNvPr id="91" name="Прямая соединительная линия 90"/>
            <p:cNvCxnSpPr/>
            <p:nvPr/>
          </p:nvCxnSpPr>
          <p:spPr bwMode="auto">
            <a:xfrm flipH="1">
              <a:off x="-7794660" y="-1689435"/>
              <a:ext cx="0" cy="948566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Прямая соединительная линия 91"/>
            <p:cNvCxnSpPr/>
            <p:nvPr/>
          </p:nvCxnSpPr>
          <p:spPr bwMode="auto">
            <a:xfrm>
              <a:off x="-8523323" y="-1689435"/>
              <a:ext cx="728663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Прямая соединительная линия 92"/>
            <p:cNvCxnSpPr/>
            <p:nvPr/>
          </p:nvCxnSpPr>
          <p:spPr bwMode="auto">
            <a:xfrm flipV="1">
              <a:off x="-8523323" y="-1689432"/>
              <a:ext cx="0" cy="948563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ChartGS_percent"/>
            <p:cNvSpPr/>
            <p:nvPr/>
          </p:nvSpPr>
          <p:spPr bwMode="auto">
            <a:xfrm>
              <a:off x="-8206829" y="-2003398"/>
              <a:ext cx="85276" cy="6279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000" b="1" dirty="0" smtClean="0">
                  <a:solidFill>
                    <a:srgbClr val="00B050"/>
                  </a:solidFill>
                  <a:sym typeface="+mn-lt"/>
                </a:rPr>
                <a:t>perc</a:t>
              </a:r>
              <a:endParaRPr lang="ru-RU" sz="1000" b="1" dirty="0" smtClean="0">
                <a:solidFill>
                  <a:srgbClr val="00B050"/>
                </a:solidFill>
                <a:sym typeface="+mn-lt"/>
              </a:endParaRPr>
            </a:p>
          </p:txBody>
        </p:sp>
      </p:grpSp>
      <p:cxnSp>
        <p:nvCxnSpPr>
          <p:cNvPr id="95" name="Прямая соединительная линия 94"/>
          <p:cNvCxnSpPr/>
          <p:nvPr>
            <p:custDataLst>
              <p:tags r:id="rId33"/>
            </p:custDataLst>
          </p:nvPr>
        </p:nvCxnSpPr>
        <p:spPr>
          <a:xfrm>
            <a:off x="5148064" y="1484784"/>
            <a:ext cx="0" cy="2080709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ГПН-ННГ_NNS"/>
          <p:cNvGraphicFramePr>
            <a:graphicFrameLocks/>
          </p:cNvGraphicFramePr>
          <p:nvPr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3909161297"/>
              </p:ext>
            </p:extLst>
          </p:nvPr>
        </p:nvGraphicFramePr>
        <p:xfrm>
          <a:off x="844600" y="4482117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graphicFrame>
        <p:nvGraphicFramePr>
          <p:cNvPr id="68" name="ГПН-Хантос_NNS"/>
          <p:cNvGraphicFramePr>
            <a:graphicFrameLocks/>
          </p:cNvGraphicFramePr>
          <p:nvPr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405030334"/>
              </p:ext>
            </p:extLst>
          </p:nvPr>
        </p:nvGraphicFramePr>
        <p:xfrm>
          <a:off x="844600" y="4944010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9"/>
          </a:graphicData>
        </a:graphic>
      </p:graphicFrame>
      <p:graphicFrame>
        <p:nvGraphicFramePr>
          <p:cNvPr id="69" name="ГПН-Восток_NNS"/>
          <p:cNvGraphicFramePr>
            <a:graphicFrameLocks/>
          </p:cNvGraphicFramePr>
          <p:nvPr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3967011472"/>
              </p:ext>
            </p:extLst>
          </p:nvPr>
        </p:nvGraphicFramePr>
        <p:xfrm>
          <a:off x="844600" y="5350710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graphicFrame>
        <p:nvGraphicFramePr>
          <p:cNvPr id="70" name="ГПН-МН_GS"/>
          <p:cNvGraphicFramePr>
            <a:graphicFrameLocks/>
          </p:cNvGraphicFramePr>
          <p:nvPr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746412913"/>
              </p:ext>
            </p:extLst>
          </p:nvPr>
        </p:nvGraphicFramePr>
        <p:xfrm>
          <a:off x="5244022" y="4050134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1"/>
          </a:graphicData>
        </a:graphic>
      </p:graphicFrame>
      <p:graphicFrame>
        <p:nvGraphicFramePr>
          <p:cNvPr id="71" name="ГПН-Оренбург_GS"/>
          <p:cNvGraphicFramePr>
            <a:graphicFrameLocks/>
          </p:cNvGraphicFramePr>
          <p:nvPr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3648202820"/>
              </p:ext>
            </p:extLst>
          </p:nvPr>
        </p:nvGraphicFramePr>
        <p:xfrm>
          <a:off x="5139942" y="5916183"/>
          <a:ext cx="3839869" cy="540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2"/>
          </a:graphicData>
        </a:graphic>
      </p:graphicFrame>
      <p:graphicFrame>
        <p:nvGraphicFramePr>
          <p:cNvPr id="72" name="ГПН-ННГ_GS"/>
          <p:cNvGraphicFramePr>
            <a:graphicFrameLocks/>
          </p:cNvGraphicFramePr>
          <p:nvPr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459664825"/>
              </p:ext>
            </p:extLst>
          </p:nvPr>
        </p:nvGraphicFramePr>
        <p:xfrm>
          <a:off x="5274139" y="4491184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3"/>
          </a:graphicData>
        </a:graphic>
      </p:graphicFrame>
      <p:graphicFrame>
        <p:nvGraphicFramePr>
          <p:cNvPr id="73" name="ГПН-Хантос_GS"/>
          <p:cNvGraphicFramePr>
            <a:graphicFrameLocks/>
          </p:cNvGraphicFramePr>
          <p:nvPr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2201154613"/>
              </p:ext>
            </p:extLst>
          </p:nvPr>
        </p:nvGraphicFramePr>
        <p:xfrm>
          <a:off x="5274139" y="4953077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4"/>
          </a:graphicData>
        </a:graphic>
      </p:graphicFrame>
      <p:graphicFrame>
        <p:nvGraphicFramePr>
          <p:cNvPr id="74" name="ГПН-Восток_GS"/>
          <p:cNvGraphicFramePr>
            <a:graphicFrameLocks/>
          </p:cNvGraphicFramePr>
          <p:nvPr>
            <p:custDataLst>
              <p:tags r:id="rId41"/>
            </p:custDataLst>
            <p:extLst>
              <p:ext uri="{D42A27DB-BD31-4B8C-83A1-F6EECF244321}">
                <p14:modId xmlns:p14="http://schemas.microsoft.com/office/powerpoint/2010/main" val="1986639157"/>
              </p:ext>
            </p:extLst>
          </p:nvPr>
        </p:nvGraphicFramePr>
        <p:xfrm>
          <a:off x="5274139" y="5359777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5"/>
          </a:graphicData>
        </a:graphic>
      </p:graphicFrame>
    </p:spTree>
    <p:extLst>
      <p:ext uri="{BB962C8B-B14F-4D97-AF65-F5344CB8AC3E}">
        <p14:creationId xmlns:p14="http://schemas.microsoft.com/office/powerpoint/2010/main" val="1057113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11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4595854" y="1124744"/>
            <a:ext cx="4260621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БГС, </a:t>
            </a:r>
            <a:r>
              <a:rPr lang="ru-RU" dirty="0" err="1"/>
              <a:t>млн.р</a:t>
            </a:r>
            <a:r>
              <a:rPr lang="ru-RU" dirty="0"/>
              <a:t>./</a:t>
            </a:r>
            <a:r>
              <a:rPr lang="ru-RU" dirty="0" err="1"/>
              <a:t>скв</a:t>
            </a:r>
            <a:r>
              <a:rPr lang="ru-RU" dirty="0"/>
              <a:t>. в целом по Дирекции добычи </a:t>
            </a:r>
          </a:p>
        </p:txBody>
      </p:sp>
      <p:sp>
        <p:nvSpPr>
          <p:cNvPr id="7" name="Текст 11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87523" y="1124744"/>
            <a:ext cx="4248473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БННС, </a:t>
            </a:r>
            <a:r>
              <a:rPr lang="ru-RU" dirty="0" err="1"/>
              <a:t>млн.р</a:t>
            </a:r>
            <a:r>
              <a:rPr lang="ru-RU" dirty="0"/>
              <a:t>./</a:t>
            </a:r>
            <a:r>
              <a:rPr lang="ru-RU" dirty="0" err="1"/>
              <a:t>скв</a:t>
            </a:r>
            <a:r>
              <a:rPr lang="ru-RU" dirty="0"/>
              <a:t>. в целом по Дирекции добычи </a:t>
            </a:r>
          </a:p>
        </p:txBody>
      </p:sp>
      <p:sp>
        <p:nvSpPr>
          <p:cNvPr id="13" name="Заголовок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295276" y="304603"/>
            <a:ext cx="7669212" cy="607021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ru-RU" sz="2000" b="1" dirty="0">
                <a:solidFill>
                  <a:srgbClr val="545353"/>
                </a:solidFill>
                <a:latin typeface="Arial" charset="0"/>
              </a:rPr>
              <a:t>Дирекция по добыче</a:t>
            </a:r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Зарезка Боковых Стволов</a:t>
            </a:r>
            <a:r>
              <a:rPr lang="en-US" sz="1200" b="1" dirty="0" smtClean="0">
                <a:solidFill>
                  <a:srgbClr val="545353"/>
                </a:solidFill>
                <a:latin typeface="Arial" charset="0"/>
              </a:rPr>
              <a:t/>
            </a:r>
            <a:br>
              <a:rPr lang="en-US" sz="12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Динамика </a:t>
            </a: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удельной </a:t>
            </a: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стоимости </a:t>
            </a: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скважин (без учета </a:t>
            </a: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скважин </a:t>
            </a: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с непринятыми затратами по бурению, телеметрии, растворам и пр.)</a:t>
            </a:r>
          </a:p>
        </p:txBody>
      </p:sp>
      <p:grpSp>
        <p:nvGrpSpPr>
          <p:cNvPr id="14" name="Группа 13"/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303854" y="260648"/>
            <a:ext cx="803835" cy="890037"/>
            <a:chOff x="7051636" y="2029408"/>
            <a:chExt cx="561975" cy="571500"/>
          </a:xfrm>
        </p:grpSpPr>
        <p:grpSp>
          <p:nvGrpSpPr>
            <p:cNvPr id="15" name="Группа 14"/>
            <p:cNvGrpSpPr/>
            <p:nvPr/>
          </p:nvGrpSpPr>
          <p:grpSpPr>
            <a:xfrm>
              <a:off x="7051636" y="2029408"/>
              <a:ext cx="561975" cy="571500"/>
              <a:chOff x="7051636" y="2029408"/>
              <a:chExt cx="561975" cy="571500"/>
            </a:xfrm>
            <a:solidFill>
              <a:schemeClr val="accent2"/>
            </a:solidFill>
          </p:grpSpPr>
          <p:sp>
            <p:nvSpPr>
              <p:cNvPr id="17" name="Freeform 146"/>
              <p:cNvSpPr>
                <a:spLocks/>
              </p:cNvSpPr>
              <p:nvPr/>
            </p:nvSpPr>
            <p:spPr bwMode="auto">
              <a:xfrm>
                <a:off x="7051636" y="2248483"/>
                <a:ext cx="561975" cy="352425"/>
              </a:xfrm>
              <a:custGeom>
                <a:avLst/>
                <a:gdLst>
                  <a:gd name="T0" fmla="*/ 1522 w 1556"/>
                  <a:gd name="T1" fmla="*/ 444 h 977"/>
                  <a:gd name="T2" fmla="*/ 33 w 1556"/>
                  <a:gd name="T3" fmla="*/ 444 h 977"/>
                  <a:gd name="T4" fmla="*/ 0 w 1556"/>
                  <a:gd name="T5" fmla="*/ 478 h 977"/>
                  <a:gd name="T6" fmla="*/ 0 w 1556"/>
                  <a:gd name="T7" fmla="*/ 524 h 977"/>
                  <a:gd name="T8" fmla="*/ 33 w 1556"/>
                  <a:gd name="T9" fmla="*/ 558 h 977"/>
                  <a:gd name="T10" fmla="*/ 1522 w 1556"/>
                  <a:gd name="T11" fmla="*/ 558 h 977"/>
                  <a:gd name="T12" fmla="*/ 1556 w 1556"/>
                  <a:gd name="T13" fmla="*/ 524 h 977"/>
                  <a:gd name="T14" fmla="*/ 1556 w 1556"/>
                  <a:gd name="T15" fmla="*/ 478 h 977"/>
                  <a:gd name="T16" fmla="*/ 1522 w 1556"/>
                  <a:gd name="T17" fmla="*/ 44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6" h="977">
                    <a:moveTo>
                      <a:pt x="1522" y="444"/>
                    </a:moveTo>
                    <a:cubicBezTo>
                      <a:pt x="1031" y="444"/>
                      <a:pt x="391" y="444"/>
                      <a:pt x="33" y="444"/>
                    </a:cubicBezTo>
                    <a:cubicBezTo>
                      <a:pt x="15" y="444"/>
                      <a:pt x="0" y="459"/>
                      <a:pt x="0" y="478"/>
                    </a:cubicBezTo>
                    <a:cubicBezTo>
                      <a:pt x="0" y="977"/>
                      <a:pt x="0" y="0"/>
                      <a:pt x="0" y="524"/>
                    </a:cubicBezTo>
                    <a:cubicBezTo>
                      <a:pt x="0" y="543"/>
                      <a:pt x="15" y="558"/>
                      <a:pt x="33" y="558"/>
                    </a:cubicBezTo>
                    <a:cubicBezTo>
                      <a:pt x="560" y="558"/>
                      <a:pt x="1075" y="558"/>
                      <a:pt x="1522" y="558"/>
                    </a:cubicBezTo>
                    <a:cubicBezTo>
                      <a:pt x="1541" y="558"/>
                      <a:pt x="1556" y="543"/>
                      <a:pt x="1556" y="524"/>
                    </a:cubicBezTo>
                    <a:lnTo>
                      <a:pt x="1556" y="478"/>
                    </a:lnTo>
                    <a:cubicBezTo>
                      <a:pt x="1556" y="459"/>
                      <a:pt x="1541" y="444"/>
                      <a:pt x="1522" y="4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8" name="Oval 147"/>
              <p:cNvSpPr>
                <a:spLocks noChangeArrowheads="1"/>
              </p:cNvSpPr>
              <p:nvPr/>
            </p:nvSpPr>
            <p:spPr bwMode="auto">
              <a:xfrm>
                <a:off x="7167523" y="2029408"/>
                <a:ext cx="277813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19" name="Freeform 148"/>
              <p:cNvSpPr>
                <a:spLocks/>
              </p:cNvSpPr>
              <p:nvPr/>
            </p:nvSpPr>
            <p:spPr bwMode="auto">
              <a:xfrm>
                <a:off x="7167523" y="2237370"/>
                <a:ext cx="169863" cy="109538"/>
              </a:xfrm>
              <a:custGeom>
                <a:avLst/>
                <a:gdLst>
                  <a:gd name="T0" fmla="*/ 473 w 473"/>
                  <a:gd name="T1" fmla="*/ 226 h 302"/>
                  <a:gd name="T2" fmla="*/ 421 w 473"/>
                  <a:gd name="T3" fmla="*/ 170 h 302"/>
                  <a:gd name="T4" fmla="*/ 384 w 473"/>
                  <a:gd name="T5" fmla="*/ 171 h 302"/>
                  <a:gd name="T6" fmla="*/ 0 w 473"/>
                  <a:gd name="T7" fmla="*/ 0 h 302"/>
                  <a:gd name="T8" fmla="*/ 0 w 473"/>
                  <a:gd name="T9" fmla="*/ 131 h 302"/>
                  <a:gd name="T10" fmla="*/ 384 w 473"/>
                  <a:gd name="T11" fmla="*/ 302 h 302"/>
                  <a:gd name="T12" fmla="*/ 473 w 473"/>
                  <a:gd name="T13" fmla="*/ 297 h 302"/>
                  <a:gd name="T14" fmla="*/ 473 w 473"/>
                  <a:gd name="T15" fmla="*/ 226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3" h="302">
                    <a:moveTo>
                      <a:pt x="473" y="226"/>
                    </a:moveTo>
                    <a:cubicBezTo>
                      <a:pt x="446" y="219"/>
                      <a:pt x="426" y="197"/>
                      <a:pt x="421" y="170"/>
                    </a:cubicBezTo>
                    <a:cubicBezTo>
                      <a:pt x="409" y="171"/>
                      <a:pt x="3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ubicBezTo>
                      <a:pt x="415" y="302"/>
                      <a:pt x="444" y="300"/>
                      <a:pt x="473" y="297"/>
                    </a:cubicBezTo>
                    <a:cubicBezTo>
                      <a:pt x="461" y="275"/>
                      <a:pt x="460" y="248"/>
                      <a:pt x="473" y="2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0" name="Freeform 149"/>
              <p:cNvSpPr>
                <a:spLocks/>
              </p:cNvSpPr>
              <p:nvPr/>
            </p:nvSpPr>
            <p:spPr bwMode="auto">
              <a:xfrm>
                <a:off x="7167523" y="2172283"/>
                <a:ext cx="171450" cy="109538"/>
              </a:xfrm>
              <a:custGeom>
                <a:avLst/>
                <a:gdLst>
                  <a:gd name="T0" fmla="*/ 384 w 474"/>
                  <a:gd name="T1" fmla="*/ 302 h 302"/>
                  <a:gd name="T2" fmla="*/ 420 w 474"/>
                  <a:gd name="T3" fmla="*/ 301 h 302"/>
                  <a:gd name="T4" fmla="*/ 420 w 474"/>
                  <a:gd name="T5" fmla="*/ 281 h 302"/>
                  <a:gd name="T6" fmla="*/ 474 w 474"/>
                  <a:gd name="T7" fmla="*/ 213 h 302"/>
                  <a:gd name="T8" fmla="*/ 464 w 474"/>
                  <a:gd name="T9" fmla="*/ 167 h 302"/>
                  <a:gd name="T10" fmla="*/ 384 w 474"/>
                  <a:gd name="T11" fmla="*/ 171 h 302"/>
                  <a:gd name="T12" fmla="*/ 0 w 474"/>
                  <a:gd name="T13" fmla="*/ 0 h 302"/>
                  <a:gd name="T14" fmla="*/ 0 w 474"/>
                  <a:gd name="T15" fmla="*/ 131 h 302"/>
                  <a:gd name="T16" fmla="*/ 384 w 474"/>
                  <a:gd name="T1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4" h="302">
                    <a:moveTo>
                      <a:pt x="384" y="302"/>
                    </a:moveTo>
                    <a:cubicBezTo>
                      <a:pt x="396" y="302"/>
                      <a:pt x="408" y="302"/>
                      <a:pt x="420" y="301"/>
                    </a:cubicBezTo>
                    <a:lnTo>
                      <a:pt x="420" y="281"/>
                    </a:lnTo>
                    <a:cubicBezTo>
                      <a:pt x="420" y="249"/>
                      <a:pt x="442" y="220"/>
                      <a:pt x="474" y="213"/>
                    </a:cubicBezTo>
                    <a:cubicBezTo>
                      <a:pt x="465" y="199"/>
                      <a:pt x="463" y="183"/>
                      <a:pt x="464" y="167"/>
                    </a:cubicBezTo>
                    <a:cubicBezTo>
                      <a:pt x="439" y="170"/>
                      <a:pt x="412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1" name="Freeform 150"/>
              <p:cNvSpPr>
                <a:spLocks/>
              </p:cNvSpPr>
              <p:nvPr/>
            </p:nvSpPr>
            <p:spPr bwMode="auto">
              <a:xfrm>
                <a:off x="7167523" y="2108783"/>
                <a:ext cx="277813" cy="109538"/>
              </a:xfrm>
              <a:custGeom>
                <a:avLst/>
                <a:gdLst>
                  <a:gd name="T0" fmla="*/ 384 w 769"/>
                  <a:gd name="T1" fmla="*/ 302 h 302"/>
                  <a:gd name="T2" fmla="*/ 494 w 769"/>
                  <a:gd name="T3" fmla="*/ 295 h 302"/>
                  <a:gd name="T4" fmla="*/ 522 w 769"/>
                  <a:gd name="T5" fmla="*/ 266 h 302"/>
                  <a:gd name="T6" fmla="*/ 573 w 769"/>
                  <a:gd name="T7" fmla="*/ 245 h 302"/>
                  <a:gd name="T8" fmla="*/ 609 w 769"/>
                  <a:gd name="T9" fmla="*/ 255 h 302"/>
                  <a:gd name="T10" fmla="*/ 677 w 769"/>
                  <a:gd name="T11" fmla="*/ 202 h 302"/>
                  <a:gd name="T12" fmla="*/ 731 w 769"/>
                  <a:gd name="T13" fmla="*/ 202 h 302"/>
                  <a:gd name="T14" fmla="*/ 734 w 769"/>
                  <a:gd name="T15" fmla="*/ 202 h 302"/>
                  <a:gd name="T16" fmla="*/ 769 w 769"/>
                  <a:gd name="T17" fmla="*/ 131 h 302"/>
                  <a:gd name="T18" fmla="*/ 769 w 769"/>
                  <a:gd name="T19" fmla="*/ 0 h 302"/>
                  <a:gd name="T20" fmla="*/ 384 w 769"/>
                  <a:gd name="T21" fmla="*/ 171 h 302"/>
                  <a:gd name="T22" fmla="*/ 0 w 769"/>
                  <a:gd name="T23" fmla="*/ 0 h 302"/>
                  <a:gd name="T24" fmla="*/ 0 w 769"/>
                  <a:gd name="T25" fmla="*/ 131 h 302"/>
                  <a:gd name="T26" fmla="*/ 384 w 769"/>
                  <a:gd name="T2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9" h="302">
                    <a:moveTo>
                      <a:pt x="384" y="302"/>
                    </a:moveTo>
                    <a:cubicBezTo>
                      <a:pt x="422" y="302"/>
                      <a:pt x="459" y="299"/>
                      <a:pt x="494" y="295"/>
                    </a:cubicBezTo>
                    <a:lnTo>
                      <a:pt x="522" y="266"/>
                    </a:lnTo>
                    <a:cubicBezTo>
                      <a:pt x="536" y="252"/>
                      <a:pt x="554" y="245"/>
                      <a:pt x="573" y="245"/>
                    </a:cubicBezTo>
                    <a:cubicBezTo>
                      <a:pt x="585" y="245"/>
                      <a:pt x="598" y="249"/>
                      <a:pt x="609" y="255"/>
                    </a:cubicBezTo>
                    <a:cubicBezTo>
                      <a:pt x="617" y="224"/>
                      <a:pt x="645" y="202"/>
                      <a:pt x="677" y="202"/>
                    </a:cubicBezTo>
                    <a:lnTo>
                      <a:pt x="731" y="202"/>
                    </a:lnTo>
                    <a:cubicBezTo>
                      <a:pt x="732" y="202"/>
                      <a:pt x="733" y="202"/>
                      <a:pt x="734" y="202"/>
                    </a:cubicBezTo>
                    <a:cubicBezTo>
                      <a:pt x="756" y="180"/>
                      <a:pt x="769" y="156"/>
                      <a:pt x="769" y="131"/>
                    </a:cubicBezTo>
                    <a:lnTo>
                      <a:pt x="769" y="0"/>
                    </a:lnTo>
                    <a:cubicBezTo>
                      <a:pt x="769" y="94"/>
                      <a:pt x="5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sp>
          <p:nvSpPr>
            <p:cNvPr id="16" name="Freeform 151"/>
            <p:cNvSpPr>
              <a:spLocks noEditPoints="1"/>
            </p:cNvSpPr>
            <p:nvPr/>
          </p:nvSpPr>
          <p:spPr bwMode="auto">
            <a:xfrm>
              <a:off x="7343736" y="2207208"/>
              <a:ext cx="153988" cy="153988"/>
            </a:xfrm>
            <a:custGeom>
              <a:avLst/>
              <a:gdLst>
                <a:gd name="T0" fmla="*/ 427 w 427"/>
                <a:gd name="T1" fmla="*/ 240 h 427"/>
                <a:gd name="T2" fmla="*/ 427 w 427"/>
                <a:gd name="T3" fmla="*/ 186 h 427"/>
                <a:gd name="T4" fmla="*/ 363 w 427"/>
                <a:gd name="T5" fmla="*/ 176 h 427"/>
                <a:gd name="T6" fmla="*/ 346 w 427"/>
                <a:gd name="T7" fmla="*/ 134 h 427"/>
                <a:gd name="T8" fmla="*/ 383 w 427"/>
                <a:gd name="T9" fmla="*/ 81 h 427"/>
                <a:gd name="T10" fmla="*/ 345 w 427"/>
                <a:gd name="T11" fmla="*/ 44 h 427"/>
                <a:gd name="T12" fmla="*/ 293 w 427"/>
                <a:gd name="T13" fmla="*/ 81 h 427"/>
                <a:gd name="T14" fmla="*/ 251 w 427"/>
                <a:gd name="T15" fmla="*/ 63 h 427"/>
                <a:gd name="T16" fmla="*/ 240 w 427"/>
                <a:gd name="T17" fmla="*/ 0 h 427"/>
                <a:gd name="T18" fmla="*/ 186 w 427"/>
                <a:gd name="T19" fmla="*/ 0 h 427"/>
                <a:gd name="T20" fmla="*/ 176 w 427"/>
                <a:gd name="T21" fmla="*/ 63 h 427"/>
                <a:gd name="T22" fmla="*/ 134 w 427"/>
                <a:gd name="T23" fmla="*/ 81 h 427"/>
                <a:gd name="T24" fmla="*/ 82 w 427"/>
                <a:gd name="T25" fmla="*/ 44 h 427"/>
                <a:gd name="T26" fmla="*/ 44 w 427"/>
                <a:gd name="T27" fmla="*/ 81 h 427"/>
                <a:gd name="T28" fmla="*/ 80 w 427"/>
                <a:gd name="T29" fmla="*/ 133 h 427"/>
                <a:gd name="T30" fmla="*/ 63 w 427"/>
                <a:gd name="T31" fmla="*/ 176 h 427"/>
                <a:gd name="T32" fmla="*/ 0 w 427"/>
                <a:gd name="T33" fmla="*/ 186 h 427"/>
                <a:gd name="T34" fmla="*/ 0 w 427"/>
                <a:gd name="T35" fmla="*/ 240 h 427"/>
                <a:gd name="T36" fmla="*/ 63 w 427"/>
                <a:gd name="T37" fmla="*/ 251 h 427"/>
                <a:gd name="T38" fmla="*/ 80 w 427"/>
                <a:gd name="T39" fmla="*/ 294 h 427"/>
                <a:gd name="T40" fmla="*/ 43 w 427"/>
                <a:gd name="T41" fmla="*/ 345 h 427"/>
                <a:gd name="T42" fmla="*/ 81 w 427"/>
                <a:gd name="T43" fmla="*/ 383 h 427"/>
                <a:gd name="T44" fmla="*/ 133 w 427"/>
                <a:gd name="T45" fmla="*/ 346 h 427"/>
                <a:gd name="T46" fmla="*/ 176 w 427"/>
                <a:gd name="T47" fmla="*/ 364 h 427"/>
                <a:gd name="T48" fmla="*/ 186 w 427"/>
                <a:gd name="T49" fmla="*/ 427 h 427"/>
                <a:gd name="T50" fmla="*/ 240 w 427"/>
                <a:gd name="T51" fmla="*/ 427 h 427"/>
                <a:gd name="T52" fmla="*/ 251 w 427"/>
                <a:gd name="T53" fmla="*/ 364 h 427"/>
                <a:gd name="T54" fmla="*/ 293 w 427"/>
                <a:gd name="T55" fmla="*/ 346 h 427"/>
                <a:gd name="T56" fmla="*/ 346 w 427"/>
                <a:gd name="T57" fmla="*/ 383 h 427"/>
                <a:gd name="T58" fmla="*/ 384 w 427"/>
                <a:gd name="T59" fmla="*/ 345 h 427"/>
                <a:gd name="T60" fmla="*/ 346 w 427"/>
                <a:gd name="T61" fmla="*/ 293 h 427"/>
                <a:gd name="T62" fmla="*/ 363 w 427"/>
                <a:gd name="T63" fmla="*/ 251 h 427"/>
                <a:gd name="T64" fmla="*/ 427 w 427"/>
                <a:gd name="T65" fmla="*/ 240 h 427"/>
                <a:gd name="T66" fmla="*/ 214 w 427"/>
                <a:gd name="T67" fmla="*/ 288 h 427"/>
                <a:gd name="T68" fmla="*/ 139 w 427"/>
                <a:gd name="T69" fmla="*/ 214 h 427"/>
                <a:gd name="T70" fmla="*/ 214 w 427"/>
                <a:gd name="T71" fmla="*/ 139 h 427"/>
                <a:gd name="T72" fmla="*/ 288 w 427"/>
                <a:gd name="T73" fmla="*/ 214 h 427"/>
                <a:gd name="T74" fmla="*/ 214 w 427"/>
                <a:gd name="T75" fmla="*/ 28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7" h="427">
                  <a:moveTo>
                    <a:pt x="427" y="240"/>
                  </a:moveTo>
                  <a:lnTo>
                    <a:pt x="427" y="186"/>
                  </a:lnTo>
                  <a:lnTo>
                    <a:pt x="363" y="176"/>
                  </a:lnTo>
                  <a:cubicBezTo>
                    <a:pt x="360" y="161"/>
                    <a:pt x="354" y="147"/>
                    <a:pt x="346" y="134"/>
                  </a:cubicBezTo>
                  <a:lnTo>
                    <a:pt x="383" y="81"/>
                  </a:lnTo>
                  <a:lnTo>
                    <a:pt x="345" y="44"/>
                  </a:lnTo>
                  <a:lnTo>
                    <a:pt x="293" y="81"/>
                  </a:lnTo>
                  <a:cubicBezTo>
                    <a:pt x="280" y="73"/>
                    <a:pt x="266" y="67"/>
                    <a:pt x="251" y="63"/>
                  </a:cubicBezTo>
                  <a:lnTo>
                    <a:pt x="240" y="0"/>
                  </a:lnTo>
                  <a:lnTo>
                    <a:pt x="186" y="0"/>
                  </a:lnTo>
                  <a:lnTo>
                    <a:pt x="176" y="63"/>
                  </a:lnTo>
                  <a:cubicBezTo>
                    <a:pt x="161" y="67"/>
                    <a:pt x="147" y="73"/>
                    <a:pt x="134" y="81"/>
                  </a:cubicBezTo>
                  <a:lnTo>
                    <a:pt x="82" y="44"/>
                  </a:lnTo>
                  <a:lnTo>
                    <a:pt x="44" y="81"/>
                  </a:lnTo>
                  <a:lnTo>
                    <a:pt x="80" y="133"/>
                  </a:lnTo>
                  <a:cubicBezTo>
                    <a:pt x="73" y="147"/>
                    <a:pt x="67" y="161"/>
                    <a:pt x="63" y="176"/>
                  </a:cubicBezTo>
                  <a:lnTo>
                    <a:pt x="0" y="186"/>
                  </a:lnTo>
                  <a:lnTo>
                    <a:pt x="0" y="240"/>
                  </a:lnTo>
                  <a:lnTo>
                    <a:pt x="63" y="251"/>
                  </a:lnTo>
                  <a:cubicBezTo>
                    <a:pt x="67" y="266"/>
                    <a:pt x="72" y="280"/>
                    <a:pt x="80" y="294"/>
                  </a:cubicBezTo>
                  <a:lnTo>
                    <a:pt x="43" y="345"/>
                  </a:lnTo>
                  <a:lnTo>
                    <a:pt x="81" y="383"/>
                  </a:lnTo>
                  <a:lnTo>
                    <a:pt x="133" y="346"/>
                  </a:lnTo>
                  <a:cubicBezTo>
                    <a:pt x="147" y="354"/>
                    <a:pt x="161" y="360"/>
                    <a:pt x="176" y="364"/>
                  </a:cubicBezTo>
                  <a:lnTo>
                    <a:pt x="186" y="427"/>
                  </a:lnTo>
                  <a:lnTo>
                    <a:pt x="240" y="427"/>
                  </a:lnTo>
                  <a:lnTo>
                    <a:pt x="251" y="364"/>
                  </a:lnTo>
                  <a:cubicBezTo>
                    <a:pt x="266" y="360"/>
                    <a:pt x="280" y="354"/>
                    <a:pt x="293" y="346"/>
                  </a:cubicBezTo>
                  <a:lnTo>
                    <a:pt x="346" y="383"/>
                  </a:lnTo>
                  <a:lnTo>
                    <a:pt x="384" y="345"/>
                  </a:lnTo>
                  <a:lnTo>
                    <a:pt x="346" y="293"/>
                  </a:lnTo>
                  <a:cubicBezTo>
                    <a:pt x="354" y="280"/>
                    <a:pt x="360" y="266"/>
                    <a:pt x="363" y="251"/>
                  </a:cubicBezTo>
                  <a:lnTo>
                    <a:pt x="427" y="240"/>
                  </a:lnTo>
                  <a:close/>
                  <a:moveTo>
                    <a:pt x="214" y="288"/>
                  </a:moveTo>
                  <a:cubicBezTo>
                    <a:pt x="173" y="288"/>
                    <a:pt x="139" y="255"/>
                    <a:pt x="139" y="214"/>
                  </a:cubicBezTo>
                  <a:cubicBezTo>
                    <a:pt x="139" y="173"/>
                    <a:pt x="173" y="139"/>
                    <a:pt x="214" y="139"/>
                  </a:cubicBezTo>
                  <a:cubicBezTo>
                    <a:pt x="255" y="139"/>
                    <a:pt x="288" y="173"/>
                    <a:pt x="288" y="214"/>
                  </a:cubicBezTo>
                  <a:cubicBezTo>
                    <a:pt x="288" y="255"/>
                    <a:pt x="255" y="288"/>
                    <a:pt x="214" y="288"/>
                  </a:cubicBez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3" name="Текст 14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4582188" y="3861048"/>
            <a:ext cx="4267551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БГС, МЛН.Р./СКВ.</a:t>
            </a:r>
          </a:p>
        </p:txBody>
      </p:sp>
      <p:sp>
        <p:nvSpPr>
          <p:cNvPr id="34" name="Текст 11"/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287140" y="3861048"/>
            <a:ext cx="424676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БННС, МЛН.Р./СКВ.</a:t>
            </a:r>
          </a:p>
        </p:txBody>
      </p:sp>
      <p:sp>
        <p:nvSpPr>
          <p:cNvPr id="59" name="ChartNNS_squareMnth"/>
          <p:cNvSpPr/>
          <p:nvPr>
            <p:custDataLst>
              <p:tags r:id="rId7"/>
            </p:custDataLst>
          </p:nvPr>
        </p:nvSpPr>
        <p:spPr>
          <a:xfrm>
            <a:off x="3691660" y="1323795"/>
            <a:ext cx="321137" cy="2080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graphicFrame>
        <p:nvGraphicFramePr>
          <p:cNvPr id="67" name="ChartNNS"/>
          <p:cNvGraphicFramePr>
            <a:graphicFrameLocks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208468077"/>
              </p:ext>
            </p:extLst>
          </p:nvPr>
        </p:nvGraphicFramePr>
        <p:xfrm>
          <a:off x="278767" y="1300120"/>
          <a:ext cx="4248472" cy="2380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91" name="Прямая соединительная линия 90"/>
          <p:cNvCxnSpPr/>
          <p:nvPr>
            <p:custDataLst>
              <p:tags r:id="rId9"/>
            </p:custDataLst>
          </p:nvPr>
        </p:nvCxnSpPr>
        <p:spPr>
          <a:xfrm>
            <a:off x="808993" y="1484784"/>
            <a:ext cx="0" cy="2080709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hartNNS_roundVal"/>
          <p:cNvSpPr/>
          <p:nvPr>
            <p:custDataLst>
              <p:tags r:id="rId10"/>
            </p:custDataLst>
          </p:nvPr>
        </p:nvSpPr>
        <p:spPr>
          <a:xfrm>
            <a:off x="3934838" y="1864701"/>
            <a:ext cx="432048" cy="432012"/>
          </a:xfrm>
          <a:prstGeom prst="ellipse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Прямоугольник 92"/>
          <p:cNvSpPr/>
          <p:nvPr>
            <p:custDataLst>
              <p:tags r:id="rId11"/>
            </p:custDataLst>
          </p:nvPr>
        </p:nvSpPr>
        <p:spPr>
          <a:xfrm>
            <a:off x="269759" y="4979949"/>
            <a:ext cx="4284000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dirty="0" err="1" smtClean="0">
                <a:solidFill>
                  <a:srgbClr val="545353"/>
                </a:solidFill>
              </a:rPr>
              <a:t>Хантос</a:t>
            </a:r>
            <a:endParaRPr lang="ru-RU" sz="8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94" name="Прямоугольник 93"/>
          <p:cNvSpPr/>
          <p:nvPr>
            <p:custDataLst>
              <p:tags r:id="rId12"/>
            </p:custDataLst>
          </p:nvPr>
        </p:nvSpPr>
        <p:spPr>
          <a:xfrm>
            <a:off x="232150" y="5852483"/>
            <a:ext cx="4284000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dirty="0" smtClean="0">
                <a:solidFill>
                  <a:srgbClr val="545353"/>
                </a:solidFill>
              </a:rPr>
              <a:t>Оренбург</a:t>
            </a:r>
            <a:endParaRPr lang="ru-RU" sz="8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95" name="Прямоугольник 94"/>
          <p:cNvSpPr/>
          <p:nvPr>
            <p:custDataLst>
              <p:tags r:id="rId13"/>
            </p:custDataLst>
          </p:nvPr>
        </p:nvSpPr>
        <p:spPr>
          <a:xfrm>
            <a:off x="272996" y="5448131"/>
            <a:ext cx="4277526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dirty="0" smtClean="0">
                <a:solidFill>
                  <a:srgbClr val="545353"/>
                </a:solidFill>
              </a:rPr>
              <a:t>Восток</a:t>
            </a:r>
            <a:endParaRPr lang="ru-RU" sz="8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96" name="Прямоугольник 95"/>
          <p:cNvSpPr/>
          <p:nvPr>
            <p:custDataLst>
              <p:tags r:id="rId14"/>
            </p:custDataLst>
          </p:nvPr>
        </p:nvSpPr>
        <p:spPr>
          <a:xfrm>
            <a:off x="261964" y="4105262"/>
            <a:ext cx="4277526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Муравленко</a:t>
            </a:r>
            <a:endParaRPr lang="ru-RU" sz="8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7" name="Прямоугольник 96"/>
          <p:cNvSpPr/>
          <p:nvPr>
            <p:custDataLst>
              <p:tags r:id="rId15"/>
            </p:custDataLst>
          </p:nvPr>
        </p:nvSpPr>
        <p:spPr>
          <a:xfrm>
            <a:off x="264948" y="4505065"/>
            <a:ext cx="4277526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Ноябрьск</a:t>
            </a:r>
            <a:endParaRPr lang="ru-RU" sz="8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8" name="Прямоугольник 97"/>
          <p:cNvSpPr/>
          <p:nvPr>
            <p:custDataLst>
              <p:tags r:id="rId16"/>
            </p:custDataLst>
          </p:nvPr>
        </p:nvSpPr>
        <p:spPr>
          <a:xfrm>
            <a:off x="4685562" y="4980079"/>
            <a:ext cx="4170224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dirty="0" err="1" smtClean="0">
                <a:solidFill>
                  <a:srgbClr val="545353"/>
                </a:solidFill>
              </a:rPr>
              <a:t>Хантос</a:t>
            </a:r>
            <a:endParaRPr lang="ru-RU" sz="8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99" name="Прямоугольник 98"/>
          <p:cNvSpPr/>
          <p:nvPr>
            <p:custDataLst>
              <p:tags r:id="rId17"/>
            </p:custDataLst>
          </p:nvPr>
        </p:nvSpPr>
        <p:spPr>
          <a:xfrm>
            <a:off x="4685562" y="5832746"/>
            <a:ext cx="4170223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dirty="0" smtClean="0">
                <a:solidFill>
                  <a:srgbClr val="545353"/>
                </a:solidFill>
              </a:rPr>
              <a:t>Оренбург</a:t>
            </a:r>
            <a:endParaRPr lang="ru-RU" sz="8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100" name="Прямоугольник 99"/>
          <p:cNvSpPr/>
          <p:nvPr>
            <p:custDataLst>
              <p:tags r:id="rId18"/>
            </p:custDataLst>
          </p:nvPr>
        </p:nvSpPr>
        <p:spPr>
          <a:xfrm>
            <a:off x="4685562" y="5448131"/>
            <a:ext cx="4170224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dirty="0" smtClean="0">
                <a:solidFill>
                  <a:srgbClr val="545353"/>
                </a:solidFill>
              </a:rPr>
              <a:t>Восток</a:t>
            </a:r>
            <a:endParaRPr lang="ru-RU" sz="8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101" name="Прямоугольник 100"/>
          <p:cNvSpPr/>
          <p:nvPr>
            <p:custDataLst>
              <p:tags r:id="rId19"/>
            </p:custDataLst>
          </p:nvPr>
        </p:nvSpPr>
        <p:spPr>
          <a:xfrm>
            <a:off x="4674009" y="4112276"/>
            <a:ext cx="4170223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Муравленко</a:t>
            </a:r>
            <a:endParaRPr lang="ru-RU" sz="8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2" name="Прямоугольник 101"/>
          <p:cNvSpPr/>
          <p:nvPr>
            <p:custDataLst>
              <p:tags r:id="rId20"/>
            </p:custDataLst>
          </p:nvPr>
        </p:nvSpPr>
        <p:spPr>
          <a:xfrm>
            <a:off x="4685562" y="4512027"/>
            <a:ext cx="4170224" cy="432048"/>
          </a:xfrm>
          <a:prstGeom prst="rect">
            <a:avLst/>
          </a:prstGeom>
          <a:solidFill>
            <a:schemeClr val="bg1"/>
          </a:solidFill>
        </p:spPr>
        <p:txBody>
          <a:bodyPr lIns="0" tIns="0" rIns="0" bIns="0" rtlCol="0" anchor="ctr">
            <a:noAutofit/>
          </a:bodyPr>
          <a:lstStyle/>
          <a:p>
            <a:r>
              <a:rPr lang="ru-RU" sz="800" b="1" i="0" u="none" strike="noStrike" kern="1200" baseline="0" dirty="0" smtClean="0">
                <a:solidFill>
                  <a:srgbClr val="545353"/>
                </a:solidFill>
                <a:latin typeface="+mn-lt"/>
                <a:ea typeface="+mn-ea"/>
                <a:cs typeface="+mn-cs"/>
              </a:rPr>
              <a:t>Ноябрьск</a:t>
            </a:r>
            <a:endParaRPr lang="ru-RU" sz="800" b="1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3" name="Square2"/>
          <p:cNvSpPr/>
          <p:nvPr>
            <p:custDataLst>
              <p:tags r:id="rId21"/>
            </p:custDataLst>
          </p:nvPr>
        </p:nvSpPr>
        <p:spPr>
          <a:xfrm>
            <a:off x="8021664" y="4077072"/>
            <a:ext cx="294752" cy="2376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sp>
        <p:nvSpPr>
          <p:cNvPr id="104" name="Square1"/>
          <p:cNvSpPr/>
          <p:nvPr>
            <p:custDataLst>
              <p:tags r:id="rId22"/>
            </p:custDataLst>
          </p:nvPr>
        </p:nvSpPr>
        <p:spPr>
          <a:xfrm>
            <a:off x="3635896" y="4077072"/>
            <a:ext cx="324036" cy="23762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cxnSp>
        <p:nvCxnSpPr>
          <p:cNvPr id="105" name="Прямая соединительная линия 104"/>
          <p:cNvCxnSpPr/>
          <p:nvPr>
            <p:custDataLst>
              <p:tags r:id="rId23"/>
            </p:custDataLst>
          </p:nvPr>
        </p:nvCxnSpPr>
        <p:spPr>
          <a:xfrm>
            <a:off x="1115616" y="4155333"/>
            <a:ext cx="0" cy="2212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Прямая соединительная линия 105"/>
          <p:cNvCxnSpPr/>
          <p:nvPr>
            <p:custDataLst>
              <p:tags r:id="rId24"/>
            </p:custDataLst>
          </p:nvPr>
        </p:nvCxnSpPr>
        <p:spPr>
          <a:xfrm>
            <a:off x="5508104" y="4135375"/>
            <a:ext cx="0" cy="2212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7" name="ГПН-МН_NNS"/>
          <p:cNvGraphicFramePr>
            <a:graphicFrameLocks/>
          </p:cNvGraphicFramePr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516133643"/>
              </p:ext>
            </p:extLst>
          </p:nvPr>
        </p:nvGraphicFramePr>
        <p:xfrm>
          <a:off x="814483" y="4041067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graphicFrame>
        <p:nvGraphicFramePr>
          <p:cNvPr id="108" name="ГПН-Оренбург_NNS"/>
          <p:cNvGraphicFramePr>
            <a:graphicFrameLocks/>
          </p:cNvGraphicFramePr>
          <p:nvPr>
            <p:custDataLst>
              <p:tags r:id="rId26"/>
            </p:custDataLst>
            <p:extLst>
              <p:ext uri="{D42A27DB-BD31-4B8C-83A1-F6EECF244321}">
                <p14:modId xmlns:p14="http://schemas.microsoft.com/office/powerpoint/2010/main" val="494727220"/>
              </p:ext>
            </p:extLst>
          </p:nvPr>
        </p:nvGraphicFramePr>
        <p:xfrm>
          <a:off x="721667" y="5893885"/>
          <a:ext cx="3839869" cy="540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109" name="ChartGS_squareMnth"/>
          <p:cNvSpPr/>
          <p:nvPr>
            <p:custDataLst>
              <p:tags r:id="rId27"/>
            </p:custDataLst>
          </p:nvPr>
        </p:nvSpPr>
        <p:spPr>
          <a:xfrm>
            <a:off x="8020206" y="1340896"/>
            <a:ext cx="321137" cy="208071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graphicFrame>
        <p:nvGraphicFramePr>
          <p:cNvPr id="110" name="ChartGS"/>
          <p:cNvGraphicFramePr>
            <a:graphicFrameLocks/>
          </p:cNvGraphicFramePr>
          <p:nvPr>
            <p:custDataLst>
              <p:tags r:id="rId28"/>
            </p:custDataLst>
            <p:extLst>
              <p:ext uri="{D42A27DB-BD31-4B8C-83A1-F6EECF244321}">
                <p14:modId xmlns:p14="http://schemas.microsoft.com/office/powerpoint/2010/main" val="3163636780"/>
              </p:ext>
            </p:extLst>
          </p:nvPr>
        </p:nvGraphicFramePr>
        <p:xfrm>
          <a:off x="4607313" y="1317221"/>
          <a:ext cx="4248472" cy="2380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5"/>
          </a:graphicData>
        </a:graphic>
      </p:graphicFrame>
      <p:sp>
        <p:nvSpPr>
          <p:cNvPr id="111" name="ChartGS_roundVal"/>
          <p:cNvSpPr/>
          <p:nvPr>
            <p:custDataLst>
              <p:tags r:id="rId29"/>
            </p:custDataLst>
          </p:nvPr>
        </p:nvSpPr>
        <p:spPr>
          <a:xfrm>
            <a:off x="8396490" y="1861925"/>
            <a:ext cx="432048" cy="432012"/>
          </a:xfrm>
          <a:prstGeom prst="ellipse">
            <a:avLst/>
          </a:prstGeom>
          <a:noFill/>
          <a:ln w="12700">
            <a:solidFill>
              <a:srgbClr val="00B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2" name="GroupChartNNS"/>
          <p:cNvGrpSpPr/>
          <p:nvPr>
            <p:custDataLst>
              <p:tags r:id="rId30"/>
            </p:custDataLst>
          </p:nvPr>
        </p:nvGrpSpPr>
        <p:grpSpPr>
          <a:xfrm>
            <a:off x="603431" y="1367666"/>
            <a:ext cx="3693600" cy="457200"/>
            <a:chOff x="-8523323" y="-2003398"/>
            <a:chExt cx="728663" cy="1262529"/>
          </a:xfrm>
        </p:grpSpPr>
        <p:cxnSp>
          <p:nvCxnSpPr>
            <p:cNvPr id="113" name="Прямая соединительная линия 112"/>
            <p:cNvCxnSpPr/>
            <p:nvPr/>
          </p:nvCxnSpPr>
          <p:spPr bwMode="auto">
            <a:xfrm flipH="1">
              <a:off x="-7794660" y="-1689435"/>
              <a:ext cx="0" cy="948566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Прямая соединительная линия 113"/>
            <p:cNvCxnSpPr/>
            <p:nvPr/>
          </p:nvCxnSpPr>
          <p:spPr bwMode="auto">
            <a:xfrm>
              <a:off x="-8523323" y="-1689435"/>
              <a:ext cx="728663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Прямая соединительная линия 114"/>
            <p:cNvCxnSpPr/>
            <p:nvPr/>
          </p:nvCxnSpPr>
          <p:spPr bwMode="auto">
            <a:xfrm flipV="1">
              <a:off x="-8523323" y="-1689432"/>
              <a:ext cx="0" cy="948563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ChartNNS_percent"/>
            <p:cNvSpPr/>
            <p:nvPr/>
          </p:nvSpPr>
          <p:spPr bwMode="auto">
            <a:xfrm>
              <a:off x="-8206829" y="-2003398"/>
              <a:ext cx="85276" cy="6279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000" b="1" dirty="0" smtClean="0">
                  <a:solidFill>
                    <a:srgbClr val="00B050"/>
                  </a:solidFill>
                  <a:sym typeface="+mn-lt"/>
                </a:rPr>
                <a:t>perc</a:t>
              </a:r>
              <a:endParaRPr lang="ru-RU" sz="1000" b="1" dirty="0" smtClean="0">
                <a:solidFill>
                  <a:srgbClr val="00B050"/>
                </a:solidFill>
                <a:sym typeface="+mn-lt"/>
              </a:endParaRPr>
            </a:p>
          </p:txBody>
        </p:sp>
      </p:grpSp>
      <p:grpSp>
        <p:nvGrpSpPr>
          <p:cNvPr id="117" name="GroupChartGS"/>
          <p:cNvGrpSpPr/>
          <p:nvPr>
            <p:custDataLst>
              <p:tags r:id="rId31"/>
            </p:custDataLst>
          </p:nvPr>
        </p:nvGrpSpPr>
        <p:grpSpPr>
          <a:xfrm>
            <a:off x="4968044" y="1354742"/>
            <a:ext cx="3693600" cy="457200"/>
            <a:chOff x="-8523323" y="-2003398"/>
            <a:chExt cx="728663" cy="1262529"/>
          </a:xfrm>
        </p:grpSpPr>
        <p:cxnSp>
          <p:nvCxnSpPr>
            <p:cNvPr id="118" name="Прямая соединительная линия 117"/>
            <p:cNvCxnSpPr/>
            <p:nvPr/>
          </p:nvCxnSpPr>
          <p:spPr bwMode="auto">
            <a:xfrm flipH="1">
              <a:off x="-7794660" y="-1689435"/>
              <a:ext cx="0" cy="948566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Прямая соединительная линия 118"/>
            <p:cNvCxnSpPr/>
            <p:nvPr/>
          </p:nvCxnSpPr>
          <p:spPr bwMode="auto">
            <a:xfrm>
              <a:off x="-8523323" y="-1689435"/>
              <a:ext cx="728663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Прямая соединительная линия 119"/>
            <p:cNvCxnSpPr/>
            <p:nvPr/>
          </p:nvCxnSpPr>
          <p:spPr bwMode="auto">
            <a:xfrm flipV="1">
              <a:off x="-8523323" y="-1689432"/>
              <a:ext cx="0" cy="948563"/>
            </a:xfrm>
            <a:prstGeom prst="line">
              <a:avLst/>
            </a:prstGeom>
            <a:ln w="12700">
              <a:solidFill>
                <a:schemeClr val="tx1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ChartGS_percent"/>
            <p:cNvSpPr/>
            <p:nvPr/>
          </p:nvSpPr>
          <p:spPr bwMode="auto">
            <a:xfrm>
              <a:off x="-8206829" y="-2003398"/>
              <a:ext cx="85276" cy="627923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90000"/>
                </a:lnSpc>
              </a:pPr>
              <a:r>
                <a:rPr lang="en-US" sz="1000" b="1" dirty="0" smtClean="0">
                  <a:solidFill>
                    <a:srgbClr val="00B050"/>
                  </a:solidFill>
                  <a:sym typeface="+mn-lt"/>
                </a:rPr>
                <a:t>perc</a:t>
              </a:r>
              <a:endParaRPr lang="ru-RU" sz="1000" b="1" dirty="0" smtClean="0">
                <a:solidFill>
                  <a:srgbClr val="00B050"/>
                </a:solidFill>
                <a:sym typeface="+mn-lt"/>
              </a:endParaRPr>
            </a:p>
          </p:txBody>
        </p:sp>
      </p:grpSp>
      <p:cxnSp>
        <p:nvCxnSpPr>
          <p:cNvPr id="122" name="Прямая соединительная линия 121"/>
          <p:cNvCxnSpPr/>
          <p:nvPr>
            <p:custDataLst>
              <p:tags r:id="rId32"/>
            </p:custDataLst>
          </p:nvPr>
        </p:nvCxnSpPr>
        <p:spPr>
          <a:xfrm>
            <a:off x="5148064" y="1484784"/>
            <a:ext cx="0" cy="2080709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3" name="ГПН-ННГ_NNS"/>
          <p:cNvGraphicFramePr>
            <a:graphicFrameLocks/>
          </p:cNvGraphicFramePr>
          <p:nvPr>
            <p:custDataLst>
              <p:tags r:id="rId33"/>
            </p:custDataLst>
            <p:extLst>
              <p:ext uri="{D42A27DB-BD31-4B8C-83A1-F6EECF244321}">
                <p14:modId xmlns:p14="http://schemas.microsoft.com/office/powerpoint/2010/main" val="1004007146"/>
              </p:ext>
            </p:extLst>
          </p:nvPr>
        </p:nvGraphicFramePr>
        <p:xfrm>
          <a:off x="844600" y="4482117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6"/>
          </a:graphicData>
        </a:graphic>
      </p:graphicFrame>
      <p:graphicFrame>
        <p:nvGraphicFramePr>
          <p:cNvPr id="124" name="ГПН-Хантос_NNS"/>
          <p:cNvGraphicFramePr>
            <a:graphicFrameLocks/>
          </p:cNvGraphicFramePr>
          <p:nvPr>
            <p:custDataLst>
              <p:tags r:id="rId34"/>
            </p:custDataLst>
            <p:extLst>
              <p:ext uri="{D42A27DB-BD31-4B8C-83A1-F6EECF244321}">
                <p14:modId xmlns:p14="http://schemas.microsoft.com/office/powerpoint/2010/main" val="753638253"/>
              </p:ext>
            </p:extLst>
          </p:nvPr>
        </p:nvGraphicFramePr>
        <p:xfrm>
          <a:off x="844600" y="4944010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graphicFrame>
        <p:nvGraphicFramePr>
          <p:cNvPr id="125" name="ГПН-Восток_NNS"/>
          <p:cNvGraphicFramePr>
            <a:graphicFrameLocks/>
          </p:cNvGraphicFramePr>
          <p:nvPr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758096567"/>
              </p:ext>
            </p:extLst>
          </p:nvPr>
        </p:nvGraphicFramePr>
        <p:xfrm>
          <a:off x="844600" y="5350710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graphicFrame>
        <p:nvGraphicFramePr>
          <p:cNvPr id="126" name="ГПН-МН_GS"/>
          <p:cNvGraphicFramePr>
            <a:graphicFrameLocks/>
          </p:cNvGraphicFramePr>
          <p:nvPr>
            <p:custDataLst>
              <p:tags r:id="rId36"/>
            </p:custDataLst>
            <p:extLst>
              <p:ext uri="{D42A27DB-BD31-4B8C-83A1-F6EECF244321}">
                <p14:modId xmlns:p14="http://schemas.microsoft.com/office/powerpoint/2010/main" val="1829246764"/>
              </p:ext>
            </p:extLst>
          </p:nvPr>
        </p:nvGraphicFramePr>
        <p:xfrm>
          <a:off x="5244022" y="4050134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9"/>
          </a:graphicData>
        </a:graphic>
      </p:graphicFrame>
      <p:graphicFrame>
        <p:nvGraphicFramePr>
          <p:cNvPr id="127" name="ГПН-Оренбург_GS"/>
          <p:cNvGraphicFramePr>
            <a:graphicFrameLocks/>
          </p:cNvGraphicFramePr>
          <p:nvPr>
            <p:custDataLst>
              <p:tags r:id="rId37"/>
            </p:custDataLst>
            <p:extLst>
              <p:ext uri="{D42A27DB-BD31-4B8C-83A1-F6EECF244321}">
                <p14:modId xmlns:p14="http://schemas.microsoft.com/office/powerpoint/2010/main" val="3785428272"/>
              </p:ext>
            </p:extLst>
          </p:nvPr>
        </p:nvGraphicFramePr>
        <p:xfrm>
          <a:off x="5139942" y="5916183"/>
          <a:ext cx="3839869" cy="5400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graphicFrame>
        <p:nvGraphicFramePr>
          <p:cNvPr id="128" name="ГПН-ННГ_GS"/>
          <p:cNvGraphicFramePr>
            <a:graphicFrameLocks/>
          </p:cNvGraphicFramePr>
          <p:nvPr>
            <p:custDataLst>
              <p:tags r:id="rId38"/>
            </p:custDataLst>
            <p:extLst>
              <p:ext uri="{D42A27DB-BD31-4B8C-83A1-F6EECF244321}">
                <p14:modId xmlns:p14="http://schemas.microsoft.com/office/powerpoint/2010/main" val="414457390"/>
              </p:ext>
            </p:extLst>
          </p:nvPr>
        </p:nvGraphicFramePr>
        <p:xfrm>
          <a:off x="5274139" y="4491184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1"/>
          </a:graphicData>
        </a:graphic>
      </p:graphicFrame>
      <p:graphicFrame>
        <p:nvGraphicFramePr>
          <p:cNvPr id="129" name="ГПН-Хантос_GS"/>
          <p:cNvGraphicFramePr>
            <a:graphicFrameLocks/>
          </p:cNvGraphicFramePr>
          <p:nvPr>
            <p:custDataLst>
              <p:tags r:id="rId39"/>
            </p:custDataLst>
            <p:extLst>
              <p:ext uri="{D42A27DB-BD31-4B8C-83A1-F6EECF244321}">
                <p14:modId xmlns:p14="http://schemas.microsoft.com/office/powerpoint/2010/main" val="3696443809"/>
              </p:ext>
            </p:extLst>
          </p:nvPr>
        </p:nvGraphicFramePr>
        <p:xfrm>
          <a:off x="5274139" y="4953077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2"/>
          </a:graphicData>
        </a:graphic>
      </p:graphicFrame>
      <p:graphicFrame>
        <p:nvGraphicFramePr>
          <p:cNvPr id="130" name="ГПН-Восток_GS"/>
          <p:cNvGraphicFramePr>
            <a:graphicFrameLocks/>
          </p:cNvGraphicFramePr>
          <p:nvPr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2256436193"/>
              </p:ext>
            </p:extLst>
          </p:nvPr>
        </p:nvGraphicFramePr>
        <p:xfrm>
          <a:off x="5274139" y="5359777"/>
          <a:ext cx="3780000" cy="4319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3"/>
          </a:graphicData>
        </a:graphic>
      </p:graphicFrame>
    </p:spTree>
    <p:extLst>
      <p:ext uri="{BB962C8B-B14F-4D97-AF65-F5344CB8AC3E}">
        <p14:creationId xmlns:p14="http://schemas.microsoft.com/office/powerpoint/2010/main" val="3933675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DO_Eb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88150107"/>
              </p:ext>
            </p:extLst>
          </p:nvPr>
        </p:nvGraphicFramePr>
        <p:xfrm>
          <a:off x="4974664" y="1326738"/>
          <a:ext cx="3881998" cy="24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331640" y="322463"/>
            <a:ext cx="7525022" cy="607021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Дирекция по добыче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Эксплуатационное бурение и ЗБС </a:t>
            </a:r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Динамика НПВ</a:t>
            </a:r>
            <a:endParaRPr lang="ru-RU" sz="1200" dirty="0">
              <a:solidFill>
                <a:srgbClr val="545353"/>
              </a:solidFill>
            </a:endParaRPr>
          </a:p>
        </p:txBody>
      </p:sp>
      <p:sp>
        <p:nvSpPr>
          <p:cNvPr id="7" name="Текст 13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87337" y="1124716"/>
            <a:ext cx="4572695" cy="2086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НПВ</a:t>
            </a:r>
            <a:r>
              <a:rPr lang="en-US" sz="800" dirty="0" smtClean="0">
                <a:solidFill>
                  <a:srgbClr val="545353"/>
                </a:solidFill>
                <a:cs typeface="Arabic Typesetting" pitchFamily="66" charset="-78"/>
              </a:rPr>
              <a:t> 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в ЭБ за календарное время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sp>
        <p:nvSpPr>
          <p:cNvPr id="14" name="RoundEbDZO"/>
          <p:cNvSpPr/>
          <p:nvPr>
            <p:custDataLst>
              <p:tags r:id="rId4"/>
            </p:custDataLst>
          </p:nvPr>
        </p:nvSpPr>
        <p:spPr>
          <a:xfrm>
            <a:off x="7056276" y="1412747"/>
            <a:ext cx="216000" cy="216000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Eb"/>
          <p:cNvSpPr/>
          <p:nvPr>
            <p:custDataLst>
              <p:tags r:id="rId5"/>
            </p:custDataLst>
          </p:nvPr>
        </p:nvSpPr>
        <p:spPr>
          <a:xfrm>
            <a:off x="7602956" y="1336357"/>
            <a:ext cx="1296144" cy="2265138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endParaRPr lang="ru-RU" sz="600" b="0" i="0" u="none" strike="noStrike" kern="1200" baseline="0" dirty="0">
              <a:solidFill>
                <a:srgbClr val="545353"/>
              </a:solidFill>
            </a:endParaRPr>
          </a:p>
        </p:txBody>
      </p:sp>
      <p:grpSp>
        <p:nvGrpSpPr>
          <p:cNvPr id="38" name="Группа 37"/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303854" y="260648"/>
            <a:ext cx="803835" cy="890037"/>
            <a:chOff x="7051636" y="2029408"/>
            <a:chExt cx="561975" cy="571500"/>
          </a:xfrm>
        </p:grpSpPr>
        <p:grpSp>
          <p:nvGrpSpPr>
            <p:cNvPr id="39" name="Группа 38"/>
            <p:cNvGrpSpPr/>
            <p:nvPr/>
          </p:nvGrpSpPr>
          <p:grpSpPr>
            <a:xfrm>
              <a:off x="7051636" y="2029408"/>
              <a:ext cx="561975" cy="571500"/>
              <a:chOff x="7051636" y="2029408"/>
              <a:chExt cx="561975" cy="571500"/>
            </a:xfrm>
            <a:solidFill>
              <a:schemeClr val="accent2"/>
            </a:solidFill>
          </p:grpSpPr>
          <p:sp>
            <p:nvSpPr>
              <p:cNvPr id="41" name="Freeform 146"/>
              <p:cNvSpPr>
                <a:spLocks/>
              </p:cNvSpPr>
              <p:nvPr/>
            </p:nvSpPr>
            <p:spPr bwMode="auto">
              <a:xfrm>
                <a:off x="7051636" y="2248483"/>
                <a:ext cx="561975" cy="352425"/>
              </a:xfrm>
              <a:custGeom>
                <a:avLst/>
                <a:gdLst>
                  <a:gd name="T0" fmla="*/ 1522 w 1556"/>
                  <a:gd name="T1" fmla="*/ 444 h 977"/>
                  <a:gd name="T2" fmla="*/ 33 w 1556"/>
                  <a:gd name="T3" fmla="*/ 444 h 977"/>
                  <a:gd name="T4" fmla="*/ 0 w 1556"/>
                  <a:gd name="T5" fmla="*/ 478 h 977"/>
                  <a:gd name="T6" fmla="*/ 0 w 1556"/>
                  <a:gd name="T7" fmla="*/ 524 h 977"/>
                  <a:gd name="T8" fmla="*/ 33 w 1556"/>
                  <a:gd name="T9" fmla="*/ 558 h 977"/>
                  <a:gd name="T10" fmla="*/ 1522 w 1556"/>
                  <a:gd name="T11" fmla="*/ 558 h 977"/>
                  <a:gd name="T12" fmla="*/ 1556 w 1556"/>
                  <a:gd name="T13" fmla="*/ 524 h 977"/>
                  <a:gd name="T14" fmla="*/ 1556 w 1556"/>
                  <a:gd name="T15" fmla="*/ 478 h 977"/>
                  <a:gd name="T16" fmla="*/ 1522 w 1556"/>
                  <a:gd name="T17" fmla="*/ 44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6" h="977">
                    <a:moveTo>
                      <a:pt x="1522" y="444"/>
                    </a:moveTo>
                    <a:cubicBezTo>
                      <a:pt x="1031" y="444"/>
                      <a:pt x="391" y="444"/>
                      <a:pt x="33" y="444"/>
                    </a:cubicBezTo>
                    <a:cubicBezTo>
                      <a:pt x="15" y="444"/>
                      <a:pt x="0" y="459"/>
                      <a:pt x="0" y="478"/>
                    </a:cubicBezTo>
                    <a:cubicBezTo>
                      <a:pt x="0" y="977"/>
                      <a:pt x="0" y="0"/>
                      <a:pt x="0" y="524"/>
                    </a:cubicBezTo>
                    <a:cubicBezTo>
                      <a:pt x="0" y="543"/>
                      <a:pt x="15" y="558"/>
                      <a:pt x="33" y="558"/>
                    </a:cubicBezTo>
                    <a:cubicBezTo>
                      <a:pt x="560" y="558"/>
                      <a:pt x="1075" y="558"/>
                      <a:pt x="1522" y="558"/>
                    </a:cubicBezTo>
                    <a:cubicBezTo>
                      <a:pt x="1541" y="558"/>
                      <a:pt x="1556" y="543"/>
                      <a:pt x="1556" y="524"/>
                    </a:cubicBezTo>
                    <a:lnTo>
                      <a:pt x="1556" y="478"/>
                    </a:lnTo>
                    <a:cubicBezTo>
                      <a:pt x="1556" y="459"/>
                      <a:pt x="1541" y="444"/>
                      <a:pt x="1522" y="4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" name="Oval 147"/>
              <p:cNvSpPr>
                <a:spLocks noChangeArrowheads="1"/>
              </p:cNvSpPr>
              <p:nvPr/>
            </p:nvSpPr>
            <p:spPr bwMode="auto">
              <a:xfrm>
                <a:off x="7167523" y="2029408"/>
                <a:ext cx="277813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Freeform 148"/>
              <p:cNvSpPr>
                <a:spLocks/>
              </p:cNvSpPr>
              <p:nvPr/>
            </p:nvSpPr>
            <p:spPr bwMode="auto">
              <a:xfrm>
                <a:off x="7167523" y="2237370"/>
                <a:ext cx="169863" cy="109538"/>
              </a:xfrm>
              <a:custGeom>
                <a:avLst/>
                <a:gdLst>
                  <a:gd name="T0" fmla="*/ 473 w 473"/>
                  <a:gd name="T1" fmla="*/ 226 h 302"/>
                  <a:gd name="T2" fmla="*/ 421 w 473"/>
                  <a:gd name="T3" fmla="*/ 170 h 302"/>
                  <a:gd name="T4" fmla="*/ 384 w 473"/>
                  <a:gd name="T5" fmla="*/ 171 h 302"/>
                  <a:gd name="T6" fmla="*/ 0 w 473"/>
                  <a:gd name="T7" fmla="*/ 0 h 302"/>
                  <a:gd name="T8" fmla="*/ 0 w 473"/>
                  <a:gd name="T9" fmla="*/ 131 h 302"/>
                  <a:gd name="T10" fmla="*/ 384 w 473"/>
                  <a:gd name="T11" fmla="*/ 302 h 302"/>
                  <a:gd name="T12" fmla="*/ 473 w 473"/>
                  <a:gd name="T13" fmla="*/ 297 h 302"/>
                  <a:gd name="T14" fmla="*/ 473 w 473"/>
                  <a:gd name="T15" fmla="*/ 226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3" h="302">
                    <a:moveTo>
                      <a:pt x="473" y="226"/>
                    </a:moveTo>
                    <a:cubicBezTo>
                      <a:pt x="446" y="219"/>
                      <a:pt x="426" y="197"/>
                      <a:pt x="421" y="170"/>
                    </a:cubicBezTo>
                    <a:cubicBezTo>
                      <a:pt x="409" y="171"/>
                      <a:pt x="3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ubicBezTo>
                      <a:pt x="415" y="302"/>
                      <a:pt x="444" y="300"/>
                      <a:pt x="473" y="297"/>
                    </a:cubicBezTo>
                    <a:cubicBezTo>
                      <a:pt x="461" y="275"/>
                      <a:pt x="460" y="248"/>
                      <a:pt x="473" y="2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4" name="Freeform 149"/>
              <p:cNvSpPr>
                <a:spLocks/>
              </p:cNvSpPr>
              <p:nvPr/>
            </p:nvSpPr>
            <p:spPr bwMode="auto">
              <a:xfrm>
                <a:off x="7167523" y="2172283"/>
                <a:ext cx="171450" cy="109538"/>
              </a:xfrm>
              <a:custGeom>
                <a:avLst/>
                <a:gdLst>
                  <a:gd name="T0" fmla="*/ 384 w 474"/>
                  <a:gd name="T1" fmla="*/ 302 h 302"/>
                  <a:gd name="T2" fmla="*/ 420 w 474"/>
                  <a:gd name="T3" fmla="*/ 301 h 302"/>
                  <a:gd name="T4" fmla="*/ 420 w 474"/>
                  <a:gd name="T5" fmla="*/ 281 h 302"/>
                  <a:gd name="T6" fmla="*/ 474 w 474"/>
                  <a:gd name="T7" fmla="*/ 213 h 302"/>
                  <a:gd name="T8" fmla="*/ 464 w 474"/>
                  <a:gd name="T9" fmla="*/ 167 h 302"/>
                  <a:gd name="T10" fmla="*/ 384 w 474"/>
                  <a:gd name="T11" fmla="*/ 171 h 302"/>
                  <a:gd name="T12" fmla="*/ 0 w 474"/>
                  <a:gd name="T13" fmla="*/ 0 h 302"/>
                  <a:gd name="T14" fmla="*/ 0 w 474"/>
                  <a:gd name="T15" fmla="*/ 131 h 302"/>
                  <a:gd name="T16" fmla="*/ 384 w 474"/>
                  <a:gd name="T1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4" h="302">
                    <a:moveTo>
                      <a:pt x="384" y="302"/>
                    </a:moveTo>
                    <a:cubicBezTo>
                      <a:pt x="396" y="302"/>
                      <a:pt x="408" y="302"/>
                      <a:pt x="420" y="301"/>
                    </a:cubicBezTo>
                    <a:lnTo>
                      <a:pt x="420" y="281"/>
                    </a:lnTo>
                    <a:cubicBezTo>
                      <a:pt x="420" y="249"/>
                      <a:pt x="442" y="220"/>
                      <a:pt x="474" y="213"/>
                    </a:cubicBezTo>
                    <a:cubicBezTo>
                      <a:pt x="465" y="199"/>
                      <a:pt x="463" y="183"/>
                      <a:pt x="464" y="167"/>
                    </a:cubicBezTo>
                    <a:cubicBezTo>
                      <a:pt x="439" y="170"/>
                      <a:pt x="412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" name="Freeform 150"/>
              <p:cNvSpPr>
                <a:spLocks/>
              </p:cNvSpPr>
              <p:nvPr/>
            </p:nvSpPr>
            <p:spPr bwMode="auto">
              <a:xfrm>
                <a:off x="7167523" y="2108783"/>
                <a:ext cx="277813" cy="109538"/>
              </a:xfrm>
              <a:custGeom>
                <a:avLst/>
                <a:gdLst>
                  <a:gd name="T0" fmla="*/ 384 w 769"/>
                  <a:gd name="T1" fmla="*/ 302 h 302"/>
                  <a:gd name="T2" fmla="*/ 494 w 769"/>
                  <a:gd name="T3" fmla="*/ 295 h 302"/>
                  <a:gd name="T4" fmla="*/ 522 w 769"/>
                  <a:gd name="T5" fmla="*/ 266 h 302"/>
                  <a:gd name="T6" fmla="*/ 573 w 769"/>
                  <a:gd name="T7" fmla="*/ 245 h 302"/>
                  <a:gd name="T8" fmla="*/ 609 w 769"/>
                  <a:gd name="T9" fmla="*/ 255 h 302"/>
                  <a:gd name="T10" fmla="*/ 677 w 769"/>
                  <a:gd name="T11" fmla="*/ 202 h 302"/>
                  <a:gd name="T12" fmla="*/ 731 w 769"/>
                  <a:gd name="T13" fmla="*/ 202 h 302"/>
                  <a:gd name="T14" fmla="*/ 734 w 769"/>
                  <a:gd name="T15" fmla="*/ 202 h 302"/>
                  <a:gd name="T16" fmla="*/ 769 w 769"/>
                  <a:gd name="T17" fmla="*/ 131 h 302"/>
                  <a:gd name="T18" fmla="*/ 769 w 769"/>
                  <a:gd name="T19" fmla="*/ 0 h 302"/>
                  <a:gd name="T20" fmla="*/ 384 w 769"/>
                  <a:gd name="T21" fmla="*/ 171 h 302"/>
                  <a:gd name="T22" fmla="*/ 0 w 769"/>
                  <a:gd name="T23" fmla="*/ 0 h 302"/>
                  <a:gd name="T24" fmla="*/ 0 w 769"/>
                  <a:gd name="T25" fmla="*/ 131 h 302"/>
                  <a:gd name="T26" fmla="*/ 384 w 769"/>
                  <a:gd name="T2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9" h="302">
                    <a:moveTo>
                      <a:pt x="384" y="302"/>
                    </a:moveTo>
                    <a:cubicBezTo>
                      <a:pt x="422" y="302"/>
                      <a:pt x="459" y="299"/>
                      <a:pt x="494" y="295"/>
                    </a:cubicBezTo>
                    <a:lnTo>
                      <a:pt x="522" y="266"/>
                    </a:lnTo>
                    <a:cubicBezTo>
                      <a:pt x="536" y="252"/>
                      <a:pt x="554" y="245"/>
                      <a:pt x="573" y="245"/>
                    </a:cubicBezTo>
                    <a:cubicBezTo>
                      <a:pt x="585" y="245"/>
                      <a:pt x="598" y="249"/>
                      <a:pt x="609" y="255"/>
                    </a:cubicBezTo>
                    <a:cubicBezTo>
                      <a:pt x="617" y="224"/>
                      <a:pt x="645" y="202"/>
                      <a:pt x="677" y="202"/>
                    </a:cubicBezTo>
                    <a:lnTo>
                      <a:pt x="731" y="202"/>
                    </a:lnTo>
                    <a:cubicBezTo>
                      <a:pt x="732" y="202"/>
                      <a:pt x="733" y="202"/>
                      <a:pt x="734" y="202"/>
                    </a:cubicBezTo>
                    <a:cubicBezTo>
                      <a:pt x="756" y="180"/>
                      <a:pt x="769" y="156"/>
                      <a:pt x="769" y="131"/>
                    </a:cubicBezTo>
                    <a:lnTo>
                      <a:pt x="769" y="0"/>
                    </a:lnTo>
                    <a:cubicBezTo>
                      <a:pt x="769" y="94"/>
                      <a:pt x="5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sp>
          <p:nvSpPr>
            <p:cNvPr id="40" name="Freeform 151"/>
            <p:cNvSpPr>
              <a:spLocks noEditPoints="1"/>
            </p:cNvSpPr>
            <p:nvPr/>
          </p:nvSpPr>
          <p:spPr bwMode="auto">
            <a:xfrm>
              <a:off x="7343736" y="2207208"/>
              <a:ext cx="153988" cy="153988"/>
            </a:xfrm>
            <a:custGeom>
              <a:avLst/>
              <a:gdLst>
                <a:gd name="T0" fmla="*/ 427 w 427"/>
                <a:gd name="T1" fmla="*/ 240 h 427"/>
                <a:gd name="T2" fmla="*/ 427 w 427"/>
                <a:gd name="T3" fmla="*/ 186 h 427"/>
                <a:gd name="T4" fmla="*/ 363 w 427"/>
                <a:gd name="T5" fmla="*/ 176 h 427"/>
                <a:gd name="T6" fmla="*/ 346 w 427"/>
                <a:gd name="T7" fmla="*/ 134 h 427"/>
                <a:gd name="T8" fmla="*/ 383 w 427"/>
                <a:gd name="T9" fmla="*/ 81 h 427"/>
                <a:gd name="T10" fmla="*/ 345 w 427"/>
                <a:gd name="T11" fmla="*/ 44 h 427"/>
                <a:gd name="T12" fmla="*/ 293 w 427"/>
                <a:gd name="T13" fmla="*/ 81 h 427"/>
                <a:gd name="T14" fmla="*/ 251 w 427"/>
                <a:gd name="T15" fmla="*/ 63 h 427"/>
                <a:gd name="T16" fmla="*/ 240 w 427"/>
                <a:gd name="T17" fmla="*/ 0 h 427"/>
                <a:gd name="T18" fmla="*/ 186 w 427"/>
                <a:gd name="T19" fmla="*/ 0 h 427"/>
                <a:gd name="T20" fmla="*/ 176 w 427"/>
                <a:gd name="T21" fmla="*/ 63 h 427"/>
                <a:gd name="T22" fmla="*/ 134 w 427"/>
                <a:gd name="T23" fmla="*/ 81 h 427"/>
                <a:gd name="T24" fmla="*/ 82 w 427"/>
                <a:gd name="T25" fmla="*/ 44 h 427"/>
                <a:gd name="T26" fmla="*/ 44 w 427"/>
                <a:gd name="T27" fmla="*/ 81 h 427"/>
                <a:gd name="T28" fmla="*/ 80 w 427"/>
                <a:gd name="T29" fmla="*/ 133 h 427"/>
                <a:gd name="T30" fmla="*/ 63 w 427"/>
                <a:gd name="T31" fmla="*/ 176 h 427"/>
                <a:gd name="T32" fmla="*/ 0 w 427"/>
                <a:gd name="T33" fmla="*/ 186 h 427"/>
                <a:gd name="T34" fmla="*/ 0 w 427"/>
                <a:gd name="T35" fmla="*/ 240 h 427"/>
                <a:gd name="T36" fmla="*/ 63 w 427"/>
                <a:gd name="T37" fmla="*/ 251 h 427"/>
                <a:gd name="T38" fmla="*/ 80 w 427"/>
                <a:gd name="T39" fmla="*/ 294 h 427"/>
                <a:gd name="T40" fmla="*/ 43 w 427"/>
                <a:gd name="T41" fmla="*/ 345 h 427"/>
                <a:gd name="T42" fmla="*/ 81 w 427"/>
                <a:gd name="T43" fmla="*/ 383 h 427"/>
                <a:gd name="T44" fmla="*/ 133 w 427"/>
                <a:gd name="T45" fmla="*/ 346 h 427"/>
                <a:gd name="T46" fmla="*/ 176 w 427"/>
                <a:gd name="T47" fmla="*/ 364 h 427"/>
                <a:gd name="T48" fmla="*/ 186 w 427"/>
                <a:gd name="T49" fmla="*/ 427 h 427"/>
                <a:gd name="T50" fmla="*/ 240 w 427"/>
                <a:gd name="T51" fmla="*/ 427 h 427"/>
                <a:gd name="T52" fmla="*/ 251 w 427"/>
                <a:gd name="T53" fmla="*/ 364 h 427"/>
                <a:gd name="T54" fmla="*/ 293 w 427"/>
                <a:gd name="T55" fmla="*/ 346 h 427"/>
                <a:gd name="T56" fmla="*/ 346 w 427"/>
                <a:gd name="T57" fmla="*/ 383 h 427"/>
                <a:gd name="T58" fmla="*/ 384 w 427"/>
                <a:gd name="T59" fmla="*/ 345 h 427"/>
                <a:gd name="T60" fmla="*/ 346 w 427"/>
                <a:gd name="T61" fmla="*/ 293 h 427"/>
                <a:gd name="T62" fmla="*/ 363 w 427"/>
                <a:gd name="T63" fmla="*/ 251 h 427"/>
                <a:gd name="T64" fmla="*/ 427 w 427"/>
                <a:gd name="T65" fmla="*/ 240 h 427"/>
                <a:gd name="T66" fmla="*/ 214 w 427"/>
                <a:gd name="T67" fmla="*/ 288 h 427"/>
                <a:gd name="T68" fmla="*/ 139 w 427"/>
                <a:gd name="T69" fmla="*/ 214 h 427"/>
                <a:gd name="T70" fmla="*/ 214 w 427"/>
                <a:gd name="T71" fmla="*/ 139 h 427"/>
                <a:gd name="T72" fmla="*/ 288 w 427"/>
                <a:gd name="T73" fmla="*/ 214 h 427"/>
                <a:gd name="T74" fmla="*/ 214 w 427"/>
                <a:gd name="T75" fmla="*/ 28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7" h="427">
                  <a:moveTo>
                    <a:pt x="427" y="240"/>
                  </a:moveTo>
                  <a:lnTo>
                    <a:pt x="427" y="186"/>
                  </a:lnTo>
                  <a:lnTo>
                    <a:pt x="363" y="176"/>
                  </a:lnTo>
                  <a:cubicBezTo>
                    <a:pt x="360" y="161"/>
                    <a:pt x="354" y="147"/>
                    <a:pt x="346" y="134"/>
                  </a:cubicBezTo>
                  <a:lnTo>
                    <a:pt x="383" y="81"/>
                  </a:lnTo>
                  <a:lnTo>
                    <a:pt x="345" y="44"/>
                  </a:lnTo>
                  <a:lnTo>
                    <a:pt x="293" y="81"/>
                  </a:lnTo>
                  <a:cubicBezTo>
                    <a:pt x="280" y="73"/>
                    <a:pt x="266" y="67"/>
                    <a:pt x="251" y="63"/>
                  </a:cubicBezTo>
                  <a:lnTo>
                    <a:pt x="240" y="0"/>
                  </a:lnTo>
                  <a:lnTo>
                    <a:pt x="186" y="0"/>
                  </a:lnTo>
                  <a:lnTo>
                    <a:pt x="176" y="63"/>
                  </a:lnTo>
                  <a:cubicBezTo>
                    <a:pt x="161" y="67"/>
                    <a:pt x="147" y="73"/>
                    <a:pt x="134" y="81"/>
                  </a:cubicBezTo>
                  <a:lnTo>
                    <a:pt x="82" y="44"/>
                  </a:lnTo>
                  <a:lnTo>
                    <a:pt x="44" y="81"/>
                  </a:lnTo>
                  <a:lnTo>
                    <a:pt x="80" y="133"/>
                  </a:lnTo>
                  <a:cubicBezTo>
                    <a:pt x="73" y="147"/>
                    <a:pt x="67" y="161"/>
                    <a:pt x="63" y="176"/>
                  </a:cubicBezTo>
                  <a:lnTo>
                    <a:pt x="0" y="186"/>
                  </a:lnTo>
                  <a:lnTo>
                    <a:pt x="0" y="240"/>
                  </a:lnTo>
                  <a:lnTo>
                    <a:pt x="63" y="251"/>
                  </a:lnTo>
                  <a:cubicBezTo>
                    <a:pt x="67" y="266"/>
                    <a:pt x="72" y="280"/>
                    <a:pt x="80" y="294"/>
                  </a:cubicBezTo>
                  <a:lnTo>
                    <a:pt x="43" y="345"/>
                  </a:lnTo>
                  <a:lnTo>
                    <a:pt x="81" y="383"/>
                  </a:lnTo>
                  <a:lnTo>
                    <a:pt x="133" y="346"/>
                  </a:lnTo>
                  <a:cubicBezTo>
                    <a:pt x="147" y="354"/>
                    <a:pt x="161" y="360"/>
                    <a:pt x="176" y="364"/>
                  </a:cubicBezTo>
                  <a:lnTo>
                    <a:pt x="186" y="427"/>
                  </a:lnTo>
                  <a:lnTo>
                    <a:pt x="240" y="427"/>
                  </a:lnTo>
                  <a:lnTo>
                    <a:pt x="251" y="364"/>
                  </a:lnTo>
                  <a:cubicBezTo>
                    <a:pt x="266" y="360"/>
                    <a:pt x="280" y="354"/>
                    <a:pt x="293" y="346"/>
                  </a:cubicBezTo>
                  <a:lnTo>
                    <a:pt x="346" y="383"/>
                  </a:lnTo>
                  <a:lnTo>
                    <a:pt x="384" y="345"/>
                  </a:lnTo>
                  <a:lnTo>
                    <a:pt x="346" y="293"/>
                  </a:lnTo>
                  <a:cubicBezTo>
                    <a:pt x="354" y="280"/>
                    <a:pt x="360" y="266"/>
                    <a:pt x="363" y="251"/>
                  </a:cubicBezTo>
                  <a:lnTo>
                    <a:pt x="427" y="240"/>
                  </a:lnTo>
                  <a:close/>
                  <a:moveTo>
                    <a:pt x="214" y="288"/>
                  </a:moveTo>
                  <a:cubicBezTo>
                    <a:pt x="173" y="288"/>
                    <a:pt x="139" y="255"/>
                    <a:pt x="139" y="214"/>
                  </a:cubicBezTo>
                  <a:cubicBezTo>
                    <a:pt x="139" y="173"/>
                    <a:pt x="173" y="139"/>
                    <a:pt x="214" y="139"/>
                  </a:cubicBezTo>
                  <a:cubicBezTo>
                    <a:pt x="255" y="139"/>
                    <a:pt x="288" y="173"/>
                    <a:pt x="288" y="214"/>
                  </a:cubicBezTo>
                  <a:cubicBezTo>
                    <a:pt x="288" y="255"/>
                    <a:pt x="255" y="288"/>
                    <a:pt x="214" y="288"/>
                  </a:cubicBez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27" name="TextZbs"/>
          <p:cNvSpPr/>
          <p:nvPr>
            <p:custDataLst>
              <p:tags r:id="rId7"/>
            </p:custDataLst>
          </p:nvPr>
        </p:nvSpPr>
        <p:spPr>
          <a:xfrm>
            <a:off x="7608714" y="4064341"/>
            <a:ext cx="1296144" cy="2160240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endParaRPr lang="ru-RU" sz="600" dirty="0" smtClean="0">
              <a:solidFill>
                <a:srgbClr val="545353"/>
              </a:solidFill>
            </a:endParaRPr>
          </a:p>
          <a:p>
            <a:endParaRPr lang="ru-RU" sz="600" b="0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28" name="Текст 13"/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294428" y="3817701"/>
            <a:ext cx="4565604" cy="2086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НПВ</a:t>
            </a:r>
            <a:r>
              <a:rPr lang="en-US" sz="800" dirty="0" smtClean="0">
                <a:solidFill>
                  <a:srgbClr val="545353"/>
                </a:solidFill>
                <a:cs typeface="Arabic Typesetting" pitchFamily="66" charset="-78"/>
              </a:rPr>
              <a:t> 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в ЗБС за календарное время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sp>
        <p:nvSpPr>
          <p:cNvPr id="30" name="RoundZbsDZO"/>
          <p:cNvSpPr/>
          <p:nvPr>
            <p:custDataLst>
              <p:tags r:id="rId9"/>
            </p:custDataLst>
          </p:nvPr>
        </p:nvSpPr>
        <p:spPr>
          <a:xfrm>
            <a:off x="7128284" y="4113076"/>
            <a:ext cx="216000" cy="216000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Текст 13"/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4974664" y="1124715"/>
            <a:ext cx="3924436" cy="2086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НПВ в ЭБ с начала года по ДО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sp>
        <p:nvSpPr>
          <p:cNvPr id="37" name="Текст 13"/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4968044" y="3825044"/>
            <a:ext cx="3924436" cy="2086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НПВ в ЗБС с начала года по ДО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graphicFrame>
        <p:nvGraphicFramePr>
          <p:cNvPr id="46" name="ChartDO_Zbs"/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371894952"/>
              </p:ext>
            </p:extLst>
          </p:nvPr>
        </p:nvGraphicFramePr>
        <p:xfrm>
          <a:off x="4974664" y="4037899"/>
          <a:ext cx="3881998" cy="24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24" name="Chart_Eb"/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500440400"/>
              </p:ext>
            </p:extLst>
          </p:nvPr>
        </p:nvGraphicFramePr>
        <p:xfrm>
          <a:off x="213919" y="1433400"/>
          <a:ext cx="4827911" cy="227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25" name="Chart_Zbs"/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763758412"/>
              </p:ext>
            </p:extLst>
          </p:nvPr>
        </p:nvGraphicFramePr>
        <p:xfrm>
          <a:off x="303854" y="4391782"/>
          <a:ext cx="4827911" cy="227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</p:spTree>
    <p:extLst>
      <p:ext uri="{BB962C8B-B14F-4D97-AF65-F5344CB8AC3E}">
        <p14:creationId xmlns:p14="http://schemas.microsoft.com/office/powerpoint/2010/main" val="1455762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6" name="ГПН-ННГ_Eb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4165207"/>
              </p:ext>
            </p:extLst>
          </p:nvPr>
        </p:nvGraphicFramePr>
        <p:xfrm>
          <a:off x="251520" y="1245609"/>
          <a:ext cx="2880020" cy="248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4" name="Заголовок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1259632" y="341140"/>
            <a:ext cx="7597348" cy="608400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Дирекция по добыче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Динамика НПВ в ЭБ за календарное время по ДО</a:t>
            </a:r>
            <a:endParaRPr lang="ru-RU" sz="1200" b="1" dirty="0">
              <a:solidFill>
                <a:srgbClr val="545353"/>
              </a:solidFill>
              <a:latin typeface="Arial" charset="0"/>
            </a:endParaRPr>
          </a:p>
        </p:txBody>
      </p:sp>
      <p:sp>
        <p:nvSpPr>
          <p:cNvPr id="24" name="Заголовок 3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303854" y="1088740"/>
            <a:ext cx="2719974" cy="2321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 smtClean="0"/>
              <a:t>Ноябрьск</a:t>
            </a:r>
            <a:endParaRPr lang="ru-RU" dirty="0"/>
          </a:p>
        </p:txBody>
      </p:sp>
      <p:sp>
        <p:nvSpPr>
          <p:cNvPr id="36" name="Заголовок 3"/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275856" y="1088741"/>
            <a:ext cx="2664296" cy="2321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 smtClean="0"/>
              <a:t>Муравленко</a:t>
            </a:r>
            <a:endParaRPr lang="ru-RU" dirty="0"/>
          </a:p>
        </p:txBody>
      </p:sp>
      <p:sp>
        <p:nvSpPr>
          <p:cNvPr id="39" name="Заголовок 3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6192180" y="1088741"/>
            <a:ext cx="2664295" cy="2321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 err="1"/>
              <a:t>Хантос</a:t>
            </a:r>
            <a:endParaRPr lang="ru-RU" dirty="0"/>
          </a:p>
        </p:txBody>
      </p:sp>
      <p:sp>
        <p:nvSpPr>
          <p:cNvPr id="44" name="Заголовок 3"/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303854" y="3807043"/>
            <a:ext cx="2719974" cy="2321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Восток</a:t>
            </a:r>
          </a:p>
        </p:txBody>
      </p:sp>
      <p:sp>
        <p:nvSpPr>
          <p:cNvPr id="56" name="Заголовок 3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3275856" y="3807043"/>
            <a:ext cx="2664296" cy="2321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Оренбург</a:t>
            </a:r>
          </a:p>
        </p:txBody>
      </p:sp>
      <p:grpSp>
        <p:nvGrpSpPr>
          <p:cNvPr id="27" name="Группа 26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303854" y="260648"/>
            <a:ext cx="803835" cy="890037"/>
            <a:chOff x="7051636" y="2029408"/>
            <a:chExt cx="561975" cy="571500"/>
          </a:xfrm>
        </p:grpSpPr>
        <p:grpSp>
          <p:nvGrpSpPr>
            <p:cNvPr id="28" name="Группа 27"/>
            <p:cNvGrpSpPr/>
            <p:nvPr/>
          </p:nvGrpSpPr>
          <p:grpSpPr>
            <a:xfrm>
              <a:off x="7051636" y="2029408"/>
              <a:ext cx="561975" cy="571500"/>
              <a:chOff x="7051636" y="2029408"/>
              <a:chExt cx="561975" cy="571500"/>
            </a:xfrm>
            <a:solidFill>
              <a:schemeClr val="accent2"/>
            </a:solidFill>
          </p:grpSpPr>
          <p:sp>
            <p:nvSpPr>
              <p:cNvPr id="30" name="Freeform 146"/>
              <p:cNvSpPr>
                <a:spLocks/>
              </p:cNvSpPr>
              <p:nvPr/>
            </p:nvSpPr>
            <p:spPr bwMode="auto">
              <a:xfrm>
                <a:off x="7051636" y="2248483"/>
                <a:ext cx="561975" cy="352425"/>
              </a:xfrm>
              <a:custGeom>
                <a:avLst/>
                <a:gdLst>
                  <a:gd name="T0" fmla="*/ 1522 w 1556"/>
                  <a:gd name="T1" fmla="*/ 444 h 977"/>
                  <a:gd name="T2" fmla="*/ 33 w 1556"/>
                  <a:gd name="T3" fmla="*/ 444 h 977"/>
                  <a:gd name="T4" fmla="*/ 0 w 1556"/>
                  <a:gd name="T5" fmla="*/ 478 h 977"/>
                  <a:gd name="T6" fmla="*/ 0 w 1556"/>
                  <a:gd name="T7" fmla="*/ 524 h 977"/>
                  <a:gd name="T8" fmla="*/ 33 w 1556"/>
                  <a:gd name="T9" fmla="*/ 558 h 977"/>
                  <a:gd name="T10" fmla="*/ 1522 w 1556"/>
                  <a:gd name="T11" fmla="*/ 558 h 977"/>
                  <a:gd name="T12" fmla="*/ 1556 w 1556"/>
                  <a:gd name="T13" fmla="*/ 524 h 977"/>
                  <a:gd name="T14" fmla="*/ 1556 w 1556"/>
                  <a:gd name="T15" fmla="*/ 478 h 977"/>
                  <a:gd name="T16" fmla="*/ 1522 w 1556"/>
                  <a:gd name="T17" fmla="*/ 44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6" h="977">
                    <a:moveTo>
                      <a:pt x="1522" y="444"/>
                    </a:moveTo>
                    <a:cubicBezTo>
                      <a:pt x="1031" y="444"/>
                      <a:pt x="391" y="444"/>
                      <a:pt x="33" y="444"/>
                    </a:cubicBezTo>
                    <a:cubicBezTo>
                      <a:pt x="15" y="444"/>
                      <a:pt x="0" y="459"/>
                      <a:pt x="0" y="478"/>
                    </a:cubicBezTo>
                    <a:cubicBezTo>
                      <a:pt x="0" y="977"/>
                      <a:pt x="0" y="0"/>
                      <a:pt x="0" y="524"/>
                    </a:cubicBezTo>
                    <a:cubicBezTo>
                      <a:pt x="0" y="543"/>
                      <a:pt x="15" y="558"/>
                      <a:pt x="33" y="558"/>
                    </a:cubicBezTo>
                    <a:cubicBezTo>
                      <a:pt x="560" y="558"/>
                      <a:pt x="1075" y="558"/>
                      <a:pt x="1522" y="558"/>
                    </a:cubicBezTo>
                    <a:cubicBezTo>
                      <a:pt x="1541" y="558"/>
                      <a:pt x="1556" y="543"/>
                      <a:pt x="1556" y="524"/>
                    </a:cubicBezTo>
                    <a:lnTo>
                      <a:pt x="1556" y="478"/>
                    </a:lnTo>
                    <a:cubicBezTo>
                      <a:pt x="1556" y="459"/>
                      <a:pt x="1541" y="444"/>
                      <a:pt x="1522" y="4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1" name="Oval 147"/>
              <p:cNvSpPr>
                <a:spLocks noChangeArrowheads="1"/>
              </p:cNvSpPr>
              <p:nvPr/>
            </p:nvSpPr>
            <p:spPr bwMode="auto">
              <a:xfrm>
                <a:off x="7167523" y="2029408"/>
                <a:ext cx="277813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2" name="Freeform 148"/>
              <p:cNvSpPr>
                <a:spLocks/>
              </p:cNvSpPr>
              <p:nvPr/>
            </p:nvSpPr>
            <p:spPr bwMode="auto">
              <a:xfrm>
                <a:off x="7167523" y="2237370"/>
                <a:ext cx="169863" cy="109538"/>
              </a:xfrm>
              <a:custGeom>
                <a:avLst/>
                <a:gdLst>
                  <a:gd name="T0" fmla="*/ 473 w 473"/>
                  <a:gd name="T1" fmla="*/ 226 h 302"/>
                  <a:gd name="T2" fmla="*/ 421 w 473"/>
                  <a:gd name="T3" fmla="*/ 170 h 302"/>
                  <a:gd name="T4" fmla="*/ 384 w 473"/>
                  <a:gd name="T5" fmla="*/ 171 h 302"/>
                  <a:gd name="T6" fmla="*/ 0 w 473"/>
                  <a:gd name="T7" fmla="*/ 0 h 302"/>
                  <a:gd name="T8" fmla="*/ 0 w 473"/>
                  <a:gd name="T9" fmla="*/ 131 h 302"/>
                  <a:gd name="T10" fmla="*/ 384 w 473"/>
                  <a:gd name="T11" fmla="*/ 302 h 302"/>
                  <a:gd name="T12" fmla="*/ 473 w 473"/>
                  <a:gd name="T13" fmla="*/ 297 h 302"/>
                  <a:gd name="T14" fmla="*/ 473 w 473"/>
                  <a:gd name="T15" fmla="*/ 226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3" h="302">
                    <a:moveTo>
                      <a:pt x="473" y="226"/>
                    </a:moveTo>
                    <a:cubicBezTo>
                      <a:pt x="446" y="219"/>
                      <a:pt x="426" y="197"/>
                      <a:pt x="421" y="170"/>
                    </a:cubicBezTo>
                    <a:cubicBezTo>
                      <a:pt x="409" y="171"/>
                      <a:pt x="3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ubicBezTo>
                      <a:pt x="415" y="302"/>
                      <a:pt x="444" y="300"/>
                      <a:pt x="473" y="297"/>
                    </a:cubicBezTo>
                    <a:cubicBezTo>
                      <a:pt x="461" y="275"/>
                      <a:pt x="460" y="248"/>
                      <a:pt x="473" y="2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3" name="Freeform 149"/>
              <p:cNvSpPr>
                <a:spLocks/>
              </p:cNvSpPr>
              <p:nvPr/>
            </p:nvSpPr>
            <p:spPr bwMode="auto">
              <a:xfrm>
                <a:off x="7167523" y="2172283"/>
                <a:ext cx="171450" cy="109538"/>
              </a:xfrm>
              <a:custGeom>
                <a:avLst/>
                <a:gdLst>
                  <a:gd name="T0" fmla="*/ 384 w 474"/>
                  <a:gd name="T1" fmla="*/ 302 h 302"/>
                  <a:gd name="T2" fmla="*/ 420 w 474"/>
                  <a:gd name="T3" fmla="*/ 301 h 302"/>
                  <a:gd name="T4" fmla="*/ 420 w 474"/>
                  <a:gd name="T5" fmla="*/ 281 h 302"/>
                  <a:gd name="T6" fmla="*/ 474 w 474"/>
                  <a:gd name="T7" fmla="*/ 213 h 302"/>
                  <a:gd name="T8" fmla="*/ 464 w 474"/>
                  <a:gd name="T9" fmla="*/ 167 h 302"/>
                  <a:gd name="T10" fmla="*/ 384 w 474"/>
                  <a:gd name="T11" fmla="*/ 171 h 302"/>
                  <a:gd name="T12" fmla="*/ 0 w 474"/>
                  <a:gd name="T13" fmla="*/ 0 h 302"/>
                  <a:gd name="T14" fmla="*/ 0 w 474"/>
                  <a:gd name="T15" fmla="*/ 131 h 302"/>
                  <a:gd name="T16" fmla="*/ 384 w 474"/>
                  <a:gd name="T1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4" h="302">
                    <a:moveTo>
                      <a:pt x="384" y="302"/>
                    </a:moveTo>
                    <a:cubicBezTo>
                      <a:pt x="396" y="302"/>
                      <a:pt x="408" y="302"/>
                      <a:pt x="420" y="301"/>
                    </a:cubicBezTo>
                    <a:lnTo>
                      <a:pt x="420" y="281"/>
                    </a:lnTo>
                    <a:cubicBezTo>
                      <a:pt x="420" y="249"/>
                      <a:pt x="442" y="220"/>
                      <a:pt x="474" y="213"/>
                    </a:cubicBezTo>
                    <a:cubicBezTo>
                      <a:pt x="465" y="199"/>
                      <a:pt x="463" y="183"/>
                      <a:pt x="464" y="167"/>
                    </a:cubicBezTo>
                    <a:cubicBezTo>
                      <a:pt x="439" y="170"/>
                      <a:pt x="412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4" name="Freeform 150"/>
              <p:cNvSpPr>
                <a:spLocks/>
              </p:cNvSpPr>
              <p:nvPr/>
            </p:nvSpPr>
            <p:spPr bwMode="auto">
              <a:xfrm>
                <a:off x="7167523" y="2108783"/>
                <a:ext cx="277813" cy="109538"/>
              </a:xfrm>
              <a:custGeom>
                <a:avLst/>
                <a:gdLst>
                  <a:gd name="T0" fmla="*/ 384 w 769"/>
                  <a:gd name="T1" fmla="*/ 302 h 302"/>
                  <a:gd name="T2" fmla="*/ 494 w 769"/>
                  <a:gd name="T3" fmla="*/ 295 h 302"/>
                  <a:gd name="T4" fmla="*/ 522 w 769"/>
                  <a:gd name="T5" fmla="*/ 266 h 302"/>
                  <a:gd name="T6" fmla="*/ 573 w 769"/>
                  <a:gd name="T7" fmla="*/ 245 h 302"/>
                  <a:gd name="T8" fmla="*/ 609 w 769"/>
                  <a:gd name="T9" fmla="*/ 255 h 302"/>
                  <a:gd name="T10" fmla="*/ 677 w 769"/>
                  <a:gd name="T11" fmla="*/ 202 h 302"/>
                  <a:gd name="T12" fmla="*/ 731 w 769"/>
                  <a:gd name="T13" fmla="*/ 202 h 302"/>
                  <a:gd name="T14" fmla="*/ 734 w 769"/>
                  <a:gd name="T15" fmla="*/ 202 h 302"/>
                  <a:gd name="T16" fmla="*/ 769 w 769"/>
                  <a:gd name="T17" fmla="*/ 131 h 302"/>
                  <a:gd name="T18" fmla="*/ 769 w 769"/>
                  <a:gd name="T19" fmla="*/ 0 h 302"/>
                  <a:gd name="T20" fmla="*/ 384 w 769"/>
                  <a:gd name="T21" fmla="*/ 171 h 302"/>
                  <a:gd name="T22" fmla="*/ 0 w 769"/>
                  <a:gd name="T23" fmla="*/ 0 h 302"/>
                  <a:gd name="T24" fmla="*/ 0 w 769"/>
                  <a:gd name="T25" fmla="*/ 131 h 302"/>
                  <a:gd name="T26" fmla="*/ 384 w 769"/>
                  <a:gd name="T2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9" h="302">
                    <a:moveTo>
                      <a:pt x="384" y="302"/>
                    </a:moveTo>
                    <a:cubicBezTo>
                      <a:pt x="422" y="302"/>
                      <a:pt x="459" y="299"/>
                      <a:pt x="494" y="295"/>
                    </a:cubicBezTo>
                    <a:lnTo>
                      <a:pt x="522" y="266"/>
                    </a:lnTo>
                    <a:cubicBezTo>
                      <a:pt x="536" y="252"/>
                      <a:pt x="554" y="245"/>
                      <a:pt x="573" y="245"/>
                    </a:cubicBezTo>
                    <a:cubicBezTo>
                      <a:pt x="585" y="245"/>
                      <a:pt x="598" y="249"/>
                      <a:pt x="609" y="255"/>
                    </a:cubicBezTo>
                    <a:cubicBezTo>
                      <a:pt x="617" y="224"/>
                      <a:pt x="645" y="202"/>
                      <a:pt x="677" y="202"/>
                    </a:cubicBezTo>
                    <a:lnTo>
                      <a:pt x="731" y="202"/>
                    </a:lnTo>
                    <a:cubicBezTo>
                      <a:pt x="732" y="202"/>
                      <a:pt x="733" y="202"/>
                      <a:pt x="734" y="202"/>
                    </a:cubicBezTo>
                    <a:cubicBezTo>
                      <a:pt x="756" y="180"/>
                      <a:pt x="769" y="156"/>
                      <a:pt x="769" y="131"/>
                    </a:cubicBezTo>
                    <a:lnTo>
                      <a:pt x="769" y="0"/>
                    </a:lnTo>
                    <a:cubicBezTo>
                      <a:pt x="769" y="94"/>
                      <a:pt x="5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sp>
          <p:nvSpPr>
            <p:cNvPr id="29" name="Freeform 151"/>
            <p:cNvSpPr>
              <a:spLocks noEditPoints="1"/>
            </p:cNvSpPr>
            <p:nvPr/>
          </p:nvSpPr>
          <p:spPr bwMode="auto">
            <a:xfrm>
              <a:off x="7343736" y="2207208"/>
              <a:ext cx="153988" cy="153988"/>
            </a:xfrm>
            <a:custGeom>
              <a:avLst/>
              <a:gdLst>
                <a:gd name="T0" fmla="*/ 427 w 427"/>
                <a:gd name="T1" fmla="*/ 240 h 427"/>
                <a:gd name="T2" fmla="*/ 427 w 427"/>
                <a:gd name="T3" fmla="*/ 186 h 427"/>
                <a:gd name="T4" fmla="*/ 363 w 427"/>
                <a:gd name="T5" fmla="*/ 176 h 427"/>
                <a:gd name="T6" fmla="*/ 346 w 427"/>
                <a:gd name="T7" fmla="*/ 134 h 427"/>
                <a:gd name="T8" fmla="*/ 383 w 427"/>
                <a:gd name="T9" fmla="*/ 81 h 427"/>
                <a:gd name="T10" fmla="*/ 345 w 427"/>
                <a:gd name="T11" fmla="*/ 44 h 427"/>
                <a:gd name="T12" fmla="*/ 293 w 427"/>
                <a:gd name="T13" fmla="*/ 81 h 427"/>
                <a:gd name="T14" fmla="*/ 251 w 427"/>
                <a:gd name="T15" fmla="*/ 63 h 427"/>
                <a:gd name="T16" fmla="*/ 240 w 427"/>
                <a:gd name="T17" fmla="*/ 0 h 427"/>
                <a:gd name="T18" fmla="*/ 186 w 427"/>
                <a:gd name="T19" fmla="*/ 0 h 427"/>
                <a:gd name="T20" fmla="*/ 176 w 427"/>
                <a:gd name="T21" fmla="*/ 63 h 427"/>
                <a:gd name="T22" fmla="*/ 134 w 427"/>
                <a:gd name="T23" fmla="*/ 81 h 427"/>
                <a:gd name="T24" fmla="*/ 82 w 427"/>
                <a:gd name="T25" fmla="*/ 44 h 427"/>
                <a:gd name="T26" fmla="*/ 44 w 427"/>
                <a:gd name="T27" fmla="*/ 81 h 427"/>
                <a:gd name="T28" fmla="*/ 80 w 427"/>
                <a:gd name="T29" fmla="*/ 133 h 427"/>
                <a:gd name="T30" fmla="*/ 63 w 427"/>
                <a:gd name="T31" fmla="*/ 176 h 427"/>
                <a:gd name="T32" fmla="*/ 0 w 427"/>
                <a:gd name="T33" fmla="*/ 186 h 427"/>
                <a:gd name="T34" fmla="*/ 0 w 427"/>
                <a:gd name="T35" fmla="*/ 240 h 427"/>
                <a:gd name="T36" fmla="*/ 63 w 427"/>
                <a:gd name="T37" fmla="*/ 251 h 427"/>
                <a:gd name="T38" fmla="*/ 80 w 427"/>
                <a:gd name="T39" fmla="*/ 294 h 427"/>
                <a:gd name="T40" fmla="*/ 43 w 427"/>
                <a:gd name="T41" fmla="*/ 345 h 427"/>
                <a:gd name="T42" fmla="*/ 81 w 427"/>
                <a:gd name="T43" fmla="*/ 383 h 427"/>
                <a:gd name="T44" fmla="*/ 133 w 427"/>
                <a:gd name="T45" fmla="*/ 346 h 427"/>
                <a:gd name="T46" fmla="*/ 176 w 427"/>
                <a:gd name="T47" fmla="*/ 364 h 427"/>
                <a:gd name="T48" fmla="*/ 186 w 427"/>
                <a:gd name="T49" fmla="*/ 427 h 427"/>
                <a:gd name="T50" fmla="*/ 240 w 427"/>
                <a:gd name="T51" fmla="*/ 427 h 427"/>
                <a:gd name="T52" fmla="*/ 251 w 427"/>
                <a:gd name="T53" fmla="*/ 364 h 427"/>
                <a:gd name="T54" fmla="*/ 293 w 427"/>
                <a:gd name="T55" fmla="*/ 346 h 427"/>
                <a:gd name="T56" fmla="*/ 346 w 427"/>
                <a:gd name="T57" fmla="*/ 383 h 427"/>
                <a:gd name="T58" fmla="*/ 384 w 427"/>
                <a:gd name="T59" fmla="*/ 345 h 427"/>
                <a:gd name="T60" fmla="*/ 346 w 427"/>
                <a:gd name="T61" fmla="*/ 293 h 427"/>
                <a:gd name="T62" fmla="*/ 363 w 427"/>
                <a:gd name="T63" fmla="*/ 251 h 427"/>
                <a:gd name="T64" fmla="*/ 427 w 427"/>
                <a:gd name="T65" fmla="*/ 240 h 427"/>
                <a:gd name="T66" fmla="*/ 214 w 427"/>
                <a:gd name="T67" fmla="*/ 288 h 427"/>
                <a:gd name="T68" fmla="*/ 139 w 427"/>
                <a:gd name="T69" fmla="*/ 214 h 427"/>
                <a:gd name="T70" fmla="*/ 214 w 427"/>
                <a:gd name="T71" fmla="*/ 139 h 427"/>
                <a:gd name="T72" fmla="*/ 288 w 427"/>
                <a:gd name="T73" fmla="*/ 214 h 427"/>
                <a:gd name="T74" fmla="*/ 214 w 427"/>
                <a:gd name="T75" fmla="*/ 28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7" h="427">
                  <a:moveTo>
                    <a:pt x="427" y="240"/>
                  </a:moveTo>
                  <a:lnTo>
                    <a:pt x="427" y="186"/>
                  </a:lnTo>
                  <a:lnTo>
                    <a:pt x="363" y="176"/>
                  </a:lnTo>
                  <a:cubicBezTo>
                    <a:pt x="360" y="161"/>
                    <a:pt x="354" y="147"/>
                    <a:pt x="346" y="134"/>
                  </a:cubicBezTo>
                  <a:lnTo>
                    <a:pt x="383" y="81"/>
                  </a:lnTo>
                  <a:lnTo>
                    <a:pt x="345" y="44"/>
                  </a:lnTo>
                  <a:lnTo>
                    <a:pt x="293" y="81"/>
                  </a:lnTo>
                  <a:cubicBezTo>
                    <a:pt x="280" y="73"/>
                    <a:pt x="266" y="67"/>
                    <a:pt x="251" y="63"/>
                  </a:cubicBezTo>
                  <a:lnTo>
                    <a:pt x="240" y="0"/>
                  </a:lnTo>
                  <a:lnTo>
                    <a:pt x="186" y="0"/>
                  </a:lnTo>
                  <a:lnTo>
                    <a:pt x="176" y="63"/>
                  </a:lnTo>
                  <a:cubicBezTo>
                    <a:pt x="161" y="67"/>
                    <a:pt x="147" y="73"/>
                    <a:pt x="134" y="81"/>
                  </a:cubicBezTo>
                  <a:lnTo>
                    <a:pt x="82" y="44"/>
                  </a:lnTo>
                  <a:lnTo>
                    <a:pt x="44" y="81"/>
                  </a:lnTo>
                  <a:lnTo>
                    <a:pt x="80" y="133"/>
                  </a:lnTo>
                  <a:cubicBezTo>
                    <a:pt x="73" y="147"/>
                    <a:pt x="67" y="161"/>
                    <a:pt x="63" y="176"/>
                  </a:cubicBezTo>
                  <a:lnTo>
                    <a:pt x="0" y="186"/>
                  </a:lnTo>
                  <a:lnTo>
                    <a:pt x="0" y="240"/>
                  </a:lnTo>
                  <a:lnTo>
                    <a:pt x="63" y="251"/>
                  </a:lnTo>
                  <a:cubicBezTo>
                    <a:pt x="67" y="266"/>
                    <a:pt x="72" y="280"/>
                    <a:pt x="80" y="294"/>
                  </a:cubicBezTo>
                  <a:lnTo>
                    <a:pt x="43" y="345"/>
                  </a:lnTo>
                  <a:lnTo>
                    <a:pt x="81" y="383"/>
                  </a:lnTo>
                  <a:lnTo>
                    <a:pt x="133" y="346"/>
                  </a:lnTo>
                  <a:cubicBezTo>
                    <a:pt x="147" y="354"/>
                    <a:pt x="161" y="360"/>
                    <a:pt x="176" y="364"/>
                  </a:cubicBezTo>
                  <a:lnTo>
                    <a:pt x="186" y="427"/>
                  </a:lnTo>
                  <a:lnTo>
                    <a:pt x="240" y="427"/>
                  </a:lnTo>
                  <a:lnTo>
                    <a:pt x="251" y="364"/>
                  </a:lnTo>
                  <a:cubicBezTo>
                    <a:pt x="266" y="360"/>
                    <a:pt x="280" y="354"/>
                    <a:pt x="293" y="346"/>
                  </a:cubicBezTo>
                  <a:lnTo>
                    <a:pt x="346" y="383"/>
                  </a:lnTo>
                  <a:lnTo>
                    <a:pt x="384" y="345"/>
                  </a:lnTo>
                  <a:lnTo>
                    <a:pt x="346" y="293"/>
                  </a:lnTo>
                  <a:cubicBezTo>
                    <a:pt x="354" y="280"/>
                    <a:pt x="360" y="266"/>
                    <a:pt x="363" y="251"/>
                  </a:cubicBezTo>
                  <a:lnTo>
                    <a:pt x="427" y="240"/>
                  </a:lnTo>
                  <a:close/>
                  <a:moveTo>
                    <a:pt x="214" y="288"/>
                  </a:moveTo>
                  <a:cubicBezTo>
                    <a:pt x="173" y="288"/>
                    <a:pt x="139" y="255"/>
                    <a:pt x="139" y="214"/>
                  </a:cubicBezTo>
                  <a:cubicBezTo>
                    <a:pt x="139" y="173"/>
                    <a:pt x="173" y="139"/>
                    <a:pt x="214" y="139"/>
                  </a:cubicBezTo>
                  <a:cubicBezTo>
                    <a:pt x="255" y="139"/>
                    <a:pt x="288" y="173"/>
                    <a:pt x="288" y="214"/>
                  </a:cubicBezTo>
                  <a:cubicBezTo>
                    <a:pt x="288" y="255"/>
                    <a:pt x="255" y="288"/>
                    <a:pt x="214" y="288"/>
                  </a:cubicBez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aphicFrame>
        <p:nvGraphicFramePr>
          <p:cNvPr id="35" name="LegendDo_Eb"/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741205254"/>
              </p:ext>
            </p:extLst>
          </p:nvPr>
        </p:nvGraphicFramePr>
        <p:xfrm>
          <a:off x="6134621" y="3807043"/>
          <a:ext cx="2700000" cy="248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37" name="ГПН-МН_Eb"/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948381456"/>
              </p:ext>
            </p:extLst>
          </p:nvPr>
        </p:nvGraphicFramePr>
        <p:xfrm>
          <a:off x="3179306" y="1245427"/>
          <a:ext cx="2880020" cy="248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38" name="ГПН-Хантос_Eb"/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545308747"/>
              </p:ext>
            </p:extLst>
          </p:nvPr>
        </p:nvGraphicFramePr>
        <p:xfrm>
          <a:off x="6107092" y="1320932"/>
          <a:ext cx="2880020" cy="248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40" name="ГПН-Восток_Eb"/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504117645"/>
              </p:ext>
            </p:extLst>
          </p:nvPr>
        </p:nvGraphicFramePr>
        <p:xfrm>
          <a:off x="303854" y="4043213"/>
          <a:ext cx="2880020" cy="248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graphicFrame>
        <p:nvGraphicFramePr>
          <p:cNvPr id="41" name="ГПН-Оренбург_Eb"/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59528243"/>
              </p:ext>
            </p:extLst>
          </p:nvPr>
        </p:nvGraphicFramePr>
        <p:xfrm>
          <a:off x="3242325" y="4039235"/>
          <a:ext cx="2880020" cy="248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</p:spTree>
    <p:extLst>
      <p:ext uri="{BB962C8B-B14F-4D97-AF65-F5344CB8AC3E}">
        <p14:creationId xmlns:p14="http://schemas.microsoft.com/office/powerpoint/2010/main" val="298436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223628" y="341140"/>
            <a:ext cx="7633352" cy="608400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Дирекция по добыче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Динамика НПВ в ЗБС за календарное время по ДО</a:t>
            </a:r>
            <a:endParaRPr lang="ru-RU" sz="1200" b="1" dirty="0">
              <a:solidFill>
                <a:srgbClr val="545353"/>
              </a:solidFill>
              <a:latin typeface="Arial" charset="0"/>
            </a:endParaRPr>
          </a:p>
        </p:txBody>
      </p:sp>
      <p:grpSp>
        <p:nvGrpSpPr>
          <p:cNvPr id="25" name="Группа 24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03854" y="260648"/>
            <a:ext cx="803835" cy="890037"/>
            <a:chOff x="7051636" y="2029408"/>
            <a:chExt cx="561975" cy="571500"/>
          </a:xfrm>
        </p:grpSpPr>
        <p:grpSp>
          <p:nvGrpSpPr>
            <p:cNvPr id="30" name="Группа 29"/>
            <p:cNvGrpSpPr/>
            <p:nvPr/>
          </p:nvGrpSpPr>
          <p:grpSpPr>
            <a:xfrm>
              <a:off x="7051636" y="2029408"/>
              <a:ext cx="561975" cy="571500"/>
              <a:chOff x="7051636" y="2029408"/>
              <a:chExt cx="561975" cy="571500"/>
            </a:xfrm>
            <a:solidFill>
              <a:schemeClr val="accent2"/>
            </a:solidFill>
          </p:grpSpPr>
          <p:sp>
            <p:nvSpPr>
              <p:cNvPr id="32" name="Freeform 146"/>
              <p:cNvSpPr>
                <a:spLocks/>
              </p:cNvSpPr>
              <p:nvPr/>
            </p:nvSpPr>
            <p:spPr bwMode="auto">
              <a:xfrm>
                <a:off x="7051636" y="2248483"/>
                <a:ext cx="561975" cy="352425"/>
              </a:xfrm>
              <a:custGeom>
                <a:avLst/>
                <a:gdLst>
                  <a:gd name="T0" fmla="*/ 1522 w 1556"/>
                  <a:gd name="T1" fmla="*/ 444 h 977"/>
                  <a:gd name="T2" fmla="*/ 33 w 1556"/>
                  <a:gd name="T3" fmla="*/ 444 h 977"/>
                  <a:gd name="T4" fmla="*/ 0 w 1556"/>
                  <a:gd name="T5" fmla="*/ 478 h 977"/>
                  <a:gd name="T6" fmla="*/ 0 w 1556"/>
                  <a:gd name="T7" fmla="*/ 524 h 977"/>
                  <a:gd name="T8" fmla="*/ 33 w 1556"/>
                  <a:gd name="T9" fmla="*/ 558 h 977"/>
                  <a:gd name="T10" fmla="*/ 1522 w 1556"/>
                  <a:gd name="T11" fmla="*/ 558 h 977"/>
                  <a:gd name="T12" fmla="*/ 1556 w 1556"/>
                  <a:gd name="T13" fmla="*/ 524 h 977"/>
                  <a:gd name="T14" fmla="*/ 1556 w 1556"/>
                  <a:gd name="T15" fmla="*/ 478 h 977"/>
                  <a:gd name="T16" fmla="*/ 1522 w 1556"/>
                  <a:gd name="T17" fmla="*/ 44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6" h="977">
                    <a:moveTo>
                      <a:pt x="1522" y="444"/>
                    </a:moveTo>
                    <a:cubicBezTo>
                      <a:pt x="1031" y="444"/>
                      <a:pt x="391" y="444"/>
                      <a:pt x="33" y="444"/>
                    </a:cubicBezTo>
                    <a:cubicBezTo>
                      <a:pt x="15" y="444"/>
                      <a:pt x="0" y="459"/>
                      <a:pt x="0" y="478"/>
                    </a:cubicBezTo>
                    <a:cubicBezTo>
                      <a:pt x="0" y="977"/>
                      <a:pt x="0" y="0"/>
                      <a:pt x="0" y="524"/>
                    </a:cubicBezTo>
                    <a:cubicBezTo>
                      <a:pt x="0" y="543"/>
                      <a:pt x="15" y="558"/>
                      <a:pt x="33" y="558"/>
                    </a:cubicBezTo>
                    <a:cubicBezTo>
                      <a:pt x="560" y="558"/>
                      <a:pt x="1075" y="558"/>
                      <a:pt x="1522" y="558"/>
                    </a:cubicBezTo>
                    <a:cubicBezTo>
                      <a:pt x="1541" y="558"/>
                      <a:pt x="1556" y="543"/>
                      <a:pt x="1556" y="524"/>
                    </a:cubicBezTo>
                    <a:lnTo>
                      <a:pt x="1556" y="478"/>
                    </a:lnTo>
                    <a:cubicBezTo>
                      <a:pt x="1556" y="459"/>
                      <a:pt x="1541" y="444"/>
                      <a:pt x="1522" y="4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3" name="Oval 147"/>
              <p:cNvSpPr>
                <a:spLocks noChangeArrowheads="1"/>
              </p:cNvSpPr>
              <p:nvPr/>
            </p:nvSpPr>
            <p:spPr bwMode="auto">
              <a:xfrm>
                <a:off x="7167523" y="2029408"/>
                <a:ext cx="277813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4" name="Freeform 148"/>
              <p:cNvSpPr>
                <a:spLocks/>
              </p:cNvSpPr>
              <p:nvPr/>
            </p:nvSpPr>
            <p:spPr bwMode="auto">
              <a:xfrm>
                <a:off x="7167523" y="2237370"/>
                <a:ext cx="169863" cy="109538"/>
              </a:xfrm>
              <a:custGeom>
                <a:avLst/>
                <a:gdLst>
                  <a:gd name="T0" fmla="*/ 473 w 473"/>
                  <a:gd name="T1" fmla="*/ 226 h 302"/>
                  <a:gd name="T2" fmla="*/ 421 w 473"/>
                  <a:gd name="T3" fmla="*/ 170 h 302"/>
                  <a:gd name="T4" fmla="*/ 384 w 473"/>
                  <a:gd name="T5" fmla="*/ 171 h 302"/>
                  <a:gd name="T6" fmla="*/ 0 w 473"/>
                  <a:gd name="T7" fmla="*/ 0 h 302"/>
                  <a:gd name="T8" fmla="*/ 0 w 473"/>
                  <a:gd name="T9" fmla="*/ 131 h 302"/>
                  <a:gd name="T10" fmla="*/ 384 w 473"/>
                  <a:gd name="T11" fmla="*/ 302 h 302"/>
                  <a:gd name="T12" fmla="*/ 473 w 473"/>
                  <a:gd name="T13" fmla="*/ 297 h 302"/>
                  <a:gd name="T14" fmla="*/ 473 w 473"/>
                  <a:gd name="T15" fmla="*/ 226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3" h="302">
                    <a:moveTo>
                      <a:pt x="473" y="226"/>
                    </a:moveTo>
                    <a:cubicBezTo>
                      <a:pt x="446" y="219"/>
                      <a:pt x="426" y="197"/>
                      <a:pt x="421" y="170"/>
                    </a:cubicBezTo>
                    <a:cubicBezTo>
                      <a:pt x="409" y="171"/>
                      <a:pt x="3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ubicBezTo>
                      <a:pt x="415" y="302"/>
                      <a:pt x="444" y="300"/>
                      <a:pt x="473" y="297"/>
                    </a:cubicBezTo>
                    <a:cubicBezTo>
                      <a:pt x="461" y="275"/>
                      <a:pt x="460" y="248"/>
                      <a:pt x="473" y="2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5" name="Freeform 149"/>
              <p:cNvSpPr>
                <a:spLocks/>
              </p:cNvSpPr>
              <p:nvPr/>
            </p:nvSpPr>
            <p:spPr bwMode="auto">
              <a:xfrm>
                <a:off x="7167523" y="2172283"/>
                <a:ext cx="171450" cy="109538"/>
              </a:xfrm>
              <a:custGeom>
                <a:avLst/>
                <a:gdLst>
                  <a:gd name="T0" fmla="*/ 384 w 474"/>
                  <a:gd name="T1" fmla="*/ 302 h 302"/>
                  <a:gd name="T2" fmla="*/ 420 w 474"/>
                  <a:gd name="T3" fmla="*/ 301 h 302"/>
                  <a:gd name="T4" fmla="*/ 420 w 474"/>
                  <a:gd name="T5" fmla="*/ 281 h 302"/>
                  <a:gd name="T6" fmla="*/ 474 w 474"/>
                  <a:gd name="T7" fmla="*/ 213 h 302"/>
                  <a:gd name="T8" fmla="*/ 464 w 474"/>
                  <a:gd name="T9" fmla="*/ 167 h 302"/>
                  <a:gd name="T10" fmla="*/ 384 w 474"/>
                  <a:gd name="T11" fmla="*/ 171 h 302"/>
                  <a:gd name="T12" fmla="*/ 0 w 474"/>
                  <a:gd name="T13" fmla="*/ 0 h 302"/>
                  <a:gd name="T14" fmla="*/ 0 w 474"/>
                  <a:gd name="T15" fmla="*/ 131 h 302"/>
                  <a:gd name="T16" fmla="*/ 384 w 474"/>
                  <a:gd name="T1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4" h="302">
                    <a:moveTo>
                      <a:pt x="384" y="302"/>
                    </a:moveTo>
                    <a:cubicBezTo>
                      <a:pt x="396" y="302"/>
                      <a:pt x="408" y="302"/>
                      <a:pt x="420" y="301"/>
                    </a:cubicBezTo>
                    <a:lnTo>
                      <a:pt x="420" y="281"/>
                    </a:lnTo>
                    <a:cubicBezTo>
                      <a:pt x="420" y="249"/>
                      <a:pt x="442" y="220"/>
                      <a:pt x="474" y="213"/>
                    </a:cubicBezTo>
                    <a:cubicBezTo>
                      <a:pt x="465" y="199"/>
                      <a:pt x="463" y="183"/>
                      <a:pt x="464" y="167"/>
                    </a:cubicBezTo>
                    <a:cubicBezTo>
                      <a:pt x="439" y="170"/>
                      <a:pt x="412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7" name="Freeform 150"/>
              <p:cNvSpPr>
                <a:spLocks/>
              </p:cNvSpPr>
              <p:nvPr/>
            </p:nvSpPr>
            <p:spPr bwMode="auto">
              <a:xfrm>
                <a:off x="7167523" y="2108783"/>
                <a:ext cx="277813" cy="109538"/>
              </a:xfrm>
              <a:custGeom>
                <a:avLst/>
                <a:gdLst>
                  <a:gd name="T0" fmla="*/ 384 w 769"/>
                  <a:gd name="T1" fmla="*/ 302 h 302"/>
                  <a:gd name="T2" fmla="*/ 494 w 769"/>
                  <a:gd name="T3" fmla="*/ 295 h 302"/>
                  <a:gd name="T4" fmla="*/ 522 w 769"/>
                  <a:gd name="T5" fmla="*/ 266 h 302"/>
                  <a:gd name="T6" fmla="*/ 573 w 769"/>
                  <a:gd name="T7" fmla="*/ 245 h 302"/>
                  <a:gd name="T8" fmla="*/ 609 w 769"/>
                  <a:gd name="T9" fmla="*/ 255 h 302"/>
                  <a:gd name="T10" fmla="*/ 677 w 769"/>
                  <a:gd name="T11" fmla="*/ 202 h 302"/>
                  <a:gd name="T12" fmla="*/ 731 w 769"/>
                  <a:gd name="T13" fmla="*/ 202 h 302"/>
                  <a:gd name="T14" fmla="*/ 734 w 769"/>
                  <a:gd name="T15" fmla="*/ 202 h 302"/>
                  <a:gd name="T16" fmla="*/ 769 w 769"/>
                  <a:gd name="T17" fmla="*/ 131 h 302"/>
                  <a:gd name="T18" fmla="*/ 769 w 769"/>
                  <a:gd name="T19" fmla="*/ 0 h 302"/>
                  <a:gd name="T20" fmla="*/ 384 w 769"/>
                  <a:gd name="T21" fmla="*/ 171 h 302"/>
                  <a:gd name="T22" fmla="*/ 0 w 769"/>
                  <a:gd name="T23" fmla="*/ 0 h 302"/>
                  <a:gd name="T24" fmla="*/ 0 w 769"/>
                  <a:gd name="T25" fmla="*/ 131 h 302"/>
                  <a:gd name="T26" fmla="*/ 384 w 769"/>
                  <a:gd name="T2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9" h="302">
                    <a:moveTo>
                      <a:pt x="384" y="302"/>
                    </a:moveTo>
                    <a:cubicBezTo>
                      <a:pt x="422" y="302"/>
                      <a:pt x="459" y="299"/>
                      <a:pt x="494" y="295"/>
                    </a:cubicBezTo>
                    <a:lnTo>
                      <a:pt x="522" y="266"/>
                    </a:lnTo>
                    <a:cubicBezTo>
                      <a:pt x="536" y="252"/>
                      <a:pt x="554" y="245"/>
                      <a:pt x="573" y="245"/>
                    </a:cubicBezTo>
                    <a:cubicBezTo>
                      <a:pt x="585" y="245"/>
                      <a:pt x="598" y="249"/>
                      <a:pt x="609" y="255"/>
                    </a:cubicBezTo>
                    <a:cubicBezTo>
                      <a:pt x="617" y="224"/>
                      <a:pt x="645" y="202"/>
                      <a:pt x="677" y="202"/>
                    </a:cubicBezTo>
                    <a:lnTo>
                      <a:pt x="731" y="202"/>
                    </a:lnTo>
                    <a:cubicBezTo>
                      <a:pt x="732" y="202"/>
                      <a:pt x="733" y="202"/>
                      <a:pt x="734" y="202"/>
                    </a:cubicBezTo>
                    <a:cubicBezTo>
                      <a:pt x="756" y="180"/>
                      <a:pt x="769" y="156"/>
                      <a:pt x="769" y="131"/>
                    </a:cubicBezTo>
                    <a:lnTo>
                      <a:pt x="769" y="0"/>
                    </a:lnTo>
                    <a:cubicBezTo>
                      <a:pt x="769" y="94"/>
                      <a:pt x="5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sp>
          <p:nvSpPr>
            <p:cNvPr id="31" name="Freeform 151"/>
            <p:cNvSpPr>
              <a:spLocks noEditPoints="1"/>
            </p:cNvSpPr>
            <p:nvPr/>
          </p:nvSpPr>
          <p:spPr bwMode="auto">
            <a:xfrm>
              <a:off x="7343736" y="2207208"/>
              <a:ext cx="153988" cy="153988"/>
            </a:xfrm>
            <a:custGeom>
              <a:avLst/>
              <a:gdLst>
                <a:gd name="T0" fmla="*/ 427 w 427"/>
                <a:gd name="T1" fmla="*/ 240 h 427"/>
                <a:gd name="T2" fmla="*/ 427 w 427"/>
                <a:gd name="T3" fmla="*/ 186 h 427"/>
                <a:gd name="T4" fmla="*/ 363 w 427"/>
                <a:gd name="T5" fmla="*/ 176 h 427"/>
                <a:gd name="T6" fmla="*/ 346 w 427"/>
                <a:gd name="T7" fmla="*/ 134 h 427"/>
                <a:gd name="T8" fmla="*/ 383 w 427"/>
                <a:gd name="T9" fmla="*/ 81 h 427"/>
                <a:gd name="T10" fmla="*/ 345 w 427"/>
                <a:gd name="T11" fmla="*/ 44 h 427"/>
                <a:gd name="T12" fmla="*/ 293 w 427"/>
                <a:gd name="T13" fmla="*/ 81 h 427"/>
                <a:gd name="T14" fmla="*/ 251 w 427"/>
                <a:gd name="T15" fmla="*/ 63 h 427"/>
                <a:gd name="T16" fmla="*/ 240 w 427"/>
                <a:gd name="T17" fmla="*/ 0 h 427"/>
                <a:gd name="T18" fmla="*/ 186 w 427"/>
                <a:gd name="T19" fmla="*/ 0 h 427"/>
                <a:gd name="T20" fmla="*/ 176 w 427"/>
                <a:gd name="T21" fmla="*/ 63 h 427"/>
                <a:gd name="T22" fmla="*/ 134 w 427"/>
                <a:gd name="T23" fmla="*/ 81 h 427"/>
                <a:gd name="T24" fmla="*/ 82 w 427"/>
                <a:gd name="T25" fmla="*/ 44 h 427"/>
                <a:gd name="T26" fmla="*/ 44 w 427"/>
                <a:gd name="T27" fmla="*/ 81 h 427"/>
                <a:gd name="T28" fmla="*/ 80 w 427"/>
                <a:gd name="T29" fmla="*/ 133 h 427"/>
                <a:gd name="T30" fmla="*/ 63 w 427"/>
                <a:gd name="T31" fmla="*/ 176 h 427"/>
                <a:gd name="T32" fmla="*/ 0 w 427"/>
                <a:gd name="T33" fmla="*/ 186 h 427"/>
                <a:gd name="T34" fmla="*/ 0 w 427"/>
                <a:gd name="T35" fmla="*/ 240 h 427"/>
                <a:gd name="T36" fmla="*/ 63 w 427"/>
                <a:gd name="T37" fmla="*/ 251 h 427"/>
                <a:gd name="T38" fmla="*/ 80 w 427"/>
                <a:gd name="T39" fmla="*/ 294 h 427"/>
                <a:gd name="T40" fmla="*/ 43 w 427"/>
                <a:gd name="T41" fmla="*/ 345 h 427"/>
                <a:gd name="T42" fmla="*/ 81 w 427"/>
                <a:gd name="T43" fmla="*/ 383 h 427"/>
                <a:gd name="T44" fmla="*/ 133 w 427"/>
                <a:gd name="T45" fmla="*/ 346 h 427"/>
                <a:gd name="T46" fmla="*/ 176 w 427"/>
                <a:gd name="T47" fmla="*/ 364 h 427"/>
                <a:gd name="T48" fmla="*/ 186 w 427"/>
                <a:gd name="T49" fmla="*/ 427 h 427"/>
                <a:gd name="T50" fmla="*/ 240 w 427"/>
                <a:gd name="T51" fmla="*/ 427 h 427"/>
                <a:gd name="T52" fmla="*/ 251 w 427"/>
                <a:gd name="T53" fmla="*/ 364 h 427"/>
                <a:gd name="T54" fmla="*/ 293 w 427"/>
                <a:gd name="T55" fmla="*/ 346 h 427"/>
                <a:gd name="T56" fmla="*/ 346 w 427"/>
                <a:gd name="T57" fmla="*/ 383 h 427"/>
                <a:gd name="T58" fmla="*/ 384 w 427"/>
                <a:gd name="T59" fmla="*/ 345 h 427"/>
                <a:gd name="T60" fmla="*/ 346 w 427"/>
                <a:gd name="T61" fmla="*/ 293 h 427"/>
                <a:gd name="T62" fmla="*/ 363 w 427"/>
                <a:gd name="T63" fmla="*/ 251 h 427"/>
                <a:gd name="T64" fmla="*/ 427 w 427"/>
                <a:gd name="T65" fmla="*/ 240 h 427"/>
                <a:gd name="T66" fmla="*/ 214 w 427"/>
                <a:gd name="T67" fmla="*/ 288 h 427"/>
                <a:gd name="T68" fmla="*/ 139 w 427"/>
                <a:gd name="T69" fmla="*/ 214 h 427"/>
                <a:gd name="T70" fmla="*/ 214 w 427"/>
                <a:gd name="T71" fmla="*/ 139 h 427"/>
                <a:gd name="T72" fmla="*/ 288 w 427"/>
                <a:gd name="T73" fmla="*/ 214 h 427"/>
                <a:gd name="T74" fmla="*/ 214 w 427"/>
                <a:gd name="T75" fmla="*/ 28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7" h="427">
                  <a:moveTo>
                    <a:pt x="427" y="240"/>
                  </a:moveTo>
                  <a:lnTo>
                    <a:pt x="427" y="186"/>
                  </a:lnTo>
                  <a:lnTo>
                    <a:pt x="363" y="176"/>
                  </a:lnTo>
                  <a:cubicBezTo>
                    <a:pt x="360" y="161"/>
                    <a:pt x="354" y="147"/>
                    <a:pt x="346" y="134"/>
                  </a:cubicBezTo>
                  <a:lnTo>
                    <a:pt x="383" y="81"/>
                  </a:lnTo>
                  <a:lnTo>
                    <a:pt x="345" y="44"/>
                  </a:lnTo>
                  <a:lnTo>
                    <a:pt x="293" y="81"/>
                  </a:lnTo>
                  <a:cubicBezTo>
                    <a:pt x="280" y="73"/>
                    <a:pt x="266" y="67"/>
                    <a:pt x="251" y="63"/>
                  </a:cubicBezTo>
                  <a:lnTo>
                    <a:pt x="240" y="0"/>
                  </a:lnTo>
                  <a:lnTo>
                    <a:pt x="186" y="0"/>
                  </a:lnTo>
                  <a:lnTo>
                    <a:pt x="176" y="63"/>
                  </a:lnTo>
                  <a:cubicBezTo>
                    <a:pt x="161" y="67"/>
                    <a:pt x="147" y="73"/>
                    <a:pt x="134" y="81"/>
                  </a:cubicBezTo>
                  <a:lnTo>
                    <a:pt x="82" y="44"/>
                  </a:lnTo>
                  <a:lnTo>
                    <a:pt x="44" y="81"/>
                  </a:lnTo>
                  <a:lnTo>
                    <a:pt x="80" y="133"/>
                  </a:lnTo>
                  <a:cubicBezTo>
                    <a:pt x="73" y="147"/>
                    <a:pt x="67" y="161"/>
                    <a:pt x="63" y="176"/>
                  </a:cubicBezTo>
                  <a:lnTo>
                    <a:pt x="0" y="186"/>
                  </a:lnTo>
                  <a:lnTo>
                    <a:pt x="0" y="240"/>
                  </a:lnTo>
                  <a:lnTo>
                    <a:pt x="63" y="251"/>
                  </a:lnTo>
                  <a:cubicBezTo>
                    <a:pt x="67" y="266"/>
                    <a:pt x="72" y="280"/>
                    <a:pt x="80" y="294"/>
                  </a:cubicBezTo>
                  <a:lnTo>
                    <a:pt x="43" y="345"/>
                  </a:lnTo>
                  <a:lnTo>
                    <a:pt x="81" y="383"/>
                  </a:lnTo>
                  <a:lnTo>
                    <a:pt x="133" y="346"/>
                  </a:lnTo>
                  <a:cubicBezTo>
                    <a:pt x="147" y="354"/>
                    <a:pt x="161" y="360"/>
                    <a:pt x="176" y="364"/>
                  </a:cubicBezTo>
                  <a:lnTo>
                    <a:pt x="186" y="427"/>
                  </a:lnTo>
                  <a:lnTo>
                    <a:pt x="240" y="427"/>
                  </a:lnTo>
                  <a:lnTo>
                    <a:pt x="251" y="364"/>
                  </a:lnTo>
                  <a:cubicBezTo>
                    <a:pt x="266" y="360"/>
                    <a:pt x="280" y="354"/>
                    <a:pt x="293" y="346"/>
                  </a:cubicBezTo>
                  <a:lnTo>
                    <a:pt x="346" y="383"/>
                  </a:lnTo>
                  <a:lnTo>
                    <a:pt x="384" y="345"/>
                  </a:lnTo>
                  <a:lnTo>
                    <a:pt x="346" y="293"/>
                  </a:lnTo>
                  <a:cubicBezTo>
                    <a:pt x="354" y="280"/>
                    <a:pt x="360" y="266"/>
                    <a:pt x="363" y="251"/>
                  </a:cubicBezTo>
                  <a:lnTo>
                    <a:pt x="427" y="240"/>
                  </a:lnTo>
                  <a:close/>
                  <a:moveTo>
                    <a:pt x="214" y="288"/>
                  </a:moveTo>
                  <a:cubicBezTo>
                    <a:pt x="173" y="288"/>
                    <a:pt x="139" y="255"/>
                    <a:pt x="139" y="214"/>
                  </a:cubicBezTo>
                  <a:cubicBezTo>
                    <a:pt x="139" y="173"/>
                    <a:pt x="173" y="139"/>
                    <a:pt x="214" y="139"/>
                  </a:cubicBezTo>
                  <a:cubicBezTo>
                    <a:pt x="255" y="139"/>
                    <a:pt x="288" y="173"/>
                    <a:pt x="288" y="214"/>
                  </a:cubicBezTo>
                  <a:cubicBezTo>
                    <a:pt x="288" y="255"/>
                    <a:pt x="255" y="288"/>
                    <a:pt x="214" y="288"/>
                  </a:cubicBez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aphicFrame>
        <p:nvGraphicFramePr>
          <p:cNvPr id="38" name="ГПН-ННГ_Zbs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011597341"/>
              </p:ext>
            </p:extLst>
          </p:nvPr>
        </p:nvGraphicFramePr>
        <p:xfrm>
          <a:off x="251520" y="1245609"/>
          <a:ext cx="2880020" cy="248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40" name="Заголовок 3"/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303854" y="1088740"/>
            <a:ext cx="2719974" cy="2321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 smtClean="0"/>
              <a:t>Ноябрьск</a:t>
            </a:r>
            <a:endParaRPr lang="ru-RU" dirty="0"/>
          </a:p>
        </p:txBody>
      </p:sp>
      <p:sp>
        <p:nvSpPr>
          <p:cNvPr id="41" name="Заголовок 3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3275856" y="1088741"/>
            <a:ext cx="2664296" cy="2321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 smtClean="0"/>
              <a:t>Муравленко</a:t>
            </a:r>
            <a:endParaRPr lang="ru-RU" dirty="0"/>
          </a:p>
        </p:txBody>
      </p:sp>
      <p:sp>
        <p:nvSpPr>
          <p:cNvPr id="42" name="Заголовок 3"/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6192180" y="1088741"/>
            <a:ext cx="2664295" cy="2321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 err="1"/>
              <a:t>Хантос</a:t>
            </a:r>
            <a:endParaRPr lang="ru-RU" dirty="0"/>
          </a:p>
        </p:txBody>
      </p:sp>
      <p:sp>
        <p:nvSpPr>
          <p:cNvPr id="43" name="Заголовок 3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303854" y="3807043"/>
            <a:ext cx="2719974" cy="2321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Восток</a:t>
            </a:r>
          </a:p>
        </p:txBody>
      </p:sp>
      <p:sp>
        <p:nvSpPr>
          <p:cNvPr id="44" name="Заголовок 3"/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3275856" y="3807043"/>
            <a:ext cx="2664296" cy="2321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indent="0" algn="ctr" defTabSz="931343" eaLnBrk="0" hangingPunct="0">
              <a:spcBef>
                <a:spcPct val="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800" b="1">
                <a:solidFill>
                  <a:srgbClr val="545353"/>
                </a:solidFill>
                <a:cs typeface="Arabic Typesetting" pitchFamily="66" charset="-78"/>
              </a:defRPr>
            </a:lvl1pPr>
            <a:lvl2pPr marL="180975" marR="0" indent="-180975" fontAlgn="auto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/>
            </a:lvl2pPr>
            <a:lvl3pPr marL="350838" indent="-169863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Оренбург</a:t>
            </a:r>
          </a:p>
        </p:txBody>
      </p:sp>
      <p:graphicFrame>
        <p:nvGraphicFramePr>
          <p:cNvPr id="45" name="LegendDo_Zbs"/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4010387316"/>
              </p:ext>
            </p:extLst>
          </p:nvPr>
        </p:nvGraphicFramePr>
        <p:xfrm>
          <a:off x="6134621" y="3807043"/>
          <a:ext cx="2700000" cy="248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46" name="ГПН-МН_Zbs"/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451006919"/>
              </p:ext>
            </p:extLst>
          </p:nvPr>
        </p:nvGraphicFramePr>
        <p:xfrm>
          <a:off x="3179306" y="1245427"/>
          <a:ext cx="2880020" cy="248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47" name="ГПН-Хантос_Zbs"/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620792995"/>
              </p:ext>
            </p:extLst>
          </p:nvPr>
        </p:nvGraphicFramePr>
        <p:xfrm>
          <a:off x="6107092" y="1320932"/>
          <a:ext cx="2880020" cy="248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48" name="ГПН-Восток_Zbs"/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1086215800"/>
              </p:ext>
            </p:extLst>
          </p:nvPr>
        </p:nvGraphicFramePr>
        <p:xfrm>
          <a:off x="303854" y="4043213"/>
          <a:ext cx="2880020" cy="248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graphicFrame>
        <p:nvGraphicFramePr>
          <p:cNvPr id="49" name="ГПН-Оренбург_Zbs"/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142738354"/>
              </p:ext>
            </p:extLst>
          </p:nvPr>
        </p:nvGraphicFramePr>
        <p:xfrm>
          <a:off x="3242325" y="4039235"/>
          <a:ext cx="2880020" cy="24855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</p:spTree>
    <p:extLst>
      <p:ext uri="{BB962C8B-B14F-4D97-AF65-F5344CB8AC3E}">
        <p14:creationId xmlns:p14="http://schemas.microsoft.com/office/powerpoint/2010/main" val="128260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Slide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51620" y="337703"/>
            <a:ext cx="7705042" cy="607021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Дирекция крупных проектов 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Эксплуатационное </a:t>
            </a: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Бурение</a:t>
            </a:r>
            <a:r>
              <a:rPr lang="ru-RU" sz="2000" b="1" dirty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sz="2000" b="1" dirty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Физические показатели </a:t>
            </a:r>
            <a:endParaRPr lang="ru-RU" dirty="0">
              <a:solidFill>
                <a:srgbClr val="545353"/>
              </a:solidFill>
            </a:endParaRPr>
          </a:p>
        </p:txBody>
      </p:sp>
      <p:grpSp>
        <p:nvGrpSpPr>
          <p:cNvPr id="40" name="Группа 39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51368" y="351582"/>
            <a:ext cx="615095" cy="596490"/>
            <a:chOff x="2154187" y="4126930"/>
            <a:chExt cx="1284385" cy="1291432"/>
          </a:xfrm>
        </p:grpSpPr>
        <p:sp>
          <p:nvSpPr>
            <p:cNvPr id="41" name="Овал 40"/>
            <p:cNvSpPr/>
            <p:nvPr/>
          </p:nvSpPr>
          <p:spPr>
            <a:xfrm>
              <a:off x="2297779" y="4274046"/>
              <a:ext cx="997200" cy="997200"/>
            </a:xfrm>
            <a:prstGeom prst="ellipse">
              <a:avLst/>
            </a:prstGeom>
            <a:solidFill>
              <a:srgbClr val="E6E6E6"/>
            </a:solidFill>
            <a:ln w="7938" cap="flat">
              <a:solidFill>
                <a:srgbClr val="FEFEF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2" name="Группа 41"/>
            <p:cNvGrpSpPr/>
            <p:nvPr/>
          </p:nvGrpSpPr>
          <p:grpSpPr>
            <a:xfrm>
              <a:off x="2154187" y="4126930"/>
              <a:ext cx="1284385" cy="1291432"/>
              <a:chOff x="2182018" y="4039169"/>
              <a:chExt cx="1284385" cy="1291432"/>
            </a:xfrm>
            <a:solidFill>
              <a:schemeClr val="accent2"/>
            </a:solidFill>
          </p:grpSpPr>
          <p:sp>
            <p:nvSpPr>
              <p:cNvPr id="49" name="Freeform 8"/>
              <p:cNvSpPr>
                <a:spLocks noEditPoints="1"/>
              </p:cNvSpPr>
              <p:nvPr/>
            </p:nvSpPr>
            <p:spPr bwMode="auto">
              <a:xfrm>
                <a:off x="2819806" y="4398585"/>
                <a:ext cx="646597" cy="932016"/>
              </a:xfrm>
              <a:custGeom>
                <a:avLst/>
                <a:gdLst>
                  <a:gd name="T0" fmla="*/ 0 w 1609"/>
                  <a:gd name="T1" fmla="*/ 2187 h 2327"/>
                  <a:gd name="T2" fmla="*/ 0 w 1609"/>
                  <a:gd name="T3" fmla="*/ 2187 h 2327"/>
                  <a:gd name="T4" fmla="*/ 31 w 1609"/>
                  <a:gd name="T5" fmla="*/ 2327 h 2327"/>
                  <a:gd name="T6" fmla="*/ 165 w 1609"/>
                  <a:gd name="T7" fmla="*/ 2319 h 2327"/>
                  <a:gd name="T8" fmla="*/ 295 w 1609"/>
                  <a:gd name="T9" fmla="*/ 2300 h 2327"/>
                  <a:gd name="T10" fmla="*/ 422 w 1609"/>
                  <a:gd name="T11" fmla="*/ 2271 h 2327"/>
                  <a:gd name="T12" fmla="*/ 545 w 1609"/>
                  <a:gd name="T13" fmla="*/ 2233 h 2327"/>
                  <a:gd name="T14" fmla="*/ 450 w 1609"/>
                  <a:gd name="T15" fmla="*/ 1969 h 2327"/>
                  <a:gd name="T16" fmla="*/ 349 w 1609"/>
                  <a:gd name="T17" fmla="*/ 2001 h 2327"/>
                  <a:gd name="T18" fmla="*/ 244 w 1609"/>
                  <a:gd name="T19" fmla="*/ 2025 h 2327"/>
                  <a:gd name="T20" fmla="*/ 136 w 1609"/>
                  <a:gd name="T21" fmla="*/ 2040 h 2327"/>
                  <a:gd name="T22" fmla="*/ 26 w 1609"/>
                  <a:gd name="T23" fmla="*/ 2047 h 2327"/>
                  <a:gd name="T24" fmla="*/ 1454 w 1609"/>
                  <a:gd name="T25" fmla="*/ 21 h 2327"/>
                  <a:gd name="T26" fmla="*/ 1470 w 1609"/>
                  <a:gd name="T27" fmla="*/ 55 h 2327"/>
                  <a:gd name="T28" fmla="*/ 1485 w 1609"/>
                  <a:gd name="T29" fmla="*/ 90 h 2327"/>
                  <a:gd name="T30" fmla="*/ 1499 w 1609"/>
                  <a:gd name="T31" fmla="*/ 125 h 2327"/>
                  <a:gd name="T32" fmla="*/ 1512 w 1609"/>
                  <a:gd name="T33" fmla="*/ 160 h 2327"/>
                  <a:gd name="T34" fmla="*/ 1525 w 1609"/>
                  <a:gd name="T35" fmla="*/ 196 h 2327"/>
                  <a:gd name="T36" fmla="*/ 1537 w 1609"/>
                  <a:gd name="T37" fmla="*/ 231 h 2327"/>
                  <a:gd name="T38" fmla="*/ 1548 w 1609"/>
                  <a:gd name="T39" fmla="*/ 267 h 2327"/>
                  <a:gd name="T40" fmla="*/ 1558 w 1609"/>
                  <a:gd name="T41" fmla="*/ 303 h 2327"/>
                  <a:gd name="T42" fmla="*/ 1567 w 1609"/>
                  <a:gd name="T43" fmla="*/ 340 h 2327"/>
                  <a:gd name="T44" fmla="*/ 1575 w 1609"/>
                  <a:gd name="T45" fmla="*/ 377 h 2327"/>
                  <a:gd name="T46" fmla="*/ 1583 w 1609"/>
                  <a:gd name="T47" fmla="*/ 414 h 2327"/>
                  <a:gd name="T48" fmla="*/ 1589 w 1609"/>
                  <a:gd name="T49" fmla="*/ 450 h 2327"/>
                  <a:gd name="T50" fmla="*/ 1595 w 1609"/>
                  <a:gd name="T51" fmla="*/ 488 h 2327"/>
                  <a:gd name="T52" fmla="*/ 1314 w 1609"/>
                  <a:gd name="T53" fmla="*/ 504 h 2327"/>
                  <a:gd name="T54" fmla="*/ 1309 w 1609"/>
                  <a:gd name="T55" fmla="*/ 473 h 2327"/>
                  <a:gd name="T56" fmla="*/ 1303 w 1609"/>
                  <a:gd name="T57" fmla="*/ 443 h 2327"/>
                  <a:gd name="T58" fmla="*/ 1296 w 1609"/>
                  <a:gd name="T59" fmla="*/ 412 h 2327"/>
                  <a:gd name="T60" fmla="*/ 1289 w 1609"/>
                  <a:gd name="T61" fmla="*/ 382 h 2327"/>
                  <a:gd name="T62" fmla="*/ 1281 w 1609"/>
                  <a:gd name="T63" fmla="*/ 352 h 2327"/>
                  <a:gd name="T64" fmla="*/ 1272 w 1609"/>
                  <a:gd name="T65" fmla="*/ 322 h 2327"/>
                  <a:gd name="T66" fmla="*/ 1262 w 1609"/>
                  <a:gd name="T67" fmla="*/ 293 h 2327"/>
                  <a:gd name="T68" fmla="*/ 1252 w 1609"/>
                  <a:gd name="T69" fmla="*/ 263 h 2327"/>
                  <a:gd name="T70" fmla="*/ 1241 w 1609"/>
                  <a:gd name="T71" fmla="*/ 234 h 2327"/>
                  <a:gd name="T72" fmla="*/ 1229 w 1609"/>
                  <a:gd name="T73" fmla="*/ 205 h 2327"/>
                  <a:gd name="T74" fmla="*/ 1217 w 1609"/>
                  <a:gd name="T75" fmla="*/ 177 h 2327"/>
                  <a:gd name="T76" fmla="*/ 1204 w 1609"/>
                  <a:gd name="T77" fmla="*/ 148 h 2327"/>
                  <a:gd name="T78" fmla="*/ 1609 w 1609"/>
                  <a:gd name="T79" fmla="*/ 794 h 2327"/>
                  <a:gd name="T80" fmla="*/ 1598 w 1609"/>
                  <a:gd name="T81" fmla="*/ 921 h 2327"/>
                  <a:gd name="T82" fmla="*/ 1577 w 1609"/>
                  <a:gd name="T83" fmla="*/ 1050 h 2327"/>
                  <a:gd name="T84" fmla="*/ 1545 w 1609"/>
                  <a:gd name="T85" fmla="*/ 1176 h 2327"/>
                  <a:gd name="T86" fmla="*/ 1503 w 1609"/>
                  <a:gd name="T87" fmla="*/ 1298 h 2327"/>
                  <a:gd name="T88" fmla="*/ 1217 w 1609"/>
                  <a:gd name="T89" fmla="*/ 1256 h 2327"/>
                  <a:gd name="T90" fmla="*/ 1256 w 1609"/>
                  <a:gd name="T91" fmla="*/ 1158 h 2327"/>
                  <a:gd name="T92" fmla="*/ 1287 w 1609"/>
                  <a:gd name="T93" fmla="*/ 1057 h 2327"/>
                  <a:gd name="T94" fmla="*/ 1311 w 1609"/>
                  <a:gd name="T95" fmla="*/ 952 h 2327"/>
                  <a:gd name="T96" fmla="*/ 1325 w 1609"/>
                  <a:gd name="T97" fmla="*/ 844 h 2327"/>
                  <a:gd name="T98" fmla="*/ 1297 w 1609"/>
                  <a:gd name="T99" fmla="*/ 1672 h 2327"/>
                  <a:gd name="T100" fmla="*/ 1218 w 1609"/>
                  <a:gd name="T101" fmla="*/ 1770 h 2327"/>
                  <a:gd name="T102" fmla="*/ 1133 w 1609"/>
                  <a:gd name="T103" fmla="*/ 1862 h 2327"/>
                  <a:gd name="T104" fmla="*/ 1040 w 1609"/>
                  <a:gd name="T105" fmla="*/ 1947 h 2327"/>
                  <a:gd name="T106" fmla="*/ 941 w 1609"/>
                  <a:gd name="T107" fmla="*/ 2024 h 2327"/>
                  <a:gd name="T108" fmla="*/ 738 w 1609"/>
                  <a:gd name="T109" fmla="*/ 1824 h 2327"/>
                  <a:gd name="T110" fmla="*/ 822 w 1609"/>
                  <a:gd name="T111" fmla="*/ 1763 h 2327"/>
                  <a:gd name="T112" fmla="*/ 901 w 1609"/>
                  <a:gd name="T113" fmla="*/ 1696 h 2327"/>
                  <a:gd name="T114" fmla="*/ 975 w 1609"/>
                  <a:gd name="T115" fmla="*/ 1623 h 2327"/>
                  <a:gd name="T116" fmla="*/ 1043 w 1609"/>
                  <a:gd name="T117" fmla="*/ 1544 h 2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09" h="2327">
                    <a:moveTo>
                      <a:pt x="0" y="2047"/>
                    </a:move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327"/>
                    </a:lnTo>
                    <a:lnTo>
                      <a:pt x="11" y="2327"/>
                    </a:lnTo>
                    <a:lnTo>
                      <a:pt x="21" y="2327"/>
                    </a:lnTo>
                    <a:lnTo>
                      <a:pt x="31" y="2327"/>
                    </a:lnTo>
                    <a:lnTo>
                      <a:pt x="42" y="2327"/>
                    </a:lnTo>
                    <a:lnTo>
                      <a:pt x="52" y="2326"/>
                    </a:lnTo>
                    <a:lnTo>
                      <a:pt x="62" y="2326"/>
                    </a:lnTo>
                    <a:lnTo>
                      <a:pt x="73" y="2326"/>
                    </a:lnTo>
                    <a:lnTo>
                      <a:pt x="83" y="2325"/>
                    </a:lnTo>
                    <a:lnTo>
                      <a:pt x="93" y="2325"/>
                    </a:lnTo>
                    <a:lnTo>
                      <a:pt x="104" y="2324"/>
                    </a:lnTo>
                    <a:lnTo>
                      <a:pt x="114" y="2323"/>
                    </a:lnTo>
                    <a:lnTo>
                      <a:pt x="124" y="2322"/>
                    </a:lnTo>
                    <a:lnTo>
                      <a:pt x="134" y="2322"/>
                    </a:lnTo>
                    <a:lnTo>
                      <a:pt x="144" y="2321"/>
                    </a:lnTo>
                    <a:lnTo>
                      <a:pt x="155" y="2320"/>
                    </a:lnTo>
                    <a:lnTo>
                      <a:pt x="165" y="2319"/>
                    </a:lnTo>
                    <a:lnTo>
                      <a:pt x="175" y="2318"/>
                    </a:lnTo>
                    <a:lnTo>
                      <a:pt x="185" y="2317"/>
                    </a:lnTo>
                    <a:lnTo>
                      <a:pt x="195" y="2315"/>
                    </a:lnTo>
                    <a:lnTo>
                      <a:pt x="205" y="2314"/>
                    </a:lnTo>
                    <a:lnTo>
                      <a:pt x="215" y="2313"/>
                    </a:lnTo>
                    <a:lnTo>
                      <a:pt x="225" y="2312"/>
                    </a:lnTo>
                    <a:lnTo>
                      <a:pt x="235" y="2310"/>
                    </a:lnTo>
                    <a:lnTo>
                      <a:pt x="245" y="2309"/>
                    </a:lnTo>
                    <a:lnTo>
                      <a:pt x="255" y="2307"/>
                    </a:lnTo>
                    <a:lnTo>
                      <a:pt x="265" y="2305"/>
                    </a:lnTo>
                    <a:lnTo>
                      <a:pt x="275" y="2304"/>
                    </a:lnTo>
                    <a:lnTo>
                      <a:pt x="285" y="2302"/>
                    </a:lnTo>
                    <a:lnTo>
                      <a:pt x="295" y="2300"/>
                    </a:lnTo>
                    <a:lnTo>
                      <a:pt x="305" y="2298"/>
                    </a:lnTo>
                    <a:lnTo>
                      <a:pt x="315" y="2296"/>
                    </a:lnTo>
                    <a:lnTo>
                      <a:pt x="325" y="2294"/>
                    </a:lnTo>
                    <a:lnTo>
                      <a:pt x="335" y="2292"/>
                    </a:lnTo>
                    <a:lnTo>
                      <a:pt x="344" y="2290"/>
                    </a:lnTo>
                    <a:lnTo>
                      <a:pt x="354" y="2288"/>
                    </a:lnTo>
                    <a:lnTo>
                      <a:pt x="364" y="2286"/>
                    </a:lnTo>
                    <a:lnTo>
                      <a:pt x="374" y="2284"/>
                    </a:lnTo>
                    <a:lnTo>
                      <a:pt x="383" y="2281"/>
                    </a:lnTo>
                    <a:lnTo>
                      <a:pt x="393" y="2279"/>
                    </a:lnTo>
                    <a:lnTo>
                      <a:pt x="403" y="2276"/>
                    </a:lnTo>
                    <a:lnTo>
                      <a:pt x="412" y="2274"/>
                    </a:lnTo>
                    <a:lnTo>
                      <a:pt x="422" y="2271"/>
                    </a:lnTo>
                    <a:lnTo>
                      <a:pt x="432" y="2269"/>
                    </a:lnTo>
                    <a:lnTo>
                      <a:pt x="441" y="2266"/>
                    </a:lnTo>
                    <a:lnTo>
                      <a:pt x="451" y="2263"/>
                    </a:lnTo>
                    <a:lnTo>
                      <a:pt x="460" y="2260"/>
                    </a:lnTo>
                    <a:lnTo>
                      <a:pt x="470" y="2258"/>
                    </a:lnTo>
                    <a:lnTo>
                      <a:pt x="479" y="2255"/>
                    </a:lnTo>
                    <a:lnTo>
                      <a:pt x="489" y="2252"/>
                    </a:lnTo>
                    <a:lnTo>
                      <a:pt x="498" y="2249"/>
                    </a:lnTo>
                    <a:lnTo>
                      <a:pt x="508" y="2246"/>
                    </a:lnTo>
                    <a:lnTo>
                      <a:pt x="517" y="2242"/>
                    </a:lnTo>
                    <a:lnTo>
                      <a:pt x="526" y="2239"/>
                    </a:lnTo>
                    <a:lnTo>
                      <a:pt x="536" y="2236"/>
                    </a:lnTo>
                    <a:lnTo>
                      <a:pt x="545" y="2233"/>
                    </a:lnTo>
                    <a:lnTo>
                      <a:pt x="554" y="2229"/>
                    </a:lnTo>
                    <a:lnTo>
                      <a:pt x="563" y="2226"/>
                    </a:lnTo>
                    <a:lnTo>
                      <a:pt x="573" y="2222"/>
                    </a:lnTo>
                    <a:lnTo>
                      <a:pt x="582" y="2219"/>
                    </a:lnTo>
                    <a:lnTo>
                      <a:pt x="591" y="2215"/>
                    </a:lnTo>
                    <a:lnTo>
                      <a:pt x="598" y="2212"/>
                    </a:lnTo>
                    <a:lnTo>
                      <a:pt x="496" y="1952"/>
                    </a:lnTo>
                    <a:lnTo>
                      <a:pt x="488" y="1955"/>
                    </a:lnTo>
                    <a:lnTo>
                      <a:pt x="481" y="1958"/>
                    </a:lnTo>
                    <a:lnTo>
                      <a:pt x="473" y="1961"/>
                    </a:lnTo>
                    <a:lnTo>
                      <a:pt x="466" y="1964"/>
                    </a:lnTo>
                    <a:lnTo>
                      <a:pt x="458" y="1966"/>
                    </a:lnTo>
                    <a:lnTo>
                      <a:pt x="450" y="1969"/>
                    </a:lnTo>
                    <a:lnTo>
                      <a:pt x="443" y="1972"/>
                    </a:lnTo>
                    <a:lnTo>
                      <a:pt x="435" y="1975"/>
                    </a:lnTo>
                    <a:lnTo>
                      <a:pt x="427" y="1977"/>
                    </a:lnTo>
                    <a:lnTo>
                      <a:pt x="420" y="1980"/>
                    </a:lnTo>
                    <a:lnTo>
                      <a:pt x="412" y="1982"/>
                    </a:lnTo>
                    <a:lnTo>
                      <a:pt x="404" y="1985"/>
                    </a:lnTo>
                    <a:lnTo>
                      <a:pt x="396" y="1987"/>
                    </a:lnTo>
                    <a:lnTo>
                      <a:pt x="388" y="1990"/>
                    </a:lnTo>
                    <a:lnTo>
                      <a:pt x="380" y="1992"/>
                    </a:lnTo>
                    <a:lnTo>
                      <a:pt x="373" y="1994"/>
                    </a:lnTo>
                    <a:lnTo>
                      <a:pt x="365" y="1997"/>
                    </a:lnTo>
                    <a:lnTo>
                      <a:pt x="357" y="1999"/>
                    </a:lnTo>
                    <a:lnTo>
                      <a:pt x="349" y="2001"/>
                    </a:lnTo>
                    <a:lnTo>
                      <a:pt x="341" y="2003"/>
                    </a:lnTo>
                    <a:lnTo>
                      <a:pt x="333" y="2005"/>
                    </a:lnTo>
                    <a:lnTo>
                      <a:pt x="325" y="2007"/>
                    </a:lnTo>
                    <a:lnTo>
                      <a:pt x="317" y="2009"/>
                    </a:lnTo>
                    <a:lnTo>
                      <a:pt x="309" y="2011"/>
                    </a:lnTo>
                    <a:lnTo>
                      <a:pt x="301" y="2013"/>
                    </a:lnTo>
                    <a:lnTo>
                      <a:pt x="293" y="2015"/>
                    </a:lnTo>
                    <a:lnTo>
                      <a:pt x="285" y="2017"/>
                    </a:lnTo>
                    <a:lnTo>
                      <a:pt x="277" y="2018"/>
                    </a:lnTo>
                    <a:lnTo>
                      <a:pt x="269" y="2020"/>
                    </a:lnTo>
                    <a:lnTo>
                      <a:pt x="261" y="2022"/>
                    </a:lnTo>
                    <a:lnTo>
                      <a:pt x="252" y="2023"/>
                    </a:lnTo>
                    <a:lnTo>
                      <a:pt x="244" y="2025"/>
                    </a:lnTo>
                    <a:lnTo>
                      <a:pt x="236" y="2026"/>
                    </a:lnTo>
                    <a:lnTo>
                      <a:pt x="228" y="2028"/>
                    </a:lnTo>
                    <a:lnTo>
                      <a:pt x="220" y="2029"/>
                    </a:lnTo>
                    <a:lnTo>
                      <a:pt x="211" y="2031"/>
                    </a:lnTo>
                    <a:lnTo>
                      <a:pt x="203" y="2032"/>
                    </a:lnTo>
                    <a:lnTo>
                      <a:pt x="195" y="2033"/>
                    </a:lnTo>
                    <a:lnTo>
                      <a:pt x="187" y="2034"/>
                    </a:lnTo>
                    <a:lnTo>
                      <a:pt x="178" y="2035"/>
                    </a:lnTo>
                    <a:lnTo>
                      <a:pt x="170" y="2036"/>
                    </a:lnTo>
                    <a:lnTo>
                      <a:pt x="162" y="2038"/>
                    </a:lnTo>
                    <a:lnTo>
                      <a:pt x="153" y="2038"/>
                    </a:lnTo>
                    <a:lnTo>
                      <a:pt x="145" y="2039"/>
                    </a:lnTo>
                    <a:lnTo>
                      <a:pt x="136" y="2040"/>
                    </a:lnTo>
                    <a:lnTo>
                      <a:pt x="128" y="2041"/>
                    </a:lnTo>
                    <a:lnTo>
                      <a:pt x="120" y="2042"/>
                    </a:lnTo>
                    <a:lnTo>
                      <a:pt x="111" y="2043"/>
                    </a:lnTo>
                    <a:lnTo>
                      <a:pt x="103" y="2043"/>
                    </a:lnTo>
                    <a:lnTo>
                      <a:pt x="94" y="2044"/>
                    </a:lnTo>
                    <a:lnTo>
                      <a:pt x="86" y="2044"/>
                    </a:lnTo>
                    <a:lnTo>
                      <a:pt x="77" y="2045"/>
                    </a:lnTo>
                    <a:lnTo>
                      <a:pt x="69" y="2045"/>
                    </a:lnTo>
                    <a:lnTo>
                      <a:pt x="60" y="2046"/>
                    </a:lnTo>
                    <a:lnTo>
                      <a:pt x="52" y="2046"/>
                    </a:lnTo>
                    <a:lnTo>
                      <a:pt x="43" y="2046"/>
                    </a:lnTo>
                    <a:lnTo>
                      <a:pt x="35" y="2047"/>
                    </a:lnTo>
                    <a:lnTo>
                      <a:pt x="26" y="2047"/>
                    </a:lnTo>
                    <a:lnTo>
                      <a:pt x="18" y="2047"/>
                    </a:lnTo>
                    <a:lnTo>
                      <a:pt x="9" y="2047"/>
                    </a:lnTo>
                    <a:lnTo>
                      <a:pt x="0" y="2047"/>
                    </a:lnTo>
                    <a:close/>
                    <a:moveTo>
                      <a:pt x="1193" y="125"/>
                    </a:moveTo>
                    <a:lnTo>
                      <a:pt x="1444" y="0"/>
                    </a:lnTo>
                    <a:lnTo>
                      <a:pt x="1445" y="3"/>
                    </a:lnTo>
                    <a:lnTo>
                      <a:pt x="1446" y="6"/>
                    </a:lnTo>
                    <a:lnTo>
                      <a:pt x="1447" y="8"/>
                    </a:lnTo>
                    <a:lnTo>
                      <a:pt x="1449" y="11"/>
                    </a:lnTo>
                    <a:lnTo>
                      <a:pt x="1450" y="13"/>
                    </a:lnTo>
                    <a:lnTo>
                      <a:pt x="1451" y="16"/>
                    </a:lnTo>
                    <a:lnTo>
                      <a:pt x="1453" y="19"/>
                    </a:lnTo>
                    <a:lnTo>
                      <a:pt x="1454" y="21"/>
                    </a:lnTo>
                    <a:lnTo>
                      <a:pt x="1455" y="24"/>
                    </a:lnTo>
                    <a:lnTo>
                      <a:pt x="1456" y="26"/>
                    </a:lnTo>
                    <a:lnTo>
                      <a:pt x="1458" y="29"/>
                    </a:lnTo>
                    <a:lnTo>
                      <a:pt x="1459" y="32"/>
                    </a:lnTo>
                    <a:lnTo>
                      <a:pt x="1460" y="34"/>
                    </a:lnTo>
                    <a:lnTo>
                      <a:pt x="1461" y="37"/>
                    </a:lnTo>
                    <a:lnTo>
                      <a:pt x="1462" y="40"/>
                    </a:lnTo>
                    <a:lnTo>
                      <a:pt x="1464" y="42"/>
                    </a:lnTo>
                    <a:lnTo>
                      <a:pt x="1465" y="45"/>
                    </a:lnTo>
                    <a:lnTo>
                      <a:pt x="1466" y="48"/>
                    </a:lnTo>
                    <a:lnTo>
                      <a:pt x="1467" y="50"/>
                    </a:lnTo>
                    <a:lnTo>
                      <a:pt x="1468" y="53"/>
                    </a:lnTo>
                    <a:lnTo>
                      <a:pt x="1470" y="55"/>
                    </a:lnTo>
                    <a:lnTo>
                      <a:pt x="1471" y="58"/>
                    </a:lnTo>
                    <a:lnTo>
                      <a:pt x="1472" y="61"/>
                    </a:lnTo>
                    <a:lnTo>
                      <a:pt x="1473" y="63"/>
                    </a:lnTo>
                    <a:lnTo>
                      <a:pt x="1474" y="66"/>
                    </a:lnTo>
                    <a:lnTo>
                      <a:pt x="1476" y="69"/>
                    </a:lnTo>
                    <a:lnTo>
                      <a:pt x="1477" y="71"/>
                    </a:lnTo>
                    <a:lnTo>
                      <a:pt x="1478" y="74"/>
                    </a:lnTo>
                    <a:lnTo>
                      <a:pt x="1479" y="77"/>
                    </a:lnTo>
                    <a:lnTo>
                      <a:pt x="1480" y="79"/>
                    </a:lnTo>
                    <a:lnTo>
                      <a:pt x="1481" y="82"/>
                    </a:lnTo>
                    <a:lnTo>
                      <a:pt x="1483" y="85"/>
                    </a:lnTo>
                    <a:lnTo>
                      <a:pt x="1484" y="87"/>
                    </a:lnTo>
                    <a:lnTo>
                      <a:pt x="1485" y="90"/>
                    </a:lnTo>
                    <a:lnTo>
                      <a:pt x="1486" y="93"/>
                    </a:lnTo>
                    <a:lnTo>
                      <a:pt x="1487" y="95"/>
                    </a:lnTo>
                    <a:lnTo>
                      <a:pt x="1488" y="98"/>
                    </a:lnTo>
                    <a:lnTo>
                      <a:pt x="1489" y="101"/>
                    </a:lnTo>
                    <a:lnTo>
                      <a:pt x="1490" y="103"/>
                    </a:lnTo>
                    <a:lnTo>
                      <a:pt x="1491" y="106"/>
                    </a:lnTo>
                    <a:lnTo>
                      <a:pt x="1492" y="109"/>
                    </a:lnTo>
                    <a:lnTo>
                      <a:pt x="1494" y="112"/>
                    </a:lnTo>
                    <a:lnTo>
                      <a:pt x="1495" y="114"/>
                    </a:lnTo>
                    <a:lnTo>
                      <a:pt x="1496" y="117"/>
                    </a:lnTo>
                    <a:lnTo>
                      <a:pt x="1497" y="120"/>
                    </a:lnTo>
                    <a:lnTo>
                      <a:pt x="1498" y="122"/>
                    </a:lnTo>
                    <a:lnTo>
                      <a:pt x="1499" y="125"/>
                    </a:lnTo>
                    <a:lnTo>
                      <a:pt x="1500" y="127"/>
                    </a:lnTo>
                    <a:lnTo>
                      <a:pt x="1501" y="130"/>
                    </a:lnTo>
                    <a:lnTo>
                      <a:pt x="1502" y="133"/>
                    </a:lnTo>
                    <a:lnTo>
                      <a:pt x="1503" y="136"/>
                    </a:lnTo>
                    <a:lnTo>
                      <a:pt x="1504" y="138"/>
                    </a:lnTo>
                    <a:lnTo>
                      <a:pt x="1505" y="141"/>
                    </a:lnTo>
                    <a:lnTo>
                      <a:pt x="1506" y="144"/>
                    </a:lnTo>
                    <a:lnTo>
                      <a:pt x="1507" y="147"/>
                    </a:lnTo>
                    <a:lnTo>
                      <a:pt x="1508" y="149"/>
                    </a:lnTo>
                    <a:lnTo>
                      <a:pt x="1509" y="152"/>
                    </a:lnTo>
                    <a:lnTo>
                      <a:pt x="1510" y="154"/>
                    </a:lnTo>
                    <a:lnTo>
                      <a:pt x="1511" y="158"/>
                    </a:lnTo>
                    <a:lnTo>
                      <a:pt x="1512" y="160"/>
                    </a:lnTo>
                    <a:lnTo>
                      <a:pt x="1513" y="163"/>
                    </a:lnTo>
                    <a:lnTo>
                      <a:pt x="1514" y="165"/>
                    </a:lnTo>
                    <a:lnTo>
                      <a:pt x="1515" y="168"/>
                    </a:lnTo>
                    <a:lnTo>
                      <a:pt x="1516" y="171"/>
                    </a:lnTo>
                    <a:lnTo>
                      <a:pt x="1517" y="174"/>
                    </a:lnTo>
                    <a:lnTo>
                      <a:pt x="1518" y="176"/>
                    </a:lnTo>
                    <a:lnTo>
                      <a:pt x="1519" y="179"/>
                    </a:lnTo>
                    <a:lnTo>
                      <a:pt x="1520" y="182"/>
                    </a:lnTo>
                    <a:lnTo>
                      <a:pt x="1521" y="185"/>
                    </a:lnTo>
                    <a:lnTo>
                      <a:pt x="1522" y="187"/>
                    </a:lnTo>
                    <a:lnTo>
                      <a:pt x="1523" y="190"/>
                    </a:lnTo>
                    <a:lnTo>
                      <a:pt x="1524" y="193"/>
                    </a:lnTo>
                    <a:lnTo>
                      <a:pt x="1525" y="196"/>
                    </a:lnTo>
                    <a:lnTo>
                      <a:pt x="1526" y="198"/>
                    </a:lnTo>
                    <a:lnTo>
                      <a:pt x="1527" y="201"/>
                    </a:lnTo>
                    <a:lnTo>
                      <a:pt x="1528" y="204"/>
                    </a:lnTo>
                    <a:lnTo>
                      <a:pt x="1529" y="207"/>
                    </a:lnTo>
                    <a:lnTo>
                      <a:pt x="1530" y="209"/>
                    </a:lnTo>
                    <a:lnTo>
                      <a:pt x="1531" y="212"/>
                    </a:lnTo>
                    <a:lnTo>
                      <a:pt x="1531" y="215"/>
                    </a:lnTo>
                    <a:lnTo>
                      <a:pt x="1532" y="217"/>
                    </a:lnTo>
                    <a:lnTo>
                      <a:pt x="1533" y="220"/>
                    </a:lnTo>
                    <a:lnTo>
                      <a:pt x="1534" y="223"/>
                    </a:lnTo>
                    <a:lnTo>
                      <a:pt x="1535" y="226"/>
                    </a:lnTo>
                    <a:lnTo>
                      <a:pt x="1536" y="228"/>
                    </a:lnTo>
                    <a:lnTo>
                      <a:pt x="1537" y="231"/>
                    </a:lnTo>
                    <a:lnTo>
                      <a:pt x="1538" y="234"/>
                    </a:lnTo>
                    <a:lnTo>
                      <a:pt x="1538" y="237"/>
                    </a:lnTo>
                    <a:lnTo>
                      <a:pt x="1539" y="240"/>
                    </a:lnTo>
                    <a:lnTo>
                      <a:pt x="1540" y="242"/>
                    </a:lnTo>
                    <a:lnTo>
                      <a:pt x="1541" y="245"/>
                    </a:lnTo>
                    <a:lnTo>
                      <a:pt x="1542" y="248"/>
                    </a:lnTo>
                    <a:lnTo>
                      <a:pt x="1543" y="251"/>
                    </a:lnTo>
                    <a:lnTo>
                      <a:pt x="1544" y="253"/>
                    </a:lnTo>
                    <a:lnTo>
                      <a:pt x="1544" y="256"/>
                    </a:lnTo>
                    <a:lnTo>
                      <a:pt x="1545" y="259"/>
                    </a:lnTo>
                    <a:lnTo>
                      <a:pt x="1546" y="262"/>
                    </a:lnTo>
                    <a:lnTo>
                      <a:pt x="1547" y="264"/>
                    </a:lnTo>
                    <a:lnTo>
                      <a:pt x="1548" y="267"/>
                    </a:lnTo>
                    <a:lnTo>
                      <a:pt x="1548" y="270"/>
                    </a:lnTo>
                    <a:lnTo>
                      <a:pt x="1549" y="273"/>
                    </a:lnTo>
                    <a:lnTo>
                      <a:pt x="1550" y="276"/>
                    </a:lnTo>
                    <a:lnTo>
                      <a:pt x="1551" y="278"/>
                    </a:lnTo>
                    <a:lnTo>
                      <a:pt x="1552" y="281"/>
                    </a:lnTo>
                    <a:lnTo>
                      <a:pt x="1552" y="284"/>
                    </a:lnTo>
                    <a:lnTo>
                      <a:pt x="1553" y="287"/>
                    </a:lnTo>
                    <a:lnTo>
                      <a:pt x="1554" y="290"/>
                    </a:lnTo>
                    <a:lnTo>
                      <a:pt x="1555" y="292"/>
                    </a:lnTo>
                    <a:lnTo>
                      <a:pt x="1555" y="295"/>
                    </a:lnTo>
                    <a:lnTo>
                      <a:pt x="1556" y="298"/>
                    </a:lnTo>
                    <a:lnTo>
                      <a:pt x="1557" y="301"/>
                    </a:lnTo>
                    <a:lnTo>
                      <a:pt x="1558" y="303"/>
                    </a:lnTo>
                    <a:lnTo>
                      <a:pt x="1558" y="306"/>
                    </a:lnTo>
                    <a:lnTo>
                      <a:pt x="1559" y="309"/>
                    </a:lnTo>
                    <a:lnTo>
                      <a:pt x="1560" y="312"/>
                    </a:lnTo>
                    <a:lnTo>
                      <a:pt x="1561" y="315"/>
                    </a:lnTo>
                    <a:lnTo>
                      <a:pt x="1561" y="317"/>
                    </a:lnTo>
                    <a:lnTo>
                      <a:pt x="1562" y="321"/>
                    </a:lnTo>
                    <a:lnTo>
                      <a:pt x="1563" y="323"/>
                    </a:lnTo>
                    <a:lnTo>
                      <a:pt x="1563" y="326"/>
                    </a:lnTo>
                    <a:lnTo>
                      <a:pt x="1564" y="329"/>
                    </a:lnTo>
                    <a:lnTo>
                      <a:pt x="1565" y="332"/>
                    </a:lnTo>
                    <a:lnTo>
                      <a:pt x="1565" y="334"/>
                    </a:lnTo>
                    <a:lnTo>
                      <a:pt x="1566" y="337"/>
                    </a:lnTo>
                    <a:lnTo>
                      <a:pt x="1567" y="340"/>
                    </a:lnTo>
                    <a:lnTo>
                      <a:pt x="1567" y="343"/>
                    </a:lnTo>
                    <a:lnTo>
                      <a:pt x="1568" y="346"/>
                    </a:lnTo>
                    <a:lnTo>
                      <a:pt x="1569" y="349"/>
                    </a:lnTo>
                    <a:lnTo>
                      <a:pt x="1569" y="351"/>
                    </a:lnTo>
                    <a:lnTo>
                      <a:pt x="1570" y="354"/>
                    </a:lnTo>
                    <a:lnTo>
                      <a:pt x="1571" y="357"/>
                    </a:lnTo>
                    <a:lnTo>
                      <a:pt x="1571" y="360"/>
                    </a:lnTo>
                    <a:lnTo>
                      <a:pt x="1572" y="363"/>
                    </a:lnTo>
                    <a:lnTo>
                      <a:pt x="1573" y="365"/>
                    </a:lnTo>
                    <a:lnTo>
                      <a:pt x="1573" y="368"/>
                    </a:lnTo>
                    <a:lnTo>
                      <a:pt x="1574" y="371"/>
                    </a:lnTo>
                    <a:lnTo>
                      <a:pt x="1575" y="374"/>
                    </a:lnTo>
                    <a:lnTo>
                      <a:pt x="1575" y="377"/>
                    </a:lnTo>
                    <a:lnTo>
                      <a:pt x="1576" y="380"/>
                    </a:lnTo>
                    <a:lnTo>
                      <a:pt x="1576" y="382"/>
                    </a:lnTo>
                    <a:lnTo>
                      <a:pt x="1577" y="385"/>
                    </a:lnTo>
                    <a:lnTo>
                      <a:pt x="1578" y="388"/>
                    </a:lnTo>
                    <a:lnTo>
                      <a:pt x="1578" y="391"/>
                    </a:lnTo>
                    <a:lnTo>
                      <a:pt x="1579" y="394"/>
                    </a:lnTo>
                    <a:lnTo>
                      <a:pt x="1579" y="396"/>
                    </a:lnTo>
                    <a:lnTo>
                      <a:pt x="1580" y="399"/>
                    </a:lnTo>
                    <a:lnTo>
                      <a:pt x="1580" y="402"/>
                    </a:lnTo>
                    <a:lnTo>
                      <a:pt x="1581" y="405"/>
                    </a:lnTo>
                    <a:lnTo>
                      <a:pt x="1582" y="408"/>
                    </a:lnTo>
                    <a:lnTo>
                      <a:pt x="1582" y="411"/>
                    </a:lnTo>
                    <a:lnTo>
                      <a:pt x="1583" y="414"/>
                    </a:lnTo>
                    <a:lnTo>
                      <a:pt x="1583" y="416"/>
                    </a:lnTo>
                    <a:lnTo>
                      <a:pt x="1584" y="419"/>
                    </a:lnTo>
                    <a:lnTo>
                      <a:pt x="1584" y="422"/>
                    </a:lnTo>
                    <a:lnTo>
                      <a:pt x="1585" y="425"/>
                    </a:lnTo>
                    <a:lnTo>
                      <a:pt x="1585" y="428"/>
                    </a:lnTo>
                    <a:lnTo>
                      <a:pt x="1586" y="430"/>
                    </a:lnTo>
                    <a:lnTo>
                      <a:pt x="1586" y="433"/>
                    </a:lnTo>
                    <a:lnTo>
                      <a:pt x="1587" y="436"/>
                    </a:lnTo>
                    <a:lnTo>
                      <a:pt x="1587" y="439"/>
                    </a:lnTo>
                    <a:lnTo>
                      <a:pt x="1588" y="442"/>
                    </a:lnTo>
                    <a:lnTo>
                      <a:pt x="1588" y="445"/>
                    </a:lnTo>
                    <a:lnTo>
                      <a:pt x="1589" y="448"/>
                    </a:lnTo>
                    <a:lnTo>
                      <a:pt x="1589" y="450"/>
                    </a:lnTo>
                    <a:lnTo>
                      <a:pt x="1590" y="453"/>
                    </a:lnTo>
                    <a:lnTo>
                      <a:pt x="1590" y="456"/>
                    </a:lnTo>
                    <a:lnTo>
                      <a:pt x="1591" y="459"/>
                    </a:lnTo>
                    <a:lnTo>
                      <a:pt x="1591" y="462"/>
                    </a:lnTo>
                    <a:lnTo>
                      <a:pt x="1592" y="465"/>
                    </a:lnTo>
                    <a:lnTo>
                      <a:pt x="1592" y="467"/>
                    </a:lnTo>
                    <a:lnTo>
                      <a:pt x="1593" y="470"/>
                    </a:lnTo>
                    <a:lnTo>
                      <a:pt x="1593" y="473"/>
                    </a:lnTo>
                    <a:lnTo>
                      <a:pt x="1593" y="476"/>
                    </a:lnTo>
                    <a:lnTo>
                      <a:pt x="1594" y="479"/>
                    </a:lnTo>
                    <a:lnTo>
                      <a:pt x="1594" y="482"/>
                    </a:lnTo>
                    <a:lnTo>
                      <a:pt x="1595" y="485"/>
                    </a:lnTo>
                    <a:lnTo>
                      <a:pt x="1595" y="488"/>
                    </a:lnTo>
                    <a:lnTo>
                      <a:pt x="1595" y="488"/>
                    </a:lnTo>
                    <a:lnTo>
                      <a:pt x="1318" y="528"/>
                    </a:lnTo>
                    <a:lnTo>
                      <a:pt x="1318" y="527"/>
                    </a:lnTo>
                    <a:lnTo>
                      <a:pt x="1318" y="525"/>
                    </a:lnTo>
                    <a:lnTo>
                      <a:pt x="1317" y="523"/>
                    </a:lnTo>
                    <a:lnTo>
                      <a:pt x="1317" y="520"/>
                    </a:lnTo>
                    <a:lnTo>
                      <a:pt x="1317" y="518"/>
                    </a:lnTo>
                    <a:lnTo>
                      <a:pt x="1316" y="515"/>
                    </a:lnTo>
                    <a:lnTo>
                      <a:pt x="1316" y="513"/>
                    </a:lnTo>
                    <a:lnTo>
                      <a:pt x="1315" y="511"/>
                    </a:lnTo>
                    <a:lnTo>
                      <a:pt x="1315" y="508"/>
                    </a:lnTo>
                    <a:lnTo>
                      <a:pt x="1315" y="506"/>
                    </a:lnTo>
                    <a:lnTo>
                      <a:pt x="1314" y="504"/>
                    </a:lnTo>
                    <a:lnTo>
                      <a:pt x="1314" y="501"/>
                    </a:lnTo>
                    <a:lnTo>
                      <a:pt x="1314" y="499"/>
                    </a:lnTo>
                    <a:lnTo>
                      <a:pt x="1313" y="497"/>
                    </a:lnTo>
                    <a:lnTo>
                      <a:pt x="1313" y="494"/>
                    </a:lnTo>
                    <a:lnTo>
                      <a:pt x="1312" y="492"/>
                    </a:lnTo>
                    <a:lnTo>
                      <a:pt x="1312" y="490"/>
                    </a:lnTo>
                    <a:lnTo>
                      <a:pt x="1312" y="487"/>
                    </a:lnTo>
                    <a:lnTo>
                      <a:pt x="1311" y="485"/>
                    </a:lnTo>
                    <a:lnTo>
                      <a:pt x="1311" y="483"/>
                    </a:lnTo>
                    <a:lnTo>
                      <a:pt x="1310" y="480"/>
                    </a:lnTo>
                    <a:lnTo>
                      <a:pt x="1310" y="478"/>
                    </a:lnTo>
                    <a:lnTo>
                      <a:pt x="1309" y="476"/>
                    </a:lnTo>
                    <a:lnTo>
                      <a:pt x="1309" y="473"/>
                    </a:lnTo>
                    <a:lnTo>
                      <a:pt x="1309" y="471"/>
                    </a:lnTo>
                    <a:lnTo>
                      <a:pt x="1308" y="468"/>
                    </a:lnTo>
                    <a:lnTo>
                      <a:pt x="1308" y="466"/>
                    </a:lnTo>
                    <a:lnTo>
                      <a:pt x="1307" y="464"/>
                    </a:lnTo>
                    <a:lnTo>
                      <a:pt x="1307" y="461"/>
                    </a:lnTo>
                    <a:lnTo>
                      <a:pt x="1306" y="459"/>
                    </a:lnTo>
                    <a:lnTo>
                      <a:pt x="1306" y="457"/>
                    </a:lnTo>
                    <a:lnTo>
                      <a:pt x="1305" y="454"/>
                    </a:lnTo>
                    <a:lnTo>
                      <a:pt x="1305" y="452"/>
                    </a:lnTo>
                    <a:lnTo>
                      <a:pt x="1304" y="450"/>
                    </a:lnTo>
                    <a:lnTo>
                      <a:pt x="1304" y="447"/>
                    </a:lnTo>
                    <a:lnTo>
                      <a:pt x="1303" y="445"/>
                    </a:lnTo>
                    <a:lnTo>
                      <a:pt x="1303" y="443"/>
                    </a:lnTo>
                    <a:lnTo>
                      <a:pt x="1302" y="440"/>
                    </a:lnTo>
                    <a:lnTo>
                      <a:pt x="1302" y="438"/>
                    </a:lnTo>
                    <a:lnTo>
                      <a:pt x="1301" y="436"/>
                    </a:lnTo>
                    <a:lnTo>
                      <a:pt x="1301" y="434"/>
                    </a:lnTo>
                    <a:lnTo>
                      <a:pt x="1300" y="431"/>
                    </a:lnTo>
                    <a:lnTo>
                      <a:pt x="1300" y="429"/>
                    </a:lnTo>
                    <a:lnTo>
                      <a:pt x="1299" y="426"/>
                    </a:lnTo>
                    <a:lnTo>
                      <a:pt x="1299" y="424"/>
                    </a:lnTo>
                    <a:lnTo>
                      <a:pt x="1298" y="422"/>
                    </a:lnTo>
                    <a:lnTo>
                      <a:pt x="1298" y="419"/>
                    </a:lnTo>
                    <a:lnTo>
                      <a:pt x="1297" y="417"/>
                    </a:lnTo>
                    <a:lnTo>
                      <a:pt x="1297" y="415"/>
                    </a:lnTo>
                    <a:lnTo>
                      <a:pt x="1296" y="412"/>
                    </a:lnTo>
                    <a:lnTo>
                      <a:pt x="1296" y="410"/>
                    </a:lnTo>
                    <a:lnTo>
                      <a:pt x="1295" y="408"/>
                    </a:lnTo>
                    <a:lnTo>
                      <a:pt x="1295" y="405"/>
                    </a:lnTo>
                    <a:lnTo>
                      <a:pt x="1294" y="403"/>
                    </a:lnTo>
                    <a:lnTo>
                      <a:pt x="1294" y="401"/>
                    </a:lnTo>
                    <a:lnTo>
                      <a:pt x="1293" y="398"/>
                    </a:lnTo>
                    <a:lnTo>
                      <a:pt x="1292" y="396"/>
                    </a:lnTo>
                    <a:lnTo>
                      <a:pt x="1292" y="394"/>
                    </a:lnTo>
                    <a:lnTo>
                      <a:pt x="1291" y="391"/>
                    </a:lnTo>
                    <a:lnTo>
                      <a:pt x="1291" y="389"/>
                    </a:lnTo>
                    <a:lnTo>
                      <a:pt x="1290" y="387"/>
                    </a:lnTo>
                    <a:lnTo>
                      <a:pt x="1289" y="385"/>
                    </a:lnTo>
                    <a:lnTo>
                      <a:pt x="1289" y="382"/>
                    </a:lnTo>
                    <a:lnTo>
                      <a:pt x="1288" y="380"/>
                    </a:lnTo>
                    <a:lnTo>
                      <a:pt x="1288" y="378"/>
                    </a:lnTo>
                    <a:lnTo>
                      <a:pt x="1287" y="375"/>
                    </a:lnTo>
                    <a:lnTo>
                      <a:pt x="1286" y="373"/>
                    </a:lnTo>
                    <a:lnTo>
                      <a:pt x="1286" y="371"/>
                    </a:lnTo>
                    <a:lnTo>
                      <a:pt x="1285" y="368"/>
                    </a:lnTo>
                    <a:lnTo>
                      <a:pt x="1285" y="366"/>
                    </a:lnTo>
                    <a:lnTo>
                      <a:pt x="1284" y="364"/>
                    </a:lnTo>
                    <a:lnTo>
                      <a:pt x="1283" y="361"/>
                    </a:lnTo>
                    <a:lnTo>
                      <a:pt x="1283" y="359"/>
                    </a:lnTo>
                    <a:lnTo>
                      <a:pt x="1282" y="357"/>
                    </a:lnTo>
                    <a:lnTo>
                      <a:pt x="1281" y="355"/>
                    </a:lnTo>
                    <a:lnTo>
                      <a:pt x="1281" y="352"/>
                    </a:lnTo>
                    <a:lnTo>
                      <a:pt x="1280" y="350"/>
                    </a:lnTo>
                    <a:lnTo>
                      <a:pt x="1279" y="348"/>
                    </a:lnTo>
                    <a:lnTo>
                      <a:pt x="1279" y="345"/>
                    </a:lnTo>
                    <a:lnTo>
                      <a:pt x="1278" y="343"/>
                    </a:lnTo>
                    <a:lnTo>
                      <a:pt x="1277" y="341"/>
                    </a:lnTo>
                    <a:lnTo>
                      <a:pt x="1277" y="338"/>
                    </a:lnTo>
                    <a:lnTo>
                      <a:pt x="1276" y="336"/>
                    </a:lnTo>
                    <a:lnTo>
                      <a:pt x="1275" y="334"/>
                    </a:lnTo>
                    <a:lnTo>
                      <a:pt x="1275" y="332"/>
                    </a:lnTo>
                    <a:lnTo>
                      <a:pt x="1274" y="329"/>
                    </a:lnTo>
                    <a:lnTo>
                      <a:pt x="1273" y="327"/>
                    </a:lnTo>
                    <a:lnTo>
                      <a:pt x="1273" y="325"/>
                    </a:lnTo>
                    <a:lnTo>
                      <a:pt x="1272" y="322"/>
                    </a:lnTo>
                    <a:lnTo>
                      <a:pt x="1271" y="320"/>
                    </a:lnTo>
                    <a:lnTo>
                      <a:pt x="1270" y="318"/>
                    </a:lnTo>
                    <a:lnTo>
                      <a:pt x="1270" y="316"/>
                    </a:lnTo>
                    <a:lnTo>
                      <a:pt x="1269" y="313"/>
                    </a:lnTo>
                    <a:lnTo>
                      <a:pt x="1268" y="311"/>
                    </a:lnTo>
                    <a:lnTo>
                      <a:pt x="1268" y="309"/>
                    </a:lnTo>
                    <a:lnTo>
                      <a:pt x="1267" y="307"/>
                    </a:lnTo>
                    <a:lnTo>
                      <a:pt x="1266" y="304"/>
                    </a:lnTo>
                    <a:lnTo>
                      <a:pt x="1265" y="302"/>
                    </a:lnTo>
                    <a:lnTo>
                      <a:pt x="1265" y="300"/>
                    </a:lnTo>
                    <a:lnTo>
                      <a:pt x="1264" y="297"/>
                    </a:lnTo>
                    <a:lnTo>
                      <a:pt x="1263" y="295"/>
                    </a:lnTo>
                    <a:lnTo>
                      <a:pt x="1262" y="293"/>
                    </a:lnTo>
                    <a:lnTo>
                      <a:pt x="1262" y="291"/>
                    </a:lnTo>
                    <a:lnTo>
                      <a:pt x="1261" y="288"/>
                    </a:lnTo>
                    <a:lnTo>
                      <a:pt x="1260" y="286"/>
                    </a:lnTo>
                    <a:lnTo>
                      <a:pt x="1259" y="284"/>
                    </a:lnTo>
                    <a:lnTo>
                      <a:pt x="1258" y="282"/>
                    </a:lnTo>
                    <a:lnTo>
                      <a:pt x="1258" y="279"/>
                    </a:lnTo>
                    <a:lnTo>
                      <a:pt x="1257" y="277"/>
                    </a:lnTo>
                    <a:lnTo>
                      <a:pt x="1256" y="275"/>
                    </a:lnTo>
                    <a:lnTo>
                      <a:pt x="1255" y="272"/>
                    </a:lnTo>
                    <a:lnTo>
                      <a:pt x="1254" y="270"/>
                    </a:lnTo>
                    <a:lnTo>
                      <a:pt x="1254" y="268"/>
                    </a:lnTo>
                    <a:lnTo>
                      <a:pt x="1253" y="266"/>
                    </a:lnTo>
                    <a:lnTo>
                      <a:pt x="1252" y="263"/>
                    </a:lnTo>
                    <a:lnTo>
                      <a:pt x="1251" y="261"/>
                    </a:lnTo>
                    <a:lnTo>
                      <a:pt x="1250" y="259"/>
                    </a:lnTo>
                    <a:lnTo>
                      <a:pt x="1250" y="257"/>
                    </a:lnTo>
                    <a:lnTo>
                      <a:pt x="1249" y="254"/>
                    </a:lnTo>
                    <a:lnTo>
                      <a:pt x="1248" y="252"/>
                    </a:lnTo>
                    <a:lnTo>
                      <a:pt x="1247" y="250"/>
                    </a:lnTo>
                    <a:lnTo>
                      <a:pt x="1246" y="248"/>
                    </a:lnTo>
                    <a:lnTo>
                      <a:pt x="1245" y="245"/>
                    </a:lnTo>
                    <a:lnTo>
                      <a:pt x="1245" y="243"/>
                    </a:lnTo>
                    <a:lnTo>
                      <a:pt x="1244" y="241"/>
                    </a:lnTo>
                    <a:lnTo>
                      <a:pt x="1243" y="239"/>
                    </a:lnTo>
                    <a:lnTo>
                      <a:pt x="1242" y="236"/>
                    </a:lnTo>
                    <a:lnTo>
                      <a:pt x="1241" y="234"/>
                    </a:lnTo>
                    <a:lnTo>
                      <a:pt x="1240" y="232"/>
                    </a:lnTo>
                    <a:lnTo>
                      <a:pt x="1239" y="230"/>
                    </a:lnTo>
                    <a:lnTo>
                      <a:pt x="1238" y="228"/>
                    </a:lnTo>
                    <a:lnTo>
                      <a:pt x="1238" y="225"/>
                    </a:lnTo>
                    <a:lnTo>
                      <a:pt x="1237" y="223"/>
                    </a:lnTo>
                    <a:lnTo>
                      <a:pt x="1236" y="221"/>
                    </a:lnTo>
                    <a:lnTo>
                      <a:pt x="1235" y="219"/>
                    </a:lnTo>
                    <a:lnTo>
                      <a:pt x="1234" y="216"/>
                    </a:lnTo>
                    <a:lnTo>
                      <a:pt x="1233" y="214"/>
                    </a:lnTo>
                    <a:lnTo>
                      <a:pt x="1232" y="212"/>
                    </a:lnTo>
                    <a:lnTo>
                      <a:pt x="1231" y="210"/>
                    </a:lnTo>
                    <a:lnTo>
                      <a:pt x="1230" y="208"/>
                    </a:lnTo>
                    <a:lnTo>
                      <a:pt x="1229" y="205"/>
                    </a:lnTo>
                    <a:lnTo>
                      <a:pt x="1229" y="203"/>
                    </a:lnTo>
                    <a:lnTo>
                      <a:pt x="1228" y="201"/>
                    </a:lnTo>
                    <a:lnTo>
                      <a:pt x="1227" y="199"/>
                    </a:lnTo>
                    <a:lnTo>
                      <a:pt x="1226" y="197"/>
                    </a:lnTo>
                    <a:lnTo>
                      <a:pt x="1225" y="194"/>
                    </a:lnTo>
                    <a:lnTo>
                      <a:pt x="1224" y="192"/>
                    </a:lnTo>
                    <a:lnTo>
                      <a:pt x="1223" y="190"/>
                    </a:lnTo>
                    <a:lnTo>
                      <a:pt x="1222" y="188"/>
                    </a:lnTo>
                    <a:lnTo>
                      <a:pt x="1221" y="186"/>
                    </a:lnTo>
                    <a:lnTo>
                      <a:pt x="1220" y="183"/>
                    </a:lnTo>
                    <a:lnTo>
                      <a:pt x="1219" y="181"/>
                    </a:lnTo>
                    <a:lnTo>
                      <a:pt x="1218" y="179"/>
                    </a:lnTo>
                    <a:lnTo>
                      <a:pt x="1217" y="177"/>
                    </a:lnTo>
                    <a:lnTo>
                      <a:pt x="1216" y="175"/>
                    </a:lnTo>
                    <a:lnTo>
                      <a:pt x="1215" y="172"/>
                    </a:lnTo>
                    <a:lnTo>
                      <a:pt x="1214" y="170"/>
                    </a:lnTo>
                    <a:lnTo>
                      <a:pt x="1213" y="168"/>
                    </a:lnTo>
                    <a:lnTo>
                      <a:pt x="1212" y="166"/>
                    </a:lnTo>
                    <a:lnTo>
                      <a:pt x="1211" y="164"/>
                    </a:lnTo>
                    <a:lnTo>
                      <a:pt x="1210" y="161"/>
                    </a:lnTo>
                    <a:lnTo>
                      <a:pt x="1209" y="159"/>
                    </a:lnTo>
                    <a:lnTo>
                      <a:pt x="1208" y="157"/>
                    </a:lnTo>
                    <a:lnTo>
                      <a:pt x="1207" y="155"/>
                    </a:lnTo>
                    <a:lnTo>
                      <a:pt x="1206" y="153"/>
                    </a:lnTo>
                    <a:lnTo>
                      <a:pt x="1205" y="151"/>
                    </a:lnTo>
                    <a:lnTo>
                      <a:pt x="1204" y="148"/>
                    </a:lnTo>
                    <a:lnTo>
                      <a:pt x="1203" y="146"/>
                    </a:lnTo>
                    <a:lnTo>
                      <a:pt x="1202" y="144"/>
                    </a:lnTo>
                    <a:lnTo>
                      <a:pt x="1201" y="142"/>
                    </a:lnTo>
                    <a:lnTo>
                      <a:pt x="1200" y="140"/>
                    </a:lnTo>
                    <a:lnTo>
                      <a:pt x="1199" y="138"/>
                    </a:lnTo>
                    <a:lnTo>
                      <a:pt x="1198" y="135"/>
                    </a:lnTo>
                    <a:lnTo>
                      <a:pt x="1197" y="133"/>
                    </a:lnTo>
                    <a:lnTo>
                      <a:pt x="1196" y="131"/>
                    </a:lnTo>
                    <a:lnTo>
                      <a:pt x="1195" y="129"/>
                    </a:lnTo>
                    <a:lnTo>
                      <a:pt x="1194" y="127"/>
                    </a:lnTo>
                    <a:lnTo>
                      <a:pt x="1193" y="125"/>
                    </a:lnTo>
                    <a:close/>
                    <a:moveTo>
                      <a:pt x="1330" y="780"/>
                    </a:moveTo>
                    <a:lnTo>
                      <a:pt x="1609" y="794"/>
                    </a:lnTo>
                    <a:lnTo>
                      <a:pt x="1609" y="799"/>
                    </a:lnTo>
                    <a:lnTo>
                      <a:pt x="1609" y="809"/>
                    </a:lnTo>
                    <a:lnTo>
                      <a:pt x="1608" y="819"/>
                    </a:lnTo>
                    <a:lnTo>
                      <a:pt x="1607" y="830"/>
                    </a:lnTo>
                    <a:lnTo>
                      <a:pt x="1607" y="840"/>
                    </a:lnTo>
                    <a:lnTo>
                      <a:pt x="1606" y="850"/>
                    </a:lnTo>
                    <a:lnTo>
                      <a:pt x="1605" y="860"/>
                    </a:lnTo>
                    <a:lnTo>
                      <a:pt x="1604" y="870"/>
                    </a:lnTo>
                    <a:lnTo>
                      <a:pt x="1603" y="881"/>
                    </a:lnTo>
                    <a:lnTo>
                      <a:pt x="1602" y="891"/>
                    </a:lnTo>
                    <a:lnTo>
                      <a:pt x="1601" y="901"/>
                    </a:lnTo>
                    <a:lnTo>
                      <a:pt x="1600" y="911"/>
                    </a:lnTo>
                    <a:lnTo>
                      <a:pt x="1598" y="921"/>
                    </a:lnTo>
                    <a:lnTo>
                      <a:pt x="1597" y="931"/>
                    </a:lnTo>
                    <a:lnTo>
                      <a:pt x="1596" y="941"/>
                    </a:lnTo>
                    <a:lnTo>
                      <a:pt x="1594" y="951"/>
                    </a:lnTo>
                    <a:lnTo>
                      <a:pt x="1593" y="961"/>
                    </a:lnTo>
                    <a:lnTo>
                      <a:pt x="1591" y="971"/>
                    </a:lnTo>
                    <a:lnTo>
                      <a:pt x="1590" y="981"/>
                    </a:lnTo>
                    <a:lnTo>
                      <a:pt x="1588" y="991"/>
                    </a:lnTo>
                    <a:lnTo>
                      <a:pt x="1586" y="1001"/>
                    </a:lnTo>
                    <a:lnTo>
                      <a:pt x="1584" y="1011"/>
                    </a:lnTo>
                    <a:lnTo>
                      <a:pt x="1583" y="1021"/>
                    </a:lnTo>
                    <a:lnTo>
                      <a:pt x="1581" y="1031"/>
                    </a:lnTo>
                    <a:lnTo>
                      <a:pt x="1579" y="1041"/>
                    </a:lnTo>
                    <a:lnTo>
                      <a:pt x="1577" y="1050"/>
                    </a:lnTo>
                    <a:lnTo>
                      <a:pt x="1574" y="1060"/>
                    </a:lnTo>
                    <a:lnTo>
                      <a:pt x="1572" y="1070"/>
                    </a:lnTo>
                    <a:lnTo>
                      <a:pt x="1570" y="1080"/>
                    </a:lnTo>
                    <a:lnTo>
                      <a:pt x="1568" y="1090"/>
                    </a:lnTo>
                    <a:lnTo>
                      <a:pt x="1565" y="1099"/>
                    </a:lnTo>
                    <a:lnTo>
                      <a:pt x="1563" y="1109"/>
                    </a:lnTo>
                    <a:lnTo>
                      <a:pt x="1561" y="1119"/>
                    </a:lnTo>
                    <a:lnTo>
                      <a:pt x="1558" y="1128"/>
                    </a:lnTo>
                    <a:lnTo>
                      <a:pt x="1556" y="1138"/>
                    </a:lnTo>
                    <a:lnTo>
                      <a:pt x="1553" y="1148"/>
                    </a:lnTo>
                    <a:lnTo>
                      <a:pt x="1550" y="1157"/>
                    </a:lnTo>
                    <a:lnTo>
                      <a:pt x="1547" y="1167"/>
                    </a:lnTo>
                    <a:lnTo>
                      <a:pt x="1545" y="1176"/>
                    </a:lnTo>
                    <a:lnTo>
                      <a:pt x="1542" y="1186"/>
                    </a:lnTo>
                    <a:lnTo>
                      <a:pt x="1539" y="1195"/>
                    </a:lnTo>
                    <a:lnTo>
                      <a:pt x="1536" y="1205"/>
                    </a:lnTo>
                    <a:lnTo>
                      <a:pt x="1533" y="1214"/>
                    </a:lnTo>
                    <a:lnTo>
                      <a:pt x="1530" y="1223"/>
                    </a:lnTo>
                    <a:lnTo>
                      <a:pt x="1527" y="1233"/>
                    </a:lnTo>
                    <a:lnTo>
                      <a:pt x="1523" y="1242"/>
                    </a:lnTo>
                    <a:lnTo>
                      <a:pt x="1520" y="1251"/>
                    </a:lnTo>
                    <a:lnTo>
                      <a:pt x="1517" y="1261"/>
                    </a:lnTo>
                    <a:lnTo>
                      <a:pt x="1514" y="1270"/>
                    </a:lnTo>
                    <a:lnTo>
                      <a:pt x="1510" y="1279"/>
                    </a:lnTo>
                    <a:lnTo>
                      <a:pt x="1507" y="1289"/>
                    </a:lnTo>
                    <a:lnTo>
                      <a:pt x="1503" y="1298"/>
                    </a:lnTo>
                    <a:lnTo>
                      <a:pt x="1500" y="1307"/>
                    </a:lnTo>
                    <a:lnTo>
                      <a:pt x="1496" y="1316"/>
                    </a:lnTo>
                    <a:lnTo>
                      <a:pt x="1492" y="1325"/>
                    </a:lnTo>
                    <a:lnTo>
                      <a:pt x="1488" y="1334"/>
                    </a:lnTo>
                    <a:lnTo>
                      <a:pt x="1485" y="1343"/>
                    </a:lnTo>
                    <a:lnTo>
                      <a:pt x="1481" y="1352"/>
                    </a:lnTo>
                    <a:lnTo>
                      <a:pt x="1477" y="1361"/>
                    </a:lnTo>
                    <a:lnTo>
                      <a:pt x="1473" y="1370"/>
                    </a:lnTo>
                    <a:lnTo>
                      <a:pt x="1469" y="1379"/>
                    </a:lnTo>
                    <a:lnTo>
                      <a:pt x="1466" y="1387"/>
                    </a:lnTo>
                    <a:lnTo>
                      <a:pt x="1211" y="1270"/>
                    </a:lnTo>
                    <a:lnTo>
                      <a:pt x="1214" y="1264"/>
                    </a:lnTo>
                    <a:lnTo>
                      <a:pt x="1217" y="1256"/>
                    </a:lnTo>
                    <a:lnTo>
                      <a:pt x="1220" y="1249"/>
                    </a:lnTo>
                    <a:lnTo>
                      <a:pt x="1224" y="1242"/>
                    </a:lnTo>
                    <a:lnTo>
                      <a:pt x="1227" y="1234"/>
                    </a:lnTo>
                    <a:lnTo>
                      <a:pt x="1230" y="1227"/>
                    </a:lnTo>
                    <a:lnTo>
                      <a:pt x="1233" y="1219"/>
                    </a:lnTo>
                    <a:lnTo>
                      <a:pt x="1236" y="1212"/>
                    </a:lnTo>
                    <a:lnTo>
                      <a:pt x="1239" y="1204"/>
                    </a:lnTo>
                    <a:lnTo>
                      <a:pt x="1242" y="1197"/>
                    </a:lnTo>
                    <a:lnTo>
                      <a:pt x="1245" y="1189"/>
                    </a:lnTo>
                    <a:lnTo>
                      <a:pt x="1248" y="1181"/>
                    </a:lnTo>
                    <a:lnTo>
                      <a:pt x="1251" y="1174"/>
                    </a:lnTo>
                    <a:lnTo>
                      <a:pt x="1253" y="1166"/>
                    </a:lnTo>
                    <a:lnTo>
                      <a:pt x="1256" y="1158"/>
                    </a:lnTo>
                    <a:lnTo>
                      <a:pt x="1259" y="1151"/>
                    </a:lnTo>
                    <a:lnTo>
                      <a:pt x="1261" y="1143"/>
                    </a:lnTo>
                    <a:lnTo>
                      <a:pt x="1264" y="1135"/>
                    </a:lnTo>
                    <a:lnTo>
                      <a:pt x="1267" y="1128"/>
                    </a:lnTo>
                    <a:lnTo>
                      <a:pt x="1269" y="1120"/>
                    </a:lnTo>
                    <a:lnTo>
                      <a:pt x="1272" y="1112"/>
                    </a:lnTo>
                    <a:lnTo>
                      <a:pt x="1274" y="1104"/>
                    </a:lnTo>
                    <a:lnTo>
                      <a:pt x="1276" y="1096"/>
                    </a:lnTo>
                    <a:lnTo>
                      <a:pt x="1279" y="1088"/>
                    </a:lnTo>
                    <a:lnTo>
                      <a:pt x="1281" y="1081"/>
                    </a:lnTo>
                    <a:lnTo>
                      <a:pt x="1283" y="1073"/>
                    </a:lnTo>
                    <a:lnTo>
                      <a:pt x="1285" y="1065"/>
                    </a:lnTo>
                    <a:lnTo>
                      <a:pt x="1287" y="1057"/>
                    </a:lnTo>
                    <a:lnTo>
                      <a:pt x="1289" y="1049"/>
                    </a:lnTo>
                    <a:lnTo>
                      <a:pt x="1292" y="1041"/>
                    </a:lnTo>
                    <a:lnTo>
                      <a:pt x="1293" y="1033"/>
                    </a:lnTo>
                    <a:lnTo>
                      <a:pt x="1295" y="1025"/>
                    </a:lnTo>
                    <a:lnTo>
                      <a:pt x="1297" y="1017"/>
                    </a:lnTo>
                    <a:lnTo>
                      <a:pt x="1299" y="1009"/>
                    </a:lnTo>
                    <a:lnTo>
                      <a:pt x="1301" y="1001"/>
                    </a:lnTo>
                    <a:lnTo>
                      <a:pt x="1303" y="993"/>
                    </a:lnTo>
                    <a:lnTo>
                      <a:pt x="1304" y="985"/>
                    </a:lnTo>
                    <a:lnTo>
                      <a:pt x="1306" y="976"/>
                    </a:lnTo>
                    <a:lnTo>
                      <a:pt x="1308" y="968"/>
                    </a:lnTo>
                    <a:lnTo>
                      <a:pt x="1309" y="960"/>
                    </a:lnTo>
                    <a:lnTo>
                      <a:pt x="1311" y="952"/>
                    </a:lnTo>
                    <a:lnTo>
                      <a:pt x="1312" y="944"/>
                    </a:lnTo>
                    <a:lnTo>
                      <a:pt x="1313" y="935"/>
                    </a:lnTo>
                    <a:lnTo>
                      <a:pt x="1315" y="927"/>
                    </a:lnTo>
                    <a:lnTo>
                      <a:pt x="1316" y="919"/>
                    </a:lnTo>
                    <a:lnTo>
                      <a:pt x="1317" y="911"/>
                    </a:lnTo>
                    <a:lnTo>
                      <a:pt x="1318" y="902"/>
                    </a:lnTo>
                    <a:lnTo>
                      <a:pt x="1320" y="894"/>
                    </a:lnTo>
                    <a:lnTo>
                      <a:pt x="1321" y="886"/>
                    </a:lnTo>
                    <a:lnTo>
                      <a:pt x="1322" y="877"/>
                    </a:lnTo>
                    <a:lnTo>
                      <a:pt x="1323" y="869"/>
                    </a:lnTo>
                    <a:lnTo>
                      <a:pt x="1324" y="861"/>
                    </a:lnTo>
                    <a:lnTo>
                      <a:pt x="1325" y="852"/>
                    </a:lnTo>
                    <a:lnTo>
                      <a:pt x="1325" y="844"/>
                    </a:lnTo>
                    <a:lnTo>
                      <a:pt x="1326" y="836"/>
                    </a:lnTo>
                    <a:lnTo>
                      <a:pt x="1327" y="827"/>
                    </a:lnTo>
                    <a:lnTo>
                      <a:pt x="1327" y="819"/>
                    </a:lnTo>
                    <a:lnTo>
                      <a:pt x="1328" y="810"/>
                    </a:lnTo>
                    <a:lnTo>
                      <a:pt x="1329" y="802"/>
                    </a:lnTo>
                    <a:lnTo>
                      <a:pt x="1329" y="793"/>
                    </a:lnTo>
                    <a:lnTo>
                      <a:pt x="1330" y="785"/>
                    </a:lnTo>
                    <a:lnTo>
                      <a:pt x="1330" y="780"/>
                    </a:lnTo>
                    <a:close/>
                    <a:moveTo>
                      <a:pt x="1085" y="1488"/>
                    </a:moveTo>
                    <a:lnTo>
                      <a:pt x="1312" y="1652"/>
                    </a:lnTo>
                    <a:lnTo>
                      <a:pt x="1308" y="1657"/>
                    </a:lnTo>
                    <a:lnTo>
                      <a:pt x="1303" y="1665"/>
                    </a:lnTo>
                    <a:lnTo>
                      <a:pt x="1297" y="1672"/>
                    </a:lnTo>
                    <a:lnTo>
                      <a:pt x="1291" y="1680"/>
                    </a:lnTo>
                    <a:lnTo>
                      <a:pt x="1285" y="1688"/>
                    </a:lnTo>
                    <a:lnTo>
                      <a:pt x="1280" y="1696"/>
                    </a:lnTo>
                    <a:lnTo>
                      <a:pt x="1274" y="1703"/>
                    </a:lnTo>
                    <a:lnTo>
                      <a:pt x="1268" y="1711"/>
                    </a:lnTo>
                    <a:lnTo>
                      <a:pt x="1262" y="1718"/>
                    </a:lnTo>
                    <a:lnTo>
                      <a:pt x="1256" y="1726"/>
                    </a:lnTo>
                    <a:lnTo>
                      <a:pt x="1250" y="1733"/>
                    </a:lnTo>
                    <a:lnTo>
                      <a:pt x="1243" y="1741"/>
                    </a:lnTo>
                    <a:lnTo>
                      <a:pt x="1237" y="1748"/>
                    </a:lnTo>
                    <a:lnTo>
                      <a:pt x="1231" y="1756"/>
                    </a:lnTo>
                    <a:lnTo>
                      <a:pt x="1225" y="1763"/>
                    </a:lnTo>
                    <a:lnTo>
                      <a:pt x="1218" y="1770"/>
                    </a:lnTo>
                    <a:lnTo>
                      <a:pt x="1212" y="1778"/>
                    </a:lnTo>
                    <a:lnTo>
                      <a:pt x="1206" y="1785"/>
                    </a:lnTo>
                    <a:lnTo>
                      <a:pt x="1199" y="1792"/>
                    </a:lnTo>
                    <a:lnTo>
                      <a:pt x="1193" y="1799"/>
                    </a:lnTo>
                    <a:lnTo>
                      <a:pt x="1186" y="1807"/>
                    </a:lnTo>
                    <a:lnTo>
                      <a:pt x="1180" y="1814"/>
                    </a:lnTo>
                    <a:lnTo>
                      <a:pt x="1173" y="1821"/>
                    </a:lnTo>
                    <a:lnTo>
                      <a:pt x="1166" y="1828"/>
                    </a:lnTo>
                    <a:lnTo>
                      <a:pt x="1160" y="1835"/>
                    </a:lnTo>
                    <a:lnTo>
                      <a:pt x="1153" y="1842"/>
                    </a:lnTo>
                    <a:lnTo>
                      <a:pt x="1146" y="1848"/>
                    </a:lnTo>
                    <a:lnTo>
                      <a:pt x="1139" y="1855"/>
                    </a:lnTo>
                    <a:lnTo>
                      <a:pt x="1133" y="1862"/>
                    </a:lnTo>
                    <a:lnTo>
                      <a:pt x="1126" y="1869"/>
                    </a:lnTo>
                    <a:lnTo>
                      <a:pt x="1119" y="1876"/>
                    </a:lnTo>
                    <a:lnTo>
                      <a:pt x="1112" y="1882"/>
                    </a:lnTo>
                    <a:lnTo>
                      <a:pt x="1105" y="1889"/>
                    </a:lnTo>
                    <a:lnTo>
                      <a:pt x="1098" y="1895"/>
                    </a:lnTo>
                    <a:lnTo>
                      <a:pt x="1091" y="1902"/>
                    </a:lnTo>
                    <a:lnTo>
                      <a:pt x="1084" y="1909"/>
                    </a:lnTo>
                    <a:lnTo>
                      <a:pt x="1076" y="1915"/>
                    </a:lnTo>
                    <a:lnTo>
                      <a:pt x="1069" y="1921"/>
                    </a:lnTo>
                    <a:lnTo>
                      <a:pt x="1062" y="1928"/>
                    </a:lnTo>
                    <a:lnTo>
                      <a:pt x="1055" y="1934"/>
                    </a:lnTo>
                    <a:lnTo>
                      <a:pt x="1047" y="1941"/>
                    </a:lnTo>
                    <a:lnTo>
                      <a:pt x="1040" y="1947"/>
                    </a:lnTo>
                    <a:lnTo>
                      <a:pt x="1033" y="1953"/>
                    </a:lnTo>
                    <a:lnTo>
                      <a:pt x="1025" y="1959"/>
                    </a:lnTo>
                    <a:lnTo>
                      <a:pt x="1018" y="1965"/>
                    </a:lnTo>
                    <a:lnTo>
                      <a:pt x="1010" y="1971"/>
                    </a:lnTo>
                    <a:lnTo>
                      <a:pt x="1003" y="1977"/>
                    </a:lnTo>
                    <a:lnTo>
                      <a:pt x="995" y="1983"/>
                    </a:lnTo>
                    <a:lnTo>
                      <a:pt x="987" y="1989"/>
                    </a:lnTo>
                    <a:lnTo>
                      <a:pt x="980" y="1995"/>
                    </a:lnTo>
                    <a:lnTo>
                      <a:pt x="972" y="2001"/>
                    </a:lnTo>
                    <a:lnTo>
                      <a:pt x="964" y="2007"/>
                    </a:lnTo>
                    <a:lnTo>
                      <a:pt x="957" y="2013"/>
                    </a:lnTo>
                    <a:lnTo>
                      <a:pt x="949" y="2019"/>
                    </a:lnTo>
                    <a:lnTo>
                      <a:pt x="941" y="2024"/>
                    </a:lnTo>
                    <a:lnTo>
                      <a:pt x="933" y="2030"/>
                    </a:lnTo>
                    <a:lnTo>
                      <a:pt x="925" y="2035"/>
                    </a:lnTo>
                    <a:lnTo>
                      <a:pt x="917" y="2041"/>
                    </a:lnTo>
                    <a:lnTo>
                      <a:pt x="909" y="2046"/>
                    </a:lnTo>
                    <a:lnTo>
                      <a:pt x="901" y="2052"/>
                    </a:lnTo>
                    <a:lnTo>
                      <a:pt x="893" y="2057"/>
                    </a:lnTo>
                    <a:lnTo>
                      <a:pt x="885" y="2063"/>
                    </a:lnTo>
                    <a:lnTo>
                      <a:pt x="877" y="2068"/>
                    </a:lnTo>
                    <a:lnTo>
                      <a:pt x="871" y="2072"/>
                    </a:lnTo>
                    <a:lnTo>
                      <a:pt x="720" y="1836"/>
                    </a:lnTo>
                    <a:lnTo>
                      <a:pt x="724" y="1833"/>
                    </a:lnTo>
                    <a:lnTo>
                      <a:pt x="731" y="1829"/>
                    </a:lnTo>
                    <a:lnTo>
                      <a:pt x="738" y="1824"/>
                    </a:lnTo>
                    <a:lnTo>
                      <a:pt x="744" y="1820"/>
                    </a:lnTo>
                    <a:lnTo>
                      <a:pt x="751" y="1815"/>
                    </a:lnTo>
                    <a:lnTo>
                      <a:pt x="758" y="1811"/>
                    </a:lnTo>
                    <a:lnTo>
                      <a:pt x="764" y="1806"/>
                    </a:lnTo>
                    <a:lnTo>
                      <a:pt x="771" y="1802"/>
                    </a:lnTo>
                    <a:lnTo>
                      <a:pt x="777" y="1797"/>
                    </a:lnTo>
                    <a:lnTo>
                      <a:pt x="784" y="1792"/>
                    </a:lnTo>
                    <a:lnTo>
                      <a:pt x="790" y="1788"/>
                    </a:lnTo>
                    <a:lnTo>
                      <a:pt x="797" y="1783"/>
                    </a:lnTo>
                    <a:lnTo>
                      <a:pt x="803" y="1778"/>
                    </a:lnTo>
                    <a:lnTo>
                      <a:pt x="809" y="1773"/>
                    </a:lnTo>
                    <a:lnTo>
                      <a:pt x="816" y="1768"/>
                    </a:lnTo>
                    <a:lnTo>
                      <a:pt x="822" y="1763"/>
                    </a:lnTo>
                    <a:lnTo>
                      <a:pt x="828" y="1758"/>
                    </a:lnTo>
                    <a:lnTo>
                      <a:pt x="835" y="1753"/>
                    </a:lnTo>
                    <a:lnTo>
                      <a:pt x="841" y="1748"/>
                    </a:lnTo>
                    <a:lnTo>
                      <a:pt x="847" y="1743"/>
                    </a:lnTo>
                    <a:lnTo>
                      <a:pt x="853" y="1738"/>
                    </a:lnTo>
                    <a:lnTo>
                      <a:pt x="859" y="1733"/>
                    </a:lnTo>
                    <a:lnTo>
                      <a:pt x="865" y="1728"/>
                    </a:lnTo>
                    <a:lnTo>
                      <a:pt x="871" y="1723"/>
                    </a:lnTo>
                    <a:lnTo>
                      <a:pt x="877" y="1717"/>
                    </a:lnTo>
                    <a:lnTo>
                      <a:pt x="883" y="1712"/>
                    </a:lnTo>
                    <a:lnTo>
                      <a:pt x="889" y="1707"/>
                    </a:lnTo>
                    <a:lnTo>
                      <a:pt x="895" y="1701"/>
                    </a:lnTo>
                    <a:lnTo>
                      <a:pt x="901" y="1696"/>
                    </a:lnTo>
                    <a:lnTo>
                      <a:pt x="907" y="1691"/>
                    </a:lnTo>
                    <a:lnTo>
                      <a:pt x="913" y="1685"/>
                    </a:lnTo>
                    <a:lnTo>
                      <a:pt x="919" y="1680"/>
                    </a:lnTo>
                    <a:lnTo>
                      <a:pt x="924" y="1674"/>
                    </a:lnTo>
                    <a:lnTo>
                      <a:pt x="930" y="1669"/>
                    </a:lnTo>
                    <a:lnTo>
                      <a:pt x="936" y="1663"/>
                    </a:lnTo>
                    <a:lnTo>
                      <a:pt x="942" y="1657"/>
                    </a:lnTo>
                    <a:lnTo>
                      <a:pt x="947" y="1652"/>
                    </a:lnTo>
                    <a:lnTo>
                      <a:pt x="953" y="1646"/>
                    </a:lnTo>
                    <a:lnTo>
                      <a:pt x="958" y="1640"/>
                    </a:lnTo>
                    <a:lnTo>
                      <a:pt x="964" y="1634"/>
                    </a:lnTo>
                    <a:lnTo>
                      <a:pt x="969" y="1629"/>
                    </a:lnTo>
                    <a:lnTo>
                      <a:pt x="975" y="1623"/>
                    </a:lnTo>
                    <a:lnTo>
                      <a:pt x="980" y="1617"/>
                    </a:lnTo>
                    <a:lnTo>
                      <a:pt x="986" y="1611"/>
                    </a:lnTo>
                    <a:lnTo>
                      <a:pt x="991" y="1605"/>
                    </a:lnTo>
                    <a:lnTo>
                      <a:pt x="996" y="1599"/>
                    </a:lnTo>
                    <a:lnTo>
                      <a:pt x="1002" y="1593"/>
                    </a:lnTo>
                    <a:lnTo>
                      <a:pt x="1007" y="1587"/>
                    </a:lnTo>
                    <a:lnTo>
                      <a:pt x="1012" y="1581"/>
                    </a:lnTo>
                    <a:lnTo>
                      <a:pt x="1017" y="1575"/>
                    </a:lnTo>
                    <a:lnTo>
                      <a:pt x="1022" y="1569"/>
                    </a:lnTo>
                    <a:lnTo>
                      <a:pt x="1027" y="1563"/>
                    </a:lnTo>
                    <a:lnTo>
                      <a:pt x="1033" y="1557"/>
                    </a:lnTo>
                    <a:lnTo>
                      <a:pt x="1038" y="1550"/>
                    </a:lnTo>
                    <a:lnTo>
                      <a:pt x="1043" y="1544"/>
                    </a:lnTo>
                    <a:lnTo>
                      <a:pt x="1048" y="1538"/>
                    </a:lnTo>
                    <a:lnTo>
                      <a:pt x="1052" y="1531"/>
                    </a:lnTo>
                    <a:lnTo>
                      <a:pt x="1057" y="1525"/>
                    </a:lnTo>
                    <a:lnTo>
                      <a:pt x="1062" y="1519"/>
                    </a:lnTo>
                    <a:lnTo>
                      <a:pt x="1067" y="1512"/>
                    </a:lnTo>
                    <a:lnTo>
                      <a:pt x="1072" y="1506"/>
                    </a:lnTo>
                    <a:lnTo>
                      <a:pt x="1077" y="1500"/>
                    </a:lnTo>
                    <a:lnTo>
                      <a:pt x="1081" y="1493"/>
                    </a:lnTo>
                    <a:lnTo>
                      <a:pt x="1085" y="1488"/>
                    </a:lnTo>
                    <a:close/>
                    <a:moveTo>
                      <a:pt x="0" y="2327"/>
                    </a:moveTo>
                    <a:lnTo>
                      <a:pt x="0" y="204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0" name="Freeform 9"/>
              <p:cNvSpPr>
                <a:spLocks/>
              </p:cNvSpPr>
              <p:nvPr/>
            </p:nvSpPr>
            <p:spPr bwMode="auto">
              <a:xfrm>
                <a:off x="2182018" y="4039169"/>
                <a:ext cx="1161056" cy="1279099"/>
              </a:xfrm>
              <a:custGeom>
                <a:avLst/>
                <a:gdLst>
                  <a:gd name="T0" fmla="*/ 2617 w 2894"/>
                  <a:gd name="T1" fmla="*/ 111 h 3192"/>
                  <a:gd name="T2" fmla="*/ 2756 w 2894"/>
                  <a:gd name="T3" fmla="*/ 408 h 3192"/>
                  <a:gd name="T4" fmla="*/ 2894 w 2894"/>
                  <a:gd name="T5" fmla="*/ 705 h 3192"/>
                  <a:gd name="T6" fmla="*/ 2567 w 2894"/>
                  <a:gd name="T7" fmla="*/ 676 h 3192"/>
                  <a:gd name="T8" fmla="*/ 2241 w 2894"/>
                  <a:gd name="T9" fmla="*/ 647 h 3192"/>
                  <a:gd name="T10" fmla="*/ 2345 w 2894"/>
                  <a:gd name="T11" fmla="*/ 500 h 3192"/>
                  <a:gd name="T12" fmla="*/ 2097 w 2894"/>
                  <a:gd name="T13" fmla="*/ 371 h 3192"/>
                  <a:gd name="T14" fmla="*/ 1611 w 2894"/>
                  <a:gd name="T15" fmla="*/ 280 h 3192"/>
                  <a:gd name="T16" fmla="*/ 670 w 2894"/>
                  <a:gd name="T17" fmla="*/ 670 h 3192"/>
                  <a:gd name="T18" fmla="*/ 280 w 2894"/>
                  <a:gd name="T19" fmla="*/ 1611 h 3192"/>
                  <a:gd name="T20" fmla="*/ 584 w 2894"/>
                  <a:gd name="T21" fmla="*/ 2458 h 3192"/>
                  <a:gd name="T22" fmla="*/ 1357 w 2894"/>
                  <a:gd name="T23" fmla="*/ 2918 h 3192"/>
                  <a:gd name="T24" fmla="*/ 1304 w 2894"/>
                  <a:gd name="T25" fmla="*/ 3192 h 3192"/>
                  <a:gd name="T26" fmla="*/ 368 w 2894"/>
                  <a:gd name="T27" fmla="*/ 2635 h 3192"/>
                  <a:gd name="T28" fmla="*/ 0 w 2894"/>
                  <a:gd name="T29" fmla="*/ 1611 h 3192"/>
                  <a:gd name="T30" fmla="*/ 472 w 2894"/>
                  <a:gd name="T31" fmla="*/ 472 h 3192"/>
                  <a:gd name="T32" fmla="*/ 1611 w 2894"/>
                  <a:gd name="T33" fmla="*/ 0 h 3192"/>
                  <a:gd name="T34" fmla="*/ 2198 w 2894"/>
                  <a:gd name="T35" fmla="*/ 111 h 3192"/>
                  <a:gd name="T36" fmla="*/ 2505 w 2894"/>
                  <a:gd name="T37" fmla="*/ 271 h 3192"/>
                  <a:gd name="T38" fmla="*/ 2617 w 2894"/>
                  <a:gd name="T39" fmla="*/ 111 h 3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94" h="3192">
                    <a:moveTo>
                      <a:pt x="2617" y="111"/>
                    </a:moveTo>
                    <a:lnTo>
                      <a:pt x="2756" y="408"/>
                    </a:lnTo>
                    <a:lnTo>
                      <a:pt x="2894" y="705"/>
                    </a:lnTo>
                    <a:lnTo>
                      <a:pt x="2567" y="676"/>
                    </a:lnTo>
                    <a:lnTo>
                      <a:pt x="2241" y="647"/>
                    </a:lnTo>
                    <a:lnTo>
                      <a:pt x="2345" y="500"/>
                    </a:lnTo>
                    <a:cubicBezTo>
                      <a:pt x="2267" y="448"/>
                      <a:pt x="2183" y="405"/>
                      <a:pt x="2097" y="371"/>
                    </a:cubicBezTo>
                    <a:cubicBezTo>
                      <a:pt x="1944" y="312"/>
                      <a:pt x="1779" y="280"/>
                      <a:pt x="1611" y="280"/>
                    </a:cubicBezTo>
                    <a:cubicBezTo>
                      <a:pt x="1243" y="280"/>
                      <a:pt x="911" y="429"/>
                      <a:pt x="670" y="670"/>
                    </a:cubicBezTo>
                    <a:cubicBezTo>
                      <a:pt x="429" y="911"/>
                      <a:pt x="280" y="1243"/>
                      <a:pt x="280" y="1611"/>
                    </a:cubicBezTo>
                    <a:cubicBezTo>
                      <a:pt x="280" y="1930"/>
                      <a:pt x="393" y="2227"/>
                      <a:pt x="584" y="2458"/>
                    </a:cubicBezTo>
                    <a:cubicBezTo>
                      <a:pt x="775" y="2690"/>
                      <a:pt x="1044" y="2857"/>
                      <a:pt x="1357" y="2918"/>
                    </a:cubicBezTo>
                    <a:lnTo>
                      <a:pt x="1304" y="3192"/>
                    </a:lnTo>
                    <a:cubicBezTo>
                      <a:pt x="926" y="3119"/>
                      <a:pt x="600" y="2916"/>
                      <a:pt x="368" y="2635"/>
                    </a:cubicBezTo>
                    <a:cubicBezTo>
                      <a:pt x="137" y="2355"/>
                      <a:pt x="0" y="1996"/>
                      <a:pt x="0" y="1611"/>
                    </a:cubicBezTo>
                    <a:cubicBezTo>
                      <a:pt x="0" y="1166"/>
                      <a:pt x="180" y="763"/>
                      <a:pt x="472" y="472"/>
                    </a:cubicBezTo>
                    <a:cubicBezTo>
                      <a:pt x="763" y="180"/>
                      <a:pt x="1166" y="0"/>
                      <a:pt x="1611" y="0"/>
                    </a:cubicBezTo>
                    <a:cubicBezTo>
                      <a:pt x="1813" y="0"/>
                      <a:pt x="2012" y="38"/>
                      <a:pt x="2198" y="111"/>
                    </a:cubicBezTo>
                    <a:cubicBezTo>
                      <a:pt x="2305" y="153"/>
                      <a:pt x="2408" y="207"/>
                      <a:pt x="2505" y="271"/>
                    </a:cubicBezTo>
                    <a:lnTo>
                      <a:pt x="2617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43" name="Группа 42"/>
            <p:cNvGrpSpPr/>
            <p:nvPr/>
          </p:nvGrpSpPr>
          <p:grpSpPr>
            <a:xfrm>
              <a:off x="2789185" y="4426694"/>
              <a:ext cx="0" cy="756000"/>
              <a:chOff x="2791616" y="4277018"/>
              <a:chExt cx="0" cy="863494"/>
            </a:xfrm>
          </p:grpSpPr>
          <p:cxnSp>
            <p:nvCxnSpPr>
              <p:cNvPr id="47" name="Прямая соединительная линия 46"/>
              <p:cNvCxnSpPr/>
              <p:nvPr/>
            </p:nvCxnSpPr>
            <p:spPr>
              <a:xfrm>
                <a:off x="2791616" y="4277018"/>
                <a:ext cx="0" cy="431747"/>
              </a:xfrm>
              <a:prstGeom prst="line">
                <a:avLst/>
              </a:prstGeom>
              <a:ln w="76200" cap="rnd">
                <a:solidFill>
                  <a:srgbClr val="FF24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Прямая соединительная линия 47"/>
              <p:cNvCxnSpPr/>
              <p:nvPr/>
            </p:nvCxnSpPr>
            <p:spPr>
              <a:xfrm>
                <a:off x="2791616" y="4708765"/>
                <a:ext cx="0" cy="431747"/>
              </a:xfrm>
              <a:prstGeom prst="line">
                <a:avLst/>
              </a:prstGeom>
              <a:ln w="76200" cap="rnd">
                <a:solidFill>
                  <a:srgbClr val="FFFFFF">
                    <a:alpha val="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4" name="Группа 43"/>
            <p:cNvGrpSpPr/>
            <p:nvPr/>
          </p:nvGrpSpPr>
          <p:grpSpPr>
            <a:xfrm>
              <a:off x="2789185" y="4426694"/>
              <a:ext cx="0" cy="756000"/>
              <a:chOff x="2791616" y="4277018"/>
              <a:chExt cx="0" cy="863494"/>
            </a:xfrm>
          </p:grpSpPr>
          <p:cxnSp>
            <p:nvCxnSpPr>
              <p:cNvPr id="45" name="Прямая соединительная линия 44"/>
              <p:cNvCxnSpPr/>
              <p:nvPr/>
            </p:nvCxnSpPr>
            <p:spPr>
              <a:xfrm>
                <a:off x="2791616" y="4277018"/>
                <a:ext cx="0" cy="431747"/>
              </a:xfrm>
              <a:prstGeom prst="line">
                <a:avLst/>
              </a:prstGeom>
              <a:ln w="76200" cap="rnd">
                <a:solidFill>
                  <a:srgbClr val="FF24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Прямая соединительная линия 45"/>
              <p:cNvCxnSpPr/>
              <p:nvPr/>
            </p:nvCxnSpPr>
            <p:spPr>
              <a:xfrm>
                <a:off x="2791616" y="4708765"/>
                <a:ext cx="0" cy="431747"/>
              </a:xfrm>
              <a:prstGeom prst="line">
                <a:avLst/>
              </a:prstGeom>
              <a:ln w="76200" cap="rnd">
                <a:solidFill>
                  <a:srgbClr val="FFFFFF">
                    <a:alpha val="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5" name="Прямоугольник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287337" y="1088740"/>
            <a:ext cx="8569461" cy="180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defTabSz="931343" eaLnBrk="0" hangingPunct="0"/>
            <a:r>
              <a:rPr lang="ru-RU" sz="800" b="1" dirty="0" smtClean="0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rPr>
              <a:t>Прирост добычи и кол-во введенных скважин по ЭБ, тыс. т и шт.*</a:t>
            </a:r>
            <a:endParaRPr lang="ru-RU" sz="800" b="1" dirty="0">
              <a:solidFill>
                <a:srgbClr val="545353"/>
              </a:solidFill>
              <a:latin typeface="Arial" pitchFamily="34" charset="0"/>
              <a:cs typeface="Arabic Typesetting" pitchFamily="66" charset="-78"/>
            </a:endParaRPr>
          </a:p>
        </p:txBody>
      </p:sp>
      <p:sp>
        <p:nvSpPr>
          <p:cNvPr id="36" name="Прямоугольник 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99350" y="3789040"/>
            <a:ext cx="8569461" cy="1800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defTabSz="931343" eaLnBrk="0" hangingPunct="0"/>
            <a:r>
              <a:rPr lang="ru-RU" sz="800" b="1" dirty="0" smtClean="0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rPr>
              <a:t>Кол-во бригад и кол-во законченных бурением скважин по ЭБ, шт.</a:t>
            </a:r>
            <a:endParaRPr lang="ru-RU" sz="800" b="1" dirty="0">
              <a:solidFill>
                <a:srgbClr val="545353"/>
              </a:solidFill>
              <a:latin typeface="Arial" pitchFamily="34" charset="0"/>
              <a:cs typeface="Arabic Typesetting" pitchFamily="66" charset="-78"/>
            </a:endParaRPr>
          </a:p>
        </p:txBody>
      </p:sp>
      <p:sp>
        <p:nvSpPr>
          <p:cNvPr id="23" name="Прямоугольник 22"/>
          <p:cNvSpPr/>
          <p:nvPr>
            <p:custDataLst>
              <p:tags r:id="rId5"/>
            </p:custDataLst>
          </p:nvPr>
        </p:nvSpPr>
        <p:spPr>
          <a:xfrm>
            <a:off x="323528" y="3692730"/>
            <a:ext cx="3368046" cy="90122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r>
              <a:rPr lang="ru-RU" sz="800" dirty="0">
                <a:solidFill>
                  <a:srgbClr val="545353"/>
                </a:solidFill>
              </a:rPr>
              <a:t>* - без </a:t>
            </a:r>
            <a:r>
              <a:rPr lang="ru-RU" sz="800" dirty="0" smtClean="0">
                <a:solidFill>
                  <a:srgbClr val="545353"/>
                </a:solidFill>
              </a:rPr>
              <a:t>учёта ввода </a:t>
            </a:r>
            <a:r>
              <a:rPr lang="ru-RU" sz="800" dirty="0">
                <a:solidFill>
                  <a:srgbClr val="545353"/>
                </a:solidFill>
              </a:rPr>
              <a:t>скважин из других категорий</a:t>
            </a:r>
          </a:p>
        </p:txBody>
      </p:sp>
      <p:sp>
        <p:nvSpPr>
          <p:cNvPr id="24" name="SquareLastMonthChart1"/>
          <p:cNvSpPr/>
          <p:nvPr>
            <p:custDataLst>
              <p:tags r:id="rId6"/>
            </p:custDataLst>
          </p:nvPr>
        </p:nvSpPr>
        <p:spPr>
          <a:xfrm>
            <a:off x="1148578" y="1398273"/>
            <a:ext cx="432000" cy="2016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545353"/>
              </a:solidFill>
            </a:endParaRPr>
          </a:p>
        </p:txBody>
      </p:sp>
      <p:sp>
        <p:nvSpPr>
          <p:cNvPr id="25" name="SquareLastMonthChart2"/>
          <p:cNvSpPr/>
          <p:nvPr>
            <p:custDataLst>
              <p:tags r:id="rId7"/>
            </p:custDataLst>
          </p:nvPr>
        </p:nvSpPr>
        <p:spPr>
          <a:xfrm>
            <a:off x="4797549" y="4205410"/>
            <a:ext cx="432048" cy="20089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 b="0" i="0" u="none" strike="noStrike" kern="1200" baseline="0">
              <a:solidFill>
                <a:srgbClr val="004077"/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0" name="Chart1"/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08578722"/>
              </p:ext>
            </p:extLst>
          </p:nvPr>
        </p:nvGraphicFramePr>
        <p:xfrm>
          <a:off x="287339" y="1388228"/>
          <a:ext cx="6840944" cy="2335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graphicFrame>
        <p:nvGraphicFramePr>
          <p:cNvPr id="31" name="Chart2"/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1288772755"/>
              </p:ext>
            </p:extLst>
          </p:nvPr>
        </p:nvGraphicFramePr>
        <p:xfrm>
          <a:off x="303854" y="4205410"/>
          <a:ext cx="6824430" cy="22885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32" name="SquareInfo1"/>
          <p:cNvSpPr/>
          <p:nvPr>
            <p:custDataLst>
              <p:tags r:id="rId10"/>
            </p:custDataLst>
          </p:nvPr>
        </p:nvSpPr>
        <p:spPr>
          <a:xfrm>
            <a:off x="7068926" y="1304764"/>
            <a:ext cx="1799885" cy="2464398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endParaRPr lang="ru-RU" sz="800" b="1" dirty="0" smtClean="0">
              <a:solidFill>
                <a:schemeClr val="tx2"/>
              </a:solidFill>
            </a:endParaRPr>
          </a:p>
        </p:txBody>
      </p:sp>
      <p:sp>
        <p:nvSpPr>
          <p:cNvPr id="33" name="SquareInfo2"/>
          <p:cNvSpPr/>
          <p:nvPr>
            <p:custDataLst>
              <p:tags r:id="rId11"/>
            </p:custDataLst>
          </p:nvPr>
        </p:nvSpPr>
        <p:spPr>
          <a:xfrm>
            <a:off x="7068926" y="4081720"/>
            <a:ext cx="1799885" cy="2412268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endParaRPr lang="ru-RU" sz="800" b="0" i="0" u="none" strike="noStrike" kern="1200" baseline="0" dirty="0">
              <a:solidFill>
                <a:srgbClr val="5453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283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Slide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51620" y="314843"/>
            <a:ext cx="7561027" cy="607021"/>
          </a:xfrm>
        </p:spPr>
        <p:txBody>
          <a:bodyPr>
            <a:normAutofit/>
          </a:bodyPr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Дирекция крупных проектов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Динамика скорости бурения эксплуатационных скважин</a:t>
            </a:r>
            <a:br>
              <a:rPr lang="ru-RU" sz="12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Удельная </a:t>
            </a: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стоимость эксплуатационных скважин</a:t>
            </a:r>
          </a:p>
        </p:txBody>
      </p:sp>
      <p:grpSp>
        <p:nvGrpSpPr>
          <p:cNvPr id="42" name="Группа 41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51368" y="351582"/>
            <a:ext cx="615095" cy="596490"/>
            <a:chOff x="2154187" y="4126930"/>
            <a:chExt cx="1284385" cy="1291432"/>
          </a:xfrm>
        </p:grpSpPr>
        <p:sp>
          <p:nvSpPr>
            <p:cNvPr id="43" name="Овал 42"/>
            <p:cNvSpPr/>
            <p:nvPr/>
          </p:nvSpPr>
          <p:spPr>
            <a:xfrm>
              <a:off x="2297779" y="4274046"/>
              <a:ext cx="997200" cy="997200"/>
            </a:xfrm>
            <a:prstGeom prst="ellipse">
              <a:avLst/>
            </a:prstGeom>
            <a:solidFill>
              <a:srgbClr val="E6E6E6"/>
            </a:solidFill>
            <a:ln w="7938" cap="flat">
              <a:solidFill>
                <a:srgbClr val="FEFEF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4" name="Группа 43"/>
            <p:cNvGrpSpPr/>
            <p:nvPr/>
          </p:nvGrpSpPr>
          <p:grpSpPr>
            <a:xfrm>
              <a:off x="2154187" y="4126930"/>
              <a:ext cx="1284385" cy="1291432"/>
              <a:chOff x="2182018" y="4039169"/>
              <a:chExt cx="1284385" cy="1291432"/>
            </a:xfrm>
            <a:solidFill>
              <a:schemeClr val="accent2"/>
            </a:solidFill>
          </p:grpSpPr>
          <p:sp>
            <p:nvSpPr>
              <p:cNvPr id="51" name="Freeform 8"/>
              <p:cNvSpPr>
                <a:spLocks noEditPoints="1"/>
              </p:cNvSpPr>
              <p:nvPr/>
            </p:nvSpPr>
            <p:spPr bwMode="auto">
              <a:xfrm>
                <a:off x="2819806" y="4398585"/>
                <a:ext cx="646597" cy="932016"/>
              </a:xfrm>
              <a:custGeom>
                <a:avLst/>
                <a:gdLst>
                  <a:gd name="T0" fmla="*/ 0 w 1609"/>
                  <a:gd name="T1" fmla="*/ 2187 h 2327"/>
                  <a:gd name="T2" fmla="*/ 0 w 1609"/>
                  <a:gd name="T3" fmla="*/ 2187 h 2327"/>
                  <a:gd name="T4" fmla="*/ 31 w 1609"/>
                  <a:gd name="T5" fmla="*/ 2327 h 2327"/>
                  <a:gd name="T6" fmla="*/ 165 w 1609"/>
                  <a:gd name="T7" fmla="*/ 2319 h 2327"/>
                  <a:gd name="T8" fmla="*/ 295 w 1609"/>
                  <a:gd name="T9" fmla="*/ 2300 h 2327"/>
                  <a:gd name="T10" fmla="*/ 422 w 1609"/>
                  <a:gd name="T11" fmla="*/ 2271 h 2327"/>
                  <a:gd name="T12" fmla="*/ 545 w 1609"/>
                  <a:gd name="T13" fmla="*/ 2233 h 2327"/>
                  <a:gd name="T14" fmla="*/ 450 w 1609"/>
                  <a:gd name="T15" fmla="*/ 1969 h 2327"/>
                  <a:gd name="T16" fmla="*/ 349 w 1609"/>
                  <a:gd name="T17" fmla="*/ 2001 h 2327"/>
                  <a:gd name="T18" fmla="*/ 244 w 1609"/>
                  <a:gd name="T19" fmla="*/ 2025 h 2327"/>
                  <a:gd name="T20" fmla="*/ 136 w 1609"/>
                  <a:gd name="T21" fmla="*/ 2040 h 2327"/>
                  <a:gd name="T22" fmla="*/ 26 w 1609"/>
                  <a:gd name="T23" fmla="*/ 2047 h 2327"/>
                  <a:gd name="T24" fmla="*/ 1454 w 1609"/>
                  <a:gd name="T25" fmla="*/ 21 h 2327"/>
                  <a:gd name="T26" fmla="*/ 1470 w 1609"/>
                  <a:gd name="T27" fmla="*/ 55 h 2327"/>
                  <a:gd name="T28" fmla="*/ 1485 w 1609"/>
                  <a:gd name="T29" fmla="*/ 90 h 2327"/>
                  <a:gd name="T30" fmla="*/ 1499 w 1609"/>
                  <a:gd name="T31" fmla="*/ 125 h 2327"/>
                  <a:gd name="T32" fmla="*/ 1512 w 1609"/>
                  <a:gd name="T33" fmla="*/ 160 h 2327"/>
                  <a:gd name="T34" fmla="*/ 1525 w 1609"/>
                  <a:gd name="T35" fmla="*/ 196 h 2327"/>
                  <a:gd name="T36" fmla="*/ 1537 w 1609"/>
                  <a:gd name="T37" fmla="*/ 231 h 2327"/>
                  <a:gd name="T38" fmla="*/ 1548 w 1609"/>
                  <a:gd name="T39" fmla="*/ 267 h 2327"/>
                  <a:gd name="T40" fmla="*/ 1558 w 1609"/>
                  <a:gd name="T41" fmla="*/ 303 h 2327"/>
                  <a:gd name="T42" fmla="*/ 1567 w 1609"/>
                  <a:gd name="T43" fmla="*/ 340 h 2327"/>
                  <a:gd name="T44" fmla="*/ 1575 w 1609"/>
                  <a:gd name="T45" fmla="*/ 377 h 2327"/>
                  <a:gd name="T46" fmla="*/ 1583 w 1609"/>
                  <a:gd name="T47" fmla="*/ 414 h 2327"/>
                  <a:gd name="T48" fmla="*/ 1589 w 1609"/>
                  <a:gd name="T49" fmla="*/ 450 h 2327"/>
                  <a:gd name="T50" fmla="*/ 1595 w 1609"/>
                  <a:gd name="T51" fmla="*/ 488 h 2327"/>
                  <a:gd name="T52" fmla="*/ 1314 w 1609"/>
                  <a:gd name="T53" fmla="*/ 504 h 2327"/>
                  <a:gd name="T54" fmla="*/ 1309 w 1609"/>
                  <a:gd name="T55" fmla="*/ 473 h 2327"/>
                  <a:gd name="T56" fmla="*/ 1303 w 1609"/>
                  <a:gd name="T57" fmla="*/ 443 h 2327"/>
                  <a:gd name="T58" fmla="*/ 1296 w 1609"/>
                  <a:gd name="T59" fmla="*/ 412 h 2327"/>
                  <a:gd name="T60" fmla="*/ 1289 w 1609"/>
                  <a:gd name="T61" fmla="*/ 382 h 2327"/>
                  <a:gd name="T62" fmla="*/ 1281 w 1609"/>
                  <a:gd name="T63" fmla="*/ 352 h 2327"/>
                  <a:gd name="T64" fmla="*/ 1272 w 1609"/>
                  <a:gd name="T65" fmla="*/ 322 h 2327"/>
                  <a:gd name="T66" fmla="*/ 1262 w 1609"/>
                  <a:gd name="T67" fmla="*/ 293 h 2327"/>
                  <a:gd name="T68" fmla="*/ 1252 w 1609"/>
                  <a:gd name="T69" fmla="*/ 263 h 2327"/>
                  <a:gd name="T70" fmla="*/ 1241 w 1609"/>
                  <a:gd name="T71" fmla="*/ 234 h 2327"/>
                  <a:gd name="T72" fmla="*/ 1229 w 1609"/>
                  <a:gd name="T73" fmla="*/ 205 h 2327"/>
                  <a:gd name="T74" fmla="*/ 1217 w 1609"/>
                  <a:gd name="T75" fmla="*/ 177 h 2327"/>
                  <a:gd name="T76" fmla="*/ 1204 w 1609"/>
                  <a:gd name="T77" fmla="*/ 148 h 2327"/>
                  <a:gd name="T78" fmla="*/ 1609 w 1609"/>
                  <a:gd name="T79" fmla="*/ 794 h 2327"/>
                  <a:gd name="T80" fmla="*/ 1598 w 1609"/>
                  <a:gd name="T81" fmla="*/ 921 h 2327"/>
                  <a:gd name="T82" fmla="*/ 1577 w 1609"/>
                  <a:gd name="T83" fmla="*/ 1050 h 2327"/>
                  <a:gd name="T84" fmla="*/ 1545 w 1609"/>
                  <a:gd name="T85" fmla="*/ 1176 h 2327"/>
                  <a:gd name="T86" fmla="*/ 1503 w 1609"/>
                  <a:gd name="T87" fmla="*/ 1298 h 2327"/>
                  <a:gd name="T88" fmla="*/ 1217 w 1609"/>
                  <a:gd name="T89" fmla="*/ 1256 h 2327"/>
                  <a:gd name="T90" fmla="*/ 1256 w 1609"/>
                  <a:gd name="T91" fmla="*/ 1158 h 2327"/>
                  <a:gd name="T92" fmla="*/ 1287 w 1609"/>
                  <a:gd name="T93" fmla="*/ 1057 h 2327"/>
                  <a:gd name="T94" fmla="*/ 1311 w 1609"/>
                  <a:gd name="T95" fmla="*/ 952 h 2327"/>
                  <a:gd name="T96" fmla="*/ 1325 w 1609"/>
                  <a:gd name="T97" fmla="*/ 844 h 2327"/>
                  <a:gd name="T98" fmla="*/ 1297 w 1609"/>
                  <a:gd name="T99" fmla="*/ 1672 h 2327"/>
                  <a:gd name="T100" fmla="*/ 1218 w 1609"/>
                  <a:gd name="T101" fmla="*/ 1770 h 2327"/>
                  <a:gd name="T102" fmla="*/ 1133 w 1609"/>
                  <a:gd name="T103" fmla="*/ 1862 h 2327"/>
                  <a:gd name="T104" fmla="*/ 1040 w 1609"/>
                  <a:gd name="T105" fmla="*/ 1947 h 2327"/>
                  <a:gd name="T106" fmla="*/ 941 w 1609"/>
                  <a:gd name="T107" fmla="*/ 2024 h 2327"/>
                  <a:gd name="T108" fmla="*/ 738 w 1609"/>
                  <a:gd name="T109" fmla="*/ 1824 h 2327"/>
                  <a:gd name="T110" fmla="*/ 822 w 1609"/>
                  <a:gd name="T111" fmla="*/ 1763 h 2327"/>
                  <a:gd name="T112" fmla="*/ 901 w 1609"/>
                  <a:gd name="T113" fmla="*/ 1696 h 2327"/>
                  <a:gd name="T114" fmla="*/ 975 w 1609"/>
                  <a:gd name="T115" fmla="*/ 1623 h 2327"/>
                  <a:gd name="T116" fmla="*/ 1043 w 1609"/>
                  <a:gd name="T117" fmla="*/ 1544 h 2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09" h="2327">
                    <a:moveTo>
                      <a:pt x="0" y="2047"/>
                    </a:move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327"/>
                    </a:lnTo>
                    <a:lnTo>
                      <a:pt x="11" y="2327"/>
                    </a:lnTo>
                    <a:lnTo>
                      <a:pt x="21" y="2327"/>
                    </a:lnTo>
                    <a:lnTo>
                      <a:pt x="31" y="2327"/>
                    </a:lnTo>
                    <a:lnTo>
                      <a:pt x="42" y="2327"/>
                    </a:lnTo>
                    <a:lnTo>
                      <a:pt x="52" y="2326"/>
                    </a:lnTo>
                    <a:lnTo>
                      <a:pt x="62" y="2326"/>
                    </a:lnTo>
                    <a:lnTo>
                      <a:pt x="73" y="2326"/>
                    </a:lnTo>
                    <a:lnTo>
                      <a:pt x="83" y="2325"/>
                    </a:lnTo>
                    <a:lnTo>
                      <a:pt x="93" y="2325"/>
                    </a:lnTo>
                    <a:lnTo>
                      <a:pt x="104" y="2324"/>
                    </a:lnTo>
                    <a:lnTo>
                      <a:pt x="114" y="2323"/>
                    </a:lnTo>
                    <a:lnTo>
                      <a:pt x="124" y="2322"/>
                    </a:lnTo>
                    <a:lnTo>
                      <a:pt x="134" y="2322"/>
                    </a:lnTo>
                    <a:lnTo>
                      <a:pt x="144" y="2321"/>
                    </a:lnTo>
                    <a:lnTo>
                      <a:pt x="155" y="2320"/>
                    </a:lnTo>
                    <a:lnTo>
                      <a:pt x="165" y="2319"/>
                    </a:lnTo>
                    <a:lnTo>
                      <a:pt x="175" y="2318"/>
                    </a:lnTo>
                    <a:lnTo>
                      <a:pt x="185" y="2317"/>
                    </a:lnTo>
                    <a:lnTo>
                      <a:pt x="195" y="2315"/>
                    </a:lnTo>
                    <a:lnTo>
                      <a:pt x="205" y="2314"/>
                    </a:lnTo>
                    <a:lnTo>
                      <a:pt x="215" y="2313"/>
                    </a:lnTo>
                    <a:lnTo>
                      <a:pt x="225" y="2312"/>
                    </a:lnTo>
                    <a:lnTo>
                      <a:pt x="235" y="2310"/>
                    </a:lnTo>
                    <a:lnTo>
                      <a:pt x="245" y="2309"/>
                    </a:lnTo>
                    <a:lnTo>
                      <a:pt x="255" y="2307"/>
                    </a:lnTo>
                    <a:lnTo>
                      <a:pt x="265" y="2305"/>
                    </a:lnTo>
                    <a:lnTo>
                      <a:pt x="275" y="2304"/>
                    </a:lnTo>
                    <a:lnTo>
                      <a:pt x="285" y="2302"/>
                    </a:lnTo>
                    <a:lnTo>
                      <a:pt x="295" y="2300"/>
                    </a:lnTo>
                    <a:lnTo>
                      <a:pt x="305" y="2298"/>
                    </a:lnTo>
                    <a:lnTo>
                      <a:pt x="315" y="2296"/>
                    </a:lnTo>
                    <a:lnTo>
                      <a:pt x="325" y="2294"/>
                    </a:lnTo>
                    <a:lnTo>
                      <a:pt x="335" y="2292"/>
                    </a:lnTo>
                    <a:lnTo>
                      <a:pt x="344" y="2290"/>
                    </a:lnTo>
                    <a:lnTo>
                      <a:pt x="354" y="2288"/>
                    </a:lnTo>
                    <a:lnTo>
                      <a:pt x="364" y="2286"/>
                    </a:lnTo>
                    <a:lnTo>
                      <a:pt x="374" y="2284"/>
                    </a:lnTo>
                    <a:lnTo>
                      <a:pt x="383" y="2281"/>
                    </a:lnTo>
                    <a:lnTo>
                      <a:pt x="393" y="2279"/>
                    </a:lnTo>
                    <a:lnTo>
                      <a:pt x="403" y="2276"/>
                    </a:lnTo>
                    <a:lnTo>
                      <a:pt x="412" y="2274"/>
                    </a:lnTo>
                    <a:lnTo>
                      <a:pt x="422" y="2271"/>
                    </a:lnTo>
                    <a:lnTo>
                      <a:pt x="432" y="2269"/>
                    </a:lnTo>
                    <a:lnTo>
                      <a:pt x="441" y="2266"/>
                    </a:lnTo>
                    <a:lnTo>
                      <a:pt x="451" y="2263"/>
                    </a:lnTo>
                    <a:lnTo>
                      <a:pt x="460" y="2260"/>
                    </a:lnTo>
                    <a:lnTo>
                      <a:pt x="470" y="2258"/>
                    </a:lnTo>
                    <a:lnTo>
                      <a:pt x="479" y="2255"/>
                    </a:lnTo>
                    <a:lnTo>
                      <a:pt x="489" y="2252"/>
                    </a:lnTo>
                    <a:lnTo>
                      <a:pt x="498" y="2249"/>
                    </a:lnTo>
                    <a:lnTo>
                      <a:pt x="508" y="2246"/>
                    </a:lnTo>
                    <a:lnTo>
                      <a:pt x="517" y="2242"/>
                    </a:lnTo>
                    <a:lnTo>
                      <a:pt x="526" y="2239"/>
                    </a:lnTo>
                    <a:lnTo>
                      <a:pt x="536" y="2236"/>
                    </a:lnTo>
                    <a:lnTo>
                      <a:pt x="545" y="2233"/>
                    </a:lnTo>
                    <a:lnTo>
                      <a:pt x="554" y="2229"/>
                    </a:lnTo>
                    <a:lnTo>
                      <a:pt x="563" y="2226"/>
                    </a:lnTo>
                    <a:lnTo>
                      <a:pt x="573" y="2222"/>
                    </a:lnTo>
                    <a:lnTo>
                      <a:pt x="582" y="2219"/>
                    </a:lnTo>
                    <a:lnTo>
                      <a:pt x="591" y="2215"/>
                    </a:lnTo>
                    <a:lnTo>
                      <a:pt x="598" y="2212"/>
                    </a:lnTo>
                    <a:lnTo>
                      <a:pt x="496" y="1952"/>
                    </a:lnTo>
                    <a:lnTo>
                      <a:pt x="488" y="1955"/>
                    </a:lnTo>
                    <a:lnTo>
                      <a:pt x="481" y="1958"/>
                    </a:lnTo>
                    <a:lnTo>
                      <a:pt x="473" y="1961"/>
                    </a:lnTo>
                    <a:lnTo>
                      <a:pt x="466" y="1964"/>
                    </a:lnTo>
                    <a:lnTo>
                      <a:pt x="458" y="1966"/>
                    </a:lnTo>
                    <a:lnTo>
                      <a:pt x="450" y="1969"/>
                    </a:lnTo>
                    <a:lnTo>
                      <a:pt x="443" y="1972"/>
                    </a:lnTo>
                    <a:lnTo>
                      <a:pt x="435" y="1975"/>
                    </a:lnTo>
                    <a:lnTo>
                      <a:pt x="427" y="1977"/>
                    </a:lnTo>
                    <a:lnTo>
                      <a:pt x="420" y="1980"/>
                    </a:lnTo>
                    <a:lnTo>
                      <a:pt x="412" y="1982"/>
                    </a:lnTo>
                    <a:lnTo>
                      <a:pt x="404" y="1985"/>
                    </a:lnTo>
                    <a:lnTo>
                      <a:pt x="396" y="1987"/>
                    </a:lnTo>
                    <a:lnTo>
                      <a:pt x="388" y="1990"/>
                    </a:lnTo>
                    <a:lnTo>
                      <a:pt x="380" y="1992"/>
                    </a:lnTo>
                    <a:lnTo>
                      <a:pt x="373" y="1994"/>
                    </a:lnTo>
                    <a:lnTo>
                      <a:pt x="365" y="1997"/>
                    </a:lnTo>
                    <a:lnTo>
                      <a:pt x="357" y="1999"/>
                    </a:lnTo>
                    <a:lnTo>
                      <a:pt x="349" y="2001"/>
                    </a:lnTo>
                    <a:lnTo>
                      <a:pt x="341" y="2003"/>
                    </a:lnTo>
                    <a:lnTo>
                      <a:pt x="333" y="2005"/>
                    </a:lnTo>
                    <a:lnTo>
                      <a:pt x="325" y="2007"/>
                    </a:lnTo>
                    <a:lnTo>
                      <a:pt x="317" y="2009"/>
                    </a:lnTo>
                    <a:lnTo>
                      <a:pt x="309" y="2011"/>
                    </a:lnTo>
                    <a:lnTo>
                      <a:pt x="301" y="2013"/>
                    </a:lnTo>
                    <a:lnTo>
                      <a:pt x="293" y="2015"/>
                    </a:lnTo>
                    <a:lnTo>
                      <a:pt x="285" y="2017"/>
                    </a:lnTo>
                    <a:lnTo>
                      <a:pt x="277" y="2018"/>
                    </a:lnTo>
                    <a:lnTo>
                      <a:pt x="269" y="2020"/>
                    </a:lnTo>
                    <a:lnTo>
                      <a:pt x="261" y="2022"/>
                    </a:lnTo>
                    <a:lnTo>
                      <a:pt x="252" y="2023"/>
                    </a:lnTo>
                    <a:lnTo>
                      <a:pt x="244" y="2025"/>
                    </a:lnTo>
                    <a:lnTo>
                      <a:pt x="236" y="2026"/>
                    </a:lnTo>
                    <a:lnTo>
                      <a:pt x="228" y="2028"/>
                    </a:lnTo>
                    <a:lnTo>
                      <a:pt x="220" y="2029"/>
                    </a:lnTo>
                    <a:lnTo>
                      <a:pt x="211" y="2031"/>
                    </a:lnTo>
                    <a:lnTo>
                      <a:pt x="203" y="2032"/>
                    </a:lnTo>
                    <a:lnTo>
                      <a:pt x="195" y="2033"/>
                    </a:lnTo>
                    <a:lnTo>
                      <a:pt x="187" y="2034"/>
                    </a:lnTo>
                    <a:lnTo>
                      <a:pt x="178" y="2035"/>
                    </a:lnTo>
                    <a:lnTo>
                      <a:pt x="170" y="2036"/>
                    </a:lnTo>
                    <a:lnTo>
                      <a:pt x="162" y="2038"/>
                    </a:lnTo>
                    <a:lnTo>
                      <a:pt x="153" y="2038"/>
                    </a:lnTo>
                    <a:lnTo>
                      <a:pt x="145" y="2039"/>
                    </a:lnTo>
                    <a:lnTo>
                      <a:pt x="136" y="2040"/>
                    </a:lnTo>
                    <a:lnTo>
                      <a:pt x="128" y="2041"/>
                    </a:lnTo>
                    <a:lnTo>
                      <a:pt x="120" y="2042"/>
                    </a:lnTo>
                    <a:lnTo>
                      <a:pt x="111" y="2043"/>
                    </a:lnTo>
                    <a:lnTo>
                      <a:pt x="103" y="2043"/>
                    </a:lnTo>
                    <a:lnTo>
                      <a:pt x="94" y="2044"/>
                    </a:lnTo>
                    <a:lnTo>
                      <a:pt x="86" y="2044"/>
                    </a:lnTo>
                    <a:lnTo>
                      <a:pt x="77" y="2045"/>
                    </a:lnTo>
                    <a:lnTo>
                      <a:pt x="69" y="2045"/>
                    </a:lnTo>
                    <a:lnTo>
                      <a:pt x="60" y="2046"/>
                    </a:lnTo>
                    <a:lnTo>
                      <a:pt x="52" y="2046"/>
                    </a:lnTo>
                    <a:lnTo>
                      <a:pt x="43" y="2046"/>
                    </a:lnTo>
                    <a:lnTo>
                      <a:pt x="35" y="2047"/>
                    </a:lnTo>
                    <a:lnTo>
                      <a:pt x="26" y="2047"/>
                    </a:lnTo>
                    <a:lnTo>
                      <a:pt x="18" y="2047"/>
                    </a:lnTo>
                    <a:lnTo>
                      <a:pt x="9" y="2047"/>
                    </a:lnTo>
                    <a:lnTo>
                      <a:pt x="0" y="2047"/>
                    </a:lnTo>
                    <a:close/>
                    <a:moveTo>
                      <a:pt x="1193" y="125"/>
                    </a:moveTo>
                    <a:lnTo>
                      <a:pt x="1444" y="0"/>
                    </a:lnTo>
                    <a:lnTo>
                      <a:pt x="1445" y="3"/>
                    </a:lnTo>
                    <a:lnTo>
                      <a:pt x="1446" y="6"/>
                    </a:lnTo>
                    <a:lnTo>
                      <a:pt x="1447" y="8"/>
                    </a:lnTo>
                    <a:lnTo>
                      <a:pt x="1449" y="11"/>
                    </a:lnTo>
                    <a:lnTo>
                      <a:pt x="1450" y="13"/>
                    </a:lnTo>
                    <a:lnTo>
                      <a:pt x="1451" y="16"/>
                    </a:lnTo>
                    <a:lnTo>
                      <a:pt x="1453" y="19"/>
                    </a:lnTo>
                    <a:lnTo>
                      <a:pt x="1454" y="21"/>
                    </a:lnTo>
                    <a:lnTo>
                      <a:pt x="1455" y="24"/>
                    </a:lnTo>
                    <a:lnTo>
                      <a:pt x="1456" y="26"/>
                    </a:lnTo>
                    <a:lnTo>
                      <a:pt x="1458" y="29"/>
                    </a:lnTo>
                    <a:lnTo>
                      <a:pt x="1459" y="32"/>
                    </a:lnTo>
                    <a:lnTo>
                      <a:pt x="1460" y="34"/>
                    </a:lnTo>
                    <a:lnTo>
                      <a:pt x="1461" y="37"/>
                    </a:lnTo>
                    <a:lnTo>
                      <a:pt x="1462" y="40"/>
                    </a:lnTo>
                    <a:lnTo>
                      <a:pt x="1464" y="42"/>
                    </a:lnTo>
                    <a:lnTo>
                      <a:pt x="1465" y="45"/>
                    </a:lnTo>
                    <a:lnTo>
                      <a:pt x="1466" y="48"/>
                    </a:lnTo>
                    <a:lnTo>
                      <a:pt x="1467" y="50"/>
                    </a:lnTo>
                    <a:lnTo>
                      <a:pt x="1468" y="53"/>
                    </a:lnTo>
                    <a:lnTo>
                      <a:pt x="1470" y="55"/>
                    </a:lnTo>
                    <a:lnTo>
                      <a:pt x="1471" y="58"/>
                    </a:lnTo>
                    <a:lnTo>
                      <a:pt x="1472" y="61"/>
                    </a:lnTo>
                    <a:lnTo>
                      <a:pt x="1473" y="63"/>
                    </a:lnTo>
                    <a:lnTo>
                      <a:pt x="1474" y="66"/>
                    </a:lnTo>
                    <a:lnTo>
                      <a:pt x="1476" y="69"/>
                    </a:lnTo>
                    <a:lnTo>
                      <a:pt x="1477" y="71"/>
                    </a:lnTo>
                    <a:lnTo>
                      <a:pt x="1478" y="74"/>
                    </a:lnTo>
                    <a:lnTo>
                      <a:pt x="1479" y="77"/>
                    </a:lnTo>
                    <a:lnTo>
                      <a:pt x="1480" y="79"/>
                    </a:lnTo>
                    <a:lnTo>
                      <a:pt x="1481" y="82"/>
                    </a:lnTo>
                    <a:lnTo>
                      <a:pt x="1483" y="85"/>
                    </a:lnTo>
                    <a:lnTo>
                      <a:pt x="1484" y="87"/>
                    </a:lnTo>
                    <a:lnTo>
                      <a:pt x="1485" y="90"/>
                    </a:lnTo>
                    <a:lnTo>
                      <a:pt x="1486" y="93"/>
                    </a:lnTo>
                    <a:lnTo>
                      <a:pt x="1487" y="95"/>
                    </a:lnTo>
                    <a:lnTo>
                      <a:pt x="1488" y="98"/>
                    </a:lnTo>
                    <a:lnTo>
                      <a:pt x="1489" y="101"/>
                    </a:lnTo>
                    <a:lnTo>
                      <a:pt x="1490" y="103"/>
                    </a:lnTo>
                    <a:lnTo>
                      <a:pt x="1491" y="106"/>
                    </a:lnTo>
                    <a:lnTo>
                      <a:pt x="1492" y="109"/>
                    </a:lnTo>
                    <a:lnTo>
                      <a:pt x="1494" y="112"/>
                    </a:lnTo>
                    <a:lnTo>
                      <a:pt x="1495" y="114"/>
                    </a:lnTo>
                    <a:lnTo>
                      <a:pt x="1496" y="117"/>
                    </a:lnTo>
                    <a:lnTo>
                      <a:pt x="1497" y="120"/>
                    </a:lnTo>
                    <a:lnTo>
                      <a:pt x="1498" y="122"/>
                    </a:lnTo>
                    <a:lnTo>
                      <a:pt x="1499" y="125"/>
                    </a:lnTo>
                    <a:lnTo>
                      <a:pt x="1500" y="127"/>
                    </a:lnTo>
                    <a:lnTo>
                      <a:pt x="1501" y="130"/>
                    </a:lnTo>
                    <a:lnTo>
                      <a:pt x="1502" y="133"/>
                    </a:lnTo>
                    <a:lnTo>
                      <a:pt x="1503" y="136"/>
                    </a:lnTo>
                    <a:lnTo>
                      <a:pt x="1504" y="138"/>
                    </a:lnTo>
                    <a:lnTo>
                      <a:pt x="1505" y="141"/>
                    </a:lnTo>
                    <a:lnTo>
                      <a:pt x="1506" y="144"/>
                    </a:lnTo>
                    <a:lnTo>
                      <a:pt x="1507" y="147"/>
                    </a:lnTo>
                    <a:lnTo>
                      <a:pt x="1508" y="149"/>
                    </a:lnTo>
                    <a:lnTo>
                      <a:pt x="1509" y="152"/>
                    </a:lnTo>
                    <a:lnTo>
                      <a:pt x="1510" y="154"/>
                    </a:lnTo>
                    <a:lnTo>
                      <a:pt x="1511" y="158"/>
                    </a:lnTo>
                    <a:lnTo>
                      <a:pt x="1512" y="160"/>
                    </a:lnTo>
                    <a:lnTo>
                      <a:pt x="1513" y="163"/>
                    </a:lnTo>
                    <a:lnTo>
                      <a:pt x="1514" y="165"/>
                    </a:lnTo>
                    <a:lnTo>
                      <a:pt x="1515" y="168"/>
                    </a:lnTo>
                    <a:lnTo>
                      <a:pt x="1516" y="171"/>
                    </a:lnTo>
                    <a:lnTo>
                      <a:pt x="1517" y="174"/>
                    </a:lnTo>
                    <a:lnTo>
                      <a:pt x="1518" y="176"/>
                    </a:lnTo>
                    <a:lnTo>
                      <a:pt x="1519" y="179"/>
                    </a:lnTo>
                    <a:lnTo>
                      <a:pt x="1520" y="182"/>
                    </a:lnTo>
                    <a:lnTo>
                      <a:pt x="1521" y="185"/>
                    </a:lnTo>
                    <a:lnTo>
                      <a:pt x="1522" y="187"/>
                    </a:lnTo>
                    <a:lnTo>
                      <a:pt x="1523" y="190"/>
                    </a:lnTo>
                    <a:lnTo>
                      <a:pt x="1524" y="193"/>
                    </a:lnTo>
                    <a:lnTo>
                      <a:pt x="1525" y="196"/>
                    </a:lnTo>
                    <a:lnTo>
                      <a:pt x="1526" y="198"/>
                    </a:lnTo>
                    <a:lnTo>
                      <a:pt x="1527" y="201"/>
                    </a:lnTo>
                    <a:lnTo>
                      <a:pt x="1528" y="204"/>
                    </a:lnTo>
                    <a:lnTo>
                      <a:pt x="1529" y="207"/>
                    </a:lnTo>
                    <a:lnTo>
                      <a:pt x="1530" y="209"/>
                    </a:lnTo>
                    <a:lnTo>
                      <a:pt x="1531" y="212"/>
                    </a:lnTo>
                    <a:lnTo>
                      <a:pt x="1531" y="215"/>
                    </a:lnTo>
                    <a:lnTo>
                      <a:pt x="1532" y="217"/>
                    </a:lnTo>
                    <a:lnTo>
                      <a:pt x="1533" y="220"/>
                    </a:lnTo>
                    <a:lnTo>
                      <a:pt x="1534" y="223"/>
                    </a:lnTo>
                    <a:lnTo>
                      <a:pt x="1535" y="226"/>
                    </a:lnTo>
                    <a:lnTo>
                      <a:pt x="1536" y="228"/>
                    </a:lnTo>
                    <a:lnTo>
                      <a:pt x="1537" y="231"/>
                    </a:lnTo>
                    <a:lnTo>
                      <a:pt x="1538" y="234"/>
                    </a:lnTo>
                    <a:lnTo>
                      <a:pt x="1538" y="237"/>
                    </a:lnTo>
                    <a:lnTo>
                      <a:pt x="1539" y="240"/>
                    </a:lnTo>
                    <a:lnTo>
                      <a:pt x="1540" y="242"/>
                    </a:lnTo>
                    <a:lnTo>
                      <a:pt x="1541" y="245"/>
                    </a:lnTo>
                    <a:lnTo>
                      <a:pt x="1542" y="248"/>
                    </a:lnTo>
                    <a:lnTo>
                      <a:pt x="1543" y="251"/>
                    </a:lnTo>
                    <a:lnTo>
                      <a:pt x="1544" y="253"/>
                    </a:lnTo>
                    <a:lnTo>
                      <a:pt x="1544" y="256"/>
                    </a:lnTo>
                    <a:lnTo>
                      <a:pt x="1545" y="259"/>
                    </a:lnTo>
                    <a:lnTo>
                      <a:pt x="1546" y="262"/>
                    </a:lnTo>
                    <a:lnTo>
                      <a:pt x="1547" y="264"/>
                    </a:lnTo>
                    <a:lnTo>
                      <a:pt x="1548" y="267"/>
                    </a:lnTo>
                    <a:lnTo>
                      <a:pt x="1548" y="270"/>
                    </a:lnTo>
                    <a:lnTo>
                      <a:pt x="1549" y="273"/>
                    </a:lnTo>
                    <a:lnTo>
                      <a:pt x="1550" y="276"/>
                    </a:lnTo>
                    <a:lnTo>
                      <a:pt x="1551" y="278"/>
                    </a:lnTo>
                    <a:lnTo>
                      <a:pt x="1552" y="281"/>
                    </a:lnTo>
                    <a:lnTo>
                      <a:pt x="1552" y="284"/>
                    </a:lnTo>
                    <a:lnTo>
                      <a:pt x="1553" y="287"/>
                    </a:lnTo>
                    <a:lnTo>
                      <a:pt x="1554" y="290"/>
                    </a:lnTo>
                    <a:lnTo>
                      <a:pt x="1555" y="292"/>
                    </a:lnTo>
                    <a:lnTo>
                      <a:pt x="1555" y="295"/>
                    </a:lnTo>
                    <a:lnTo>
                      <a:pt x="1556" y="298"/>
                    </a:lnTo>
                    <a:lnTo>
                      <a:pt x="1557" y="301"/>
                    </a:lnTo>
                    <a:lnTo>
                      <a:pt x="1558" y="303"/>
                    </a:lnTo>
                    <a:lnTo>
                      <a:pt x="1558" y="306"/>
                    </a:lnTo>
                    <a:lnTo>
                      <a:pt x="1559" y="309"/>
                    </a:lnTo>
                    <a:lnTo>
                      <a:pt x="1560" y="312"/>
                    </a:lnTo>
                    <a:lnTo>
                      <a:pt x="1561" y="315"/>
                    </a:lnTo>
                    <a:lnTo>
                      <a:pt x="1561" y="317"/>
                    </a:lnTo>
                    <a:lnTo>
                      <a:pt x="1562" y="321"/>
                    </a:lnTo>
                    <a:lnTo>
                      <a:pt x="1563" y="323"/>
                    </a:lnTo>
                    <a:lnTo>
                      <a:pt x="1563" y="326"/>
                    </a:lnTo>
                    <a:lnTo>
                      <a:pt x="1564" y="329"/>
                    </a:lnTo>
                    <a:lnTo>
                      <a:pt x="1565" y="332"/>
                    </a:lnTo>
                    <a:lnTo>
                      <a:pt x="1565" y="334"/>
                    </a:lnTo>
                    <a:lnTo>
                      <a:pt x="1566" y="337"/>
                    </a:lnTo>
                    <a:lnTo>
                      <a:pt x="1567" y="340"/>
                    </a:lnTo>
                    <a:lnTo>
                      <a:pt x="1567" y="343"/>
                    </a:lnTo>
                    <a:lnTo>
                      <a:pt x="1568" y="346"/>
                    </a:lnTo>
                    <a:lnTo>
                      <a:pt x="1569" y="349"/>
                    </a:lnTo>
                    <a:lnTo>
                      <a:pt x="1569" y="351"/>
                    </a:lnTo>
                    <a:lnTo>
                      <a:pt x="1570" y="354"/>
                    </a:lnTo>
                    <a:lnTo>
                      <a:pt x="1571" y="357"/>
                    </a:lnTo>
                    <a:lnTo>
                      <a:pt x="1571" y="360"/>
                    </a:lnTo>
                    <a:lnTo>
                      <a:pt x="1572" y="363"/>
                    </a:lnTo>
                    <a:lnTo>
                      <a:pt x="1573" y="365"/>
                    </a:lnTo>
                    <a:lnTo>
                      <a:pt x="1573" y="368"/>
                    </a:lnTo>
                    <a:lnTo>
                      <a:pt x="1574" y="371"/>
                    </a:lnTo>
                    <a:lnTo>
                      <a:pt x="1575" y="374"/>
                    </a:lnTo>
                    <a:lnTo>
                      <a:pt x="1575" y="377"/>
                    </a:lnTo>
                    <a:lnTo>
                      <a:pt x="1576" y="380"/>
                    </a:lnTo>
                    <a:lnTo>
                      <a:pt x="1576" y="382"/>
                    </a:lnTo>
                    <a:lnTo>
                      <a:pt x="1577" y="385"/>
                    </a:lnTo>
                    <a:lnTo>
                      <a:pt x="1578" y="388"/>
                    </a:lnTo>
                    <a:lnTo>
                      <a:pt x="1578" y="391"/>
                    </a:lnTo>
                    <a:lnTo>
                      <a:pt x="1579" y="394"/>
                    </a:lnTo>
                    <a:lnTo>
                      <a:pt x="1579" y="396"/>
                    </a:lnTo>
                    <a:lnTo>
                      <a:pt x="1580" y="399"/>
                    </a:lnTo>
                    <a:lnTo>
                      <a:pt x="1580" y="402"/>
                    </a:lnTo>
                    <a:lnTo>
                      <a:pt x="1581" y="405"/>
                    </a:lnTo>
                    <a:lnTo>
                      <a:pt x="1582" y="408"/>
                    </a:lnTo>
                    <a:lnTo>
                      <a:pt x="1582" y="411"/>
                    </a:lnTo>
                    <a:lnTo>
                      <a:pt x="1583" y="414"/>
                    </a:lnTo>
                    <a:lnTo>
                      <a:pt x="1583" y="416"/>
                    </a:lnTo>
                    <a:lnTo>
                      <a:pt x="1584" y="419"/>
                    </a:lnTo>
                    <a:lnTo>
                      <a:pt x="1584" y="422"/>
                    </a:lnTo>
                    <a:lnTo>
                      <a:pt x="1585" y="425"/>
                    </a:lnTo>
                    <a:lnTo>
                      <a:pt x="1585" y="428"/>
                    </a:lnTo>
                    <a:lnTo>
                      <a:pt x="1586" y="430"/>
                    </a:lnTo>
                    <a:lnTo>
                      <a:pt x="1586" y="433"/>
                    </a:lnTo>
                    <a:lnTo>
                      <a:pt x="1587" y="436"/>
                    </a:lnTo>
                    <a:lnTo>
                      <a:pt x="1587" y="439"/>
                    </a:lnTo>
                    <a:lnTo>
                      <a:pt x="1588" y="442"/>
                    </a:lnTo>
                    <a:lnTo>
                      <a:pt x="1588" y="445"/>
                    </a:lnTo>
                    <a:lnTo>
                      <a:pt x="1589" y="448"/>
                    </a:lnTo>
                    <a:lnTo>
                      <a:pt x="1589" y="450"/>
                    </a:lnTo>
                    <a:lnTo>
                      <a:pt x="1590" y="453"/>
                    </a:lnTo>
                    <a:lnTo>
                      <a:pt x="1590" y="456"/>
                    </a:lnTo>
                    <a:lnTo>
                      <a:pt x="1591" y="459"/>
                    </a:lnTo>
                    <a:lnTo>
                      <a:pt x="1591" y="462"/>
                    </a:lnTo>
                    <a:lnTo>
                      <a:pt x="1592" y="465"/>
                    </a:lnTo>
                    <a:lnTo>
                      <a:pt x="1592" y="467"/>
                    </a:lnTo>
                    <a:lnTo>
                      <a:pt x="1593" y="470"/>
                    </a:lnTo>
                    <a:lnTo>
                      <a:pt x="1593" y="473"/>
                    </a:lnTo>
                    <a:lnTo>
                      <a:pt x="1593" y="476"/>
                    </a:lnTo>
                    <a:lnTo>
                      <a:pt x="1594" y="479"/>
                    </a:lnTo>
                    <a:lnTo>
                      <a:pt x="1594" y="482"/>
                    </a:lnTo>
                    <a:lnTo>
                      <a:pt x="1595" y="485"/>
                    </a:lnTo>
                    <a:lnTo>
                      <a:pt x="1595" y="488"/>
                    </a:lnTo>
                    <a:lnTo>
                      <a:pt x="1595" y="488"/>
                    </a:lnTo>
                    <a:lnTo>
                      <a:pt x="1318" y="528"/>
                    </a:lnTo>
                    <a:lnTo>
                      <a:pt x="1318" y="527"/>
                    </a:lnTo>
                    <a:lnTo>
                      <a:pt x="1318" y="525"/>
                    </a:lnTo>
                    <a:lnTo>
                      <a:pt x="1317" y="523"/>
                    </a:lnTo>
                    <a:lnTo>
                      <a:pt x="1317" y="520"/>
                    </a:lnTo>
                    <a:lnTo>
                      <a:pt x="1317" y="518"/>
                    </a:lnTo>
                    <a:lnTo>
                      <a:pt x="1316" y="515"/>
                    </a:lnTo>
                    <a:lnTo>
                      <a:pt x="1316" y="513"/>
                    </a:lnTo>
                    <a:lnTo>
                      <a:pt x="1315" y="511"/>
                    </a:lnTo>
                    <a:lnTo>
                      <a:pt x="1315" y="508"/>
                    </a:lnTo>
                    <a:lnTo>
                      <a:pt x="1315" y="506"/>
                    </a:lnTo>
                    <a:lnTo>
                      <a:pt x="1314" y="504"/>
                    </a:lnTo>
                    <a:lnTo>
                      <a:pt x="1314" y="501"/>
                    </a:lnTo>
                    <a:lnTo>
                      <a:pt x="1314" y="499"/>
                    </a:lnTo>
                    <a:lnTo>
                      <a:pt x="1313" y="497"/>
                    </a:lnTo>
                    <a:lnTo>
                      <a:pt x="1313" y="494"/>
                    </a:lnTo>
                    <a:lnTo>
                      <a:pt x="1312" y="492"/>
                    </a:lnTo>
                    <a:lnTo>
                      <a:pt x="1312" y="490"/>
                    </a:lnTo>
                    <a:lnTo>
                      <a:pt x="1312" y="487"/>
                    </a:lnTo>
                    <a:lnTo>
                      <a:pt x="1311" y="485"/>
                    </a:lnTo>
                    <a:lnTo>
                      <a:pt x="1311" y="483"/>
                    </a:lnTo>
                    <a:lnTo>
                      <a:pt x="1310" y="480"/>
                    </a:lnTo>
                    <a:lnTo>
                      <a:pt x="1310" y="478"/>
                    </a:lnTo>
                    <a:lnTo>
                      <a:pt x="1309" y="476"/>
                    </a:lnTo>
                    <a:lnTo>
                      <a:pt x="1309" y="473"/>
                    </a:lnTo>
                    <a:lnTo>
                      <a:pt x="1309" y="471"/>
                    </a:lnTo>
                    <a:lnTo>
                      <a:pt x="1308" y="468"/>
                    </a:lnTo>
                    <a:lnTo>
                      <a:pt x="1308" y="466"/>
                    </a:lnTo>
                    <a:lnTo>
                      <a:pt x="1307" y="464"/>
                    </a:lnTo>
                    <a:lnTo>
                      <a:pt x="1307" y="461"/>
                    </a:lnTo>
                    <a:lnTo>
                      <a:pt x="1306" y="459"/>
                    </a:lnTo>
                    <a:lnTo>
                      <a:pt x="1306" y="457"/>
                    </a:lnTo>
                    <a:lnTo>
                      <a:pt x="1305" y="454"/>
                    </a:lnTo>
                    <a:lnTo>
                      <a:pt x="1305" y="452"/>
                    </a:lnTo>
                    <a:lnTo>
                      <a:pt x="1304" y="450"/>
                    </a:lnTo>
                    <a:lnTo>
                      <a:pt x="1304" y="447"/>
                    </a:lnTo>
                    <a:lnTo>
                      <a:pt x="1303" y="445"/>
                    </a:lnTo>
                    <a:lnTo>
                      <a:pt x="1303" y="443"/>
                    </a:lnTo>
                    <a:lnTo>
                      <a:pt x="1302" y="440"/>
                    </a:lnTo>
                    <a:lnTo>
                      <a:pt x="1302" y="438"/>
                    </a:lnTo>
                    <a:lnTo>
                      <a:pt x="1301" y="436"/>
                    </a:lnTo>
                    <a:lnTo>
                      <a:pt x="1301" y="434"/>
                    </a:lnTo>
                    <a:lnTo>
                      <a:pt x="1300" y="431"/>
                    </a:lnTo>
                    <a:lnTo>
                      <a:pt x="1300" y="429"/>
                    </a:lnTo>
                    <a:lnTo>
                      <a:pt x="1299" y="426"/>
                    </a:lnTo>
                    <a:lnTo>
                      <a:pt x="1299" y="424"/>
                    </a:lnTo>
                    <a:lnTo>
                      <a:pt x="1298" y="422"/>
                    </a:lnTo>
                    <a:lnTo>
                      <a:pt x="1298" y="419"/>
                    </a:lnTo>
                    <a:lnTo>
                      <a:pt x="1297" y="417"/>
                    </a:lnTo>
                    <a:lnTo>
                      <a:pt x="1297" y="415"/>
                    </a:lnTo>
                    <a:lnTo>
                      <a:pt x="1296" y="412"/>
                    </a:lnTo>
                    <a:lnTo>
                      <a:pt x="1296" y="410"/>
                    </a:lnTo>
                    <a:lnTo>
                      <a:pt x="1295" y="408"/>
                    </a:lnTo>
                    <a:lnTo>
                      <a:pt x="1295" y="405"/>
                    </a:lnTo>
                    <a:lnTo>
                      <a:pt x="1294" y="403"/>
                    </a:lnTo>
                    <a:lnTo>
                      <a:pt x="1294" y="401"/>
                    </a:lnTo>
                    <a:lnTo>
                      <a:pt x="1293" y="398"/>
                    </a:lnTo>
                    <a:lnTo>
                      <a:pt x="1292" y="396"/>
                    </a:lnTo>
                    <a:lnTo>
                      <a:pt x="1292" y="394"/>
                    </a:lnTo>
                    <a:lnTo>
                      <a:pt x="1291" y="391"/>
                    </a:lnTo>
                    <a:lnTo>
                      <a:pt x="1291" y="389"/>
                    </a:lnTo>
                    <a:lnTo>
                      <a:pt x="1290" y="387"/>
                    </a:lnTo>
                    <a:lnTo>
                      <a:pt x="1289" y="385"/>
                    </a:lnTo>
                    <a:lnTo>
                      <a:pt x="1289" y="382"/>
                    </a:lnTo>
                    <a:lnTo>
                      <a:pt x="1288" y="380"/>
                    </a:lnTo>
                    <a:lnTo>
                      <a:pt x="1288" y="378"/>
                    </a:lnTo>
                    <a:lnTo>
                      <a:pt x="1287" y="375"/>
                    </a:lnTo>
                    <a:lnTo>
                      <a:pt x="1286" y="373"/>
                    </a:lnTo>
                    <a:lnTo>
                      <a:pt x="1286" y="371"/>
                    </a:lnTo>
                    <a:lnTo>
                      <a:pt x="1285" y="368"/>
                    </a:lnTo>
                    <a:lnTo>
                      <a:pt x="1285" y="366"/>
                    </a:lnTo>
                    <a:lnTo>
                      <a:pt x="1284" y="364"/>
                    </a:lnTo>
                    <a:lnTo>
                      <a:pt x="1283" y="361"/>
                    </a:lnTo>
                    <a:lnTo>
                      <a:pt x="1283" y="359"/>
                    </a:lnTo>
                    <a:lnTo>
                      <a:pt x="1282" y="357"/>
                    </a:lnTo>
                    <a:lnTo>
                      <a:pt x="1281" y="355"/>
                    </a:lnTo>
                    <a:lnTo>
                      <a:pt x="1281" y="352"/>
                    </a:lnTo>
                    <a:lnTo>
                      <a:pt x="1280" y="350"/>
                    </a:lnTo>
                    <a:lnTo>
                      <a:pt x="1279" y="348"/>
                    </a:lnTo>
                    <a:lnTo>
                      <a:pt x="1279" y="345"/>
                    </a:lnTo>
                    <a:lnTo>
                      <a:pt x="1278" y="343"/>
                    </a:lnTo>
                    <a:lnTo>
                      <a:pt x="1277" y="341"/>
                    </a:lnTo>
                    <a:lnTo>
                      <a:pt x="1277" y="338"/>
                    </a:lnTo>
                    <a:lnTo>
                      <a:pt x="1276" y="336"/>
                    </a:lnTo>
                    <a:lnTo>
                      <a:pt x="1275" y="334"/>
                    </a:lnTo>
                    <a:lnTo>
                      <a:pt x="1275" y="332"/>
                    </a:lnTo>
                    <a:lnTo>
                      <a:pt x="1274" y="329"/>
                    </a:lnTo>
                    <a:lnTo>
                      <a:pt x="1273" y="327"/>
                    </a:lnTo>
                    <a:lnTo>
                      <a:pt x="1273" y="325"/>
                    </a:lnTo>
                    <a:lnTo>
                      <a:pt x="1272" y="322"/>
                    </a:lnTo>
                    <a:lnTo>
                      <a:pt x="1271" y="320"/>
                    </a:lnTo>
                    <a:lnTo>
                      <a:pt x="1270" y="318"/>
                    </a:lnTo>
                    <a:lnTo>
                      <a:pt x="1270" y="316"/>
                    </a:lnTo>
                    <a:lnTo>
                      <a:pt x="1269" y="313"/>
                    </a:lnTo>
                    <a:lnTo>
                      <a:pt x="1268" y="311"/>
                    </a:lnTo>
                    <a:lnTo>
                      <a:pt x="1268" y="309"/>
                    </a:lnTo>
                    <a:lnTo>
                      <a:pt x="1267" y="307"/>
                    </a:lnTo>
                    <a:lnTo>
                      <a:pt x="1266" y="304"/>
                    </a:lnTo>
                    <a:lnTo>
                      <a:pt x="1265" y="302"/>
                    </a:lnTo>
                    <a:lnTo>
                      <a:pt x="1265" y="300"/>
                    </a:lnTo>
                    <a:lnTo>
                      <a:pt x="1264" y="297"/>
                    </a:lnTo>
                    <a:lnTo>
                      <a:pt x="1263" y="295"/>
                    </a:lnTo>
                    <a:lnTo>
                      <a:pt x="1262" y="293"/>
                    </a:lnTo>
                    <a:lnTo>
                      <a:pt x="1262" y="291"/>
                    </a:lnTo>
                    <a:lnTo>
                      <a:pt x="1261" y="288"/>
                    </a:lnTo>
                    <a:lnTo>
                      <a:pt x="1260" y="286"/>
                    </a:lnTo>
                    <a:lnTo>
                      <a:pt x="1259" y="284"/>
                    </a:lnTo>
                    <a:lnTo>
                      <a:pt x="1258" y="282"/>
                    </a:lnTo>
                    <a:lnTo>
                      <a:pt x="1258" y="279"/>
                    </a:lnTo>
                    <a:lnTo>
                      <a:pt x="1257" y="277"/>
                    </a:lnTo>
                    <a:lnTo>
                      <a:pt x="1256" y="275"/>
                    </a:lnTo>
                    <a:lnTo>
                      <a:pt x="1255" y="272"/>
                    </a:lnTo>
                    <a:lnTo>
                      <a:pt x="1254" y="270"/>
                    </a:lnTo>
                    <a:lnTo>
                      <a:pt x="1254" y="268"/>
                    </a:lnTo>
                    <a:lnTo>
                      <a:pt x="1253" y="266"/>
                    </a:lnTo>
                    <a:lnTo>
                      <a:pt x="1252" y="263"/>
                    </a:lnTo>
                    <a:lnTo>
                      <a:pt x="1251" y="261"/>
                    </a:lnTo>
                    <a:lnTo>
                      <a:pt x="1250" y="259"/>
                    </a:lnTo>
                    <a:lnTo>
                      <a:pt x="1250" y="257"/>
                    </a:lnTo>
                    <a:lnTo>
                      <a:pt x="1249" y="254"/>
                    </a:lnTo>
                    <a:lnTo>
                      <a:pt x="1248" y="252"/>
                    </a:lnTo>
                    <a:lnTo>
                      <a:pt x="1247" y="250"/>
                    </a:lnTo>
                    <a:lnTo>
                      <a:pt x="1246" y="248"/>
                    </a:lnTo>
                    <a:lnTo>
                      <a:pt x="1245" y="245"/>
                    </a:lnTo>
                    <a:lnTo>
                      <a:pt x="1245" y="243"/>
                    </a:lnTo>
                    <a:lnTo>
                      <a:pt x="1244" y="241"/>
                    </a:lnTo>
                    <a:lnTo>
                      <a:pt x="1243" y="239"/>
                    </a:lnTo>
                    <a:lnTo>
                      <a:pt x="1242" y="236"/>
                    </a:lnTo>
                    <a:lnTo>
                      <a:pt x="1241" y="234"/>
                    </a:lnTo>
                    <a:lnTo>
                      <a:pt x="1240" y="232"/>
                    </a:lnTo>
                    <a:lnTo>
                      <a:pt x="1239" y="230"/>
                    </a:lnTo>
                    <a:lnTo>
                      <a:pt x="1238" y="228"/>
                    </a:lnTo>
                    <a:lnTo>
                      <a:pt x="1238" y="225"/>
                    </a:lnTo>
                    <a:lnTo>
                      <a:pt x="1237" y="223"/>
                    </a:lnTo>
                    <a:lnTo>
                      <a:pt x="1236" y="221"/>
                    </a:lnTo>
                    <a:lnTo>
                      <a:pt x="1235" y="219"/>
                    </a:lnTo>
                    <a:lnTo>
                      <a:pt x="1234" y="216"/>
                    </a:lnTo>
                    <a:lnTo>
                      <a:pt x="1233" y="214"/>
                    </a:lnTo>
                    <a:lnTo>
                      <a:pt x="1232" y="212"/>
                    </a:lnTo>
                    <a:lnTo>
                      <a:pt x="1231" y="210"/>
                    </a:lnTo>
                    <a:lnTo>
                      <a:pt x="1230" y="208"/>
                    </a:lnTo>
                    <a:lnTo>
                      <a:pt x="1229" y="205"/>
                    </a:lnTo>
                    <a:lnTo>
                      <a:pt x="1229" y="203"/>
                    </a:lnTo>
                    <a:lnTo>
                      <a:pt x="1228" y="201"/>
                    </a:lnTo>
                    <a:lnTo>
                      <a:pt x="1227" y="199"/>
                    </a:lnTo>
                    <a:lnTo>
                      <a:pt x="1226" y="197"/>
                    </a:lnTo>
                    <a:lnTo>
                      <a:pt x="1225" y="194"/>
                    </a:lnTo>
                    <a:lnTo>
                      <a:pt x="1224" y="192"/>
                    </a:lnTo>
                    <a:lnTo>
                      <a:pt x="1223" y="190"/>
                    </a:lnTo>
                    <a:lnTo>
                      <a:pt x="1222" y="188"/>
                    </a:lnTo>
                    <a:lnTo>
                      <a:pt x="1221" y="186"/>
                    </a:lnTo>
                    <a:lnTo>
                      <a:pt x="1220" y="183"/>
                    </a:lnTo>
                    <a:lnTo>
                      <a:pt x="1219" y="181"/>
                    </a:lnTo>
                    <a:lnTo>
                      <a:pt x="1218" y="179"/>
                    </a:lnTo>
                    <a:lnTo>
                      <a:pt x="1217" y="177"/>
                    </a:lnTo>
                    <a:lnTo>
                      <a:pt x="1216" y="175"/>
                    </a:lnTo>
                    <a:lnTo>
                      <a:pt x="1215" y="172"/>
                    </a:lnTo>
                    <a:lnTo>
                      <a:pt x="1214" y="170"/>
                    </a:lnTo>
                    <a:lnTo>
                      <a:pt x="1213" y="168"/>
                    </a:lnTo>
                    <a:lnTo>
                      <a:pt x="1212" y="166"/>
                    </a:lnTo>
                    <a:lnTo>
                      <a:pt x="1211" y="164"/>
                    </a:lnTo>
                    <a:lnTo>
                      <a:pt x="1210" y="161"/>
                    </a:lnTo>
                    <a:lnTo>
                      <a:pt x="1209" y="159"/>
                    </a:lnTo>
                    <a:lnTo>
                      <a:pt x="1208" y="157"/>
                    </a:lnTo>
                    <a:lnTo>
                      <a:pt x="1207" y="155"/>
                    </a:lnTo>
                    <a:lnTo>
                      <a:pt x="1206" y="153"/>
                    </a:lnTo>
                    <a:lnTo>
                      <a:pt x="1205" y="151"/>
                    </a:lnTo>
                    <a:lnTo>
                      <a:pt x="1204" y="148"/>
                    </a:lnTo>
                    <a:lnTo>
                      <a:pt x="1203" y="146"/>
                    </a:lnTo>
                    <a:lnTo>
                      <a:pt x="1202" y="144"/>
                    </a:lnTo>
                    <a:lnTo>
                      <a:pt x="1201" y="142"/>
                    </a:lnTo>
                    <a:lnTo>
                      <a:pt x="1200" y="140"/>
                    </a:lnTo>
                    <a:lnTo>
                      <a:pt x="1199" y="138"/>
                    </a:lnTo>
                    <a:lnTo>
                      <a:pt x="1198" y="135"/>
                    </a:lnTo>
                    <a:lnTo>
                      <a:pt x="1197" y="133"/>
                    </a:lnTo>
                    <a:lnTo>
                      <a:pt x="1196" y="131"/>
                    </a:lnTo>
                    <a:lnTo>
                      <a:pt x="1195" y="129"/>
                    </a:lnTo>
                    <a:lnTo>
                      <a:pt x="1194" y="127"/>
                    </a:lnTo>
                    <a:lnTo>
                      <a:pt x="1193" y="125"/>
                    </a:lnTo>
                    <a:close/>
                    <a:moveTo>
                      <a:pt x="1330" y="780"/>
                    </a:moveTo>
                    <a:lnTo>
                      <a:pt x="1609" y="794"/>
                    </a:lnTo>
                    <a:lnTo>
                      <a:pt x="1609" y="799"/>
                    </a:lnTo>
                    <a:lnTo>
                      <a:pt x="1609" y="809"/>
                    </a:lnTo>
                    <a:lnTo>
                      <a:pt x="1608" y="819"/>
                    </a:lnTo>
                    <a:lnTo>
                      <a:pt x="1607" y="830"/>
                    </a:lnTo>
                    <a:lnTo>
                      <a:pt x="1607" y="840"/>
                    </a:lnTo>
                    <a:lnTo>
                      <a:pt x="1606" y="850"/>
                    </a:lnTo>
                    <a:lnTo>
                      <a:pt x="1605" y="860"/>
                    </a:lnTo>
                    <a:lnTo>
                      <a:pt x="1604" y="870"/>
                    </a:lnTo>
                    <a:lnTo>
                      <a:pt x="1603" y="881"/>
                    </a:lnTo>
                    <a:lnTo>
                      <a:pt x="1602" y="891"/>
                    </a:lnTo>
                    <a:lnTo>
                      <a:pt x="1601" y="901"/>
                    </a:lnTo>
                    <a:lnTo>
                      <a:pt x="1600" y="911"/>
                    </a:lnTo>
                    <a:lnTo>
                      <a:pt x="1598" y="921"/>
                    </a:lnTo>
                    <a:lnTo>
                      <a:pt x="1597" y="931"/>
                    </a:lnTo>
                    <a:lnTo>
                      <a:pt x="1596" y="941"/>
                    </a:lnTo>
                    <a:lnTo>
                      <a:pt x="1594" y="951"/>
                    </a:lnTo>
                    <a:lnTo>
                      <a:pt x="1593" y="961"/>
                    </a:lnTo>
                    <a:lnTo>
                      <a:pt x="1591" y="971"/>
                    </a:lnTo>
                    <a:lnTo>
                      <a:pt x="1590" y="981"/>
                    </a:lnTo>
                    <a:lnTo>
                      <a:pt x="1588" y="991"/>
                    </a:lnTo>
                    <a:lnTo>
                      <a:pt x="1586" y="1001"/>
                    </a:lnTo>
                    <a:lnTo>
                      <a:pt x="1584" y="1011"/>
                    </a:lnTo>
                    <a:lnTo>
                      <a:pt x="1583" y="1021"/>
                    </a:lnTo>
                    <a:lnTo>
                      <a:pt x="1581" y="1031"/>
                    </a:lnTo>
                    <a:lnTo>
                      <a:pt x="1579" y="1041"/>
                    </a:lnTo>
                    <a:lnTo>
                      <a:pt x="1577" y="1050"/>
                    </a:lnTo>
                    <a:lnTo>
                      <a:pt x="1574" y="1060"/>
                    </a:lnTo>
                    <a:lnTo>
                      <a:pt x="1572" y="1070"/>
                    </a:lnTo>
                    <a:lnTo>
                      <a:pt x="1570" y="1080"/>
                    </a:lnTo>
                    <a:lnTo>
                      <a:pt x="1568" y="1090"/>
                    </a:lnTo>
                    <a:lnTo>
                      <a:pt x="1565" y="1099"/>
                    </a:lnTo>
                    <a:lnTo>
                      <a:pt x="1563" y="1109"/>
                    </a:lnTo>
                    <a:lnTo>
                      <a:pt x="1561" y="1119"/>
                    </a:lnTo>
                    <a:lnTo>
                      <a:pt x="1558" y="1128"/>
                    </a:lnTo>
                    <a:lnTo>
                      <a:pt x="1556" y="1138"/>
                    </a:lnTo>
                    <a:lnTo>
                      <a:pt x="1553" y="1148"/>
                    </a:lnTo>
                    <a:lnTo>
                      <a:pt x="1550" y="1157"/>
                    </a:lnTo>
                    <a:lnTo>
                      <a:pt x="1547" y="1167"/>
                    </a:lnTo>
                    <a:lnTo>
                      <a:pt x="1545" y="1176"/>
                    </a:lnTo>
                    <a:lnTo>
                      <a:pt x="1542" y="1186"/>
                    </a:lnTo>
                    <a:lnTo>
                      <a:pt x="1539" y="1195"/>
                    </a:lnTo>
                    <a:lnTo>
                      <a:pt x="1536" y="1205"/>
                    </a:lnTo>
                    <a:lnTo>
                      <a:pt x="1533" y="1214"/>
                    </a:lnTo>
                    <a:lnTo>
                      <a:pt x="1530" y="1223"/>
                    </a:lnTo>
                    <a:lnTo>
                      <a:pt x="1527" y="1233"/>
                    </a:lnTo>
                    <a:lnTo>
                      <a:pt x="1523" y="1242"/>
                    </a:lnTo>
                    <a:lnTo>
                      <a:pt x="1520" y="1251"/>
                    </a:lnTo>
                    <a:lnTo>
                      <a:pt x="1517" y="1261"/>
                    </a:lnTo>
                    <a:lnTo>
                      <a:pt x="1514" y="1270"/>
                    </a:lnTo>
                    <a:lnTo>
                      <a:pt x="1510" y="1279"/>
                    </a:lnTo>
                    <a:lnTo>
                      <a:pt x="1507" y="1289"/>
                    </a:lnTo>
                    <a:lnTo>
                      <a:pt x="1503" y="1298"/>
                    </a:lnTo>
                    <a:lnTo>
                      <a:pt x="1500" y="1307"/>
                    </a:lnTo>
                    <a:lnTo>
                      <a:pt x="1496" y="1316"/>
                    </a:lnTo>
                    <a:lnTo>
                      <a:pt x="1492" y="1325"/>
                    </a:lnTo>
                    <a:lnTo>
                      <a:pt x="1488" y="1334"/>
                    </a:lnTo>
                    <a:lnTo>
                      <a:pt x="1485" y="1343"/>
                    </a:lnTo>
                    <a:lnTo>
                      <a:pt x="1481" y="1352"/>
                    </a:lnTo>
                    <a:lnTo>
                      <a:pt x="1477" y="1361"/>
                    </a:lnTo>
                    <a:lnTo>
                      <a:pt x="1473" y="1370"/>
                    </a:lnTo>
                    <a:lnTo>
                      <a:pt x="1469" y="1379"/>
                    </a:lnTo>
                    <a:lnTo>
                      <a:pt x="1466" y="1387"/>
                    </a:lnTo>
                    <a:lnTo>
                      <a:pt x="1211" y="1270"/>
                    </a:lnTo>
                    <a:lnTo>
                      <a:pt x="1214" y="1264"/>
                    </a:lnTo>
                    <a:lnTo>
                      <a:pt x="1217" y="1256"/>
                    </a:lnTo>
                    <a:lnTo>
                      <a:pt x="1220" y="1249"/>
                    </a:lnTo>
                    <a:lnTo>
                      <a:pt x="1224" y="1242"/>
                    </a:lnTo>
                    <a:lnTo>
                      <a:pt x="1227" y="1234"/>
                    </a:lnTo>
                    <a:lnTo>
                      <a:pt x="1230" y="1227"/>
                    </a:lnTo>
                    <a:lnTo>
                      <a:pt x="1233" y="1219"/>
                    </a:lnTo>
                    <a:lnTo>
                      <a:pt x="1236" y="1212"/>
                    </a:lnTo>
                    <a:lnTo>
                      <a:pt x="1239" y="1204"/>
                    </a:lnTo>
                    <a:lnTo>
                      <a:pt x="1242" y="1197"/>
                    </a:lnTo>
                    <a:lnTo>
                      <a:pt x="1245" y="1189"/>
                    </a:lnTo>
                    <a:lnTo>
                      <a:pt x="1248" y="1181"/>
                    </a:lnTo>
                    <a:lnTo>
                      <a:pt x="1251" y="1174"/>
                    </a:lnTo>
                    <a:lnTo>
                      <a:pt x="1253" y="1166"/>
                    </a:lnTo>
                    <a:lnTo>
                      <a:pt x="1256" y="1158"/>
                    </a:lnTo>
                    <a:lnTo>
                      <a:pt x="1259" y="1151"/>
                    </a:lnTo>
                    <a:lnTo>
                      <a:pt x="1261" y="1143"/>
                    </a:lnTo>
                    <a:lnTo>
                      <a:pt x="1264" y="1135"/>
                    </a:lnTo>
                    <a:lnTo>
                      <a:pt x="1267" y="1128"/>
                    </a:lnTo>
                    <a:lnTo>
                      <a:pt x="1269" y="1120"/>
                    </a:lnTo>
                    <a:lnTo>
                      <a:pt x="1272" y="1112"/>
                    </a:lnTo>
                    <a:lnTo>
                      <a:pt x="1274" y="1104"/>
                    </a:lnTo>
                    <a:lnTo>
                      <a:pt x="1276" y="1096"/>
                    </a:lnTo>
                    <a:lnTo>
                      <a:pt x="1279" y="1088"/>
                    </a:lnTo>
                    <a:lnTo>
                      <a:pt x="1281" y="1081"/>
                    </a:lnTo>
                    <a:lnTo>
                      <a:pt x="1283" y="1073"/>
                    </a:lnTo>
                    <a:lnTo>
                      <a:pt x="1285" y="1065"/>
                    </a:lnTo>
                    <a:lnTo>
                      <a:pt x="1287" y="1057"/>
                    </a:lnTo>
                    <a:lnTo>
                      <a:pt x="1289" y="1049"/>
                    </a:lnTo>
                    <a:lnTo>
                      <a:pt x="1292" y="1041"/>
                    </a:lnTo>
                    <a:lnTo>
                      <a:pt x="1293" y="1033"/>
                    </a:lnTo>
                    <a:lnTo>
                      <a:pt x="1295" y="1025"/>
                    </a:lnTo>
                    <a:lnTo>
                      <a:pt x="1297" y="1017"/>
                    </a:lnTo>
                    <a:lnTo>
                      <a:pt x="1299" y="1009"/>
                    </a:lnTo>
                    <a:lnTo>
                      <a:pt x="1301" y="1001"/>
                    </a:lnTo>
                    <a:lnTo>
                      <a:pt x="1303" y="993"/>
                    </a:lnTo>
                    <a:lnTo>
                      <a:pt x="1304" y="985"/>
                    </a:lnTo>
                    <a:lnTo>
                      <a:pt x="1306" y="976"/>
                    </a:lnTo>
                    <a:lnTo>
                      <a:pt x="1308" y="968"/>
                    </a:lnTo>
                    <a:lnTo>
                      <a:pt x="1309" y="960"/>
                    </a:lnTo>
                    <a:lnTo>
                      <a:pt x="1311" y="952"/>
                    </a:lnTo>
                    <a:lnTo>
                      <a:pt x="1312" y="944"/>
                    </a:lnTo>
                    <a:lnTo>
                      <a:pt x="1313" y="935"/>
                    </a:lnTo>
                    <a:lnTo>
                      <a:pt x="1315" y="927"/>
                    </a:lnTo>
                    <a:lnTo>
                      <a:pt x="1316" y="919"/>
                    </a:lnTo>
                    <a:lnTo>
                      <a:pt x="1317" y="911"/>
                    </a:lnTo>
                    <a:lnTo>
                      <a:pt x="1318" y="902"/>
                    </a:lnTo>
                    <a:lnTo>
                      <a:pt x="1320" y="894"/>
                    </a:lnTo>
                    <a:lnTo>
                      <a:pt x="1321" y="886"/>
                    </a:lnTo>
                    <a:lnTo>
                      <a:pt x="1322" y="877"/>
                    </a:lnTo>
                    <a:lnTo>
                      <a:pt x="1323" y="869"/>
                    </a:lnTo>
                    <a:lnTo>
                      <a:pt x="1324" y="861"/>
                    </a:lnTo>
                    <a:lnTo>
                      <a:pt x="1325" y="852"/>
                    </a:lnTo>
                    <a:lnTo>
                      <a:pt x="1325" y="844"/>
                    </a:lnTo>
                    <a:lnTo>
                      <a:pt x="1326" y="836"/>
                    </a:lnTo>
                    <a:lnTo>
                      <a:pt x="1327" y="827"/>
                    </a:lnTo>
                    <a:lnTo>
                      <a:pt x="1327" y="819"/>
                    </a:lnTo>
                    <a:lnTo>
                      <a:pt x="1328" y="810"/>
                    </a:lnTo>
                    <a:lnTo>
                      <a:pt x="1329" y="802"/>
                    </a:lnTo>
                    <a:lnTo>
                      <a:pt x="1329" y="793"/>
                    </a:lnTo>
                    <a:lnTo>
                      <a:pt x="1330" y="785"/>
                    </a:lnTo>
                    <a:lnTo>
                      <a:pt x="1330" y="780"/>
                    </a:lnTo>
                    <a:close/>
                    <a:moveTo>
                      <a:pt x="1085" y="1488"/>
                    </a:moveTo>
                    <a:lnTo>
                      <a:pt x="1312" y="1652"/>
                    </a:lnTo>
                    <a:lnTo>
                      <a:pt x="1308" y="1657"/>
                    </a:lnTo>
                    <a:lnTo>
                      <a:pt x="1303" y="1665"/>
                    </a:lnTo>
                    <a:lnTo>
                      <a:pt x="1297" y="1672"/>
                    </a:lnTo>
                    <a:lnTo>
                      <a:pt x="1291" y="1680"/>
                    </a:lnTo>
                    <a:lnTo>
                      <a:pt x="1285" y="1688"/>
                    </a:lnTo>
                    <a:lnTo>
                      <a:pt x="1280" y="1696"/>
                    </a:lnTo>
                    <a:lnTo>
                      <a:pt x="1274" y="1703"/>
                    </a:lnTo>
                    <a:lnTo>
                      <a:pt x="1268" y="1711"/>
                    </a:lnTo>
                    <a:lnTo>
                      <a:pt x="1262" y="1718"/>
                    </a:lnTo>
                    <a:lnTo>
                      <a:pt x="1256" y="1726"/>
                    </a:lnTo>
                    <a:lnTo>
                      <a:pt x="1250" y="1733"/>
                    </a:lnTo>
                    <a:lnTo>
                      <a:pt x="1243" y="1741"/>
                    </a:lnTo>
                    <a:lnTo>
                      <a:pt x="1237" y="1748"/>
                    </a:lnTo>
                    <a:lnTo>
                      <a:pt x="1231" y="1756"/>
                    </a:lnTo>
                    <a:lnTo>
                      <a:pt x="1225" y="1763"/>
                    </a:lnTo>
                    <a:lnTo>
                      <a:pt x="1218" y="1770"/>
                    </a:lnTo>
                    <a:lnTo>
                      <a:pt x="1212" y="1778"/>
                    </a:lnTo>
                    <a:lnTo>
                      <a:pt x="1206" y="1785"/>
                    </a:lnTo>
                    <a:lnTo>
                      <a:pt x="1199" y="1792"/>
                    </a:lnTo>
                    <a:lnTo>
                      <a:pt x="1193" y="1799"/>
                    </a:lnTo>
                    <a:lnTo>
                      <a:pt x="1186" y="1807"/>
                    </a:lnTo>
                    <a:lnTo>
                      <a:pt x="1180" y="1814"/>
                    </a:lnTo>
                    <a:lnTo>
                      <a:pt x="1173" y="1821"/>
                    </a:lnTo>
                    <a:lnTo>
                      <a:pt x="1166" y="1828"/>
                    </a:lnTo>
                    <a:lnTo>
                      <a:pt x="1160" y="1835"/>
                    </a:lnTo>
                    <a:lnTo>
                      <a:pt x="1153" y="1842"/>
                    </a:lnTo>
                    <a:lnTo>
                      <a:pt x="1146" y="1848"/>
                    </a:lnTo>
                    <a:lnTo>
                      <a:pt x="1139" y="1855"/>
                    </a:lnTo>
                    <a:lnTo>
                      <a:pt x="1133" y="1862"/>
                    </a:lnTo>
                    <a:lnTo>
                      <a:pt x="1126" y="1869"/>
                    </a:lnTo>
                    <a:lnTo>
                      <a:pt x="1119" y="1876"/>
                    </a:lnTo>
                    <a:lnTo>
                      <a:pt x="1112" y="1882"/>
                    </a:lnTo>
                    <a:lnTo>
                      <a:pt x="1105" y="1889"/>
                    </a:lnTo>
                    <a:lnTo>
                      <a:pt x="1098" y="1895"/>
                    </a:lnTo>
                    <a:lnTo>
                      <a:pt x="1091" y="1902"/>
                    </a:lnTo>
                    <a:lnTo>
                      <a:pt x="1084" y="1909"/>
                    </a:lnTo>
                    <a:lnTo>
                      <a:pt x="1076" y="1915"/>
                    </a:lnTo>
                    <a:lnTo>
                      <a:pt x="1069" y="1921"/>
                    </a:lnTo>
                    <a:lnTo>
                      <a:pt x="1062" y="1928"/>
                    </a:lnTo>
                    <a:lnTo>
                      <a:pt x="1055" y="1934"/>
                    </a:lnTo>
                    <a:lnTo>
                      <a:pt x="1047" y="1941"/>
                    </a:lnTo>
                    <a:lnTo>
                      <a:pt x="1040" y="1947"/>
                    </a:lnTo>
                    <a:lnTo>
                      <a:pt x="1033" y="1953"/>
                    </a:lnTo>
                    <a:lnTo>
                      <a:pt x="1025" y="1959"/>
                    </a:lnTo>
                    <a:lnTo>
                      <a:pt x="1018" y="1965"/>
                    </a:lnTo>
                    <a:lnTo>
                      <a:pt x="1010" y="1971"/>
                    </a:lnTo>
                    <a:lnTo>
                      <a:pt x="1003" y="1977"/>
                    </a:lnTo>
                    <a:lnTo>
                      <a:pt x="995" y="1983"/>
                    </a:lnTo>
                    <a:lnTo>
                      <a:pt x="987" y="1989"/>
                    </a:lnTo>
                    <a:lnTo>
                      <a:pt x="980" y="1995"/>
                    </a:lnTo>
                    <a:lnTo>
                      <a:pt x="972" y="2001"/>
                    </a:lnTo>
                    <a:lnTo>
                      <a:pt x="964" y="2007"/>
                    </a:lnTo>
                    <a:lnTo>
                      <a:pt x="957" y="2013"/>
                    </a:lnTo>
                    <a:lnTo>
                      <a:pt x="949" y="2019"/>
                    </a:lnTo>
                    <a:lnTo>
                      <a:pt x="941" y="2024"/>
                    </a:lnTo>
                    <a:lnTo>
                      <a:pt x="933" y="2030"/>
                    </a:lnTo>
                    <a:lnTo>
                      <a:pt x="925" y="2035"/>
                    </a:lnTo>
                    <a:lnTo>
                      <a:pt x="917" y="2041"/>
                    </a:lnTo>
                    <a:lnTo>
                      <a:pt x="909" y="2046"/>
                    </a:lnTo>
                    <a:lnTo>
                      <a:pt x="901" y="2052"/>
                    </a:lnTo>
                    <a:lnTo>
                      <a:pt x="893" y="2057"/>
                    </a:lnTo>
                    <a:lnTo>
                      <a:pt x="885" y="2063"/>
                    </a:lnTo>
                    <a:lnTo>
                      <a:pt x="877" y="2068"/>
                    </a:lnTo>
                    <a:lnTo>
                      <a:pt x="871" y="2072"/>
                    </a:lnTo>
                    <a:lnTo>
                      <a:pt x="720" y="1836"/>
                    </a:lnTo>
                    <a:lnTo>
                      <a:pt x="724" y="1833"/>
                    </a:lnTo>
                    <a:lnTo>
                      <a:pt x="731" y="1829"/>
                    </a:lnTo>
                    <a:lnTo>
                      <a:pt x="738" y="1824"/>
                    </a:lnTo>
                    <a:lnTo>
                      <a:pt x="744" y="1820"/>
                    </a:lnTo>
                    <a:lnTo>
                      <a:pt x="751" y="1815"/>
                    </a:lnTo>
                    <a:lnTo>
                      <a:pt x="758" y="1811"/>
                    </a:lnTo>
                    <a:lnTo>
                      <a:pt x="764" y="1806"/>
                    </a:lnTo>
                    <a:lnTo>
                      <a:pt x="771" y="1802"/>
                    </a:lnTo>
                    <a:lnTo>
                      <a:pt x="777" y="1797"/>
                    </a:lnTo>
                    <a:lnTo>
                      <a:pt x="784" y="1792"/>
                    </a:lnTo>
                    <a:lnTo>
                      <a:pt x="790" y="1788"/>
                    </a:lnTo>
                    <a:lnTo>
                      <a:pt x="797" y="1783"/>
                    </a:lnTo>
                    <a:lnTo>
                      <a:pt x="803" y="1778"/>
                    </a:lnTo>
                    <a:lnTo>
                      <a:pt x="809" y="1773"/>
                    </a:lnTo>
                    <a:lnTo>
                      <a:pt x="816" y="1768"/>
                    </a:lnTo>
                    <a:lnTo>
                      <a:pt x="822" y="1763"/>
                    </a:lnTo>
                    <a:lnTo>
                      <a:pt x="828" y="1758"/>
                    </a:lnTo>
                    <a:lnTo>
                      <a:pt x="835" y="1753"/>
                    </a:lnTo>
                    <a:lnTo>
                      <a:pt x="841" y="1748"/>
                    </a:lnTo>
                    <a:lnTo>
                      <a:pt x="847" y="1743"/>
                    </a:lnTo>
                    <a:lnTo>
                      <a:pt x="853" y="1738"/>
                    </a:lnTo>
                    <a:lnTo>
                      <a:pt x="859" y="1733"/>
                    </a:lnTo>
                    <a:lnTo>
                      <a:pt x="865" y="1728"/>
                    </a:lnTo>
                    <a:lnTo>
                      <a:pt x="871" y="1723"/>
                    </a:lnTo>
                    <a:lnTo>
                      <a:pt x="877" y="1717"/>
                    </a:lnTo>
                    <a:lnTo>
                      <a:pt x="883" y="1712"/>
                    </a:lnTo>
                    <a:lnTo>
                      <a:pt x="889" y="1707"/>
                    </a:lnTo>
                    <a:lnTo>
                      <a:pt x="895" y="1701"/>
                    </a:lnTo>
                    <a:lnTo>
                      <a:pt x="901" y="1696"/>
                    </a:lnTo>
                    <a:lnTo>
                      <a:pt x="907" y="1691"/>
                    </a:lnTo>
                    <a:lnTo>
                      <a:pt x="913" y="1685"/>
                    </a:lnTo>
                    <a:lnTo>
                      <a:pt x="919" y="1680"/>
                    </a:lnTo>
                    <a:lnTo>
                      <a:pt x="924" y="1674"/>
                    </a:lnTo>
                    <a:lnTo>
                      <a:pt x="930" y="1669"/>
                    </a:lnTo>
                    <a:lnTo>
                      <a:pt x="936" y="1663"/>
                    </a:lnTo>
                    <a:lnTo>
                      <a:pt x="942" y="1657"/>
                    </a:lnTo>
                    <a:lnTo>
                      <a:pt x="947" y="1652"/>
                    </a:lnTo>
                    <a:lnTo>
                      <a:pt x="953" y="1646"/>
                    </a:lnTo>
                    <a:lnTo>
                      <a:pt x="958" y="1640"/>
                    </a:lnTo>
                    <a:lnTo>
                      <a:pt x="964" y="1634"/>
                    </a:lnTo>
                    <a:lnTo>
                      <a:pt x="969" y="1629"/>
                    </a:lnTo>
                    <a:lnTo>
                      <a:pt x="975" y="1623"/>
                    </a:lnTo>
                    <a:lnTo>
                      <a:pt x="980" y="1617"/>
                    </a:lnTo>
                    <a:lnTo>
                      <a:pt x="986" y="1611"/>
                    </a:lnTo>
                    <a:lnTo>
                      <a:pt x="991" y="1605"/>
                    </a:lnTo>
                    <a:lnTo>
                      <a:pt x="996" y="1599"/>
                    </a:lnTo>
                    <a:lnTo>
                      <a:pt x="1002" y="1593"/>
                    </a:lnTo>
                    <a:lnTo>
                      <a:pt x="1007" y="1587"/>
                    </a:lnTo>
                    <a:lnTo>
                      <a:pt x="1012" y="1581"/>
                    </a:lnTo>
                    <a:lnTo>
                      <a:pt x="1017" y="1575"/>
                    </a:lnTo>
                    <a:lnTo>
                      <a:pt x="1022" y="1569"/>
                    </a:lnTo>
                    <a:lnTo>
                      <a:pt x="1027" y="1563"/>
                    </a:lnTo>
                    <a:lnTo>
                      <a:pt x="1033" y="1557"/>
                    </a:lnTo>
                    <a:lnTo>
                      <a:pt x="1038" y="1550"/>
                    </a:lnTo>
                    <a:lnTo>
                      <a:pt x="1043" y="1544"/>
                    </a:lnTo>
                    <a:lnTo>
                      <a:pt x="1048" y="1538"/>
                    </a:lnTo>
                    <a:lnTo>
                      <a:pt x="1052" y="1531"/>
                    </a:lnTo>
                    <a:lnTo>
                      <a:pt x="1057" y="1525"/>
                    </a:lnTo>
                    <a:lnTo>
                      <a:pt x="1062" y="1519"/>
                    </a:lnTo>
                    <a:lnTo>
                      <a:pt x="1067" y="1512"/>
                    </a:lnTo>
                    <a:lnTo>
                      <a:pt x="1072" y="1506"/>
                    </a:lnTo>
                    <a:lnTo>
                      <a:pt x="1077" y="1500"/>
                    </a:lnTo>
                    <a:lnTo>
                      <a:pt x="1081" y="1493"/>
                    </a:lnTo>
                    <a:lnTo>
                      <a:pt x="1085" y="1488"/>
                    </a:lnTo>
                    <a:close/>
                    <a:moveTo>
                      <a:pt x="0" y="2327"/>
                    </a:moveTo>
                    <a:lnTo>
                      <a:pt x="0" y="204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2" name="Freeform 9"/>
              <p:cNvSpPr>
                <a:spLocks/>
              </p:cNvSpPr>
              <p:nvPr/>
            </p:nvSpPr>
            <p:spPr bwMode="auto">
              <a:xfrm>
                <a:off x="2182018" y="4039169"/>
                <a:ext cx="1161056" cy="1279099"/>
              </a:xfrm>
              <a:custGeom>
                <a:avLst/>
                <a:gdLst>
                  <a:gd name="T0" fmla="*/ 2617 w 2894"/>
                  <a:gd name="T1" fmla="*/ 111 h 3192"/>
                  <a:gd name="T2" fmla="*/ 2756 w 2894"/>
                  <a:gd name="T3" fmla="*/ 408 h 3192"/>
                  <a:gd name="T4" fmla="*/ 2894 w 2894"/>
                  <a:gd name="T5" fmla="*/ 705 h 3192"/>
                  <a:gd name="T6" fmla="*/ 2567 w 2894"/>
                  <a:gd name="T7" fmla="*/ 676 h 3192"/>
                  <a:gd name="T8" fmla="*/ 2241 w 2894"/>
                  <a:gd name="T9" fmla="*/ 647 h 3192"/>
                  <a:gd name="T10" fmla="*/ 2345 w 2894"/>
                  <a:gd name="T11" fmla="*/ 500 h 3192"/>
                  <a:gd name="T12" fmla="*/ 2097 w 2894"/>
                  <a:gd name="T13" fmla="*/ 371 h 3192"/>
                  <a:gd name="T14" fmla="*/ 1611 w 2894"/>
                  <a:gd name="T15" fmla="*/ 280 h 3192"/>
                  <a:gd name="T16" fmla="*/ 670 w 2894"/>
                  <a:gd name="T17" fmla="*/ 670 h 3192"/>
                  <a:gd name="T18" fmla="*/ 280 w 2894"/>
                  <a:gd name="T19" fmla="*/ 1611 h 3192"/>
                  <a:gd name="T20" fmla="*/ 584 w 2894"/>
                  <a:gd name="T21" fmla="*/ 2458 h 3192"/>
                  <a:gd name="T22" fmla="*/ 1357 w 2894"/>
                  <a:gd name="T23" fmla="*/ 2918 h 3192"/>
                  <a:gd name="T24" fmla="*/ 1304 w 2894"/>
                  <a:gd name="T25" fmla="*/ 3192 h 3192"/>
                  <a:gd name="T26" fmla="*/ 368 w 2894"/>
                  <a:gd name="T27" fmla="*/ 2635 h 3192"/>
                  <a:gd name="T28" fmla="*/ 0 w 2894"/>
                  <a:gd name="T29" fmla="*/ 1611 h 3192"/>
                  <a:gd name="T30" fmla="*/ 472 w 2894"/>
                  <a:gd name="T31" fmla="*/ 472 h 3192"/>
                  <a:gd name="T32" fmla="*/ 1611 w 2894"/>
                  <a:gd name="T33" fmla="*/ 0 h 3192"/>
                  <a:gd name="T34" fmla="*/ 2198 w 2894"/>
                  <a:gd name="T35" fmla="*/ 111 h 3192"/>
                  <a:gd name="T36" fmla="*/ 2505 w 2894"/>
                  <a:gd name="T37" fmla="*/ 271 h 3192"/>
                  <a:gd name="T38" fmla="*/ 2617 w 2894"/>
                  <a:gd name="T39" fmla="*/ 111 h 3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94" h="3192">
                    <a:moveTo>
                      <a:pt x="2617" y="111"/>
                    </a:moveTo>
                    <a:lnTo>
                      <a:pt x="2756" y="408"/>
                    </a:lnTo>
                    <a:lnTo>
                      <a:pt x="2894" y="705"/>
                    </a:lnTo>
                    <a:lnTo>
                      <a:pt x="2567" y="676"/>
                    </a:lnTo>
                    <a:lnTo>
                      <a:pt x="2241" y="647"/>
                    </a:lnTo>
                    <a:lnTo>
                      <a:pt x="2345" y="500"/>
                    </a:lnTo>
                    <a:cubicBezTo>
                      <a:pt x="2267" y="448"/>
                      <a:pt x="2183" y="405"/>
                      <a:pt x="2097" y="371"/>
                    </a:cubicBezTo>
                    <a:cubicBezTo>
                      <a:pt x="1944" y="312"/>
                      <a:pt x="1779" y="280"/>
                      <a:pt x="1611" y="280"/>
                    </a:cubicBezTo>
                    <a:cubicBezTo>
                      <a:pt x="1243" y="280"/>
                      <a:pt x="911" y="429"/>
                      <a:pt x="670" y="670"/>
                    </a:cubicBezTo>
                    <a:cubicBezTo>
                      <a:pt x="429" y="911"/>
                      <a:pt x="280" y="1243"/>
                      <a:pt x="280" y="1611"/>
                    </a:cubicBezTo>
                    <a:cubicBezTo>
                      <a:pt x="280" y="1930"/>
                      <a:pt x="393" y="2227"/>
                      <a:pt x="584" y="2458"/>
                    </a:cubicBezTo>
                    <a:cubicBezTo>
                      <a:pt x="775" y="2690"/>
                      <a:pt x="1044" y="2857"/>
                      <a:pt x="1357" y="2918"/>
                    </a:cubicBezTo>
                    <a:lnTo>
                      <a:pt x="1304" y="3192"/>
                    </a:lnTo>
                    <a:cubicBezTo>
                      <a:pt x="926" y="3119"/>
                      <a:pt x="600" y="2916"/>
                      <a:pt x="368" y="2635"/>
                    </a:cubicBezTo>
                    <a:cubicBezTo>
                      <a:pt x="137" y="2355"/>
                      <a:pt x="0" y="1996"/>
                      <a:pt x="0" y="1611"/>
                    </a:cubicBezTo>
                    <a:cubicBezTo>
                      <a:pt x="0" y="1166"/>
                      <a:pt x="180" y="763"/>
                      <a:pt x="472" y="472"/>
                    </a:cubicBezTo>
                    <a:cubicBezTo>
                      <a:pt x="763" y="180"/>
                      <a:pt x="1166" y="0"/>
                      <a:pt x="1611" y="0"/>
                    </a:cubicBezTo>
                    <a:cubicBezTo>
                      <a:pt x="1813" y="0"/>
                      <a:pt x="2012" y="38"/>
                      <a:pt x="2198" y="111"/>
                    </a:cubicBezTo>
                    <a:cubicBezTo>
                      <a:pt x="2305" y="153"/>
                      <a:pt x="2408" y="207"/>
                      <a:pt x="2505" y="271"/>
                    </a:cubicBezTo>
                    <a:lnTo>
                      <a:pt x="2617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45" name="Группа 44"/>
            <p:cNvGrpSpPr/>
            <p:nvPr/>
          </p:nvGrpSpPr>
          <p:grpSpPr>
            <a:xfrm>
              <a:off x="2789185" y="4426694"/>
              <a:ext cx="0" cy="756000"/>
              <a:chOff x="2791616" y="4277018"/>
              <a:chExt cx="0" cy="863494"/>
            </a:xfrm>
          </p:grpSpPr>
          <p:cxnSp>
            <p:nvCxnSpPr>
              <p:cNvPr id="49" name="Прямая соединительная линия 48"/>
              <p:cNvCxnSpPr/>
              <p:nvPr/>
            </p:nvCxnSpPr>
            <p:spPr>
              <a:xfrm>
                <a:off x="2791616" y="4277018"/>
                <a:ext cx="0" cy="431747"/>
              </a:xfrm>
              <a:prstGeom prst="line">
                <a:avLst/>
              </a:prstGeom>
              <a:ln w="76200" cap="rnd">
                <a:solidFill>
                  <a:srgbClr val="FF24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Прямая соединительная линия 49"/>
              <p:cNvCxnSpPr/>
              <p:nvPr/>
            </p:nvCxnSpPr>
            <p:spPr>
              <a:xfrm>
                <a:off x="2791616" y="4708765"/>
                <a:ext cx="0" cy="431747"/>
              </a:xfrm>
              <a:prstGeom prst="line">
                <a:avLst/>
              </a:prstGeom>
              <a:ln w="76200" cap="rnd">
                <a:solidFill>
                  <a:srgbClr val="FFFFFF">
                    <a:alpha val="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Группа 45"/>
            <p:cNvGrpSpPr/>
            <p:nvPr/>
          </p:nvGrpSpPr>
          <p:grpSpPr>
            <a:xfrm>
              <a:off x="2789185" y="4426694"/>
              <a:ext cx="0" cy="756000"/>
              <a:chOff x="2791616" y="4277018"/>
              <a:chExt cx="0" cy="863494"/>
            </a:xfrm>
          </p:grpSpPr>
          <p:cxnSp>
            <p:nvCxnSpPr>
              <p:cNvPr id="47" name="Прямая соединительная линия 46"/>
              <p:cNvCxnSpPr/>
              <p:nvPr/>
            </p:nvCxnSpPr>
            <p:spPr>
              <a:xfrm>
                <a:off x="2791616" y="4277018"/>
                <a:ext cx="0" cy="431747"/>
              </a:xfrm>
              <a:prstGeom prst="line">
                <a:avLst/>
              </a:prstGeom>
              <a:ln w="76200" cap="rnd">
                <a:solidFill>
                  <a:srgbClr val="FF24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Прямая соединительная линия 47"/>
              <p:cNvCxnSpPr/>
              <p:nvPr/>
            </p:nvCxnSpPr>
            <p:spPr>
              <a:xfrm>
                <a:off x="2791616" y="4708765"/>
                <a:ext cx="0" cy="431747"/>
              </a:xfrm>
              <a:prstGeom prst="line">
                <a:avLst/>
              </a:prstGeom>
              <a:ln w="76200" cap="rnd">
                <a:solidFill>
                  <a:srgbClr val="FFFFFF">
                    <a:alpha val="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8" name="Текст 11"/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287140" y="4005084"/>
            <a:ext cx="424676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algn="ctr" defTabSz="931343" eaLnBrk="0" hangingPunct="0">
              <a:defRPr sz="800" b="1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defRPr>
            </a:lvl1pPr>
          </a:lstStyle>
          <a:p>
            <a:r>
              <a:rPr lang="ru-RU" dirty="0" smtClean="0"/>
              <a:t>Удельная стоимость ННС</a:t>
            </a:r>
            <a:r>
              <a:rPr lang="ru-RU" dirty="0"/>
              <a:t>, </a:t>
            </a:r>
            <a:r>
              <a:rPr lang="ru-RU" dirty="0" err="1"/>
              <a:t>млн.р</a:t>
            </a:r>
            <a:r>
              <a:rPr lang="ru-RU" dirty="0"/>
              <a:t>./</a:t>
            </a:r>
            <a:r>
              <a:rPr lang="ru-RU" dirty="0" err="1"/>
              <a:t>скв</a:t>
            </a:r>
            <a:r>
              <a:rPr lang="ru-RU" dirty="0"/>
              <a:t>.</a:t>
            </a:r>
          </a:p>
        </p:txBody>
      </p:sp>
      <p:sp>
        <p:nvSpPr>
          <p:cNvPr id="65" name="Текст 11"/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4610100" y="4005064"/>
            <a:ext cx="4246376" cy="167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algn="ctr" defTabSz="931343" eaLnBrk="0" hangingPunct="0">
              <a:defRPr sz="800" b="1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defRPr>
            </a:lvl1pPr>
          </a:lstStyle>
          <a:p>
            <a:r>
              <a:rPr lang="ru-RU" dirty="0" smtClean="0"/>
              <a:t>Удельная стоимость ГС</a:t>
            </a:r>
            <a:r>
              <a:rPr lang="ru-RU" dirty="0"/>
              <a:t>, </a:t>
            </a:r>
            <a:r>
              <a:rPr lang="ru-RU" dirty="0" err="1"/>
              <a:t>млн.р</a:t>
            </a:r>
            <a:r>
              <a:rPr lang="ru-RU" dirty="0"/>
              <a:t>./</a:t>
            </a:r>
            <a:r>
              <a:rPr lang="ru-RU" dirty="0" err="1"/>
              <a:t>скв</a:t>
            </a:r>
            <a:r>
              <a:rPr lang="ru-RU" dirty="0"/>
              <a:t>.</a:t>
            </a:r>
          </a:p>
        </p:txBody>
      </p:sp>
      <p:sp>
        <p:nvSpPr>
          <p:cNvPr id="27" name="SquareGS"/>
          <p:cNvSpPr/>
          <p:nvPr>
            <p:custDataLst>
              <p:tags r:id="rId5"/>
            </p:custDataLst>
          </p:nvPr>
        </p:nvSpPr>
        <p:spPr>
          <a:xfrm>
            <a:off x="8036004" y="1412776"/>
            <a:ext cx="290624" cy="2294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sp>
        <p:nvSpPr>
          <p:cNvPr id="33" name="SquareNNS"/>
          <p:cNvSpPr/>
          <p:nvPr>
            <p:custDataLst>
              <p:tags r:id="rId6"/>
            </p:custDataLst>
          </p:nvPr>
        </p:nvSpPr>
        <p:spPr>
          <a:xfrm>
            <a:off x="3468576" y="1412776"/>
            <a:ext cx="240185" cy="22945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004077"/>
              </a:solidFill>
            </a:endParaRPr>
          </a:p>
        </p:txBody>
      </p:sp>
      <p:cxnSp>
        <p:nvCxnSpPr>
          <p:cNvPr id="40" name="Прямая соединительная линия 39"/>
          <p:cNvCxnSpPr/>
          <p:nvPr>
            <p:custDataLst>
              <p:tags r:id="rId7"/>
            </p:custDataLst>
          </p:nvPr>
        </p:nvCxnSpPr>
        <p:spPr>
          <a:xfrm>
            <a:off x="5436096" y="1412776"/>
            <a:ext cx="0" cy="2268000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Текст 11"/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287140" y="1138392"/>
            <a:ext cx="4246376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algn="ctr" defTabSz="931343" eaLnBrk="0" hangingPunct="0">
              <a:defRPr sz="800" b="1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defRPr>
            </a:lvl1pPr>
          </a:lstStyle>
          <a:p>
            <a:r>
              <a:rPr lang="ru-RU" dirty="0"/>
              <a:t>Динамика скорости бурения ННС, </a:t>
            </a:r>
            <a:r>
              <a:rPr lang="ru-RU" dirty="0" err="1"/>
              <a:t>сут</a:t>
            </a:r>
            <a:r>
              <a:rPr lang="ru-RU" dirty="0"/>
              <a:t>./1000м</a:t>
            </a:r>
          </a:p>
        </p:txBody>
      </p:sp>
      <p:sp>
        <p:nvSpPr>
          <p:cNvPr id="37" name="Текст 14"/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4609050" y="1148597"/>
            <a:ext cx="4246881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algn="ctr" defTabSz="931343" eaLnBrk="0" hangingPunct="0">
              <a:defRPr sz="800" b="1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defRPr>
            </a:lvl1pPr>
          </a:lstStyle>
          <a:p>
            <a:r>
              <a:rPr lang="ru-RU" dirty="0"/>
              <a:t>Динамика скорости бурения ГС, </a:t>
            </a:r>
            <a:r>
              <a:rPr lang="ru-RU" dirty="0" err="1"/>
              <a:t>сут</a:t>
            </a:r>
            <a:r>
              <a:rPr lang="ru-RU" dirty="0"/>
              <a:t>./1000м</a:t>
            </a:r>
          </a:p>
        </p:txBody>
      </p:sp>
      <p:cxnSp>
        <p:nvCxnSpPr>
          <p:cNvPr id="41" name="Прямая соединительная линия 40"/>
          <p:cNvCxnSpPr/>
          <p:nvPr>
            <p:custDataLst>
              <p:tags r:id="rId10"/>
            </p:custDataLst>
          </p:nvPr>
        </p:nvCxnSpPr>
        <p:spPr>
          <a:xfrm>
            <a:off x="1043608" y="1466908"/>
            <a:ext cx="0" cy="2268000"/>
          </a:xfrm>
          <a:prstGeom prst="line">
            <a:avLst/>
          </a:prstGeom>
          <a:ln w="12700">
            <a:solidFill>
              <a:srgbClr val="54535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Cost_Nns"/>
          <p:cNvGraphicFramePr>
            <a:graphicFrameLocks/>
          </p:cNvGraphicFramePr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2626214375"/>
              </p:ext>
            </p:extLst>
          </p:nvPr>
        </p:nvGraphicFramePr>
        <p:xfrm>
          <a:off x="287140" y="4268174"/>
          <a:ext cx="4238894" cy="2401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graphicFrame>
        <p:nvGraphicFramePr>
          <p:cNvPr id="57" name="ГПН-Новый порт_Nns"/>
          <p:cNvGraphicFramePr>
            <a:graphicFrameLocks/>
          </p:cNvGraphicFramePr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1382664582"/>
              </p:ext>
            </p:extLst>
          </p:nvPr>
        </p:nvGraphicFramePr>
        <p:xfrm>
          <a:off x="695559" y="1477113"/>
          <a:ext cx="4040472" cy="23653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62" name="ГПН-Новый порт_Gs"/>
          <p:cNvGraphicFramePr>
            <a:graphicFrameLocks/>
          </p:cNvGraphicFramePr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362224289"/>
              </p:ext>
            </p:extLst>
          </p:nvPr>
        </p:nvGraphicFramePr>
        <p:xfrm>
          <a:off x="5103528" y="1411687"/>
          <a:ext cx="4040472" cy="2430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55" name="Cost_Gs"/>
          <p:cNvGraphicFramePr>
            <a:graphicFrameLocks/>
          </p:cNvGraphicFramePr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586717921"/>
              </p:ext>
            </p:extLst>
          </p:nvPr>
        </p:nvGraphicFramePr>
        <p:xfrm>
          <a:off x="4526034" y="4268174"/>
          <a:ext cx="4238894" cy="2401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</p:spTree>
    <p:extLst>
      <p:ext uri="{BB962C8B-B14F-4D97-AF65-F5344CB8AC3E}">
        <p14:creationId xmlns:p14="http://schemas.microsoft.com/office/powerpoint/2010/main" val="4062777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51620" y="337703"/>
            <a:ext cx="7705042" cy="607021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Дирекция крупных проектов  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Эксплуатационное </a:t>
            </a: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Бурение</a:t>
            </a:r>
            <a:r>
              <a:rPr lang="ru-RU" b="1" dirty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b="1" dirty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Динамика </a:t>
            </a: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НПВ за календарное время</a:t>
            </a:r>
            <a:endParaRPr lang="ru-RU" sz="1200" dirty="0">
              <a:solidFill>
                <a:srgbClr val="545353"/>
              </a:solidFill>
            </a:endParaRPr>
          </a:p>
        </p:txBody>
      </p:sp>
      <p:sp>
        <p:nvSpPr>
          <p:cNvPr id="7" name="Текст 13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87337" y="1088740"/>
            <a:ext cx="8569644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algn="ctr" defTabSz="931343" eaLnBrk="0" hangingPunct="0">
              <a:defRPr sz="800" b="1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defRPr>
            </a:lvl1pPr>
          </a:lstStyle>
          <a:p>
            <a:r>
              <a:rPr lang="ru-RU" dirty="0"/>
              <a:t>НПВ</a:t>
            </a:r>
            <a:r>
              <a:rPr lang="en-US" dirty="0"/>
              <a:t> </a:t>
            </a:r>
            <a:r>
              <a:rPr lang="ru-RU" dirty="0"/>
              <a:t>в ЭБ, по </a:t>
            </a:r>
            <a:r>
              <a:rPr lang="ru-RU" dirty="0" smtClean="0"/>
              <a:t>ДО Новый Порт</a:t>
            </a:r>
            <a:endParaRPr lang="ru-RU" dirty="0"/>
          </a:p>
        </p:txBody>
      </p:sp>
      <p:graphicFrame>
        <p:nvGraphicFramePr>
          <p:cNvPr id="4" name="ChartDo_Dkp"/>
          <p:cNvGraphicFramePr/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03125647"/>
              </p:ext>
            </p:extLst>
          </p:nvPr>
        </p:nvGraphicFramePr>
        <p:xfrm>
          <a:off x="359571" y="1340768"/>
          <a:ext cx="8496905" cy="2383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2" name="ChartDkp"/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709442949"/>
              </p:ext>
            </p:extLst>
          </p:nvPr>
        </p:nvGraphicFramePr>
        <p:xfrm>
          <a:off x="287336" y="4026904"/>
          <a:ext cx="5724823" cy="213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3" name="Текст 14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298211" y="3717032"/>
            <a:ext cx="5713949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algn="ctr" defTabSz="931343" eaLnBrk="0" hangingPunct="0">
              <a:defRPr sz="800" b="1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defRPr>
            </a:lvl1pPr>
          </a:lstStyle>
          <a:p>
            <a:r>
              <a:rPr lang="ru-RU" dirty="0"/>
              <a:t>НПВ по ДО (за календарное время)</a:t>
            </a:r>
          </a:p>
        </p:txBody>
      </p:sp>
      <p:sp>
        <p:nvSpPr>
          <p:cNvPr id="14" name="RoundDZO"/>
          <p:cNvSpPr/>
          <p:nvPr>
            <p:custDataLst>
              <p:tags r:id="rId6"/>
            </p:custDataLst>
          </p:nvPr>
        </p:nvSpPr>
        <p:spPr>
          <a:xfrm>
            <a:off x="4948994" y="4132126"/>
            <a:ext cx="324000" cy="324000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74271" y="3717032"/>
            <a:ext cx="268271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defTabSz="931343" eaLnBrk="0" hangingPunct="0"/>
            <a:r>
              <a:rPr lang="ru-RU" sz="800" b="1" dirty="0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rPr>
              <a:t>Комментарии</a:t>
            </a:r>
          </a:p>
        </p:txBody>
      </p:sp>
      <p:sp>
        <p:nvSpPr>
          <p:cNvPr id="15" name="SquareInfo"/>
          <p:cNvSpPr/>
          <p:nvPr/>
        </p:nvSpPr>
        <p:spPr>
          <a:xfrm>
            <a:off x="6174271" y="3969060"/>
            <a:ext cx="2682710" cy="2412268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pPr algn="just"/>
            <a:endParaRPr lang="ru-RU" sz="700" dirty="0" smtClean="0">
              <a:solidFill>
                <a:srgbClr val="545353"/>
              </a:solidFill>
            </a:endParaRPr>
          </a:p>
        </p:txBody>
      </p:sp>
      <p:grpSp>
        <p:nvGrpSpPr>
          <p:cNvPr id="27" name="Группа 26"/>
          <p:cNvGrpSpPr>
            <a:grpSpLocks noChangeAspect="1"/>
          </p:cNvGrpSpPr>
          <p:nvPr/>
        </p:nvGrpSpPr>
        <p:grpSpPr>
          <a:xfrm>
            <a:off x="351368" y="351582"/>
            <a:ext cx="615095" cy="596490"/>
            <a:chOff x="2154187" y="4126930"/>
            <a:chExt cx="1284385" cy="1291432"/>
          </a:xfrm>
        </p:grpSpPr>
        <p:sp>
          <p:nvSpPr>
            <p:cNvPr id="28" name="Овал 27"/>
            <p:cNvSpPr/>
            <p:nvPr/>
          </p:nvSpPr>
          <p:spPr>
            <a:xfrm>
              <a:off x="2297779" y="4274046"/>
              <a:ext cx="997200" cy="997200"/>
            </a:xfrm>
            <a:prstGeom prst="ellipse">
              <a:avLst/>
            </a:prstGeom>
            <a:solidFill>
              <a:srgbClr val="E6E6E6"/>
            </a:solidFill>
            <a:ln w="7938" cap="flat">
              <a:solidFill>
                <a:srgbClr val="FEFEF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29" name="Группа 28"/>
            <p:cNvGrpSpPr/>
            <p:nvPr/>
          </p:nvGrpSpPr>
          <p:grpSpPr>
            <a:xfrm>
              <a:off x="2154187" y="4126930"/>
              <a:ext cx="1284385" cy="1291432"/>
              <a:chOff x="2182018" y="4039169"/>
              <a:chExt cx="1284385" cy="1291432"/>
            </a:xfrm>
            <a:solidFill>
              <a:schemeClr val="accent2"/>
            </a:solidFill>
          </p:grpSpPr>
          <p:sp>
            <p:nvSpPr>
              <p:cNvPr id="36" name="Freeform 8"/>
              <p:cNvSpPr>
                <a:spLocks noEditPoints="1"/>
              </p:cNvSpPr>
              <p:nvPr/>
            </p:nvSpPr>
            <p:spPr bwMode="auto">
              <a:xfrm>
                <a:off x="2819806" y="4398585"/>
                <a:ext cx="646597" cy="932016"/>
              </a:xfrm>
              <a:custGeom>
                <a:avLst/>
                <a:gdLst>
                  <a:gd name="T0" fmla="*/ 0 w 1609"/>
                  <a:gd name="T1" fmla="*/ 2187 h 2327"/>
                  <a:gd name="T2" fmla="*/ 0 w 1609"/>
                  <a:gd name="T3" fmla="*/ 2187 h 2327"/>
                  <a:gd name="T4" fmla="*/ 31 w 1609"/>
                  <a:gd name="T5" fmla="*/ 2327 h 2327"/>
                  <a:gd name="T6" fmla="*/ 165 w 1609"/>
                  <a:gd name="T7" fmla="*/ 2319 h 2327"/>
                  <a:gd name="T8" fmla="*/ 295 w 1609"/>
                  <a:gd name="T9" fmla="*/ 2300 h 2327"/>
                  <a:gd name="T10" fmla="*/ 422 w 1609"/>
                  <a:gd name="T11" fmla="*/ 2271 h 2327"/>
                  <a:gd name="T12" fmla="*/ 545 w 1609"/>
                  <a:gd name="T13" fmla="*/ 2233 h 2327"/>
                  <a:gd name="T14" fmla="*/ 450 w 1609"/>
                  <a:gd name="T15" fmla="*/ 1969 h 2327"/>
                  <a:gd name="T16" fmla="*/ 349 w 1609"/>
                  <a:gd name="T17" fmla="*/ 2001 h 2327"/>
                  <a:gd name="T18" fmla="*/ 244 w 1609"/>
                  <a:gd name="T19" fmla="*/ 2025 h 2327"/>
                  <a:gd name="T20" fmla="*/ 136 w 1609"/>
                  <a:gd name="T21" fmla="*/ 2040 h 2327"/>
                  <a:gd name="T22" fmla="*/ 26 w 1609"/>
                  <a:gd name="T23" fmla="*/ 2047 h 2327"/>
                  <a:gd name="T24" fmla="*/ 1454 w 1609"/>
                  <a:gd name="T25" fmla="*/ 21 h 2327"/>
                  <a:gd name="T26" fmla="*/ 1470 w 1609"/>
                  <a:gd name="T27" fmla="*/ 55 h 2327"/>
                  <a:gd name="T28" fmla="*/ 1485 w 1609"/>
                  <a:gd name="T29" fmla="*/ 90 h 2327"/>
                  <a:gd name="T30" fmla="*/ 1499 w 1609"/>
                  <a:gd name="T31" fmla="*/ 125 h 2327"/>
                  <a:gd name="T32" fmla="*/ 1512 w 1609"/>
                  <a:gd name="T33" fmla="*/ 160 h 2327"/>
                  <a:gd name="T34" fmla="*/ 1525 w 1609"/>
                  <a:gd name="T35" fmla="*/ 196 h 2327"/>
                  <a:gd name="T36" fmla="*/ 1537 w 1609"/>
                  <a:gd name="T37" fmla="*/ 231 h 2327"/>
                  <a:gd name="T38" fmla="*/ 1548 w 1609"/>
                  <a:gd name="T39" fmla="*/ 267 h 2327"/>
                  <a:gd name="T40" fmla="*/ 1558 w 1609"/>
                  <a:gd name="T41" fmla="*/ 303 h 2327"/>
                  <a:gd name="T42" fmla="*/ 1567 w 1609"/>
                  <a:gd name="T43" fmla="*/ 340 h 2327"/>
                  <a:gd name="T44" fmla="*/ 1575 w 1609"/>
                  <a:gd name="T45" fmla="*/ 377 h 2327"/>
                  <a:gd name="T46" fmla="*/ 1583 w 1609"/>
                  <a:gd name="T47" fmla="*/ 414 h 2327"/>
                  <a:gd name="T48" fmla="*/ 1589 w 1609"/>
                  <a:gd name="T49" fmla="*/ 450 h 2327"/>
                  <a:gd name="T50" fmla="*/ 1595 w 1609"/>
                  <a:gd name="T51" fmla="*/ 488 h 2327"/>
                  <a:gd name="T52" fmla="*/ 1314 w 1609"/>
                  <a:gd name="T53" fmla="*/ 504 h 2327"/>
                  <a:gd name="T54" fmla="*/ 1309 w 1609"/>
                  <a:gd name="T55" fmla="*/ 473 h 2327"/>
                  <a:gd name="T56" fmla="*/ 1303 w 1609"/>
                  <a:gd name="T57" fmla="*/ 443 h 2327"/>
                  <a:gd name="T58" fmla="*/ 1296 w 1609"/>
                  <a:gd name="T59" fmla="*/ 412 h 2327"/>
                  <a:gd name="T60" fmla="*/ 1289 w 1609"/>
                  <a:gd name="T61" fmla="*/ 382 h 2327"/>
                  <a:gd name="T62" fmla="*/ 1281 w 1609"/>
                  <a:gd name="T63" fmla="*/ 352 h 2327"/>
                  <a:gd name="T64" fmla="*/ 1272 w 1609"/>
                  <a:gd name="T65" fmla="*/ 322 h 2327"/>
                  <a:gd name="T66" fmla="*/ 1262 w 1609"/>
                  <a:gd name="T67" fmla="*/ 293 h 2327"/>
                  <a:gd name="T68" fmla="*/ 1252 w 1609"/>
                  <a:gd name="T69" fmla="*/ 263 h 2327"/>
                  <a:gd name="T70" fmla="*/ 1241 w 1609"/>
                  <a:gd name="T71" fmla="*/ 234 h 2327"/>
                  <a:gd name="T72" fmla="*/ 1229 w 1609"/>
                  <a:gd name="T73" fmla="*/ 205 h 2327"/>
                  <a:gd name="T74" fmla="*/ 1217 w 1609"/>
                  <a:gd name="T75" fmla="*/ 177 h 2327"/>
                  <a:gd name="T76" fmla="*/ 1204 w 1609"/>
                  <a:gd name="T77" fmla="*/ 148 h 2327"/>
                  <a:gd name="T78" fmla="*/ 1609 w 1609"/>
                  <a:gd name="T79" fmla="*/ 794 h 2327"/>
                  <a:gd name="T80" fmla="*/ 1598 w 1609"/>
                  <a:gd name="T81" fmla="*/ 921 h 2327"/>
                  <a:gd name="T82" fmla="*/ 1577 w 1609"/>
                  <a:gd name="T83" fmla="*/ 1050 h 2327"/>
                  <a:gd name="T84" fmla="*/ 1545 w 1609"/>
                  <a:gd name="T85" fmla="*/ 1176 h 2327"/>
                  <a:gd name="T86" fmla="*/ 1503 w 1609"/>
                  <a:gd name="T87" fmla="*/ 1298 h 2327"/>
                  <a:gd name="T88" fmla="*/ 1217 w 1609"/>
                  <a:gd name="T89" fmla="*/ 1256 h 2327"/>
                  <a:gd name="T90" fmla="*/ 1256 w 1609"/>
                  <a:gd name="T91" fmla="*/ 1158 h 2327"/>
                  <a:gd name="T92" fmla="*/ 1287 w 1609"/>
                  <a:gd name="T93" fmla="*/ 1057 h 2327"/>
                  <a:gd name="T94" fmla="*/ 1311 w 1609"/>
                  <a:gd name="T95" fmla="*/ 952 h 2327"/>
                  <a:gd name="T96" fmla="*/ 1325 w 1609"/>
                  <a:gd name="T97" fmla="*/ 844 h 2327"/>
                  <a:gd name="T98" fmla="*/ 1297 w 1609"/>
                  <a:gd name="T99" fmla="*/ 1672 h 2327"/>
                  <a:gd name="T100" fmla="*/ 1218 w 1609"/>
                  <a:gd name="T101" fmla="*/ 1770 h 2327"/>
                  <a:gd name="T102" fmla="*/ 1133 w 1609"/>
                  <a:gd name="T103" fmla="*/ 1862 h 2327"/>
                  <a:gd name="T104" fmla="*/ 1040 w 1609"/>
                  <a:gd name="T105" fmla="*/ 1947 h 2327"/>
                  <a:gd name="T106" fmla="*/ 941 w 1609"/>
                  <a:gd name="T107" fmla="*/ 2024 h 2327"/>
                  <a:gd name="T108" fmla="*/ 738 w 1609"/>
                  <a:gd name="T109" fmla="*/ 1824 h 2327"/>
                  <a:gd name="T110" fmla="*/ 822 w 1609"/>
                  <a:gd name="T111" fmla="*/ 1763 h 2327"/>
                  <a:gd name="T112" fmla="*/ 901 w 1609"/>
                  <a:gd name="T113" fmla="*/ 1696 h 2327"/>
                  <a:gd name="T114" fmla="*/ 975 w 1609"/>
                  <a:gd name="T115" fmla="*/ 1623 h 2327"/>
                  <a:gd name="T116" fmla="*/ 1043 w 1609"/>
                  <a:gd name="T117" fmla="*/ 1544 h 2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09" h="2327">
                    <a:moveTo>
                      <a:pt x="0" y="2047"/>
                    </a:move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327"/>
                    </a:lnTo>
                    <a:lnTo>
                      <a:pt x="11" y="2327"/>
                    </a:lnTo>
                    <a:lnTo>
                      <a:pt x="21" y="2327"/>
                    </a:lnTo>
                    <a:lnTo>
                      <a:pt x="31" y="2327"/>
                    </a:lnTo>
                    <a:lnTo>
                      <a:pt x="42" y="2327"/>
                    </a:lnTo>
                    <a:lnTo>
                      <a:pt x="52" y="2326"/>
                    </a:lnTo>
                    <a:lnTo>
                      <a:pt x="62" y="2326"/>
                    </a:lnTo>
                    <a:lnTo>
                      <a:pt x="73" y="2326"/>
                    </a:lnTo>
                    <a:lnTo>
                      <a:pt x="83" y="2325"/>
                    </a:lnTo>
                    <a:lnTo>
                      <a:pt x="93" y="2325"/>
                    </a:lnTo>
                    <a:lnTo>
                      <a:pt x="104" y="2324"/>
                    </a:lnTo>
                    <a:lnTo>
                      <a:pt x="114" y="2323"/>
                    </a:lnTo>
                    <a:lnTo>
                      <a:pt x="124" y="2322"/>
                    </a:lnTo>
                    <a:lnTo>
                      <a:pt x="134" y="2322"/>
                    </a:lnTo>
                    <a:lnTo>
                      <a:pt x="144" y="2321"/>
                    </a:lnTo>
                    <a:lnTo>
                      <a:pt x="155" y="2320"/>
                    </a:lnTo>
                    <a:lnTo>
                      <a:pt x="165" y="2319"/>
                    </a:lnTo>
                    <a:lnTo>
                      <a:pt x="175" y="2318"/>
                    </a:lnTo>
                    <a:lnTo>
                      <a:pt x="185" y="2317"/>
                    </a:lnTo>
                    <a:lnTo>
                      <a:pt x="195" y="2315"/>
                    </a:lnTo>
                    <a:lnTo>
                      <a:pt x="205" y="2314"/>
                    </a:lnTo>
                    <a:lnTo>
                      <a:pt x="215" y="2313"/>
                    </a:lnTo>
                    <a:lnTo>
                      <a:pt x="225" y="2312"/>
                    </a:lnTo>
                    <a:lnTo>
                      <a:pt x="235" y="2310"/>
                    </a:lnTo>
                    <a:lnTo>
                      <a:pt x="245" y="2309"/>
                    </a:lnTo>
                    <a:lnTo>
                      <a:pt x="255" y="2307"/>
                    </a:lnTo>
                    <a:lnTo>
                      <a:pt x="265" y="2305"/>
                    </a:lnTo>
                    <a:lnTo>
                      <a:pt x="275" y="2304"/>
                    </a:lnTo>
                    <a:lnTo>
                      <a:pt x="285" y="2302"/>
                    </a:lnTo>
                    <a:lnTo>
                      <a:pt x="295" y="2300"/>
                    </a:lnTo>
                    <a:lnTo>
                      <a:pt x="305" y="2298"/>
                    </a:lnTo>
                    <a:lnTo>
                      <a:pt x="315" y="2296"/>
                    </a:lnTo>
                    <a:lnTo>
                      <a:pt x="325" y="2294"/>
                    </a:lnTo>
                    <a:lnTo>
                      <a:pt x="335" y="2292"/>
                    </a:lnTo>
                    <a:lnTo>
                      <a:pt x="344" y="2290"/>
                    </a:lnTo>
                    <a:lnTo>
                      <a:pt x="354" y="2288"/>
                    </a:lnTo>
                    <a:lnTo>
                      <a:pt x="364" y="2286"/>
                    </a:lnTo>
                    <a:lnTo>
                      <a:pt x="374" y="2284"/>
                    </a:lnTo>
                    <a:lnTo>
                      <a:pt x="383" y="2281"/>
                    </a:lnTo>
                    <a:lnTo>
                      <a:pt x="393" y="2279"/>
                    </a:lnTo>
                    <a:lnTo>
                      <a:pt x="403" y="2276"/>
                    </a:lnTo>
                    <a:lnTo>
                      <a:pt x="412" y="2274"/>
                    </a:lnTo>
                    <a:lnTo>
                      <a:pt x="422" y="2271"/>
                    </a:lnTo>
                    <a:lnTo>
                      <a:pt x="432" y="2269"/>
                    </a:lnTo>
                    <a:lnTo>
                      <a:pt x="441" y="2266"/>
                    </a:lnTo>
                    <a:lnTo>
                      <a:pt x="451" y="2263"/>
                    </a:lnTo>
                    <a:lnTo>
                      <a:pt x="460" y="2260"/>
                    </a:lnTo>
                    <a:lnTo>
                      <a:pt x="470" y="2258"/>
                    </a:lnTo>
                    <a:lnTo>
                      <a:pt x="479" y="2255"/>
                    </a:lnTo>
                    <a:lnTo>
                      <a:pt x="489" y="2252"/>
                    </a:lnTo>
                    <a:lnTo>
                      <a:pt x="498" y="2249"/>
                    </a:lnTo>
                    <a:lnTo>
                      <a:pt x="508" y="2246"/>
                    </a:lnTo>
                    <a:lnTo>
                      <a:pt x="517" y="2242"/>
                    </a:lnTo>
                    <a:lnTo>
                      <a:pt x="526" y="2239"/>
                    </a:lnTo>
                    <a:lnTo>
                      <a:pt x="536" y="2236"/>
                    </a:lnTo>
                    <a:lnTo>
                      <a:pt x="545" y="2233"/>
                    </a:lnTo>
                    <a:lnTo>
                      <a:pt x="554" y="2229"/>
                    </a:lnTo>
                    <a:lnTo>
                      <a:pt x="563" y="2226"/>
                    </a:lnTo>
                    <a:lnTo>
                      <a:pt x="573" y="2222"/>
                    </a:lnTo>
                    <a:lnTo>
                      <a:pt x="582" y="2219"/>
                    </a:lnTo>
                    <a:lnTo>
                      <a:pt x="591" y="2215"/>
                    </a:lnTo>
                    <a:lnTo>
                      <a:pt x="598" y="2212"/>
                    </a:lnTo>
                    <a:lnTo>
                      <a:pt x="496" y="1952"/>
                    </a:lnTo>
                    <a:lnTo>
                      <a:pt x="488" y="1955"/>
                    </a:lnTo>
                    <a:lnTo>
                      <a:pt x="481" y="1958"/>
                    </a:lnTo>
                    <a:lnTo>
                      <a:pt x="473" y="1961"/>
                    </a:lnTo>
                    <a:lnTo>
                      <a:pt x="466" y="1964"/>
                    </a:lnTo>
                    <a:lnTo>
                      <a:pt x="458" y="1966"/>
                    </a:lnTo>
                    <a:lnTo>
                      <a:pt x="450" y="1969"/>
                    </a:lnTo>
                    <a:lnTo>
                      <a:pt x="443" y="1972"/>
                    </a:lnTo>
                    <a:lnTo>
                      <a:pt x="435" y="1975"/>
                    </a:lnTo>
                    <a:lnTo>
                      <a:pt x="427" y="1977"/>
                    </a:lnTo>
                    <a:lnTo>
                      <a:pt x="420" y="1980"/>
                    </a:lnTo>
                    <a:lnTo>
                      <a:pt x="412" y="1982"/>
                    </a:lnTo>
                    <a:lnTo>
                      <a:pt x="404" y="1985"/>
                    </a:lnTo>
                    <a:lnTo>
                      <a:pt x="396" y="1987"/>
                    </a:lnTo>
                    <a:lnTo>
                      <a:pt x="388" y="1990"/>
                    </a:lnTo>
                    <a:lnTo>
                      <a:pt x="380" y="1992"/>
                    </a:lnTo>
                    <a:lnTo>
                      <a:pt x="373" y="1994"/>
                    </a:lnTo>
                    <a:lnTo>
                      <a:pt x="365" y="1997"/>
                    </a:lnTo>
                    <a:lnTo>
                      <a:pt x="357" y="1999"/>
                    </a:lnTo>
                    <a:lnTo>
                      <a:pt x="349" y="2001"/>
                    </a:lnTo>
                    <a:lnTo>
                      <a:pt x="341" y="2003"/>
                    </a:lnTo>
                    <a:lnTo>
                      <a:pt x="333" y="2005"/>
                    </a:lnTo>
                    <a:lnTo>
                      <a:pt x="325" y="2007"/>
                    </a:lnTo>
                    <a:lnTo>
                      <a:pt x="317" y="2009"/>
                    </a:lnTo>
                    <a:lnTo>
                      <a:pt x="309" y="2011"/>
                    </a:lnTo>
                    <a:lnTo>
                      <a:pt x="301" y="2013"/>
                    </a:lnTo>
                    <a:lnTo>
                      <a:pt x="293" y="2015"/>
                    </a:lnTo>
                    <a:lnTo>
                      <a:pt x="285" y="2017"/>
                    </a:lnTo>
                    <a:lnTo>
                      <a:pt x="277" y="2018"/>
                    </a:lnTo>
                    <a:lnTo>
                      <a:pt x="269" y="2020"/>
                    </a:lnTo>
                    <a:lnTo>
                      <a:pt x="261" y="2022"/>
                    </a:lnTo>
                    <a:lnTo>
                      <a:pt x="252" y="2023"/>
                    </a:lnTo>
                    <a:lnTo>
                      <a:pt x="244" y="2025"/>
                    </a:lnTo>
                    <a:lnTo>
                      <a:pt x="236" y="2026"/>
                    </a:lnTo>
                    <a:lnTo>
                      <a:pt x="228" y="2028"/>
                    </a:lnTo>
                    <a:lnTo>
                      <a:pt x="220" y="2029"/>
                    </a:lnTo>
                    <a:lnTo>
                      <a:pt x="211" y="2031"/>
                    </a:lnTo>
                    <a:lnTo>
                      <a:pt x="203" y="2032"/>
                    </a:lnTo>
                    <a:lnTo>
                      <a:pt x="195" y="2033"/>
                    </a:lnTo>
                    <a:lnTo>
                      <a:pt x="187" y="2034"/>
                    </a:lnTo>
                    <a:lnTo>
                      <a:pt x="178" y="2035"/>
                    </a:lnTo>
                    <a:lnTo>
                      <a:pt x="170" y="2036"/>
                    </a:lnTo>
                    <a:lnTo>
                      <a:pt x="162" y="2038"/>
                    </a:lnTo>
                    <a:lnTo>
                      <a:pt x="153" y="2038"/>
                    </a:lnTo>
                    <a:lnTo>
                      <a:pt x="145" y="2039"/>
                    </a:lnTo>
                    <a:lnTo>
                      <a:pt x="136" y="2040"/>
                    </a:lnTo>
                    <a:lnTo>
                      <a:pt x="128" y="2041"/>
                    </a:lnTo>
                    <a:lnTo>
                      <a:pt x="120" y="2042"/>
                    </a:lnTo>
                    <a:lnTo>
                      <a:pt x="111" y="2043"/>
                    </a:lnTo>
                    <a:lnTo>
                      <a:pt x="103" y="2043"/>
                    </a:lnTo>
                    <a:lnTo>
                      <a:pt x="94" y="2044"/>
                    </a:lnTo>
                    <a:lnTo>
                      <a:pt x="86" y="2044"/>
                    </a:lnTo>
                    <a:lnTo>
                      <a:pt x="77" y="2045"/>
                    </a:lnTo>
                    <a:lnTo>
                      <a:pt x="69" y="2045"/>
                    </a:lnTo>
                    <a:lnTo>
                      <a:pt x="60" y="2046"/>
                    </a:lnTo>
                    <a:lnTo>
                      <a:pt x="52" y="2046"/>
                    </a:lnTo>
                    <a:lnTo>
                      <a:pt x="43" y="2046"/>
                    </a:lnTo>
                    <a:lnTo>
                      <a:pt x="35" y="2047"/>
                    </a:lnTo>
                    <a:lnTo>
                      <a:pt x="26" y="2047"/>
                    </a:lnTo>
                    <a:lnTo>
                      <a:pt x="18" y="2047"/>
                    </a:lnTo>
                    <a:lnTo>
                      <a:pt x="9" y="2047"/>
                    </a:lnTo>
                    <a:lnTo>
                      <a:pt x="0" y="2047"/>
                    </a:lnTo>
                    <a:close/>
                    <a:moveTo>
                      <a:pt x="1193" y="125"/>
                    </a:moveTo>
                    <a:lnTo>
                      <a:pt x="1444" y="0"/>
                    </a:lnTo>
                    <a:lnTo>
                      <a:pt x="1445" y="3"/>
                    </a:lnTo>
                    <a:lnTo>
                      <a:pt x="1446" y="6"/>
                    </a:lnTo>
                    <a:lnTo>
                      <a:pt x="1447" y="8"/>
                    </a:lnTo>
                    <a:lnTo>
                      <a:pt x="1449" y="11"/>
                    </a:lnTo>
                    <a:lnTo>
                      <a:pt x="1450" y="13"/>
                    </a:lnTo>
                    <a:lnTo>
                      <a:pt x="1451" y="16"/>
                    </a:lnTo>
                    <a:lnTo>
                      <a:pt x="1453" y="19"/>
                    </a:lnTo>
                    <a:lnTo>
                      <a:pt x="1454" y="21"/>
                    </a:lnTo>
                    <a:lnTo>
                      <a:pt x="1455" y="24"/>
                    </a:lnTo>
                    <a:lnTo>
                      <a:pt x="1456" y="26"/>
                    </a:lnTo>
                    <a:lnTo>
                      <a:pt x="1458" y="29"/>
                    </a:lnTo>
                    <a:lnTo>
                      <a:pt x="1459" y="32"/>
                    </a:lnTo>
                    <a:lnTo>
                      <a:pt x="1460" y="34"/>
                    </a:lnTo>
                    <a:lnTo>
                      <a:pt x="1461" y="37"/>
                    </a:lnTo>
                    <a:lnTo>
                      <a:pt x="1462" y="40"/>
                    </a:lnTo>
                    <a:lnTo>
                      <a:pt x="1464" y="42"/>
                    </a:lnTo>
                    <a:lnTo>
                      <a:pt x="1465" y="45"/>
                    </a:lnTo>
                    <a:lnTo>
                      <a:pt x="1466" y="48"/>
                    </a:lnTo>
                    <a:lnTo>
                      <a:pt x="1467" y="50"/>
                    </a:lnTo>
                    <a:lnTo>
                      <a:pt x="1468" y="53"/>
                    </a:lnTo>
                    <a:lnTo>
                      <a:pt x="1470" y="55"/>
                    </a:lnTo>
                    <a:lnTo>
                      <a:pt x="1471" y="58"/>
                    </a:lnTo>
                    <a:lnTo>
                      <a:pt x="1472" y="61"/>
                    </a:lnTo>
                    <a:lnTo>
                      <a:pt x="1473" y="63"/>
                    </a:lnTo>
                    <a:lnTo>
                      <a:pt x="1474" y="66"/>
                    </a:lnTo>
                    <a:lnTo>
                      <a:pt x="1476" y="69"/>
                    </a:lnTo>
                    <a:lnTo>
                      <a:pt x="1477" y="71"/>
                    </a:lnTo>
                    <a:lnTo>
                      <a:pt x="1478" y="74"/>
                    </a:lnTo>
                    <a:lnTo>
                      <a:pt x="1479" y="77"/>
                    </a:lnTo>
                    <a:lnTo>
                      <a:pt x="1480" y="79"/>
                    </a:lnTo>
                    <a:lnTo>
                      <a:pt x="1481" y="82"/>
                    </a:lnTo>
                    <a:lnTo>
                      <a:pt x="1483" y="85"/>
                    </a:lnTo>
                    <a:lnTo>
                      <a:pt x="1484" y="87"/>
                    </a:lnTo>
                    <a:lnTo>
                      <a:pt x="1485" y="90"/>
                    </a:lnTo>
                    <a:lnTo>
                      <a:pt x="1486" y="93"/>
                    </a:lnTo>
                    <a:lnTo>
                      <a:pt x="1487" y="95"/>
                    </a:lnTo>
                    <a:lnTo>
                      <a:pt x="1488" y="98"/>
                    </a:lnTo>
                    <a:lnTo>
                      <a:pt x="1489" y="101"/>
                    </a:lnTo>
                    <a:lnTo>
                      <a:pt x="1490" y="103"/>
                    </a:lnTo>
                    <a:lnTo>
                      <a:pt x="1491" y="106"/>
                    </a:lnTo>
                    <a:lnTo>
                      <a:pt x="1492" y="109"/>
                    </a:lnTo>
                    <a:lnTo>
                      <a:pt x="1494" y="112"/>
                    </a:lnTo>
                    <a:lnTo>
                      <a:pt x="1495" y="114"/>
                    </a:lnTo>
                    <a:lnTo>
                      <a:pt x="1496" y="117"/>
                    </a:lnTo>
                    <a:lnTo>
                      <a:pt x="1497" y="120"/>
                    </a:lnTo>
                    <a:lnTo>
                      <a:pt x="1498" y="122"/>
                    </a:lnTo>
                    <a:lnTo>
                      <a:pt x="1499" y="125"/>
                    </a:lnTo>
                    <a:lnTo>
                      <a:pt x="1500" y="127"/>
                    </a:lnTo>
                    <a:lnTo>
                      <a:pt x="1501" y="130"/>
                    </a:lnTo>
                    <a:lnTo>
                      <a:pt x="1502" y="133"/>
                    </a:lnTo>
                    <a:lnTo>
                      <a:pt x="1503" y="136"/>
                    </a:lnTo>
                    <a:lnTo>
                      <a:pt x="1504" y="138"/>
                    </a:lnTo>
                    <a:lnTo>
                      <a:pt x="1505" y="141"/>
                    </a:lnTo>
                    <a:lnTo>
                      <a:pt x="1506" y="144"/>
                    </a:lnTo>
                    <a:lnTo>
                      <a:pt x="1507" y="147"/>
                    </a:lnTo>
                    <a:lnTo>
                      <a:pt x="1508" y="149"/>
                    </a:lnTo>
                    <a:lnTo>
                      <a:pt x="1509" y="152"/>
                    </a:lnTo>
                    <a:lnTo>
                      <a:pt x="1510" y="154"/>
                    </a:lnTo>
                    <a:lnTo>
                      <a:pt x="1511" y="158"/>
                    </a:lnTo>
                    <a:lnTo>
                      <a:pt x="1512" y="160"/>
                    </a:lnTo>
                    <a:lnTo>
                      <a:pt x="1513" y="163"/>
                    </a:lnTo>
                    <a:lnTo>
                      <a:pt x="1514" y="165"/>
                    </a:lnTo>
                    <a:lnTo>
                      <a:pt x="1515" y="168"/>
                    </a:lnTo>
                    <a:lnTo>
                      <a:pt x="1516" y="171"/>
                    </a:lnTo>
                    <a:lnTo>
                      <a:pt x="1517" y="174"/>
                    </a:lnTo>
                    <a:lnTo>
                      <a:pt x="1518" y="176"/>
                    </a:lnTo>
                    <a:lnTo>
                      <a:pt x="1519" y="179"/>
                    </a:lnTo>
                    <a:lnTo>
                      <a:pt x="1520" y="182"/>
                    </a:lnTo>
                    <a:lnTo>
                      <a:pt x="1521" y="185"/>
                    </a:lnTo>
                    <a:lnTo>
                      <a:pt x="1522" y="187"/>
                    </a:lnTo>
                    <a:lnTo>
                      <a:pt x="1523" y="190"/>
                    </a:lnTo>
                    <a:lnTo>
                      <a:pt x="1524" y="193"/>
                    </a:lnTo>
                    <a:lnTo>
                      <a:pt x="1525" y="196"/>
                    </a:lnTo>
                    <a:lnTo>
                      <a:pt x="1526" y="198"/>
                    </a:lnTo>
                    <a:lnTo>
                      <a:pt x="1527" y="201"/>
                    </a:lnTo>
                    <a:lnTo>
                      <a:pt x="1528" y="204"/>
                    </a:lnTo>
                    <a:lnTo>
                      <a:pt x="1529" y="207"/>
                    </a:lnTo>
                    <a:lnTo>
                      <a:pt x="1530" y="209"/>
                    </a:lnTo>
                    <a:lnTo>
                      <a:pt x="1531" y="212"/>
                    </a:lnTo>
                    <a:lnTo>
                      <a:pt x="1531" y="215"/>
                    </a:lnTo>
                    <a:lnTo>
                      <a:pt x="1532" y="217"/>
                    </a:lnTo>
                    <a:lnTo>
                      <a:pt x="1533" y="220"/>
                    </a:lnTo>
                    <a:lnTo>
                      <a:pt x="1534" y="223"/>
                    </a:lnTo>
                    <a:lnTo>
                      <a:pt x="1535" y="226"/>
                    </a:lnTo>
                    <a:lnTo>
                      <a:pt x="1536" y="228"/>
                    </a:lnTo>
                    <a:lnTo>
                      <a:pt x="1537" y="231"/>
                    </a:lnTo>
                    <a:lnTo>
                      <a:pt x="1538" y="234"/>
                    </a:lnTo>
                    <a:lnTo>
                      <a:pt x="1538" y="237"/>
                    </a:lnTo>
                    <a:lnTo>
                      <a:pt x="1539" y="240"/>
                    </a:lnTo>
                    <a:lnTo>
                      <a:pt x="1540" y="242"/>
                    </a:lnTo>
                    <a:lnTo>
                      <a:pt x="1541" y="245"/>
                    </a:lnTo>
                    <a:lnTo>
                      <a:pt x="1542" y="248"/>
                    </a:lnTo>
                    <a:lnTo>
                      <a:pt x="1543" y="251"/>
                    </a:lnTo>
                    <a:lnTo>
                      <a:pt x="1544" y="253"/>
                    </a:lnTo>
                    <a:lnTo>
                      <a:pt x="1544" y="256"/>
                    </a:lnTo>
                    <a:lnTo>
                      <a:pt x="1545" y="259"/>
                    </a:lnTo>
                    <a:lnTo>
                      <a:pt x="1546" y="262"/>
                    </a:lnTo>
                    <a:lnTo>
                      <a:pt x="1547" y="264"/>
                    </a:lnTo>
                    <a:lnTo>
                      <a:pt x="1548" y="267"/>
                    </a:lnTo>
                    <a:lnTo>
                      <a:pt x="1548" y="270"/>
                    </a:lnTo>
                    <a:lnTo>
                      <a:pt x="1549" y="273"/>
                    </a:lnTo>
                    <a:lnTo>
                      <a:pt x="1550" y="276"/>
                    </a:lnTo>
                    <a:lnTo>
                      <a:pt x="1551" y="278"/>
                    </a:lnTo>
                    <a:lnTo>
                      <a:pt x="1552" y="281"/>
                    </a:lnTo>
                    <a:lnTo>
                      <a:pt x="1552" y="284"/>
                    </a:lnTo>
                    <a:lnTo>
                      <a:pt x="1553" y="287"/>
                    </a:lnTo>
                    <a:lnTo>
                      <a:pt x="1554" y="290"/>
                    </a:lnTo>
                    <a:lnTo>
                      <a:pt x="1555" y="292"/>
                    </a:lnTo>
                    <a:lnTo>
                      <a:pt x="1555" y="295"/>
                    </a:lnTo>
                    <a:lnTo>
                      <a:pt x="1556" y="298"/>
                    </a:lnTo>
                    <a:lnTo>
                      <a:pt x="1557" y="301"/>
                    </a:lnTo>
                    <a:lnTo>
                      <a:pt x="1558" y="303"/>
                    </a:lnTo>
                    <a:lnTo>
                      <a:pt x="1558" y="306"/>
                    </a:lnTo>
                    <a:lnTo>
                      <a:pt x="1559" y="309"/>
                    </a:lnTo>
                    <a:lnTo>
                      <a:pt x="1560" y="312"/>
                    </a:lnTo>
                    <a:lnTo>
                      <a:pt x="1561" y="315"/>
                    </a:lnTo>
                    <a:lnTo>
                      <a:pt x="1561" y="317"/>
                    </a:lnTo>
                    <a:lnTo>
                      <a:pt x="1562" y="321"/>
                    </a:lnTo>
                    <a:lnTo>
                      <a:pt x="1563" y="323"/>
                    </a:lnTo>
                    <a:lnTo>
                      <a:pt x="1563" y="326"/>
                    </a:lnTo>
                    <a:lnTo>
                      <a:pt x="1564" y="329"/>
                    </a:lnTo>
                    <a:lnTo>
                      <a:pt x="1565" y="332"/>
                    </a:lnTo>
                    <a:lnTo>
                      <a:pt x="1565" y="334"/>
                    </a:lnTo>
                    <a:lnTo>
                      <a:pt x="1566" y="337"/>
                    </a:lnTo>
                    <a:lnTo>
                      <a:pt x="1567" y="340"/>
                    </a:lnTo>
                    <a:lnTo>
                      <a:pt x="1567" y="343"/>
                    </a:lnTo>
                    <a:lnTo>
                      <a:pt x="1568" y="346"/>
                    </a:lnTo>
                    <a:lnTo>
                      <a:pt x="1569" y="349"/>
                    </a:lnTo>
                    <a:lnTo>
                      <a:pt x="1569" y="351"/>
                    </a:lnTo>
                    <a:lnTo>
                      <a:pt x="1570" y="354"/>
                    </a:lnTo>
                    <a:lnTo>
                      <a:pt x="1571" y="357"/>
                    </a:lnTo>
                    <a:lnTo>
                      <a:pt x="1571" y="360"/>
                    </a:lnTo>
                    <a:lnTo>
                      <a:pt x="1572" y="363"/>
                    </a:lnTo>
                    <a:lnTo>
                      <a:pt x="1573" y="365"/>
                    </a:lnTo>
                    <a:lnTo>
                      <a:pt x="1573" y="368"/>
                    </a:lnTo>
                    <a:lnTo>
                      <a:pt x="1574" y="371"/>
                    </a:lnTo>
                    <a:lnTo>
                      <a:pt x="1575" y="374"/>
                    </a:lnTo>
                    <a:lnTo>
                      <a:pt x="1575" y="377"/>
                    </a:lnTo>
                    <a:lnTo>
                      <a:pt x="1576" y="380"/>
                    </a:lnTo>
                    <a:lnTo>
                      <a:pt x="1576" y="382"/>
                    </a:lnTo>
                    <a:lnTo>
                      <a:pt x="1577" y="385"/>
                    </a:lnTo>
                    <a:lnTo>
                      <a:pt x="1578" y="388"/>
                    </a:lnTo>
                    <a:lnTo>
                      <a:pt x="1578" y="391"/>
                    </a:lnTo>
                    <a:lnTo>
                      <a:pt x="1579" y="394"/>
                    </a:lnTo>
                    <a:lnTo>
                      <a:pt x="1579" y="396"/>
                    </a:lnTo>
                    <a:lnTo>
                      <a:pt x="1580" y="399"/>
                    </a:lnTo>
                    <a:lnTo>
                      <a:pt x="1580" y="402"/>
                    </a:lnTo>
                    <a:lnTo>
                      <a:pt x="1581" y="405"/>
                    </a:lnTo>
                    <a:lnTo>
                      <a:pt x="1582" y="408"/>
                    </a:lnTo>
                    <a:lnTo>
                      <a:pt x="1582" y="411"/>
                    </a:lnTo>
                    <a:lnTo>
                      <a:pt x="1583" y="414"/>
                    </a:lnTo>
                    <a:lnTo>
                      <a:pt x="1583" y="416"/>
                    </a:lnTo>
                    <a:lnTo>
                      <a:pt x="1584" y="419"/>
                    </a:lnTo>
                    <a:lnTo>
                      <a:pt x="1584" y="422"/>
                    </a:lnTo>
                    <a:lnTo>
                      <a:pt x="1585" y="425"/>
                    </a:lnTo>
                    <a:lnTo>
                      <a:pt x="1585" y="428"/>
                    </a:lnTo>
                    <a:lnTo>
                      <a:pt x="1586" y="430"/>
                    </a:lnTo>
                    <a:lnTo>
                      <a:pt x="1586" y="433"/>
                    </a:lnTo>
                    <a:lnTo>
                      <a:pt x="1587" y="436"/>
                    </a:lnTo>
                    <a:lnTo>
                      <a:pt x="1587" y="439"/>
                    </a:lnTo>
                    <a:lnTo>
                      <a:pt x="1588" y="442"/>
                    </a:lnTo>
                    <a:lnTo>
                      <a:pt x="1588" y="445"/>
                    </a:lnTo>
                    <a:lnTo>
                      <a:pt x="1589" y="448"/>
                    </a:lnTo>
                    <a:lnTo>
                      <a:pt x="1589" y="450"/>
                    </a:lnTo>
                    <a:lnTo>
                      <a:pt x="1590" y="453"/>
                    </a:lnTo>
                    <a:lnTo>
                      <a:pt x="1590" y="456"/>
                    </a:lnTo>
                    <a:lnTo>
                      <a:pt x="1591" y="459"/>
                    </a:lnTo>
                    <a:lnTo>
                      <a:pt x="1591" y="462"/>
                    </a:lnTo>
                    <a:lnTo>
                      <a:pt x="1592" y="465"/>
                    </a:lnTo>
                    <a:lnTo>
                      <a:pt x="1592" y="467"/>
                    </a:lnTo>
                    <a:lnTo>
                      <a:pt x="1593" y="470"/>
                    </a:lnTo>
                    <a:lnTo>
                      <a:pt x="1593" y="473"/>
                    </a:lnTo>
                    <a:lnTo>
                      <a:pt x="1593" y="476"/>
                    </a:lnTo>
                    <a:lnTo>
                      <a:pt x="1594" y="479"/>
                    </a:lnTo>
                    <a:lnTo>
                      <a:pt x="1594" y="482"/>
                    </a:lnTo>
                    <a:lnTo>
                      <a:pt x="1595" y="485"/>
                    </a:lnTo>
                    <a:lnTo>
                      <a:pt x="1595" y="488"/>
                    </a:lnTo>
                    <a:lnTo>
                      <a:pt x="1595" y="488"/>
                    </a:lnTo>
                    <a:lnTo>
                      <a:pt x="1318" y="528"/>
                    </a:lnTo>
                    <a:lnTo>
                      <a:pt x="1318" y="527"/>
                    </a:lnTo>
                    <a:lnTo>
                      <a:pt x="1318" y="525"/>
                    </a:lnTo>
                    <a:lnTo>
                      <a:pt x="1317" y="523"/>
                    </a:lnTo>
                    <a:lnTo>
                      <a:pt x="1317" y="520"/>
                    </a:lnTo>
                    <a:lnTo>
                      <a:pt x="1317" y="518"/>
                    </a:lnTo>
                    <a:lnTo>
                      <a:pt x="1316" y="515"/>
                    </a:lnTo>
                    <a:lnTo>
                      <a:pt x="1316" y="513"/>
                    </a:lnTo>
                    <a:lnTo>
                      <a:pt x="1315" y="511"/>
                    </a:lnTo>
                    <a:lnTo>
                      <a:pt x="1315" y="508"/>
                    </a:lnTo>
                    <a:lnTo>
                      <a:pt x="1315" y="506"/>
                    </a:lnTo>
                    <a:lnTo>
                      <a:pt x="1314" y="504"/>
                    </a:lnTo>
                    <a:lnTo>
                      <a:pt x="1314" y="501"/>
                    </a:lnTo>
                    <a:lnTo>
                      <a:pt x="1314" y="499"/>
                    </a:lnTo>
                    <a:lnTo>
                      <a:pt x="1313" y="497"/>
                    </a:lnTo>
                    <a:lnTo>
                      <a:pt x="1313" y="494"/>
                    </a:lnTo>
                    <a:lnTo>
                      <a:pt x="1312" y="492"/>
                    </a:lnTo>
                    <a:lnTo>
                      <a:pt x="1312" y="490"/>
                    </a:lnTo>
                    <a:lnTo>
                      <a:pt x="1312" y="487"/>
                    </a:lnTo>
                    <a:lnTo>
                      <a:pt x="1311" y="485"/>
                    </a:lnTo>
                    <a:lnTo>
                      <a:pt x="1311" y="483"/>
                    </a:lnTo>
                    <a:lnTo>
                      <a:pt x="1310" y="480"/>
                    </a:lnTo>
                    <a:lnTo>
                      <a:pt x="1310" y="478"/>
                    </a:lnTo>
                    <a:lnTo>
                      <a:pt x="1309" y="476"/>
                    </a:lnTo>
                    <a:lnTo>
                      <a:pt x="1309" y="473"/>
                    </a:lnTo>
                    <a:lnTo>
                      <a:pt x="1309" y="471"/>
                    </a:lnTo>
                    <a:lnTo>
                      <a:pt x="1308" y="468"/>
                    </a:lnTo>
                    <a:lnTo>
                      <a:pt x="1308" y="466"/>
                    </a:lnTo>
                    <a:lnTo>
                      <a:pt x="1307" y="464"/>
                    </a:lnTo>
                    <a:lnTo>
                      <a:pt x="1307" y="461"/>
                    </a:lnTo>
                    <a:lnTo>
                      <a:pt x="1306" y="459"/>
                    </a:lnTo>
                    <a:lnTo>
                      <a:pt x="1306" y="457"/>
                    </a:lnTo>
                    <a:lnTo>
                      <a:pt x="1305" y="454"/>
                    </a:lnTo>
                    <a:lnTo>
                      <a:pt x="1305" y="452"/>
                    </a:lnTo>
                    <a:lnTo>
                      <a:pt x="1304" y="450"/>
                    </a:lnTo>
                    <a:lnTo>
                      <a:pt x="1304" y="447"/>
                    </a:lnTo>
                    <a:lnTo>
                      <a:pt x="1303" y="445"/>
                    </a:lnTo>
                    <a:lnTo>
                      <a:pt x="1303" y="443"/>
                    </a:lnTo>
                    <a:lnTo>
                      <a:pt x="1302" y="440"/>
                    </a:lnTo>
                    <a:lnTo>
                      <a:pt x="1302" y="438"/>
                    </a:lnTo>
                    <a:lnTo>
                      <a:pt x="1301" y="436"/>
                    </a:lnTo>
                    <a:lnTo>
                      <a:pt x="1301" y="434"/>
                    </a:lnTo>
                    <a:lnTo>
                      <a:pt x="1300" y="431"/>
                    </a:lnTo>
                    <a:lnTo>
                      <a:pt x="1300" y="429"/>
                    </a:lnTo>
                    <a:lnTo>
                      <a:pt x="1299" y="426"/>
                    </a:lnTo>
                    <a:lnTo>
                      <a:pt x="1299" y="424"/>
                    </a:lnTo>
                    <a:lnTo>
                      <a:pt x="1298" y="422"/>
                    </a:lnTo>
                    <a:lnTo>
                      <a:pt x="1298" y="419"/>
                    </a:lnTo>
                    <a:lnTo>
                      <a:pt x="1297" y="417"/>
                    </a:lnTo>
                    <a:lnTo>
                      <a:pt x="1297" y="415"/>
                    </a:lnTo>
                    <a:lnTo>
                      <a:pt x="1296" y="412"/>
                    </a:lnTo>
                    <a:lnTo>
                      <a:pt x="1296" y="410"/>
                    </a:lnTo>
                    <a:lnTo>
                      <a:pt x="1295" y="408"/>
                    </a:lnTo>
                    <a:lnTo>
                      <a:pt x="1295" y="405"/>
                    </a:lnTo>
                    <a:lnTo>
                      <a:pt x="1294" y="403"/>
                    </a:lnTo>
                    <a:lnTo>
                      <a:pt x="1294" y="401"/>
                    </a:lnTo>
                    <a:lnTo>
                      <a:pt x="1293" y="398"/>
                    </a:lnTo>
                    <a:lnTo>
                      <a:pt x="1292" y="396"/>
                    </a:lnTo>
                    <a:lnTo>
                      <a:pt x="1292" y="394"/>
                    </a:lnTo>
                    <a:lnTo>
                      <a:pt x="1291" y="391"/>
                    </a:lnTo>
                    <a:lnTo>
                      <a:pt x="1291" y="389"/>
                    </a:lnTo>
                    <a:lnTo>
                      <a:pt x="1290" y="387"/>
                    </a:lnTo>
                    <a:lnTo>
                      <a:pt x="1289" y="385"/>
                    </a:lnTo>
                    <a:lnTo>
                      <a:pt x="1289" y="382"/>
                    </a:lnTo>
                    <a:lnTo>
                      <a:pt x="1288" y="380"/>
                    </a:lnTo>
                    <a:lnTo>
                      <a:pt x="1288" y="378"/>
                    </a:lnTo>
                    <a:lnTo>
                      <a:pt x="1287" y="375"/>
                    </a:lnTo>
                    <a:lnTo>
                      <a:pt x="1286" y="373"/>
                    </a:lnTo>
                    <a:lnTo>
                      <a:pt x="1286" y="371"/>
                    </a:lnTo>
                    <a:lnTo>
                      <a:pt x="1285" y="368"/>
                    </a:lnTo>
                    <a:lnTo>
                      <a:pt x="1285" y="366"/>
                    </a:lnTo>
                    <a:lnTo>
                      <a:pt x="1284" y="364"/>
                    </a:lnTo>
                    <a:lnTo>
                      <a:pt x="1283" y="361"/>
                    </a:lnTo>
                    <a:lnTo>
                      <a:pt x="1283" y="359"/>
                    </a:lnTo>
                    <a:lnTo>
                      <a:pt x="1282" y="357"/>
                    </a:lnTo>
                    <a:lnTo>
                      <a:pt x="1281" y="355"/>
                    </a:lnTo>
                    <a:lnTo>
                      <a:pt x="1281" y="352"/>
                    </a:lnTo>
                    <a:lnTo>
                      <a:pt x="1280" y="350"/>
                    </a:lnTo>
                    <a:lnTo>
                      <a:pt x="1279" y="348"/>
                    </a:lnTo>
                    <a:lnTo>
                      <a:pt x="1279" y="345"/>
                    </a:lnTo>
                    <a:lnTo>
                      <a:pt x="1278" y="343"/>
                    </a:lnTo>
                    <a:lnTo>
                      <a:pt x="1277" y="341"/>
                    </a:lnTo>
                    <a:lnTo>
                      <a:pt x="1277" y="338"/>
                    </a:lnTo>
                    <a:lnTo>
                      <a:pt x="1276" y="336"/>
                    </a:lnTo>
                    <a:lnTo>
                      <a:pt x="1275" y="334"/>
                    </a:lnTo>
                    <a:lnTo>
                      <a:pt x="1275" y="332"/>
                    </a:lnTo>
                    <a:lnTo>
                      <a:pt x="1274" y="329"/>
                    </a:lnTo>
                    <a:lnTo>
                      <a:pt x="1273" y="327"/>
                    </a:lnTo>
                    <a:lnTo>
                      <a:pt x="1273" y="325"/>
                    </a:lnTo>
                    <a:lnTo>
                      <a:pt x="1272" y="322"/>
                    </a:lnTo>
                    <a:lnTo>
                      <a:pt x="1271" y="320"/>
                    </a:lnTo>
                    <a:lnTo>
                      <a:pt x="1270" y="318"/>
                    </a:lnTo>
                    <a:lnTo>
                      <a:pt x="1270" y="316"/>
                    </a:lnTo>
                    <a:lnTo>
                      <a:pt x="1269" y="313"/>
                    </a:lnTo>
                    <a:lnTo>
                      <a:pt x="1268" y="311"/>
                    </a:lnTo>
                    <a:lnTo>
                      <a:pt x="1268" y="309"/>
                    </a:lnTo>
                    <a:lnTo>
                      <a:pt x="1267" y="307"/>
                    </a:lnTo>
                    <a:lnTo>
                      <a:pt x="1266" y="304"/>
                    </a:lnTo>
                    <a:lnTo>
                      <a:pt x="1265" y="302"/>
                    </a:lnTo>
                    <a:lnTo>
                      <a:pt x="1265" y="300"/>
                    </a:lnTo>
                    <a:lnTo>
                      <a:pt x="1264" y="297"/>
                    </a:lnTo>
                    <a:lnTo>
                      <a:pt x="1263" y="295"/>
                    </a:lnTo>
                    <a:lnTo>
                      <a:pt x="1262" y="293"/>
                    </a:lnTo>
                    <a:lnTo>
                      <a:pt x="1262" y="291"/>
                    </a:lnTo>
                    <a:lnTo>
                      <a:pt x="1261" y="288"/>
                    </a:lnTo>
                    <a:lnTo>
                      <a:pt x="1260" y="286"/>
                    </a:lnTo>
                    <a:lnTo>
                      <a:pt x="1259" y="284"/>
                    </a:lnTo>
                    <a:lnTo>
                      <a:pt x="1258" y="282"/>
                    </a:lnTo>
                    <a:lnTo>
                      <a:pt x="1258" y="279"/>
                    </a:lnTo>
                    <a:lnTo>
                      <a:pt x="1257" y="277"/>
                    </a:lnTo>
                    <a:lnTo>
                      <a:pt x="1256" y="275"/>
                    </a:lnTo>
                    <a:lnTo>
                      <a:pt x="1255" y="272"/>
                    </a:lnTo>
                    <a:lnTo>
                      <a:pt x="1254" y="270"/>
                    </a:lnTo>
                    <a:lnTo>
                      <a:pt x="1254" y="268"/>
                    </a:lnTo>
                    <a:lnTo>
                      <a:pt x="1253" y="266"/>
                    </a:lnTo>
                    <a:lnTo>
                      <a:pt x="1252" y="263"/>
                    </a:lnTo>
                    <a:lnTo>
                      <a:pt x="1251" y="261"/>
                    </a:lnTo>
                    <a:lnTo>
                      <a:pt x="1250" y="259"/>
                    </a:lnTo>
                    <a:lnTo>
                      <a:pt x="1250" y="257"/>
                    </a:lnTo>
                    <a:lnTo>
                      <a:pt x="1249" y="254"/>
                    </a:lnTo>
                    <a:lnTo>
                      <a:pt x="1248" y="252"/>
                    </a:lnTo>
                    <a:lnTo>
                      <a:pt x="1247" y="250"/>
                    </a:lnTo>
                    <a:lnTo>
                      <a:pt x="1246" y="248"/>
                    </a:lnTo>
                    <a:lnTo>
                      <a:pt x="1245" y="245"/>
                    </a:lnTo>
                    <a:lnTo>
                      <a:pt x="1245" y="243"/>
                    </a:lnTo>
                    <a:lnTo>
                      <a:pt x="1244" y="241"/>
                    </a:lnTo>
                    <a:lnTo>
                      <a:pt x="1243" y="239"/>
                    </a:lnTo>
                    <a:lnTo>
                      <a:pt x="1242" y="236"/>
                    </a:lnTo>
                    <a:lnTo>
                      <a:pt x="1241" y="234"/>
                    </a:lnTo>
                    <a:lnTo>
                      <a:pt x="1240" y="232"/>
                    </a:lnTo>
                    <a:lnTo>
                      <a:pt x="1239" y="230"/>
                    </a:lnTo>
                    <a:lnTo>
                      <a:pt x="1238" y="228"/>
                    </a:lnTo>
                    <a:lnTo>
                      <a:pt x="1238" y="225"/>
                    </a:lnTo>
                    <a:lnTo>
                      <a:pt x="1237" y="223"/>
                    </a:lnTo>
                    <a:lnTo>
                      <a:pt x="1236" y="221"/>
                    </a:lnTo>
                    <a:lnTo>
                      <a:pt x="1235" y="219"/>
                    </a:lnTo>
                    <a:lnTo>
                      <a:pt x="1234" y="216"/>
                    </a:lnTo>
                    <a:lnTo>
                      <a:pt x="1233" y="214"/>
                    </a:lnTo>
                    <a:lnTo>
                      <a:pt x="1232" y="212"/>
                    </a:lnTo>
                    <a:lnTo>
                      <a:pt x="1231" y="210"/>
                    </a:lnTo>
                    <a:lnTo>
                      <a:pt x="1230" y="208"/>
                    </a:lnTo>
                    <a:lnTo>
                      <a:pt x="1229" y="205"/>
                    </a:lnTo>
                    <a:lnTo>
                      <a:pt x="1229" y="203"/>
                    </a:lnTo>
                    <a:lnTo>
                      <a:pt x="1228" y="201"/>
                    </a:lnTo>
                    <a:lnTo>
                      <a:pt x="1227" y="199"/>
                    </a:lnTo>
                    <a:lnTo>
                      <a:pt x="1226" y="197"/>
                    </a:lnTo>
                    <a:lnTo>
                      <a:pt x="1225" y="194"/>
                    </a:lnTo>
                    <a:lnTo>
                      <a:pt x="1224" y="192"/>
                    </a:lnTo>
                    <a:lnTo>
                      <a:pt x="1223" y="190"/>
                    </a:lnTo>
                    <a:lnTo>
                      <a:pt x="1222" y="188"/>
                    </a:lnTo>
                    <a:lnTo>
                      <a:pt x="1221" y="186"/>
                    </a:lnTo>
                    <a:lnTo>
                      <a:pt x="1220" y="183"/>
                    </a:lnTo>
                    <a:lnTo>
                      <a:pt x="1219" y="181"/>
                    </a:lnTo>
                    <a:lnTo>
                      <a:pt x="1218" y="179"/>
                    </a:lnTo>
                    <a:lnTo>
                      <a:pt x="1217" y="177"/>
                    </a:lnTo>
                    <a:lnTo>
                      <a:pt x="1216" y="175"/>
                    </a:lnTo>
                    <a:lnTo>
                      <a:pt x="1215" y="172"/>
                    </a:lnTo>
                    <a:lnTo>
                      <a:pt x="1214" y="170"/>
                    </a:lnTo>
                    <a:lnTo>
                      <a:pt x="1213" y="168"/>
                    </a:lnTo>
                    <a:lnTo>
                      <a:pt x="1212" y="166"/>
                    </a:lnTo>
                    <a:lnTo>
                      <a:pt x="1211" y="164"/>
                    </a:lnTo>
                    <a:lnTo>
                      <a:pt x="1210" y="161"/>
                    </a:lnTo>
                    <a:lnTo>
                      <a:pt x="1209" y="159"/>
                    </a:lnTo>
                    <a:lnTo>
                      <a:pt x="1208" y="157"/>
                    </a:lnTo>
                    <a:lnTo>
                      <a:pt x="1207" y="155"/>
                    </a:lnTo>
                    <a:lnTo>
                      <a:pt x="1206" y="153"/>
                    </a:lnTo>
                    <a:lnTo>
                      <a:pt x="1205" y="151"/>
                    </a:lnTo>
                    <a:lnTo>
                      <a:pt x="1204" y="148"/>
                    </a:lnTo>
                    <a:lnTo>
                      <a:pt x="1203" y="146"/>
                    </a:lnTo>
                    <a:lnTo>
                      <a:pt x="1202" y="144"/>
                    </a:lnTo>
                    <a:lnTo>
                      <a:pt x="1201" y="142"/>
                    </a:lnTo>
                    <a:lnTo>
                      <a:pt x="1200" y="140"/>
                    </a:lnTo>
                    <a:lnTo>
                      <a:pt x="1199" y="138"/>
                    </a:lnTo>
                    <a:lnTo>
                      <a:pt x="1198" y="135"/>
                    </a:lnTo>
                    <a:lnTo>
                      <a:pt x="1197" y="133"/>
                    </a:lnTo>
                    <a:lnTo>
                      <a:pt x="1196" y="131"/>
                    </a:lnTo>
                    <a:lnTo>
                      <a:pt x="1195" y="129"/>
                    </a:lnTo>
                    <a:lnTo>
                      <a:pt x="1194" y="127"/>
                    </a:lnTo>
                    <a:lnTo>
                      <a:pt x="1193" y="125"/>
                    </a:lnTo>
                    <a:close/>
                    <a:moveTo>
                      <a:pt x="1330" y="780"/>
                    </a:moveTo>
                    <a:lnTo>
                      <a:pt x="1609" y="794"/>
                    </a:lnTo>
                    <a:lnTo>
                      <a:pt x="1609" y="799"/>
                    </a:lnTo>
                    <a:lnTo>
                      <a:pt x="1609" y="809"/>
                    </a:lnTo>
                    <a:lnTo>
                      <a:pt x="1608" y="819"/>
                    </a:lnTo>
                    <a:lnTo>
                      <a:pt x="1607" y="830"/>
                    </a:lnTo>
                    <a:lnTo>
                      <a:pt x="1607" y="840"/>
                    </a:lnTo>
                    <a:lnTo>
                      <a:pt x="1606" y="850"/>
                    </a:lnTo>
                    <a:lnTo>
                      <a:pt x="1605" y="860"/>
                    </a:lnTo>
                    <a:lnTo>
                      <a:pt x="1604" y="870"/>
                    </a:lnTo>
                    <a:lnTo>
                      <a:pt x="1603" y="881"/>
                    </a:lnTo>
                    <a:lnTo>
                      <a:pt x="1602" y="891"/>
                    </a:lnTo>
                    <a:lnTo>
                      <a:pt x="1601" y="901"/>
                    </a:lnTo>
                    <a:lnTo>
                      <a:pt x="1600" y="911"/>
                    </a:lnTo>
                    <a:lnTo>
                      <a:pt x="1598" y="921"/>
                    </a:lnTo>
                    <a:lnTo>
                      <a:pt x="1597" y="931"/>
                    </a:lnTo>
                    <a:lnTo>
                      <a:pt x="1596" y="941"/>
                    </a:lnTo>
                    <a:lnTo>
                      <a:pt x="1594" y="951"/>
                    </a:lnTo>
                    <a:lnTo>
                      <a:pt x="1593" y="961"/>
                    </a:lnTo>
                    <a:lnTo>
                      <a:pt x="1591" y="971"/>
                    </a:lnTo>
                    <a:lnTo>
                      <a:pt x="1590" y="981"/>
                    </a:lnTo>
                    <a:lnTo>
                      <a:pt x="1588" y="991"/>
                    </a:lnTo>
                    <a:lnTo>
                      <a:pt x="1586" y="1001"/>
                    </a:lnTo>
                    <a:lnTo>
                      <a:pt x="1584" y="1011"/>
                    </a:lnTo>
                    <a:lnTo>
                      <a:pt x="1583" y="1021"/>
                    </a:lnTo>
                    <a:lnTo>
                      <a:pt x="1581" y="1031"/>
                    </a:lnTo>
                    <a:lnTo>
                      <a:pt x="1579" y="1041"/>
                    </a:lnTo>
                    <a:lnTo>
                      <a:pt x="1577" y="1050"/>
                    </a:lnTo>
                    <a:lnTo>
                      <a:pt x="1574" y="1060"/>
                    </a:lnTo>
                    <a:lnTo>
                      <a:pt x="1572" y="1070"/>
                    </a:lnTo>
                    <a:lnTo>
                      <a:pt x="1570" y="1080"/>
                    </a:lnTo>
                    <a:lnTo>
                      <a:pt x="1568" y="1090"/>
                    </a:lnTo>
                    <a:lnTo>
                      <a:pt x="1565" y="1099"/>
                    </a:lnTo>
                    <a:lnTo>
                      <a:pt x="1563" y="1109"/>
                    </a:lnTo>
                    <a:lnTo>
                      <a:pt x="1561" y="1119"/>
                    </a:lnTo>
                    <a:lnTo>
                      <a:pt x="1558" y="1128"/>
                    </a:lnTo>
                    <a:lnTo>
                      <a:pt x="1556" y="1138"/>
                    </a:lnTo>
                    <a:lnTo>
                      <a:pt x="1553" y="1148"/>
                    </a:lnTo>
                    <a:lnTo>
                      <a:pt x="1550" y="1157"/>
                    </a:lnTo>
                    <a:lnTo>
                      <a:pt x="1547" y="1167"/>
                    </a:lnTo>
                    <a:lnTo>
                      <a:pt x="1545" y="1176"/>
                    </a:lnTo>
                    <a:lnTo>
                      <a:pt x="1542" y="1186"/>
                    </a:lnTo>
                    <a:lnTo>
                      <a:pt x="1539" y="1195"/>
                    </a:lnTo>
                    <a:lnTo>
                      <a:pt x="1536" y="1205"/>
                    </a:lnTo>
                    <a:lnTo>
                      <a:pt x="1533" y="1214"/>
                    </a:lnTo>
                    <a:lnTo>
                      <a:pt x="1530" y="1223"/>
                    </a:lnTo>
                    <a:lnTo>
                      <a:pt x="1527" y="1233"/>
                    </a:lnTo>
                    <a:lnTo>
                      <a:pt x="1523" y="1242"/>
                    </a:lnTo>
                    <a:lnTo>
                      <a:pt x="1520" y="1251"/>
                    </a:lnTo>
                    <a:lnTo>
                      <a:pt x="1517" y="1261"/>
                    </a:lnTo>
                    <a:lnTo>
                      <a:pt x="1514" y="1270"/>
                    </a:lnTo>
                    <a:lnTo>
                      <a:pt x="1510" y="1279"/>
                    </a:lnTo>
                    <a:lnTo>
                      <a:pt x="1507" y="1289"/>
                    </a:lnTo>
                    <a:lnTo>
                      <a:pt x="1503" y="1298"/>
                    </a:lnTo>
                    <a:lnTo>
                      <a:pt x="1500" y="1307"/>
                    </a:lnTo>
                    <a:lnTo>
                      <a:pt x="1496" y="1316"/>
                    </a:lnTo>
                    <a:lnTo>
                      <a:pt x="1492" y="1325"/>
                    </a:lnTo>
                    <a:lnTo>
                      <a:pt x="1488" y="1334"/>
                    </a:lnTo>
                    <a:lnTo>
                      <a:pt x="1485" y="1343"/>
                    </a:lnTo>
                    <a:lnTo>
                      <a:pt x="1481" y="1352"/>
                    </a:lnTo>
                    <a:lnTo>
                      <a:pt x="1477" y="1361"/>
                    </a:lnTo>
                    <a:lnTo>
                      <a:pt x="1473" y="1370"/>
                    </a:lnTo>
                    <a:lnTo>
                      <a:pt x="1469" y="1379"/>
                    </a:lnTo>
                    <a:lnTo>
                      <a:pt x="1466" y="1387"/>
                    </a:lnTo>
                    <a:lnTo>
                      <a:pt x="1211" y="1270"/>
                    </a:lnTo>
                    <a:lnTo>
                      <a:pt x="1214" y="1264"/>
                    </a:lnTo>
                    <a:lnTo>
                      <a:pt x="1217" y="1256"/>
                    </a:lnTo>
                    <a:lnTo>
                      <a:pt x="1220" y="1249"/>
                    </a:lnTo>
                    <a:lnTo>
                      <a:pt x="1224" y="1242"/>
                    </a:lnTo>
                    <a:lnTo>
                      <a:pt x="1227" y="1234"/>
                    </a:lnTo>
                    <a:lnTo>
                      <a:pt x="1230" y="1227"/>
                    </a:lnTo>
                    <a:lnTo>
                      <a:pt x="1233" y="1219"/>
                    </a:lnTo>
                    <a:lnTo>
                      <a:pt x="1236" y="1212"/>
                    </a:lnTo>
                    <a:lnTo>
                      <a:pt x="1239" y="1204"/>
                    </a:lnTo>
                    <a:lnTo>
                      <a:pt x="1242" y="1197"/>
                    </a:lnTo>
                    <a:lnTo>
                      <a:pt x="1245" y="1189"/>
                    </a:lnTo>
                    <a:lnTo>
                      <a:pt x="1248" y="1181"/>
                    </a:lnTo>
                    <a:lnTo>
                      <a:pt x="1251" y="1174"/>
                    </a:lnTo>
                    <a:lnTo>
                      <a:pt x="1253" y="1166"/>
                    </a:lnTo>
                    <a:lnTo>
                      <a:pt x="1256" y="1158"/>
                    </a:lnTo>
                    <a:lnTo>
                      <a:pt x="1259" y="1151"/>
                    </a:lnTo>
                    <a:lnTo>
                      <a:pt x="1261" y="1143"/>
                    </a:lnTo>
                    <a:lnTo>
                      <a:pt x="1264" y="1135"/>
                    </a:lnTo>
                    <a:lnTo>
                      <a:pt x="1267" y="1128"/>
                    </a:lnTo>
                    <a:lnTo>
                      <a:pt x="1269" y="1120"/>
                    </a:lnTo>
                    <a:lnTo>
                      <a:pt x="1272" y="1112"/>
                    </a:lnTo>
                    <a:lnTo>
                      <a:pt x="1274" y="1104"/>
                    </a:lnTo>
                    <a:lnTo>
                      <a:pt x="1276" y="1096"/>
                    </a:lnTo>
                    <a:lnTo>
                      <a:pt x="1279" y="1088"/>
                    </a:lnTo>
                    <a:lnTo>
                      <a:pt x="1281" y="1081"/>
                    </a:lnTo>
                    <a:lnTo>
                      <a:pt x="1283" y="1073"/>
                    </a:lnTo>
                    <a:lnTo>
                      <a:pt x="1285" y="1065"/>
                    </a:lnTo>
                    <a:lnTo>
                      <a:pt x="1287" y="1057"/>
                    </a:lnTo>
                    <a:lnTo>
                      <a:pt x="1289" y="1049"/>
                    </a:lnTo>
                    <a:lnTo>
                      <a:pt x="1292" y="1041"/>
                    </a:lnTo>
                    <a:lnTo>
                      <a:pt x="1293" y="1033"/>
                    </a:lnTo>
                    <a:lnTo>
                      <a:pt x="1295" y="1025"/>
                    </a:lnTo>
                    <a:lnTo>
                      <a:pt x="1297" y="1017"/>
                    </a:lnTo>
                    <a:lnTo>
                      <a:pt x="1299" y="1009"/>
                    </a:lnTo>
                    <a:lnTo>
                      <a:pt x="1301" y="1001"/>
                    </a:lnTo>
                    <a:lnTo>
                      <a:pt x="1303" y="993"/>
                    </a:lnTo>
                    <a:lnTo>
                      <a:pt x="1304" y="985"/>
                    </a:lnTo>
                    <a:lnTo>
                      <a:pt x="1306" y="976"/>
                    </a:lnTo>
                    <a:lnTo>
                      <a:pt x="1308" y="968"/>
                    </a:lnTo>
                    <a:lnTo>
                      <a:pt x="1309" y="960"/>
                    </a:lnTo>
                    <a:lnTo>
                      <a:pt x="1311" y="952"/>
                    </a:lnTo>
                    <a:lnTo>
                      <a:pt x="1312" y="944"/>
                    </a:lnTo>
                    <a:lnTo>
                      <a:pt x="1313" y="935"/>
                    </a:lnTo>
                    <a:lnTo>
                      <a:pt x="1315" y="927"/>
                    </a:lnTo>
                    <a:lnTo>
                      <a:pt x="1316" y="919"/>
                    </a:lnTo>
                    <a:lnTo>
                      <a:pt x="1317" y="911"/>
                    </a:lnTo>
                    <a:lnTo>
                      <a:pt x="1318" y="902"/>
                    </a:lnTo>
                    <a:lnTo>
                      <a:pt x="1320" y="894"/>
                    </a:lnTo>
                    <a:lnTo>
                      <a:pt x="1321" y="886"/>
                    </a:lnTo>
                    <a:lnTo>
                      <a:pt x="1322" y="877"/>
                    </a:lnTo>
                    <a:lnTo>
                      <a:pt x="1323" y="869"/>
                    </a:lnTo>
                    <a:lnTo>
                      <a:pt x="1324" y="861"/>
                    </a:lnTo>
                    <a:lnTo>
                      <a:pt x="1325" y="852"/>
                    </a:lnTo>
                    <a:lnTo>
                      <a:pt x="1325" y="844"/>
                    </a:lnTo>
                    <a:lnTo>
                      <a:pt x="1326" y="836"/>
                    </a:lnTo>
                    <a:lnTo>
                      <a:pt x="1327" y="827"/>
                    </a:lnTo>
                    <a:lnTo>
                      <a:pt x="1327" y="819"/>
                    </a:lnTo>
                    <a:lnTo>
                      <a:pt x="1328" y="810"/>
                    </a:lnTo>
                    <a:lnTo>
                      <a:pt x="1329" y="802"/>
                    </a:lnTo>
                    <a:lnTo>
                      <a:pt x="1329" y="793"/>
                    </a:lnTo>
                    <a:lnTo>
                      <a:pt x="1330" y="785"/>
                    </a:lnTo>
                    <a:lnTo>
                      <a:pt x="1330" y="780"/>
                    </a:lnTo>
                    <a:close/>
                    <a:moveTo>
                      <a:pt x="1085" y="1488"/>
                    </a:moveTo>
                    <a:lnTo>
                      <a:pt x="1312" y="1652"/>
                    </a:lnTo>
                    <a:lnTo>
                      <a:pt x="1308" y="1657"/>
                    </a:lnTo>
                    <a:lnTo>
                      <a:pt x="1303" y="1665"/>
                    </a:lnTo>
                    <a:lnTo>
                      <a:pt x="1297" y="1672"/>
                    </a:lnTo>
                    <a:lnTo>
                      <a:pt x="1291" y="1680"/>
                    </a:lnTo>
                    <a:lnTo>
                      <a:pt x="1285" y="1688"/>
                    </a:lnTo>
                    <a:lnTo>
                      <a:pt x="1280" y="1696"/>
                    </a:lnTo>
                    <a:lnTo>
                      <a:pt x="1274" y="1703"/>
                    </a:lnTo>
                    <a:lnTo>
                      <a:pt x="1268" y="1711"/>
                    </a:lnTo>
                    <a:lnTo>
                      <a:pt x="1262" y="1718"/>
                    </a:lnTo>
                    <a:lnTo>
                      <a:pt x="1256" y="1726"/>
                    </a:lnTo>
                    <a:lnTo>
                      <a:pt x="1250" y="1733"/>
                    </a:lnTo>
                    <a:lnTo>
                      <a:pt x="1243" y="1741"/>
                    </a:lnTo>
                    <a:lnTo>
                      <a:pt x="1237" y="1748"/>
                    </a:lnTo>
                    <a:lnTo>
                      <a:pt x="1231" y="1756"/>
                    </a:lnTo>
                    <a:lnTo>
                      <a:pt x="1225" y="1763"/>
                    </a:lnTo>
                    <a:lnTo>
                      <a:pt x="1218" y="1770"/>
                    </a:lnTo>
                    <a:lnTo>
                      <a:pt x="1212" y="1778"/>
                    </a:lnTo>
                    <a:lnTo>
                      <a:pt x="1206" y="1785"/>
                    </a:lnTo>
                    <a:lnTo>
                      <a:pt x="1199" y="1792"/>
                    </a:lnTo>
                    <a:lnTo>
                      <a:pt x="1193" y="1799"/>
                    </a:lnTo>
                    <a:lnTo>
                      <a:pt x="1186" y="1807"/>
                    </a:lnTo>
                    <a:lnTo>
                      <a:pt x="1180" y="1814"/>
                    </a:lnTo>
                    <a:lnTo>
                      <a:pt x="1173" y="1821"/>
                    </a:lnTo>
                    <a:lnTo>
                      <a:pt x="1166" y="1828"/>
                    </a:lnTo>
                    <a:lnTo>
                      <a:pt x="1160" y="1835"/>
                    </a:lnTo>
                    <a:lnTo>
                      <a:pt x="1153" y="1842"/>
                    </a:lnTo>
                    <a:lnTo>
                      <a:pt x="1146" y="1848"/>
                    </a:lnTo>
                    <a:lnTo>
                      <a:pt x="1139" y="1855"/>
                    </a:lnTo>
                    <a:lnTo>
                      <a:pt x="1133" y="1862"/>
                    </a:lnTo>
                    <a:lnTo>
                      <a:pt x="1126" y="1869"/>
                    </a:lnTo>
                    <a:lnTo>
                      <a:pt x="1119" y="1876"/>
                    </a:lnTo>
                    <a:lnTo>
                      <a:pt x="1112" y="1882"/>
                    </a:lnTo>
                    <a:lnTo>
                      <a:pt x="1105" y="1889"/>
                    </a:lnTo>
                    <a:lnTo>
                      <a:pt x="1098" y="1895"/>
                    </a:lnTo>
                    <a:lnTo>
                      <a:pt x="1091" y="1902"/>
                    </a:lnTo>
                    <a:lnTo>
                      <a:pt x="1084" y="1909"/>
                    </a:lnTo>
                    <a:lnTo>
                      <a:pt x="1076" y="1915"/>
                    </a:lnTo>
                    <a:lnTo>
                      <a:pt x="1069" y="1921"/>
                    </a:lnTo>
                    <a:lnTo>
                      <a:pt x="1062" y="1928"/>
                    </a:lnTo>
                    <a:lnTo>
                      <a:pt x="1055" y="1934"/>
                    </a:lnTo>
                    <a:lnTo>
                      <a:pt x="1047" y="1941"/>
                    </a:lnTo>
                    <a:lnTo>
                      <a:pt x="1040" y="1947"/>
                    </a:lnTo>
                    <a:lnTo>
                      <a:pt x="1033" y="1953"/>
                    </a:lnTo>
                    <a:lnTo>
                      <a:pt x="1025" y="1959"/>
                    </a:lnTo>
                    <a:lnTo>
                      <a:pt x="1018" y="1965"/>
                    </a:lnTo>
                    <a:lnTo>
                      <a:pt x="1010" y="1971"/>
                    </a:lnTo>
                    <a:lnTo>
                      <a:pt x="1003" y="1977"/>
                    </a:lnTo>
                    <a:lnTo>
                      <a:pt x="995" y="1983"/>
                    </a:lnTo>
                    <a:lnTo>
                      <a:pt x="987" y="1989"/>
                    </a:lnTo>
                    <a:lnTo>
                      <a:pt x="980" y="1995"/>
                    </a:lnTo>
                    <a:lnTo>
                      <a:pt x="972" y="2001"/>
                    </a:lnTo>
                    <a:lnTo>
                      <a:pt x="964" y="2007"/>
                    </a:lnTo>
                    <a:lnTo>
                      <a:pt x="957" y="2013"/>
                    </a:lnTo>
                    <a:lnTo>
                      <a:pt x="949" y="2019"/>
                    </a:lnTo>
                    <a:lnTo>
                      <a:pt x="941" y="2024"/>
                    </a:lnTo>
                    <a:lnTo>
                      <a:pt x="933" y="2030"/>
                    </a:lnTo>
                    <a:lnTo>
                      <a:pt x="925" y="2035"/>
                    </a:lnTo>
                    <a:lnTo>
                      <a:pt x="917" y="2041"/>
                    </a:lnTo>
                    <a:lnTo>
                      <a:pt x="909" y="2046"/>
                    </a:lnTo>
                    <a:lnTo>
                      <a:pt x="901" y="2052"/>
                    </a:lnTo>
                    <a:lnTo>
                      <a:pt x="893" y="2057"/>
                    </a:lnTo>
                    <a:lnTo>
                      <a:pt x="885" y="2063"/>
                    </a:lnTo>
                    <a:lnTo>
                      <a:pt x="877" y="2068"/>
                    </a:lnTo>
                    <a:lnTo>
                      <a:pt x="871" y="2072"/>
                    </a:lnTo>
                    <a:lnTo>
                      <a:pt x="720" y="1836"/>
                    </a:lnTo>
                    <a:lnTo>
                      <a:pt x="724" y="1833"/>
                    </a:lnTo>
                    <a:lnTo>
                      <a:pt x="731" y="1829"/>
                    </a:lnTo>
                    <a:lnTo>
                      <a:pt x="738" y="1824"/>
                    </a:lnTo>
                    <a:lnTo>
                      <a:pt x="744" y="1820"/>
                    </a:lnTo>
                    <a:lnTo>
                      <a:pt x="751" y="1815"/>
                    </a:lnTo>
                    <a:lnTo>
                      <a:pt x="758" y="1811"/>
                    </a:lnTo>
                    <a:lnTo>
                      <a:pt x="764" y="1806"/>
                    </a:lnTo>
                    <a:lnTo>
                      <a:pt x="771" y="1802"/>
                    </a:lnTo>
                    <a:lnTo>
                      <a:pt x="777" y="1797"/>
                    </a:lnTo>
                    <a:lnTo>
                      <a:pt x="784" y="1792"/>
                    </a:lnTo>
                    <a:lnTo>
                      <a:pt x="790" y="1788"/>
                    </a:lnTo>
                    <a:lnTo>
                      <a:pt x="797" y="1783"/>
                    </a:lnTo>
                    <a:lnTo>
                      <a:pt x="803" y="1778"/>
                    </a:lnTo>
                    <a:lnTo>
                      <a:pt x="809" y="1773"/>
                    </a:lnTo>
                    <a:lnTo>
                      <a:pt x="816" y="1768"/>
                    </a:lnTo>
                    <a:lnTo>
                      <a:pt x="822" y="1763"/>
                    </a:lnTo>
                    <a:lnTo>
                      <a:pt x="828" y="1758"/>
                    </a:lnTo>
                    <a:lnTo>
                      <a:pt x="835" y="1753"/>
                    </a:lnTo>
                    <a:lnTo>
                      <a:pt x="841" y="1748"/>
                    </a:lnTo>
                    <a:lnTo>
                      <a:pt x="847" y="1743"/>
                    </a:lnTo>
                    <a:lnTo>
                      <a:pt x="853" y="1738"/>
                    </a:lnTo>
                    <a:lnTo>
                      <a:pt x="859" y="1733"/>
                    </a:lnTo>
                    <a:lnTo>
                      <a:pt x="865" y="1728"/>
                    </a:lnTo>
                    <a:lnTo>
                      <a:pt x="871" y="1723"/>
                    </a:lnTo>
                    <a:lnTo>
                      <a:pt x="877" y="1717"/>
                    </a:lnTo>
                    <a:lnTo>
                      <a:pt x="883" y="1712"/>
                    </a:lnTo>
                    <a:lnTo>
                      <a:pt x="889" y="1707"/>
                    </a:lnTo>
                    <a:lnTo>
                      <a:pt x="895" y="1701"/>
                    </a:lnTo>
                    <a:lnTo>
                      <a:pt x="901" y="1696"/>
                    </a:lnTo>
                    <a:lnTo>
                      <a:pt x="907" y="1691"/>
                    </a:lnTo>
                    <a:lnTo>
                      <a:pt x="913" y="1685"/>
                    </a:lnTo>
                    <a:lnTo>
                      <a:pt x="919" y="1680"/>
                    </a:lnTo>
                    <a:lnTo>
                      <a:pt x="924" y="1674"/>
                    </a:lnTo>
                    <a:lnTo>
                      <a:pt x="930" y="1669"/>
                    </a:lnTo>
                    <a:lnTo>
                      <a:pt x="936" y="1663"/>
                    </a:lnTo>
                    <a:lnTo>
                      <a:pt x="942" y="1657"/>
                    </a:lnTo>
                    <a:lnTo>
                      <a:pt x="947" y="1652"/>
                    </a:lnTo>
                    <a:lnTo>
                      <a:pt x="953" y="1646"/>
                    </a:lnTo>
                    <a:lnTo>
                      <a:pt x="958" y="1640"/>
                    </a:lnTo>
                    <a:lnTo>
                      <a:pt x="964" y="1634"/>
                    </a:lnTo>
                    <a:lnTo>
                      <a:pt x="969" y="1629"/>
                    </a:lnTo>
                    <a:lnTo>
                      <a:pt x="975" y="1623"/>
                    </a:lnTo>
                    <a:lnTo>
                      <a:pt x="980" y="1617"/>
                    </a:lnTo>
                    <a:lnTo>
                      <a:pt x="986" y="1611"/>
                    </a:lnTo>
                    <a:lnTo>
                      <a:pt x="991" y="1605"/>
                    </a:lnTo>
                    <a:lnTo>
                      <a:pt x="996" y="1599"/>
                    </a:lnTo>
                    <a:lnTo>
                      <a:pt x="1002" y="1593"/>
                    </a:lnTo>
                    <a:lnTo>
                      <a:pt x="1007" y="1587"/>
                    </a:lnTo>
                    <a:lnTo>
                      <a:pt x="1012" y="1581"/>
                    </a:lnTo>
                    <a:lnTo>
                      <a:pt x="1017" y="1575"/>
                    </a:lnTo>
                    <a:lnTo>
                      <a:pt x="1022" y="1569"/>
                    </a:lnTo>
                    <a:lnTo>
                      <a:pt x="1027" y="1563"/>
                    </a:lnTo>
                    <a:lnTo>
                      <a:pt x="1033" y="1557"/>
                    </a:lnTo>
                    <a:lnTo>
                      <a:pt x="1038" y="1550"/>
                    </a:lnTo>
                    <a:lnTo>
                      <a:pt x="1043" y="1544"/>
                    </a:lnTo>
                    <a:lnTo>
                      <a:pt x="1048" y="1538"/>
                    </a:lnTo>
                    <a:lnTo>
                      <a:pt x="1052" y="1531"/>
                    </a:lnTo>
                    <a:lnTo>
                      <a:pt x="1057" y="1525"/>
                    </a:lnTo>
                    <a:lnTo>
                      <a:pt x="1062" y="1519"/>
                    </a:lnTo>
                    <a:lnTo>
                      <a:pt x="1067" y="1512"/>
                    </a:lnTo>
                    <a:lnTo>
                      <a:pt x="1072" y="1506"/>
                    </a:lnTo>
                    <a:lnTo>
                      <a:pt x="1077" y="1500"/>
                    </a:lnTo>
                    <a:lnTo>
                      <a:pt x="1081" y="1493"/>
                    </a:lnTo>
                    <a:lnTo>
                      <a:pt x="1085" y="1488"/>
                    </a:lnTo>
                    <a:close/>
                    <a:moveTo>
                      <a:pt x="0" y="2327"/>
                    </a:moveTo>
                    <a:lnTo>
                      <a:pt x="0" y="204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7" name="Freeform 9"/>
              <p:cNvSpPr>
                <a:spLocks/>
              </p:cNvSpPr>
              <p:nvPr/>
            </p:nvSpPr>
            <p:spPr bwMode="auto">
              <a:xfrm>
                <a:off x="2182018" y="4039169"/>
                <a:ext cx="1161056" cy="1279099"/>
              </a:xfrm>
              <a:custGeom>
                <a:avLst/>
                <a:gdLst>
                  <a:gd name="T0" fmla="*/ 2617 w 2894"/>
                  <a:gd name="T1" fmla="*/ 111 h 3192"/>
                  <a:gd name="T2" fmla="*/ 2756 w 2894"/>
                  <a:gd name="T3" fmla="*/ 408 h 3192"/>
                  <a:gd name="T4" fmla="*/ 2894 w 2894"/>
                  <a:gd name="T5" fmla="*/ 705 h 3192"/>
                  <a:gd name="T6" fmla="*/ 2567 w 2894"/>
                  <a:gd name="T7" fmla="*/ 676 h 3192"/>
                  <a:gd name="T8" fmla="*/ 2241 w 2894"/>
                  <a:gd name="T9" fmla="*/ 647 h 3192"/>
                  <a:gd name="T10" fmla="*/ 2345 w 2894"/>
                  <a:gd name="T11" fmla="*/ 500 h 3192"/>
                  <a:gd name="T12" fmla="*/ 2097 w 2894"/>
                  <a:gd name="T13" fmla="*/ 371 h 3192"/>
                  <a:gd name="T14" fmla="*/ 1611 w 2894"/>
                  <a:gd name="T15" fmla="*/ 280 h 3192"/>
                  <a:gd name="T16" fmla="*/ 670 w 2894"/>
                  <a:gd name="T17" fmla="*/ 670 h 3192"/>
                  <a:gd name="T18" fmla="*/ 280 w 2894"/>
                  <a:gd name="T19" fmla="*/ 1611 h 3192"/>
                  <a:gd name="T20" fmla="*/ 584 w 2894"/>
                  <a:gd name="T21" fmla="*/ 2458 h 3192"/>
                  <a:gd name="T22" fmla="*/ 1357 w 2894"/>
                  <a:gd name="T23" fmla="*/ 2918 h 3192"/>
                  <a:gd name="T24" fmla="*/ 1304 w 2894"/>
                  <a:gd name="T25" fmla="*/ 3192 h 3192"/>
                  <a:gd name="T26" fmla="*/ 368 w 2894"/>
                  <a:gd name="T27" fmla="*/ 2635 h 3192"/>
                  <a:gd name="T28" fmla="*/ 0 w 2894"/>
                  <a:gd name="T29" fmla="*/ 1611 h 3192"/>
                  <a:gd name="T30" fmla="*/ 472 w 2894"/>
                  <a:gd name="T31" fmla="*/ 472 h 3192"/>
                  <a:gd name="T32" fmla="*/ 1611 w 2894"/>
                  <a:gd name="T33" fmla="*/ 0 h 3192"/>
                  <a:gd name="T34" fmla="*/ 2198 w 2894"/>
                  <a:gd name="T35" fmla="*/ 111 h 3192"/>
                  <a:gd name="T36" fmla="*/ 2505 w 2894"/>
                  <a:gd name="T37" fmla="*/ 271 h 3192"/>
                  <a:gd name="T38" fmla="*/ 2617 w 2894"/>
                  <a:gd name="T39" fmla="*/ 111 h 3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94" h="3192">
                    <a:moveTo>
                      <a:pt x="2617" y="111"/>
                    </a:moveTo>
                    <a:lnTo>
                      <a:pt x="2756" y="408"/>
                    </a:lnTo>
                    <a:lnTo>
                      <a:pt x="2894" y="705"/>
                    </a:lnTo>
                    <a:lnTo>
                      <a:pt x="2567" y="676"/>
                    </a:lnTo>
                    <a:lnTo>
                      <a:pt x="2241" y="647"/>
                    </a:lnTo>
                    <a:lnTo>
                      <a:pt x="2345" y="500"/>
                    </a:lnTo>
                    <a:cubicBezTo>
                      <a:pt x="2267" y="448"/>
                      <a:pt x="2183" y="405"/>
                      <a:pt x="2097" y="371"/>
                    </a:cubicBezTo>
                    <a:cubicBezTo>
                      <a:pt x="1944" y="312"/>
                      <a:pt x="1779" y="280"/>
                      <a:pt x="1611" y="280"/>
                    </a:cubicBezTo>
                    <a:cubicBezTo>
                      <a:pt x="1243" y="280"/>
                      <a:pt x="911" y="429"/>
                      <a:pt x="670" y="670"/>
                    </a:cubicBezTo>
                    <a:cubicBezTo>
                      <a:pt x="429" y="911"/>
                      <a:pt x="280" y="1243"/>
                      <a:pt x="280" y="1611"/>
                    </a:cubicBezTo>
                    <a:cubicBezTo>
                      <a:pt x="280" y="1930"/>
                      <a:pt x="393" y="2227"/>
                      <a:pt x="584" y="2458"/>
                    </a:cubicBezTo>
                    <a:cubicBezTo>
                      <a:pt x="775" y="2690"/>
                      <a:pt x="1044" y="2857"/>
                      <a:pt x="1357" y="2918"/>
                    </a:cubicBezTo>
                    <a:lnTo>
                      <a:pt x="1304" y="3192"/>
                    </a:lnTo>
                    <a:cubicBezTo>
                      <a:pt x="926" y="3119"/>
                      <a:pt x="600" y="2916"/>
                      <a:pt x="368" y="2635"/>
                    </a:cubicBezTo>
                    <a:cubicBezTo>
                      <a:pt x="137" y="2355"/>
                      <a:pt x="0" y="1996"/>
                      <a:pt x="0" y="1611"/>
                    </a:cubicBezTo>
                    <a:cubicBezTo>
                      <a:pt x="0" y="1166"/>
                      <a:pt x="180" y="763"/>
                      <a:pt x="472" y="472"/>
                    </a:cubicBezTo>
                    <a:cubicBezTo>
                      <a:pt x="763" y="180"/>
                      <a:pt x="1166" y="0"/>
                      <a:pt x="1611" y="0"/>
                    </a:cubicBezTo>
                    <a:cubicBezTo>
                      <a:pt x="1813" y="0"/>
                      <a:pt x="2012" y="38"/>
                      <a:pt x="2198" y="111"/>
                    </a:cubicBezTo>
                    <a:cubicBezTo>
                      <a:pt x="2305" y="153"/>
                      <a:pt x="2408" y="207"/>
                      <a:pt x="2505" y="271"/>
                    </a:cubicBezTo>
                    <a:lnTo>
                      <a:pt x="2617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30" name="Группа 29"/>
            <p:cNvGrpSpPr/>
            <p:nvPr/>
          </p:nvGrpSpPr>
          <p:grpSpPr>
            <a:xfrm>
              <a:off x="2789185" y="4426694"/>
              <a:ext cx="0" cy="756000"/>
              <a:chOff x="2791616" y="4277018"/>
              <a:chExt cx="0" cy="863494"/>
            </a:xfrm>
          </p:grpSpPr>
          <p:cxnSp>
            <p:nvCxnSpPr>
              <p:cNvPr id="34" name="Прямая соединительная линия 33"/>
              <p:cNvCxnSpPr/>
              <p:nvPr/>
            </p:nvCxnSpPr>
            <p:spPr>
              <a:xfrm>
                <a:off x="2791616" y="4277018"/>
                <a:ext cx="0" cy="431747"/>
              </a:xfrm>
              <a:prstGeom prst="line">
                <a:avLst/>
              </a:prstGeom>
              <a:ln w="76200" cap="rnd">
                <a:solidFill>
                  <a:srgbClr val="FF24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Прямая соединительная линия 34"/>
              <p:cNvCxnSpPr/>
              <p:nvPr/>
            </p:nvCxnSpPr>
            <p:spPr>
              <a:xfrm>
                <a:off x="2791616" y="4708765"/>
                <a:ext cx="0" cy="431747"/>
              </a:xfrm>
              <a:prstGeom prst="line">
                <a:avLst/>
              </a:prstGeom>
              <a:ln w="76200" cap="rnd">
                <a:solidFill>
                  <a:srgbClr val="FFFFFF">
                    <a:alpha val="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Группа 30"/>
            <p:cNvGrpSpPr/>
            <p:nvPr/>
          </p:nvGrpSpPr>
          <p:grpSpPr>
            <a:xfrm>
              <a:off x="2789185" y="4426694"/>
              <a:ext cx="0" cy="756000"/>
              <a:chOff x="2791616" y="4277018"/>
              <a:chExt cx="0" cy="863494"/>
            </a:xfrm>
          </p:grpSpPr>
          <p:cxnSp>
            <p:nvCxnSpPr>
              <p:cNvPr id="32" name="Прямая соединительная линия 31"/>
              <p:cNvCxnSpPr/>
              <p:nvPr/>
            </p:nvCxnSpPr>
            <p:spPr>
              <a:xfrm>
                <a:off x="2791616" y="4277018"/>
                <a:ext cx="0" cy="431747"/>
              </a:xfrm>
              <a:prstGeom prst="line">
                <a:avLst/>
              </a:prstGeom>
              <a:ln w="76200" cap="rnd">
                <a:solidFill>
                  <a:srgbClr val="FF24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Прямая соединительная линия 32"/>
              <p:cNvCxnSpPr/>
              <p:nvPr/>
            </p:nvCxnSpPr>
            <p:spPr>
              <a:xfrm>
                <a:off x="2791616" y="4708765"/>
                <a:ext cx="0" cy="431747"/>
              </a:xfrm>
              <a:prstGeom prst="line">
                <a:avLst/>
              </a:prstGeom>
              <a:ln w="76200" cap="rnd">
                <a:solidFill>
                  <a:srgbClr val="FFFFFF">
                    <a:alpha val="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SquareDZOComments"/>
          <p:cNvSpPr/>
          <p:nvPr/>
        </p:nvSpPr>
        <p:spPr>
          <a:xfrm>
            <a:off x="6174271" y="3969060"/>
            <a:ext cx="2682205" cy="2131184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 b="0" i="0" u="none" strike="noStrike" kern="1200" baseline="0">
              <a:solidFill>
                <a:srgbClr val="004077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17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quare2"/>
          <p:cNvSpPr/>
          <p:nvPr>
            <p:custDataLst>
              <p:tags r:id="rId1"/>
            </p:custDataLst>
          </p:nvPr>
        </p:nvSpPr>
        <p:spPr>
          <a:xfrm>
            <a:off x="4712868" y="4136391"/>
            <a:ext cx="447334" cy="20089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 b="0" i="0" u="none" strike="noStrike" kern="1200" baseline="0">
              <a:solidFill>
                <a:srgbClr val="004077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Square1"/>
          <p:cNvSpPr/>
          <p:nvPr>
            <p:custDataLst>
              <p:tags r:id="rId2"/>
            </p:custDataLst>
          </p:nvPr>
        </p:nvSpPr>
        <p:spPr>
          <a:xfrm>
            <a:off x="4685444" y="1399387"/>
            <a:ext cx="462620" cy="20162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545353"/>
            </a:solidFill>
            <a:prstDash val="dash"/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ru-RU" sz="2400">
              <a:solidFill>
                <a:srgbClr val="545353"/>
              </a:solidFill>
            </a:endParaRPr>
          </a:p>
        </p:txBody>
      </p:sp>
      <p:sp>
        <p:nvSpPr>
          <p:cNvPr id="16" name="SquareInfo1"/>
          <p:cNvSpPr/>
          <p:nvPr>
            <p:custDataLst>
              <p:tags r:id="rId3"/>
            </p:custDataLst>
          </p:nvPr>
        </p:nvSpPr>
        <p:spPr>
          <a:xfrm>
            <a:off x="7055516" y="1376772"/>
            <a:ext cx="1864817" cy="2304256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endParaRPr lang="ru-RU" sz="300" b="1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17" name="SquareInfo2"/>
          <p:cNvSpPr/>
          <p:nvPr>
            <p:custDataLst>
              <p:tags r:id="rId4"/>
            </p:custDataLst>
          </p:nvPr>
        </p:nvSpPr>
        <p:spPr>
          <a:xfrm>
            <a:off x="7120353" y="4136391"/>
            <a:ext cx="1799980" cy="2160240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pPr fontAlgn="ctr">
              <a:spcAft>
                <a:spcPts val="300"/>
              </a:spcAft>
              <a:defRPr/>
            </a:pPr>
            <a:endParaRPr lang="ru-RU" sz="800" b="1" dirty="0">
              <a:solidFill>
                <a:srgbClr val="545353"/>
              </a:solidFill>
            </a:endParaRPr>
          </a:p>
        </p:txBody>
      </p:sp>
      <p:sp>
        <p:nvSpPr>
          <p:cNvPr id="18" name="Прямоугольник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75479" y="3859279"/>
            <a:ext cx="8569960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defTabSz="931343" eaLnBrk="0" hangingPunct="0"/>
            <a:r>
              <a:rPr lang="ru-RU" sz="800" b="1" dirty="0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rPr>
              <a:t>Количество законченных испытанием объектов и успешность испытания, шт.</a:t>
            </a:r>
          </a:p>
        </p:txBody>
      </p:sp>
      <p:sp>
        <p:nvSpPr>
          <p:cNvPr id="21" name="Прямоугольник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91259" y="1088740"/>
            <a:ext cx="8565722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defTabSz="931343" eaLnBrk="0" hangingPunct="0"/>
            <a:r>
              <a:rPr lang="ru-RU" sz="800" b="1" dirty="0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rPr>
              <a:t>Кол-во бригад и кол-во законченных бурением скважин, шт.</a:t>
            </a:r>
          </a:p>
        </p:txBody>
      </p:sp>
      <p:sp>
        <p:nvSpPr>
          <p:cNvPr id="20" name="TitleSlide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79612" y="337703"/>
            <a:ext cx="7885063" cy="607021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Дирекция по ГРР и РРБ 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Поисково-разведочное бурение</a:t>
            </a:r>
            <a:r>
              <a:rPr lang="ru-RU" sz="2000" b="1" dirty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sz="2000" b="1" dirty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Физические показатели </a:t>
            </a:r>
            <a:endParaRPr lang="ru-RU" dirty="0">
              <a:solidFill>
                <a:srgbClr val="545353"/>
              </a:solidFill>
            </a:endParaRPr>
          </a:p>
        </p:txBody>
      </p:sp>
      <p:grpSp>
        <p:nvGrpSpPr>
          <p:cNvPr id="23" name="Группа 22"/>
          <p:cNvGrpSpPr>
            <a:grpSpLocks noChangeAspect="1"/>
          </p:cNvGrpSpPr>
          <p:nvPr/>
        </p:nvGrpSpPr>
        <p:grpSpPr>
          <a:xfrm>
            <a:off x="316058" y="404664"/>
            <a:ext cx="619538" cy="526200"/>
            <a:chOff x="3779912" y="3144143"/>
            <a:chExt cx="1597755" cy="1298760"/>
          </a:xfrm>
        </p:grpSpPr>
        <p:grpSp>
          <p:nvGrpSpPr>
            <p:cNvPr id="30" name="Группа 29"/>
            <p:cNvGrpSpPr/>
            <p:nvPr/>
          </p:nvGrpSpPr>
          <p:grpSpPr>
            <a:xfrm>
              <a:off x="3779912" y="3144143"/>
              <a:ext cx="1597755" cy="1298760"/>
              <a:chOff x="4267121" y="3612182"/>
              <a:chExt cx="814388" cy="763588"/>
            </a:xfrm>
          </p:grpSpPr>
          <p:sp>
            <p:nvSpPr>
              <p:cNvPr id="32" name="Freeform 109"/>
              <p:cNvSpPr>
                <a:spLocks noEditPoints="1"/>
              </p:cNvSpPr>
              <p:nvPr/>
            </p:nvSpPr>
            <p:spPr bwMode="auto">
              <a:xfrm>
                <a:off x="4267121" y="3713782"/>
                <a:ext cx="254000" cy="661988"/>
              </a:xfrm>
              <a:custGeom>
                <a:avLst/>
                <a:gdLst>
                  <a:gd name="T0" fmla="*/ 564 w 705"/>
                  <a:gd name="T1" fmla="*/ 0 h 1835"/>
                  <a:gd name="T2" fmla="*/ 141 w 705"/>
                  <a:gd name="T3" fmla="*/ 0 h 1835"/>
                  <a:gd name="T4" fmla="*/ 0 w 705"/>
                  <a:gd name="T5" fmla="*/ 141 h 1835"/>
                  <a:gd name="T6" fmla="*/ 0 w 705"/>
                  <a:gd name="T7" fmla="*/ 1694 h 1835"/>
                  <a:gd name="T8" fmla="*/ 141 w 705"/>
                  <a:gd name="T9" fmla="*/ 1835 h 1835"/>
                  <a:gd name="T10" fmla="*/ 564 w 705"/>
                  <a:gd name="T11" fmla="*/ 1835 h 1835"/>
                  <a:gd name="T12" fmla="*/ 705 w 705"/>
                  <a:gd name="T13" fmla="*/ 1694 h 1835"/>
                  <a:gd name="T14" fmla="*/ 705 w 705"/>
                  <a:gd name="T15" fmla="*/ 141 h 1835"/>
                  <a:gd name="T16" fmla="*/ 564 w 705"/>
                  <a:gd name="T17" fmla="*/ 0 h 1835"/>
                  <a:gd name="T18" fmla="*/ 211 w 705"/>
                  <a:gd name="T19" fmla="*/ 1411 h 1835"/>
                  <a:gd name="T20" fmla="*/ 141 w 705"/>
                  <a:gd name="T21" fmla="*/ 1341 h 1835"/>
                  <a:gd name="T22" fmla="*/ 211 w 705"/>
                  <a:gd name="T23" fmla="*/ 1270 h 1835"/>
                  <a:gd name="T24" fmla="*/ 282 w 705"/>
                  <a:gd name="T25" fmla="*/ 1341 h 1835"/>
                  <a:gd name="T26" fmla="*/ 211 w 705"/>
                  <a:gd name="T27" fmla="*/ 1411 h 1835"/>
                  <a:gd name="T28" fmla="*/ 564 w 705"/>
                  <a:gd name="T29" fmla="*/ 565 h 1835"/>
                  <a:gd name="T30" fmla="*/ 141 w 705"/>
                  <a:gd name="T31" fmla="*/ 565 h 1835"/>
                  <a:gd name="T32" fmla="*/ 141 w 705"/>
                  <a:gd name="T33" fmla="*/ 424 h 1835"/>
                  <a:gd name="T34" fmla="*/ 564 w 705"/>
                  <a:gd name="T35" fmla="*/ 424 h 1835"/>
                  <a:gd name="T36" fmla="*/ 564 w 705"/>
                  <a:gd name="T37" fmla="*/ 565 h 1835"/>
                  <a:gd name="T38" fmla="*/ 564 w 705"/>
                  <a:gd name="T39" fmla="*/ 283 h 1835"/>
                  <a:gd name="T40" fmla="*/ 141 w 705"/>
                  <a:gd name="T41" fmla="*/ 283 h 1835"/>
                  <a:gd name="T42" fmla="*/ 141 w 705"/>
                  <a:gd name="T43" fmla="*/ 141 h 1835"/>
                  <a:gd name="T44" fmla="*/ 564 w 705"/>
                  <a:gd name="T45" fmla="*/ 141 h 1835"/>
                  <a:gd name="T46" fmla="*/ 564 w 705"/>
                  <a:gd name="T47" fmla="*/ 283 h 18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05" h="1835">
                    <a:moveTo>
                      <a:pt x="564" y="0"/>
                    </a:moveTo>
                    <a:lnTo>
                      <a:pt x="141" y="0"/>
                    </a:lnTo>
                    <a:cubicBezTo>
                      <a:pt x="63" y="0"/>
                      <a:pt x="0" y="64"/>
                      <a:pt x="0" y="141"/>
                    </a:cubicBezTo>
                    <a:lnTo>
                      <a:pt x="0" y="1694"/>
                    </a:lnTo>
                    <a:cubicBezTo>
                      <a:pt x="0" y="1772"/>
                      <a:pt x="63" y="1835"/>
                      <a:pt x="141" y="1835"/>
                    </a:cubicBezTo>
                    <a:lnTo>
                      <a:pt x="564" y="1835"/>
                    </a:lnTo>
                    <a:cubicBezTo>
                      <a:pt x="642" y="1835"/>
                      <a:pt x="705" y="1772"/>
                      <a:pt x="705" y="1694"/>
                    </a:cubicBezTo>
                    <a:lnTo>
                      <a:pt x="705" y="141"/>
                    </a:lnTo>
                    <a:cubicBezTo>
                      <a:pt x="705" y="64"/>
                      <a:pt x="642" y="0"/>
                      <a:pt x="564" y="0"/>
                    </a:cubicBezTo>
                    <a:close/>
                    <a:moveTo>
                      <a:pt x="211" y="1411"/>
                    </a:moveTo>
                    <a:cubicBezTo>
                      <a:pt x="172" y="1411"/>
                      <a:pt x="141" y="1380"/>
                      <a:pt x="141" y="1341"/>
                    </a:cubicBezTo>
                    <a:cubicBezTo>
                      <a:pt x="141" y="1302"/>
                      <a:pt x="172" y="1270"/>
                      <a:pt x="211" y="1270"/>
                    </a:cubicBezTo>
                    <a:cubicBezTo>
                      <a:pt x="250" y="1270"/>
                      <a:pt x="282" y="1302"/>
                      <a:pt x="282" y="1341"/>
                    </a:cubicBezTo>
                    <a:cubicBezTo>
                      <a:pt x="282" y="1380"/>
                      <a:pt x="250" y="1411"/>
                      <a:pt x="211" y="1411"/>
                    </a:cubicBezTo>
                    <a:close/>
                    <a:moveTo>
                      <a:pt x="564" y="565"/>
                    </a:moveTo>
                    <a:lnTo>
                      <a:pt x="141" y="565"/>
                    </a:lnTo>
                    <a:lnTo>
                      <a:pt x="141" y="424"/>
                    </a:lnTo>
                    <a:lnTo>
                      <a:pt x="564" y="424"/>
                    </a:lnTo>
                    <a:lnTo>
                      <a:pt x="564" y="565"/>
                    </a:lnTo>
                    <a:close/>
                    <a:moveTo>
                      <a:pt x="564" y="283"/>
                    </a:moveTo>
                    <a:lnTo>
                      <a:pt x="141" y="283"/>
                    </a:lnTo>
                    <a:lnTo>
                      <a:pt x="141" y="141"/>
                    </a:lnTo>
                    <a:lnTo>
                      <a:pt x="564" y="141"/>
                    </a:lnTo>
                    <a:lnTo>
                      <a:pt x="564" y="28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grpSp>
            <p:nvGrpSpPr>
              <p:cNvPr id="33" name="Группа 32"/>
              <p:cNvGrpSpPr/>
              <p:nvPr/>
            </p:nvGrpSpPr>
            <p:grpSpPr>
              <a:xfrm>
                <a:off x="4368721" y="3612182"/>
                <a:ext cx="712788" cy="712788"/>
                <a:chOff x="4368721" y="3612182"/>
                <a:chExt cx="712788" cy="712788"/>
              </a:xfrm>
            </p:grpSpPr>
            <p:sp>
              <p:nvSpPr>
                <p:cNvPr id="34" name="Freeform 110"/>
                <p:cNvSpPr>
                  <a:spLocks/>
                </p:cNvSpPr>
                <p:nvPr/>
              </p:nvSpPr>
              <p:spPr bwMode="auto">
                <a:xfrm>
                  <a:off x="4597321" y="4223370"/>
                  <a:ext cx="254000" cy="101600"/>
                </a:xfrm>
                <a:custGeom>
                  <a:avLst/>
                  <a:gdLst>
                    <a:gd name="T0" fmla="*/ 564 w 706"/>
                    <a:gd name="T1" fmla="*/ 142 h 283"/>
                    <a:gd name="T2" fmla="*/ 564 w 706"/>
                    <a:gd name="T3" fmla="*/ 0 h 283"/>
                    <a:gd name="T4" fmla="*/ 141 w 706"/>
                    <a:gd name="T5" fmla="*/ 0 h 283"/>
                    <a:gd name="T6" fmla="*/ 141 w 706"/>
                    <a:gd name="T7" fmla="*/ 142 h 283"/>
                    <a:gd name="T8" fmla="*/ 0 w 706"/>
                    <a:gd name="T9" fmla="*/ 283 h 283"/>
                    <a:gd name="T10" fmla="*/ 706 w 706"/>
                    <a:gd name="T11" fmla="*/ 283 h 283"/>
                    <a:gd name="T12" fmla="*/ 564 w 706"/>
                    <a:gd name="T13" fmla="*/ 142 h 2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06" h="283">
                      <a:moveTo>
                        <a:pt x="564" y="142"/>
                      </a:moveTo>
                      <a:lnTo>
                        <a:pt x="564" y="0"/>
                      </a:lnTo>
                      <a:lnTo>
                        <a:pt x="141" y="0"/>
                      </a:lnTo>
                      <a:lnTo>
                        <a:pt x="141" y="142"/>
                      </a:lnTo>
                      <a:cubicBezTo>
                        <a:pt x="63" y="142"/>
                        <a:pt x="0" y="205"/>
                        <a:pt x="0" y="283"/>
                      </a:cubicBezTo>
                      <a:lnTo>
                        <a:pt x="706" y="283"/>
                      </a:lnTo>
                      <a:cubicBezTo>
                        <a:pt x="706" y="205"/>
                        <a:pt x="642" y="142"/>
                        <a:pt x="564" y="142"/>
                      </a:cubicBezTo>
                      <a:close/>
                    </a:path>
                  </a:pathLst>
                </a:custGeom>
                <a:solidFill>
                  <a:srgbClr val="FF24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7" name="Freeform 111"/>
                <p:cNvSpPr>
                  <a:spLocks noEditPoints="1"/>
                </p:cNvSpPr>
                <p:nvPr/>
              </p:nvSpPr>
              <p:spPr bwMode="auto">
                <a:xfrm>
                  <a:off x="4368721" y="3612182"/>
                  <a:ext cx="712788" cy="560388"/>
                </a:xfrm>
                <a:custGeom>
                  <a:avLst/>
                  <a:gdLst>
                    <a:gd name="T0" fmla="*/ 1834 w 1976"/>
                    <a:gd name="T1" fmla="*/ 0 h 1552"/>
                    <a:gd name="T2" fmla="*/ 141 w 1976"/>
                    <a:gd name="T3" fmla="*/ 0 h 1552"/>
                    <a:gd name="T4" fmla="*/ 0 w 1976"/>
                    <a:gd name="T5" fmla="*/ 141 h 1552"/>
                    <a:gd name="T6" fmla="*/ 1834 w 1976"/>
                    <a:gd name="T7" fmla="*/ 141 h 1552"/>
                    <a:gd name="T8" fmla="*/ 1834 w 1976"/>
                    <a:gd name="T9" fmla="*/ 1270 h 1552"/>
                    <a:gd name="T10" fmla="*/ 564 w 1976"/>
                    <a:gd name="T11" fmla="*/ 1270 h 1552"/>
                    <a:gd name="T12" fmla="*/ 564 w 1976"/>
                    <a:gd name="T13" fmla="*/ 1552 h 1552"/>
                    <a:gd name="T14" fmla="*/ 1834 w 1976"/>
                    <a:gd name="T15" fmla="*/ 1552 h 1552"/>
                    <a:gd name="T16" fmla="*/ 1976 w 1976"/>
                    <a:gd name="T17" fmla="*/ 1411 h 1552"/>
                    <a:gd name="T18" fmla="*/ 1976 w 1976"/>
                    <a:gd name="T19" fmla="*/ 141 h 1552"/>
                    <a:gd name="T20" fmla="*/ 1834 w 1976"/>
                    <a:gd name="T21" fmla="*/ 0 h 1552"/>
                    <a:gd name="T22" fmla="*/ 988 w 1976"/>
                    <a:gd name="T23" fmla="*/ 1482 h 1552"/>
                    <a:gd name="T24" fmla="*/ 917 w 1976"/>
                    <a:gd name="T25" fmla="*/ 1411 h 1552"/>
                    <a:gd name="T26" fmla="*/ 988 w 1976"/>
                    <a:gd name="T27" fmla="*/ 1341 h 1552"/>
                    <a:gd name="T28" fmla="*/ 1058 w 1976"/>
                    <a:gd name="T29" fmla="*/ 1411 h 1552"/>
                    <a:gd name="T30" fmla="*/ 988 w 1976"/>
                    <a:gd name="T31" fmla="*/ 1482 h 15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76" h="1552">
                      <a:moveTo>
                        <a:pt x="1834" y="0"/>
                      </a:moveTo>
                      <a:lnTo>
                        <a:pt x="141" y="0"/>
                      </a:lnTo>
                      <a:cubicBezTo>
                        <a:pt x="63" y="0"/>
                        <a:pt x="0" y="63"/>
                        <a:pt x="0" y="141"/>
                      </a:cubicBezTo>
                      <a:lnTo>
                        <a:pt x="1834" y="141"/>
                      </a:lnTo>
                      <a:lnTo>
                        <a:pt x="1834" y="1270"/>
                      </a:lnTo>
                      <a:lnTo>
                        <a:pt x="564" y="1270"/>
                      </a:lnTo>
                      <a:lnTo>
                        <a:pt x="564" y="1552"/>
                      </a:lnTo>
                      <a:lnTo>
                        <a:pt x="1834" y="1552"/>
                      </a:lnTo>
                      <a:cubicBezTo>
                        <a:pt x="1912" y="1552"/>
                        <a:pt x="1976" y="1489"/>
                        <a:pt x="1976" y="1411"/>
                      </a:cubicBezTo>
                      <a:lnTo>
                        <a:pt x="1976" y="141"/>
                      </a:lnTo>
                      <a:cubicBezTo>
                        <a:pt x="1976" y="63"/>
                        <a:pt x="1912" y="0"/>
                        <a:pt x="1834" y="0"/>
                      </a:cubicBezTo>
                      <a:close/>
                      <a:moveTo>
                        <a:pt x="988" y="1482"/>
                      </a:moveTo>
                      <a:cubicBezTo>
                        <a:pt x="949" y="1482"/>
                        <a:pt x="917" y="1450"/>
                        <a:pt x="917" y="1411"/>
                      </a:cubicBezTo>
                      <a:cubicBezTo>
                        <a:pt x="917" y="1372"/>
                        <a:pt x="949" y="1341"/>
                        <a:pt x="988" y="1341"/>
                      </a:cubicBezTo>
                      <a:cubicBezTo>
                        <a:pt x="1027" y="1341"/>
                        <a:pt x="1058" y="1372"/>
                        <a:pt x="1058" y="1411"/>
                      </a:cubicBezTo>
                      <a:cubicBezTo>
                        <a:pt x="1058" y="1450"/>
                        <a:pt x="1027" y="1482"/>
                        <a:pt x="988" y="1482"/>
                      </a:cubicBezTo>
                      <a:close/>
                    </a:path>
                  </a:pathLst>
                </a:custGeom>
                <a:solidFill>
                  <a:srgbClr val="FF24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</p:grpSp>
        </p:grpSp>
        <p:sp>
          <p:nvSpPr>
            <p:cNvPr id="31" name="Oval 145"/>
            <p:cNvSpPr>
              <a:spLocks noChangeArrowheads="1"/>
            </p:cNvSpPr>
            <p:nvPr/>
          </p:nvSpPr>
          <p:spPr bwMode="auto">
            <a:xfrm>
              <a:off x="3874207" y="4100946"/>
              <a:ext cx="85725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aphicFrame>
        <p:nvGraphicFramePr>
          <p:cNvPr id="24" name="Chart1"/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75733080"/>
              </p:ext>
            </p:extLst>
          </p:nvPr>
        </p:nvGraphicFramePr>
        <p:xfrm>
          <a:off x="221940" y="1339525"/>
          <a:ext cx="6824430" cy="2361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graphicFrame>
        <p:nvGraphicFramePr>
          <p:cNvPr id="25" name="Chart2"/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4197319918"/>
              </p:ext>
            </p:extLst>
          </p:nvPr>
        </p:nvGraphicFramePr>
        <p:xfrm>
          <a:off x="231086" y="4113076"/>
          <a:ext cx="6824430" cy="2361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3827442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Текст 13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287020" y="1119444"/>
            <a:ext cx="8569325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algn="ctr" defTabSz="931343" eaLnBrk="0" hangingPunct="0">
              <a:defRPr sz="800" b="1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defRPr>
            </a:lvl1pPr>
          </a:lstStyle>
          <a:p>
            <a:r>
              <a:rPr lang="ru-RU" dirty="0"/>
              <a:t>НПВ</a:t>
            </a:r>
            <a:r>
              <a:rPr lang="en-US" dirty="0"/>
              <a:t> </a:t>
            </a:r>
            <a:r>
              <a:rPr lang="ru-RU" dirty="0"/>
              <a:t>в ПРБ, динамика НПВ по ДО</a:t>
            </a:r>
          </a:p>
        </p:txBody>
      </p:sp>
      <p:sp>
        <p:nvSpPr>
          <p:cNvPr id="8" name="Текст 16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87019" y="3465044"/>
            <a:ext cx="8569325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algn="ctr" defTabSz="931343" eaLnBrk="0" hangingPunct="0">
              <a:defRPr sz="800" b="1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defRPr>
            </a:lvl1pPr>
          </a:lstStyle>
          <a:p>
            <a:r>
              <a:rPr lang="ru-RU" dirty="0"/>
              <a:t>НПВ по буровым подрядчикам по ДО с начала года</a:t>
            </a:r>
          </a:p>
        </p:txBody>
      </p:sp>
      <p:sp>
        <p:nvSpPr>
          <p:cNvPr id="14" name="Заголовок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079425" y="337703"/>
            <a:ext cx="7885063" cy="607021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Дирекция по ГРР и РРБ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Поисково-Разведочное бурение (ДО) </a:t>
            </a:r>
            <a:r>
              <a:rPr lang="ru-RU" b="1" dirty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b="1" dirty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Динамика </a:t>
            </a: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НПВ за календарное время, рейтинг подрядчиков по ПРБ</a:t>
            </a:r>
            <a:endParaRPr lang="ru-RU" sz="1200" dirty="0">
              <a:solidFill>
                <a:srgbClr val="545353"/>
              </a:solidFill>
            </a:endParaRPr>
          </a:p>
        </p:txBody>
      </p:sp>
      <p:grpSp>
        <p:nvGrpSpPr>
          <p:cNvPr id="20" name="Группа 19"/>
          <p:cNvGrpSpPr>
            <a:grpSpLocks noChangeAspect="1"/>
          </p:cNvGrpSpPr>
          <p:nvPr/>
        </p:nvGrpSpPr>
        <p:grpSpPr>
          <a:xfrm>
            <a:off x="316058" y="404664"/>
            <a:ext cx="619538" cy="526200"/>
            <a:chOff x="3779912" y="3144143"/>
            <a:chExt cx="1597755" cy="1298760"/>
          </a:xfrm>
        </p:grpSpPr>
        <p:grpSp>
          <p:nvGrpSpPr>
            <p:cNvPr id="26" name="Группа 25"/>
            <p:cNvGrpSpPr/>
            <p:nvPr/>
          </p:nvGrpSpPr>
          <p:grpSpPr>
            <a:xfrm>
              <a:off x="3779912" y="3144143"/>
              <a:ext cx="1597755" cy="1298760"/>
              <a:chOff x="4267121" y="3612182"/>
              <a:chExt cx="814388" cy="763588"/>
            </a:xfrm>
          </p:grpSpPr>
          <p:sp>
            <p:nvSpPr>
              <p:cNvPr id="28" name="Freeform 109"/>
              <p:cNvSpPr>
                <a:spLocks noEditPoints="1"/>
              </p:cNvSpPr>
              <p:nvPr/>
            </p:nvSpPr>
            <p:spPr bwMode="auto">
              <a:xfrm>
                <a:off x="4267121" y="3713782"/>
                <a:ext cx="254000" cy="661988"/>
              </a:xfrm>
              <a:custGeom>
                <a:avLst/>
                <a:gdLst>
                  <a:gd name="T0" fmla="*/ 564 w 705"/>
                  <a:gd name="T1" fmla="*/ 0 h 1835"/>
                  <a:gd name="T2" fmla="*/ 141 w 705"/>
                  <a:gd name="T3" fmla="*/ 0 h 1835"/>
                  <a:gd name="T4" fmla="*/ 0 w 705"/>
                  <a:gd name="T5" fmla="*/ 141 h 1835"/>
                  <a:gd name="T6" fmla="*/ 0 w 705"/>
                  <a:gd name="T7" fmla="*/ 1694 h 1835"/>
                  <a:gd name="T8" fmla="*/ 141 w 705"/>
                  <a:gd name="T9" fmla="*/ 1835 h 1835"/>
                  <a:gd name="T10" fmla="*/ 564 w 705"/>
                  <a:gd name="T11" fmla="*/ 1835 h 1835"/>
                  <a:gd name="T12" fmla="*/ 705 w 705"/>
                  <a:gd name="T13" fmla="*/ 1694 h 1835"/>
                  <a:gd name="T14" fmla="*/ 705 w 705"/>
                  <a:gd name="T15" fmla="*/ 141 h 1835"/>
                  <a:gd name="T16" fmla="*/ 564 w 705"/>
                  <a:gd name="T17" fmla="*/ 0 h 1835"/>
                  <a:gd name="T18" fmla="*/ 211 w 705"/>
                  <a:gd name="T19" fmla="*/ 1411 h 1835"/>
                  <a:gd name="T20" fmla="*/ 141 w 705"/>
                  <a:gd name="T21" fmla="*/ 1341 h 1835"/>
                  <a:gd name="T22" fmla="*/ 211 w 705"/>
                  <a:gd name="T23" fmla="*/ 1270 h 1835"/>
                  <a:gd name="T24" fmla="*/ 282 w 705"/>
                  <a:gd name="T25" fmla="*/ 1341 h 1835"/>
                  <a:gd name="T26" fmla="*/ 211 w 705"/>
                  <a:gd name="T27" fmla="*/ 1411 h 1835"/>
                  <a:gd name="T28" fmla="*/ 564 w 705"/>
                  <a:gd name="T29" fmla="*/ 565 h 1835"/>
                  <a:gd name="T30" fmla="*/ 141 w 705"/>
                  <a:gd name="T31" fmla="*/ 565 h 1835"/>
                  <a:gd name="T32" fmla="*/ 141 w 705"/>
                  <a:gd name="T33" fmla="*/ 424 h 1835"/>
                  <a:gd name="T34" fmla="*/ 564 w 705"/>
                  <a:gd name="T35" fmla="*/ 424 h 1835"/>
                  <a:gd name="T36" fmla="*/ 564 w 705"/>
                  <a:gd name="T37" fmla="*/ 565 h 1835"/>
                  <a:gd name="T38" fmla="*/ 564 w 705"/>
                  <a:gd name="T39" fmla="*/ 283 h 1835"/>
                  <a:gd name="T40" fmla="*/ 141 w 705"/>
                  <a:gd name="T41" fmla="*/ 283 h 1835"/>
                  <a:gd name="T42" fmla="*/ 141 w 705"/>
                  <a:gd name="T43" fmla="*/ 141 h 1835"/>
                  <a:gd name="T44" fmla="*/ 564 w 705"/>
                  <a:gd name="T45" fmla="*/ 141 h 1835"/>
                  <a:gd name="T46" fmla="*/ 564 w 705"/>
                  <a:gd name="T47" fmla="*/ 283 h 18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705" h="1835">
                    <a:moveTo>
                      <a:pt x="564" y="0"/>
                    </a:moveTo>
                    <a:lnTo>
                      <a:pt x="141" y="0"/>
                    </a:lnTo>
                    <a:cubicBezTo>
                      <a:pt x="63" y="0"/>
                      <a:pt x="0" y="64"/>
                      <a:pt x="0" y="141"/>
                    </a:cubicBezTo>
                    <a:lnTo>
                      <a:pt x="0" y="1694"/>
                    </a:lnTo>
                    <a:cubicBezTo>
                      <a:pt x="0" y="1772"/>
                      <a:pt x="63" y="1835"/>
                      <a:pt x="141" y="1835"/>
                    </a:cubicBezTo>
                    <a:lnTo>
                      <a:pt x="564" y="1835"/>
                    </a:lnTo>
                    <a:cubicBezTo>
                      <a:pt x="642" y="1835"/>
                      <a:pt x="705" y="1772"/>
                      <a:pt x="705" y="1694"/>
                    </a:cubicBezTo>
                    <a:lnTo>
                      <a:pt x="705" y="141"/>
                    </a:lnTo>
                    <a:cubicBezTo>
                      <a:pt x="705" y="64"/>
                      <a:pt x="642" y="0"/>
                      <a:pt x="564" y="0"/>
                    </a:cubicBezTo>
                    <a:close/>
                    <a:moveTo>
                      <a:pt x="211" y="1411"/>
                    </a:moveTo>
                    <a:cubicBezTo>
                      <a:pt x="172" y="1411"/>
                      <a:pt x="141" y="1380"/>
                      <a:pt x="141" y="1341"/>
                    </a:cubicBezTo>
                    <a:cubicBezTo>
                      <a:pt x="141" y="1302"/>
                      <a:pt x="172" y="1270"/>
                      <a:pt x="211" y="1270"/>
                    </a:cubicBezTo>
                    <a:cubicBezTo>
                      <a:pt x="250" y="1270"/>
                      <a:pt x="282" y="1302"/>
                      <a:pt x="282" y="1341"/>
                    </a:cubicBezTo>
                    <a:cubicBezTo>
                      <a:pt x="282" y="1380"/>
                      <a:pt x="250" y="1411"/>
                      <a:pt x="211" y="1411"/>
                    </a:cubicBezTo>
                    <a:close/>
                    <a:moveTo>
                      <a:pt x="564" y="565"/>
                    </a:moveTo>
                    <a:lnTo>
                      <a:pt x="141" y="565"/>
                    </a:lnTo>
                    <a:lnTo>
                      <a:pt x="141" y="424"/>
                    </a:lnTo>
                    <a:lnTo>
                      <a:pt x="564" y="424"/>
                    </a:lnTo>
                    <a:lnTo>
                      <a:pt x="564" y="565"/>
                    </a:lnTo>
                    <a:close/>
                    <a:moveTo>
                      <a:pt x="564" y="283"/>
                    </a:moveTo>
                    <a:lnTo>
                      <a:pt x="141" y="283"/>
                    </a:lnTo>
                    <a:lnTo>
                      <a:pt x="141" y="141"/>
                    </a:lnTo>
                    <a:lnTo>
                      <a:pt x="564" y="141"/>
                    </a:lnTo>
                    <a:lnTo>
                      <a:pt x="564" y="283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grpSp>
            <p:nvGrpSpPr>
              <p:cNvPr id="29" name="Группа 28"/>
              <p:cNvGrpSpPr/>
              <p:nvPr/>
            </p:nvGrpSpPr>
            <p:grpSpPr>
              <a:xfrm>
                <a:off x="4368721" y="3612182"/>
                <a:ext cx="712788" cy="712788"/>
                <a:chOff x="4368721" y="3612182"/>
                <a:chExt cx="712788" cy="712788"/>
              </a:xfrm>
            </p:grpSpPr>
            <p:sp>
              <p:nvSpPr>
                <p:cNvPr id="30" name="Freeform 110"/>
                <p:cNvSpPr>
                  <a:spLocks/>
                </p:cNvSpPr>
                <p:nvPr/>
              </p:nvSpPr>
              <p:spPr bwMode="auto">
                <a:xfrm>
                  <a:off x="4597321" y="4223370"/>
                  <a:ext cx="254000" cy="101600"/>
                </a:xfrm>
                <a:custGeom>
                  <a:avLst/>
                  <a:gdLst>
                    <a:gd name="T0" fmla="*/ 564 w 706"/>
                    <a:gd name="T1" fmla="*/ 142 h 283"/>
                    <a:gd name="T2" fmla="*/ 564 w 706"/>
                    <a:gd name="T3" fmla="*/ 0 h 283"/>
                    <a:gd name="T4" fmla="*/ 141 w 706"/>
                    <a:gd name="T5" fmla="*/ 0 h 283"/>
                    <a:gd name="T6" fmla="*/ 141 w 706"/>
                    <a:gd name="T7" fmla="*/ 142 h 283"/>
                    <a:gd name="T8" fmla="*/ 0 w 706"/>
                    <a:gd name="T9" fmla="*/ 283 h 283"/>
                    <a:gd name="T10" fmla="*/ 706 w 706"/>
                    <a:gd name="T11" fmla="*/ 283 h 283"/>
                    <a:gd name="T12" fmla="*/ 564 w 706"/>
                    <a:gd name="T13" fmla="*/ 142 h 28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06" h="283">
                      <a:moveTo>
                        <a:pt x="564" y="142"/>
                      </a:moveTo>
                      <a:lnTo>
                        <a:pt x="564" y="0"/>
                      </a:lnTo>
                      <a:lnTo>
                        <a:pt x="141" y="0"/>
                      </a:lnTo>
                      <a:lnTo>
                        <a:pt x="141" y="142"/>
                      </a:lnTo>
                      <a:cubicBezTo>
                        <a:pt x="63" y="142"/>
                        <a:pt x="0" y="205"/>
                        <a:pt x="0" y="283"/>
                      </a:cubicBezTo>
                      <a:lnTo>
                        <a:pt x="706" y="283"/>
                      </a:lnTo>
                      <a:cubicBezTo>
                        <a:pt x="706" y="205"/>
                        <a:pt x="642" y="142"/>
                        <a:pt x="564" y="142"/>
                      </a:cubicBezTo>
                      <a:close/>
                    </a:path>
                  </a:pathLst>
                </a:custGeom>
                <a:solidFill>
                  <a:srgbClr val="FF24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  <p:sp>
              <p:nvSpPr>
                <p:cNvPr id="31" name="Freeform 111"/>
                <p:cNvSpPr>
                  <a:spLocks noEditPoints="1"/>
                </p:cNvSpPr>
                <p:nvPr/>
              </p:nvSpPr>
              <p:spPr bwMode="auto">
                <a:xfrm>
                  <a:off x="4368721" y="3612182"/>
                  <a:ext cx="712788" cy="560388"/>
                </a:xfrm>
                <a:custGeom>
                  <a:avLst/>
                  <a:gdLst>
                    <a:gd name="T0" fmla="*/ 1834 w 1976"/>
                    <a:gd name="T1" fmla="*/ 0 h 1552"/>
                    <a:gd name="T2" fmla="*/ 141 w 1976"/>
                    <a:gd name="T3" fmla="*/ 0 h 1552"/>
                    <a:gd name="T4" fmla="*/ 0 w 1976"/>
                    <a:gd name="T5" fmla="*/ 141 h 1552"/>
                    <a:gd name="T6" fmla="*/ 1834 w 1976"/>
                    <a:gd name="T7" fmla="*/ 141 h 1552"/>
                    <a:gd name="T8" fmla="*/ 1834 w 1976"/>
                    <a:gd name="T9" fmla="*/ 1270 h 1552"/>
                    <a:gd name="T10" fmla="*/ 564 w 1976"/>
                    <a:gd name="T11" fmla="*/ 1270 h 1552"/>
                    <a:gd name="T12" fmla="*/ 564 w 1976"/>
                    <a:gd name="T13" fmla="*/ 1552 h 1552"/>
                    <a:gd name="T14" fmla="*/ 1834 w 1976"/>
                    <a:gd name="T15" fmla="*/ 1552 h 1552"/>
                    <a:gd name="T16" fmla="*/ 1976 w 1976"/>
                    <a:gd name="T17" fmla="*/ 1411 h 1552"/>
                    <a:gd name="T18" fmla="*/ 1976 w 1976"/>
                    <a:gd name="T19" fmla="*/ 141 h 1552"/>
                    <a:gd name="T20" fmla="*/ 1834 w 1976"/>
                    <a:gd name="T21" fmla="*/ 0 h 1552"/>
                    <a:gd name="T22" fmla="*/ 988 w 1976"/>
                    <a:gd name="T23" fmla="*/ 1482 h 1552"/>
                    <a:gd name="T24" fmla="*/ 917 w 1976"/>
                    <a:gd name="T25" fmla="*/ 1411 h 1552"/>
                    <a:gd name="T26" fmla="*/ 988 w 1976"/>
                    <a:gd name="T27" fmla="*/ 1341 h 1552"/>
                    <a:gd name="T28" fmla="*/ 1058 w 1976"/>
                    <a:gd name="T29" fmla="*/ 1411 h 1552"/>
                    <a:gd name="T30" fmla="*/ 988 w 1976"/>
                    <a:gd name="T31" fmla="*/ 1482 h 15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</a:cxnLst>
                  <a:rect l="0" t="0" r="r" b="b"/>
                  <a:pathLst>
                    <a:path w="1976" h="1552">
                      <a:moveTo>
                        <a:pt x="1834" y="0"/>
                      </a:moveTo>
                      <a:lnTo>
                        <a:pt x="141" y="0"/>
                      </a:lnTo>
                      <a:cubicBezTo>
                        <a:pt x="63" y="0"/>
                        <a:pt x="0" y="63"/>
                        <a:pt x="0" y="141"/>
                      </a:cubicBezTo>
                      <a:lnTo>
                        <a:pt x="1834" y="141"/>
                      </a:lnTo>
                      <a:lnTo>
                        <a:pt x="1834" y="1270"/>
                      </a:lnTo>
                      <a:lnTo>
                        <a:pt x="564" y="1270"/>
                      </a:lnTo>
                      <a:lnTo>
                        <a:pt x="564" y="1552"/>
                      </a:lnTo>
                      <a:lnTo>
                        <a:pt x="1834" y="1552"/>
                      </a:lnTo>
                      <a:cubicBezTo>
                        <a:pt x="1912" y="1552"/>
                        <a:pt x="1976" y="1489"/>
                        <a:pt x="1976" y="1411"/>
                      </a:cubicBezTo>
                      <a:lnTo>
                        <a:pt x="1976" y="141"/>
                      </a:lnTo>
                      <a:cubicBezTo>
                        <a:pt x="1976" y="63"/>
                        <a:pt x="1912" y="0"/>
                        <a:pt x="1834" y="0"/>
                      </a:cubicBezTo>
                      <a:close/>
                      <a:moveTo>
                        <a:pt x="988" y="1482"/>
                      </a:moveTo>
                      <a:cubicBezTo>
                        <a:pt x="949" y="1482"/>
                        <a:pt x="917" y="1450"/>
                        <a:pt x="917" y="1411"/>
                      </a:cubicBezTo>
                      <a:cubicBezTo>
                        <a:pt x="917" y="1372"/>
                        <a:pt x="949" y="1341"/>
                        <a:pt x="988" y="1341"/>
                      </a:cubicBezTo>
                      <a:cubicBezTo>
                        <a:pt x="1027" y="1341"/>
                        <a:pt x="1058" y="1372"/>
                        <a:pt x="1058" y="1411"/>
                      </a:cubicBezTo>
                      <a:cubicBezTo>
                        <a:pt x="1058" y="1450"/>
                        <a:pt x="1027" y="1482"/>
                        <a:pt x="988" y="1482"/>
                      </a:cubicBezTo>
                      <a:close/>
                    </a:path>
                  </a:pathLst>
                </a:custGeom>
                <a:solidFill>
                  <a:srgbClr val="FF24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ru-RU"/>
                </a:p>
              </p:txBody>
            </p:sp>
          </p:grpSp>
        </p:grpSp>
        <p:sp>
          <p:nvSpPr>
            <p:cNvPr id="27" name="Oval 145"/>
            <p:cNvSpPr>
              <a:spLocks noChangeArrowheads="1"/>
            </p:cNvSpPr>
            <p:nvPr/>
          </p:nvSpPr>
          <p:spPr bwMode="auto">
            <a:xfrm>
              <a:off x="3874207" y="4100946"/>
              <a:ext cx="85725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aphicFrame>
        <p:nvGraphicFramePr>
          <p:cNvPr id="16" name="Chart1"/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678466086"/>
              </p:ext>
            </p:extLst>
          </p:nvPr>
        </p:nvGraphicFramePr>
        <p:xfrm>
          <a:off x="287019" y="1369844"/>
          <a:ext cx="8569324" cy="209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7" name="SquareInfo2"/>
          <p:cNvSpPr txBox="1"/>
          <p:nvPr>
            <p:custDataLst>
              <p:tags r:id="rId5"/>
            </p:custDataLst>
          </p:nvPr>
        </p:nvSpPr>
        <p:spPr>
          <a:xfrm>
            <a:off x="6696235" y="3719584"/>
            <a:ext cx="2160107" cy="2023212"/>
          </a:xfrm>
          <a:prstGeom prst="rect">
            <a:avLst/>
          </a:prstGeom>
        </p:spPr>
        <p:txBody>
          <a:bodyPr vert="horz" wrap="none" lIns="0" tIns="0" rIns="0" bIns="0" rtlCol="0">
            <a:normAutofit/>
          </a:bodyPr>
          <a:lstStyle/>
          <a:p>
            <a:pPr marL="171450" lvl="1" indent="-171450">
              <a:spcBef>
                <a:spcPts val="0"/>
              </a:spcBef>
              <a:spcAft>
                <a:spcPts val="300"/>
              </a:spcAft>
              <a:buSzPct val="90000"/>
              <a:buFont typeface="Arial" panose="020B0604020202020204" pitchFamily="34" charset="0"/>
              <a:buChar char="•"/>
            </a:pPr>
            <a:r>
              <a:rPr lang="ru-RU" sz="900" dirty="0">
                <a:solidFill>
                  <a:srgbClr val="545353"/>
                </a:solidFill>
              </a:rPr>
              <a:t>НПВ указано с учетом осложнений </a:t>
            </a:r>
            <a:endParaRPr lang="en-US" sz="900" dirty="0" smtClean="0">
              <a:solidFill>
                <a:srgbClr val="545353"/>
              </a:solidFill>
            </a:endParaRPr>
          </a:p>
          <a:p>
            <a:pPr marL="0" lvl="1">
              <a:spcBef>
                <a:spcPts val="0"/>
              </a:spcBef>
              <a:spcAft>
                <a:spcPts val="300"/>
              </a:spcAft>
              <a:buSzPct val="90000"/>
            </a:pPr>
            <a:r>
              <a:rPr lang="en-US" sz="900" dirty="0">
                <a:solidFill>
                  <a:srgbClr val="545353"/>
                </a:solidFill>
              </a:rPr>
              <a:t> </a:t>
            </a:r>
            <a:r>
              <a:rPr lang="en-US" sz="900" dirty="0" smtClean="0">
                <a:solidFill>
                  <a:srgbClr val="545353"/>
                </a:solidFill>
              </a:rPr>
              <a:t>     </a:t>
            </a:r>
            <a:r>
              <a:rPr lang="ru-RU" sz="900" dirty="0" smtClean="0">
                <a:solidFill>
                  <a:srgbClr val="545353"/>
                </a:solidFill>
              </a:rPr>
              <a:t>геологического </a:t>
            </a:r>
            <a:r>
              <a:rPr lang="ru-RU" sz="900" dirty="0">
                <a:solidFill>
                  <a:srgbClr val="545353"/>
                </a:solidFill>
              </a:rPr>
              <a:t>характера</a:t>
            </a:r>
          </a:p>
        </p:txBody>
      </p:sp>
      <p:graphicFrame>
        <p:nvGraphicFramePr>
          <p:cNvPr id="18" name="Chart2"/>
          <p:cNvGraphicFramePr>
            <a:graphicFrameLocks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688500884"/>
              </p:ext>
            </p:extLst>
          </p:nvPr>
        </p:nvGraphicFramePr>
        <p:xfrm>
          <a:off x="287336" y="3715444"/>
          <a:ext cx="6264884" cy="244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1811057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007605" y="337703"/>
            <a:ext cx="7849058" cy="607021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НПВ по подрядчикам 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По Дирекции по Добыче с начала года</a:t>
            </a:r>
            <a:endParaRPr lang="ru-RU" sz="1200" dirty="0">
              <a:solidFill>
                <a:srgbClr val="545353"/>
              </a:solidFill>
            </a:endParaRPr>
          </a:p>
        </p:txBody>
      </p:sp>
      <p:sp>
        <p:nvSpPr>
          <p:cNvPr id="11" name="Text1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87138" y="1124744"/>
            <a:ext cx="5545002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algn="ctr" defTabSz="931343" eaLnBrk="0" hangingPunct="0">
              <a:defRPr sz="800" b="1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defRPr>
            </a:lvl1pPr>
          </a:lstStyle>
          <a:p>
            <a:r>
              <a:rPr lang="ru-RU" dirty="0"/>
              <a:t>НПВ по Буровым подрядчикам по пяти ДО, с начала года по </a:t>
            </a:r>
            <a:r>
              <a:rPr lang="en-US" dirty="0" smtClean="0"/>
              <a:t>month</a:t>
            </a:r>
            <a:endParaRPr lang="ru-RU" dirty="0"/>
          </a:p>
        </p:txBody>
      </p:sp>
      <p:sp>
        <p:nvSpPr>
          <p:cNvPr id="15" name="SquareNpv"/>
          <p:cNvSpPr/>
          <p:nvPr>
            <p:custDataLst>
              <p:tags r:id="rId3"/>
            </p:custDataLst>
          </p:nvPr>
        </p:nvSpPr>
        <p:spPr>
          <a:xfrm>
            <a:off x="5292080" y="1376772"/>
            <a:ext cx="504827" cy="1431535"/>
          </a:xfrm>
          <a:custGeom>
            <a:avLst/>
            <a:gdLst>
              <a:gd name="connsiteX0" fmla="*/ 0 w 1296144"/>
              <a:gd name="connsiteY0" fmla="*/ 0 h 1366912"/>
              <a:gd name="connsiteX1" fmla="*/ 1296144 w 1296144"/>
              <a:gd name="connsiteY1" fmla="*/ 0 h 1366912"/>
              <a:gd name="connsiteX2" fmla="*/ 1296144 w 1296144"/>
              <a:gd name="connsiteY2" fmla="*/ 1366912 h 1366912"/>
              <a:gd name="connsiteX3" fmla="*/ 0 w 1296144"/>
              <a:gd name="connsiteY3" fmla="*/ 1366912 h 1366912"/>
              <a:gd name="connsiteX4" fmla="*/ 0 w 1296144"/>
              <a:gd name="connsiteY4" fmla="*/ 0 h 1366912"/>
              <a:gd name="connsiteX0" fmla="*/ 111512 w 1296144"/>
              <a:gd name="connsiteY0" fmla="*/ 0 h 1366912"/>
              <a:gd name="connsiteX1" fmla="*/ 1296144 w 1296144"/>
              <a:gd name="connsiteY1" fmla="*/ 0 h 1366912"/>
              <a:gd name="connsiteX2" fmla="*/ 1296144 w 1296144"/>
              <a:gd name="connsiteY2" fmla="*/ 1366912 h 1366912"/>
              <a:gd name="connsiteX3" fmla="*/ 0 w 1296144"/>
              <a:gd name="connsiteY3" fmla="*/ 1366912 h 1366912"/>
              <a:gd name="connsiteX4" fmla="*/ 111512 w 1296144"/>
              <a:gd name="connsiteY4" fmla="*/ 0 h 1366912"/>
              <a:gd name="connsiteX0" fmla="*/ 14868 w 1199500"/>
              <a:gd name="connsiteY0" fmla="*/ 0 h 1366912"/>
              <a:gd name="connsiteX1" fmla="*/ 1199500 w 1199500"/>
              <a:gd name="connsiteY1" fmla="*/ 0 h 1366912"/>
              <a:gd name="connsiteX2" fmla="*/ 1199500 w 1199500"/>
              <a:gd name="connsiteY2" fmla="*/ 1366912 h 1366912"/>
              <a:gd name="connsiteX3" fmla="*/ 0 w 1199500"/>
              <a:gd name="connsiteY3" fmla="*/ 1366912 h 1366912"/>
              <a:gd name="connsiteX4" fmla="*/ 14868 w 1199500"/>
              <a:gd name="connsiteY4" fmla="*/ 0 h 1366912"/>
              <a:gd name="connsiteX0" fmla="*/ 0 w 1212152"/>
              <a:gd name="connsiteY0" fmla="*/ 0 h 1374346"/>
              <a:gd name="connsiteX1" fmla="*/ 1212152 w 1212152"/>
              <a:gd name="connsiteY1" fmla="*/ 7434 h 1374346"/>
              <a:gd name="connsiteX2" fmla="*/ 1212152 w 1212152"/>
              <a:gd name="connsiteY2" fmla="*/ 1374346 h 1374346"/>
              <a:gd name="connsiteX3" fmla="*/ 12652 w 1212152"/>
              <a:gd name="connsiteY3" fmla="*/ 1374346 h 1374346"/>
              <a:gd name="connsiteX4" fmla="*/ 0 w 1212152"/>
              <a:gd name="connsiteY4" fmla="*/ 0 h 1374346"/>
              <a:gd name="connsiteX0" fmla="*/ 348054 w 1560206"/>
              <a:gd name="connsiteY0" fmla="*/ 0 h 1374346"/>
              <a:gd name="connsiteX1" fmla="*/ 1560206 w 1560206"/>
              <a:gd name="connsiteY1" fmla="*/ 7434 h 1374346"/>
              <a:gd name="connsiteX2" fmla="*/ 1560206 w 1560206"/>
              <a:gd name="connsiteY2" fmla="*/ 1374346 h 1374346"/>
              <a:gd name="connsiteX3" fmla="*/ 360706 w 1560206"/>
              <a:gd name="connsiteY3" fmla="*/ 1374346 h 1374346"/>
              <a:gd name="connsiteX4" fmla="*/ 348054 w 1560206"/>
              <a:gd name="connsiteY4" fmla="*/ 0 h 1374346"/>
              <a:gd name="connsiteX0" fmla="*/ 58 w 1212210"/>
              <a:gd name="connsiteY0" fmla="*/ 0 h 1374346"/>
              <a:gd name="connsiteX1" fmla="*/ 1212210 w 1212210"/>
              <a:gd name="connsiteY1" fmla="*/ 7434 h 1374346"/>
              <a:gd name="connsiteX2" fmla="*/ 1212210 w 1212210"/>
              <a:gd name="connsiteY2" fmla="*/ 1374346 h 1374346"/>
              <a:gd name="connsiteX3" fmla="*/ 12710 w 1212210"/>
              <a:gd name="connsiteY3" fmla="*/ 1374346 h 1374346"/>
              <a:gd name="connsiteX4" fmla="*/ 58 w 1212210"/>
              <a:gd name="connsiteY4" fmla="*/ 0 h 137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210" h="1374346">
                <a:moveTo>
                  <a:pt x="58" y="0"/>
                </a:moveTo>
                <a:lnTo>
                  <a:pt x="1212210" y="7434"/>
                </a:lnTo>
                <a:lnTo>
                  <a:pt x="1212210" y="1374346"/>
                </a:lnTo>
                <a:lnTo>
                  <a:pt x="12710" y="1374346"/>
                </a:lnTo>
                <a:cubicBezTo>
                  <a:pt x="8493" y="916231"/>
                  <a:pt x="-814" y="547810"/>
                  <a:pt x="58" y="0"/>
                </a:cubicBezTo>
                <a:close/>
              </a:path>
            </a:pathLst>
          </a:custGeom>
          <a:noFill/>
          <a:ln w="12700">
            <a:solidFill>
              <a:srgbClr val="C00000">
                <a:alpha val="7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endParaRPr lang="ru-RU" sz="700" dirty="0" smtClean="0">
              <a:solidFill>
                <a:srgbClr val="FF0000"/>
              </a:solidFill>
            </a:endParaRPr>
          </a:p>
        </p:txBody>
      </p:sp>
      <p:sp>
        <p:nvSpPr>
          <p:cNvPr id="17" name="Text2"/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287338" y="3938700"/>
            <a:ext cx="5544802" cy="1743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defPPr>
              <a:defRPr lang="ru-RU"/>
            </a:defPPr>
            <a:lvl1pPr algn="ctr" defTabSz="931343" eaLnBrk="0" hangingPunct="0">
              <a:defRPr sz="800" b="1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defRPr>
            </a:lvl1pPr>
          </a:lstStyle>
          <a:p>
            <a:r>
              <a:rPr lang="ru-RU" dirty="0"/>
              <a:t>НПВ по буровым подрядчикам в ЗБС по пяти ДО, с начала года по </a:t>
            </a:r>
            <a:r>
              <a:rPr lang="en-US" dirty="0" smtClean="0"/>
              <a:t>month</a:t>
            </a:r>
            <a:endParaRPr lang="ru-RU" dirty="0"/>
          </a:p>
        </p:txBody>
      </p:sp>
      <p:sp>
        <p:nvSpPr>
          <p:cNvPr id="19" name="SquareNpv_Zbs"/>
          <p:cNvSpPr/>
          <p:nvPr>
            <p:custDataLst>
              <p:tags r:id="rId5"/>
            </p:custDataLst>
          </p:nvPr>
        </p:nvSpPr>
        <p:spPr>
          <a:xfrm>
            <a:off x="5328084" y="4172522"/>
            <a:ext cx="504056" cy="1404156"/>
          </a:xfrm>
          <a:custGeom>
            <a:avLst/>
            <a:gdLst>
              <a:gd name="connsiteX0" fmla="*/ 0 w 1296144"/>
              <a:gd name="connsiteY0" fmla="*/ 0 h 1366912"/>
              <a:gd name="connsiteX1" fmla="*/ 1296144 w 1296144"/>
              <a:gd name="connsiteY1" fmla="*/ 0 h 1366912"/>
              <a:gd name="connsiteX2" fmla="*/ 1296144 w 1296144"/>
              <a:gd name="connsiteY2" fmla="*/ 1366912 h 1366912"/>
              <a:gd name="connsiteX3" fmla="*/ 0 w 1296144"/>
              <a:gd name="connsiteY3" fmla="*/ 1366912 h 1366912"/>
              <a:gd name="connsiteX4" fmla="*/ 0 w 1296144"/>
              <a:gd name="connsiteY4" fmla="*/ 0 h 1366912"/>
              <a:gd name="connsiteX0" fmla="*/ 111512 w 1296144"/>
              <a:gd name="connsiteY0" fmla="*/ 0 h 1366912"/>
              <a:gd name="connsiteX1" fmla="*/ 1296144 w 1296144"/>
              <a:gd name="connsiteY1" fmla="*/ 0 h 1366912"/>
              <a:gd name="connsiteX2" fmla="*/ 1296144 w 1296144"/>
              <a:gd name="connsiteY2" fmla="*/ 1366912 h 1366912"/>
              <a:gd name="connsiteX3" fmla="*/ 0 w 1296144"/>
              <a:gd name="connsiteY3" fmla="*/ 1366912 h 1366912"/>
              <a:gd name="connsiteX4" fmla="*/ 111512 w 1296144"/>
              <a:gd name="connsiteY4" fmla="*/ 0 h 1366912"/>
              <a:gd name="connsiteX0" fmla="*/ 14868 w 1199500"/>
              <a:gd name="connsiteY0" fmla="*/ 0 h 1366912"/>
              <a:gd name="connsiteX1" fmla="*/ 1199500 w 1199500"/>
              <a:gd name="connsiteY1" fmla="*/ 0 h 1366912"/>
              <a:gd name="connsiteX2" fmla="*/ 1199500 w 1199500"/>
              <a:gd name="connsiteY2" fmla="*/ 1366912 h 1366912"/>
              <a:gd name="connsiteX3" fmla="*/ 0 w 1199500"/>
              <a:gd name="connsiteY3" fmla="*/ 1366912 h 1366912"/>
              <a:gd name="connsiteX4" fmla="*/ 14868 w 1199500"/>
              <a:gd name="connsiteY4" fmla="*/ 0 h 1366912"/>
              <a:gd name="connsiteX0" fmla="*/ 0 w 1212152"/>
              <a:gd name="connsiteY0" fmla="*/ 0 h 1374346"/>
              <a:gd name="connsiteX1" fmla="*/ 1212152 w 1212152"/>
              <a:gd name="connsiteY1" fmla="*/ 7434 h 1374346"/>
              <a:gd name="connsiteX2" fmla="*/ 1212152 w 1212152"/>
              <a:gd name="connsiteY2" fmla="*/ 1374346 h 1374346"/>
              <a:gd name="connsiteX3" fmla="*/ 12652 w 1212152"/>
              <a:gd name="connsiteY3" fmla="*/ 1374346 h 1374346"/>
              <a:gd name="connsiteX4" fmla="*/ 0 w 1212152"/>
              <a:gd name="connsiteY4" fmla="*/ 0 h 1374346"/>
              <a:gd name="connsiteX0" fmla="*/ 348054 w 1560206"/>
              <a:gd name="connsiteY0" fmla="*/ 0 h 1374346"/>
              <a:gd name="connsiteX1" fmla="*/ 1560206 w 1560206"/>
              <a:gd name="connsiteY1" fmla="*/ 7434 h 1374346"/>
              <a:gd name="connsiteX2" fmla="*/ 1560206 w 1560206"/>
              <a:gd name="connsiteY2" fmla="*/ 1374346 h 1374346"/>
              <a:gd name="connsiteX3" fmla="*/ 360706 w 1560206"/>
              <a:gd name="connsiteY3" fmla="*/ 1374346 h 1374346"/>
              <a:gd name="connsiteX4" fmla="*/ 348054 w 1560206"/>
              <a:gd name="connsiteY4" fmla="*/ 0 h 1374346"/>
              <a:gd name="connsiteX0" fmla="*/ 58 w 1212210"/>
              <a:gd name="connsiteY0" fmla="*/ 0 h 1374346"/>
              <a:gd name="connsiteX1" fmla="*/ 1212210 w 1212210"/>
              <a:gd name="connsiteY1" fmla="*/ 7434 h 1374346"/>
              <a:gd name="connsiteX2" fmla="*/ 1212210 w 1212210"/>
              <a:gd name="connsiteY2" fmla="*/ 1374346 h 1374346"/>
              <a:gd name="connsiteX3" fmla="*/ 12710 w 1212210"/>
              <a:gd name="connsiteY3" fmla="*/ 1374346 h 1374346"/>
              <a:gd name="connsiteX4" fmla="*/ 58 w 1212210"/>
              <a:gd name="connsiteY4" fmla="*/ 0 h 1374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2210" h="1374346">
                <a:moveTo>
                  <a:pt x="58" y="0"/>
                </a:moveTo>
                <a:lnTo>
                  <a:pt x="1212210" y="7434"/>
                </a:lnTo>
                <a:lnTo>
                  <a:pt x="1212210" y="1374346"/>
                </a:lnTo>
                <a:lnTo>
                  <a:pt x="12710" y="1374346"/>
                </a:lnTo>
                <a:cubicBezTo>
                  <a:pt x="8493" y="916231"/>
                  <a:pt x="-814" y="547810"/>
                  <a:pt x="58" y="0"/>
                </a:cubicBezTo>
                <a:close/>
              </a:path>
            </a:pathLst>
          </a:custGeom>
          <a:noFill/>
          <a:ln w="12700">
            <a:solidFill>
              <a:srgbClr val="C00000">
                <a:alpha val="70000"/>
              </a:srgb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tlCol="0" anchor="t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600"/>
              </a:spcBef>
            </a:pPr>
            <a:endParaRPr lang="ru-RU" sz="800" dirty="0" smtClean="0">
              <a:solidFill>
                <a:srgbClr val="FF0000"/>
              </a:solidFill>
            </a:endParaRPr>
          </a:p>
        </p:txBody>
      </p:sp>
      <p:sp>
        <p:nvSpPr>
          <p:cNvPr id="22" name="Прямоугольник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6012160" y="1124744"/>
            <a:ext cx="2844821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defTabSz="931343" eaLnBrk="0" hangingPunct="0"/>
            <a:r>
              <a:rPr lang="ru-RU" sz="800" b="1" dirty="0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rPr>
              <a:t>Комментарии</a:t>
            </a:r>
          </a:p>
        </p:txBody>
      </p:sp>
      <p:sp>
        <p:nvSpPr>
          <p:cNvPr id="23" name="Прямоугольник 8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012160" y="3933056"/>
            <a:ext cx="2844821" cy="18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algn="ctr" defTabSz="931343" eaLnBrk="0" hangingPunct="0"/>
            <a:r>
              <a:rPr lang="ru-RU" sz="800" b="1" dirty="0">
                <a:solidFill>
                  <a:srgbClr val="545353"/>
                </a:solidFill>
                <a:latin typeface="Arial" pitchFamily="34" charset="0"/>
                <a:cs typeface="Arabic Typesetting" pitchFamily="66" charset="-78"/>
              </a:rPr>
              <a:t>Комментарии</a:t>
            </a:r>
          </a:p>
        </p:txBody>
      </p:sp>
      <p:grpSp>
        <p:nvGrpSpPr>
          <p:cNvPr id="29" name="Группа 28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303852" y="344168"/>
            <a:ext cx="550986" cy="600452"/>
            <a:chOff x="4747940" y="1875420"/>
            <a:chExt cx="587375" cy="598488"/>
          </a:xfrm>
        </p:grpSpPr>
        <p:sp>
          <p:nvSpPr>
            <p:cNvPr id="30" name="Freeform 132"/>
            <p:cNvSpPr>
              <a:spLocks/>
            </p:cNvSpPr>
            <p:nvPr/>
          </p:nvSpPr>
          <p:spPr bwMode="auto">
            <a:xfrm>
              <a:off x="4747940" y="1875420"/>
              <a:ext cx="587375" cy="598488"/>
            </a:xfrm>
            <a:custGeom>
              <a:avLst/>
              <a:gdLst>
                <a:gd name="T0" fmla="*/ 226 w 1629"/>
                <a:gd name="T1" fmla="*/ 1476 h 1657"/>
                <a:gd name="T2" fmla="*/ 475 w 1629"/>
                <a:gd name="T3" fmla="*/ 1183 h 1657"/>
                <a:gd name="T4" fmla="*/ 618 w 1629"/>
                <a:gd name="T5" fmla="*/ 1091 h 1657"/>
                <a:gd name="T6" fmla="*/ 851 w 1629"/>
                <a:gd name="T7" fmla="*/ 1025 h 1657"/>
                <a:gd name="T8" fmla="*/ 941 w 1629"/>
                <a:gd name="T9" fmla="*/ 1071 h 1657"/>
                <a:gd name="T10" fmla="*/ 983 w 1629"/>
                <a:gd name="T11" fmla="*/ 859 h 1657"/>
                <a:gd name="T12" fmla="*/ 979 w 1629"/>
                <a:gd name="T13" fmla="*/ 629 h 1657"/>
                <a:gd name="T14" fmla="*/ 1051 w 1629"/>
                <a:gd name="T15" fmla="*/ 526 h 1657"/>
                <a:gd name="T16" fmla="*/ 1051 w 1629"/>
                <a:gd name="T17" fmla="*/ 519 h 1657"/>
                <a:gd name="T18" fmla="*/ 1360 w 1629"/>
                <a:gd name="T19" fmla="*/ 388 h 1657"/>
                <a:gd name="T20" fmla="*/ 1547 w 1629"/>
                <a:gd name="T21" fmla="*/ 309 h 1657"/>
                <a:gd name="T22" fmla="*/ 1326 w 1629"/>
                <a:gd name="T23" fmla="*/ 308 h 1657"/>
                <a:gd name="T24" fmla="*/ 1326 w 1629"/>
                <a:gd name="T25" fmla="*/ 316 h 1657"/>
                <a:gd name="T26" fmla="*/ 1018 w 1629"/>
                <a:gd name="T27" fmla="*/ 446 h 1657"/>
                <a:gd name="T28" fmla="*/ 831 w 1629"/>
                <a:gd name="T29" fmla="*/ 526 h 1657"/>
                <a:gd name="T30" fmla="*/ 903 w 1629"/>
                <a:gd name="T31" fmla="*/ 629 h 1657"/>
                <a:gd name="T32" fmla="*/ 899 w 1629"/>
                <a:gd name="T33" fmla="*/ 859 h 1657"/>
                <a:gd name="T34" fmla="*/ 831 w 1629"/>
                <a:gd name="T35" fmla="*/ 951 h 1657"/>
                <a:gd name="T36" fmla="*/ 597 w 1629"/>
                <a:gd name="T37" fmla="*/ 1011 h 1657"/>
                <a:gd name="T38" fmla="*/ 398 w 1629"/>
                <a:gd name="T39" fmla="*/ 1078 h 1657"/>
                <a:gd name="T40" fmla="*/ 413 w 1629"/>
                <a:gd name="T41" fmla="*/ 1133 h 1657"/>
                <a:gd name="T42" fmla="*/ 186 w 1629"/>
                <a:gd name="T43" fmla="*/ 33 h 1657"/>
                <a:gd name="T44" fmla="*/ 106 w 1629"/>
                <a:gd name="T45" fmla="*/ 0 h 1657"/>
                <a:gd name="T46" fmla="*/ 72 w 1629"/>
                <a:gd name="T47" fmla="*/ 157 h 1657"/>
                <a:gd name="T48" fmla="*/ 0 w 1629"/>
                <a:gd name="T49" fmla="*/ 191 h 1657"/>
                <a:gd name="T50" fmla="*/ 34 w 1629"/>
                <a:gd name="T51" fmla="*/ 233 h 1657"/>
                <a:gd name="T52" fmla="*/ 72 w 1629"/>
                <a:gd name="T53" fmla="*/ 536 h 1657"/>
                <a:gd name="T54" fmla="*/ 0 w 1629"/>
                <a:gd name="T55" fmla="*/ 570 h 1657"/>
                <a:gd name="T56" fmla="*/ 34 w 1629"/>
                <a:gd name="T57" fmla="*/ 612 h 1657"/>
                <a:gd name="T58" fmla="*/ 72 w 1629"/>
                <a:gd name="T59" fmla="*/ 915 h 1657"/>
                <a:gd name="T60" fmla="*/ 0 w 1629"/>
                <a:gd name="T61" fmla="*/ 948 h 1657"/>
                <a:gd name="T62" fmla="*/ 34 w 1629"/>
                <a:gd name="T63" fmla="*/ 990 h 1657"/>
                <a:gd name="T64" fmla="*/ 72 w 1629"/>
                <a:gd name="T65" fmla="*/ 1293 h 1657"/>
                <a:gd name="T66" fmla="*/ 0 w 1629"/>
                <a:gd name="T67" fmla="*/ 1327 h 1657"/>
                <a:gd name="T68" fmla="*/ 34 w 1629"/>
                <a:gd name="T69" fmla="*/ 1369 h 1657"/>
                <a:gd name="T70" fmla="*/ 72 w 1629"/>
                <a:gd name="T71" fmla="*/ 1556 h 1657"/>
                <a:gd name="T72" fmla="*/ 354 w 1629"/>
                <a:gd name="T73" fmla="*/ 1590 h 1657"/>
                <a:gd name="T74" fmla="*/ 388 w 1629"/>
                <a:gd name="T75" fmla="*/ 1657 h 1657"/>
                <a:gd name="T76" fmla="*/ 430 w 1629"/>
                <a:gd name="T77" fmla="*/ 1624 h 1657"/>
                <a:gd name="T78" fmla="*/ 733 w 1629"/>
                <a:gd name="T79" fmla="*/ 1590 h 1657"/>
                <a:gd name="T80" fmla="*/ 767 w 1629"/>
                <a:gd name="T81" fmla="*/ 1657 h 1657"/>
                <a:gd name="T82" fmla="*/ 809 w 1629"/>
                <a:gd name="T83" fmla="*/ 1624 h 1657"/>
                <a:gd name="T84" fmla="*/ 1111 w 1629"/>
                <a:gd name="T85" fmla="*/ 1590 h 1657"/>
                <a:gd name="T86" fmla="*/ 1145 w 1629"/>
                <a:gd name="T87" fmla="*/ 1657 h 1657"/>
                <a:gd name="T88" fmla="*/ 1187 w 1629"/>
                <a:gd name="T89" fmla="*/ 1624 h 1657"/>
                <a:gd name="T90" fmla="*/ 1490 w 1629"/>
                <a:gd name="T91" fmla="*/ 1590 h 1657"/>
                <a:gd name="T92" fmla="*/ 1524 w 1629"/>
                <a:gd name="T93" fmla="*/ 1657 h 1657"/>
                <a:gd name="T94" fmla="*/ 1566 w 1629"/>
                <a:gd name="T95" fmla="*/ 1624 h 1657"/>
                <a:gd name="T96" fmla="*/ 1595 w 1629"/>
                <a:gd name="T97" fmla="*/ 1590 h 1657"/>
                <a:gd name="T98" fmla="*/ 1629 w 1629"/>
                <a:gd name="T99" fmla="*/ 1510 h 1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29" h="1657">
                  <a:moveTo>
                    <a:pt x="1595" y="1476"/>
                  </a:moveTo>
                  <a:lnTo>
                    <a:pt x="226" y="1476"/>
                  </a:lnTo>
                  <a:lnTo>
                    <a:pt x="471" y="1182"/>
                  </a:lnTo>
                  <a:lnTo>
                    <a:pt x="475" y="1183"/>
                  </a:lnTo>
                  <a:cubicBezTo>
                    <a:pt x="486" y="1186"/>
                    <a:pt x="497" y="1188"/>
                    <a:pt x="509" y="1188"/>
                  </a:cubicBezTo>
                  <a:cubicBezTo>
                    <a:pt x="564" y="1188"/>
                    <a:pt x="612" y="1146"/>
                    <a:pt x="618" y="1091"/>
                  </a:cubicBezTo>
                  <a:lnTo>
                    <a:pt x="619" y="1087"/>
                  </a:lnTo>
                  <a:lnTo>
                    <a:pt x="851" y="1025"/>
                  </a:lnTo>
                  <a:lnTo>
                    <a:pt x="853" y="1028"/>
                  </a:lnTo>
                  <a:cubicBezTo>
                    <a:pt x="874" y="1055"/>
                    <a:pt x="906" y="1071"/>
                    <a:pt x="941" y="1071"/>
                  </a:cubicBezTo>
                  <a:cubicBezTo>
                    <a:pt x="1002" y="1071"/>
                    <a:pt x="1051" y="1022"/>
                    <a:pt x="1051" y="961"/>
                  </a:cubicBezTo>
                  <a:cubicBezTo>
                    <a:pt x="1051" y="916"/>
                    <a:pt x="1025" y="876"/>
                    <a:pt x="983" y="859"/>
                  </a:cubicBezTo>
                  <a:lnTo>
                    <a:pt x="979" y="857"/>
                  </a:lnTo>
                  <a:lnTo>
                    <a:pt x="979" y="629"/>
                  </a:lnTo>
                  <a:lnTo>
                    <a:pt x="983" y="628"/>
                  </a:lnTo>
                  <a:cubicBezTo>
                    <a:pt x="1024" y="611"/>
                    <a:pt x="1051" y="571"/>
                    <a:pt x="1051" y="526"/>
                  </a:cubicBezTo>
                  <a:cubicBezTo>
                    <a:pt x="1051" y="526"/>
                    <a:pt x="1051" y="525"/>
                    <a:pt x="1051" y="525"/>
                  </a:cubicBezTo>
                  <a:lnTo>
                    <a:pt x="1051" y="519"/>
                  </a:lnTo>
                  <a:lnTo>
                    <a:pt x="1356" y="385"/>
                  </a:lnTo>
                  <a:lnTo>
                    <a:pt x="1360" y="388"/>
                  </a:lnTo>
                  <a:cubicBezTo>
                    <a:pt x="1380" y="408"/>
                    <a:pt x="1408" y="419"/>
                    <a:pt x="1436" y="419"/>
                  </a:cubicBezTo>
                  <a:cubicBezTo>
                    <a:pt x="1497" y="419"/>
                    <a:pt x="1547" y="370"/>
                    <a:pt x="1547" y="309"/>
                  </a:cubicBezTo>
                  <a:cubicBezTo>
                    <a:pt x="1547" y="248"/>
                    <a:pt x="1497" y="198"/>
                    <a:pt x="1436" y="198"/>
                  </a:cubicBezTo>
                  <a:cubicBezTo>
                    <a:pt x="1376" y="198"/>
                    <a:pt x="1326" y="248"/>
                    <a:pt x="1326" y="308"/>
                  </a:cubicBezTo>
                  <a:cubicBezTo>
                    <a:pt x="1326" y="309"/>
                    <a:pt x="1326" y="309"/>
                    <a:pt x="1326" y="309"/>
                  </a:cubicBezTo>
                  <a:lnTo>
                    <a:pt x="1326" y="316"/>
                  </a:lnTo>
                  <a:lnTo>
                    <a:pt x="1021" y="449"/>
                  </a:lnTo>
                  <a:lnTo>
                    <a:pt x="1018" y="446"/>
                  </a:lnTo>
                  <a:cubicBezTo>
                    <a:pt x="997" y="426"/>
                    <a:pt x="970" y="415"/>
                    <a:pt x="941" y="415"/>
                  </a:cubicBezTo>
                  <a:cubicBezTo>
                    <a:pt x="880" y="415"/>
                    <a:pt x="831" y="465"/>
                    <a:pt x="831" y="526"/>
                  </a:cubicBezTo>
                  <a:cubicBezTo>
                    <a:pt x="831" y="571"/>
                    <a:pt x="858" y="611"/>
                    <a:pt x="899" y="628"/>
                  </a:cubicBezTo>
                  <a:lnTo>
                    <a:pt x="903" y="629"/>
                  </a:lnTo>
                  <a:lnTo>
                    <a:pt x="903" y="857"/>
                  </a:lnTo>
                  <a:lnTo>
                    <a:pt x="899" y="859"/>
                  </a:lnTo>
                  <a:cubicBezTo>
                    <a:pt x="862" y="874"/>
                    <a:pt x="836" y="908"/>
                    <a:pt x="832" y="947"/>
                  </a:cubicBezTo>
                  <a:lnTo>
                    <a:pt x="831" y="951"/>
                  </a:lnTo>
                  <a:lnTo>
                    <a:pt x="599" y="1014"/>
                  </a:lnTo>
                  <a:lnTo>
                    <a:pt x="597" y="1011"/>
                  </a:lnTo>
                  <a:cubicBezTo>
                    <a:pt x="576" y="983"/>
                    <a:pt x="544" y="967"/>
                    <a:pt x="509" y="967"/>
                  </a:cubicBezTo>
                  <a:cubicBezTo>
                    <a:pt x="448" y="967"/>
                    <a:pt x="398" y="1017"/>
                    <a:pt x="398" y="1078"/>
                  </a:cubicBezTo>
                  <a:cubicBezTo>
                    <a:pt x="398" y="1096"/>
                    <a:pt x="403" y="1113"/>
                    <a:pt x="411" y="1129"/>
                  </a:cubicBezTo>
                  <a:lnTo>
                    <a:pt x="413" y="1133"/>
                  </a:lnTo>
                  <a:lnTo>
                    <a:pt x="186" y="1406"/>
                  </a:lnTo>
                  <a:lnTo>
                    <a:pt x="186" y="33"/>
                  </a:lnTo>
                  <a:cubicBezTo>
                    <a:pt x="186" y="15"/>
                    <a:pt x="171" y="0"/>
                    <a:pt x="152" y="0"/>
                  </a:cubicBezTo>
                  <a:lnTo>
                    <a:pt x="106" y="0"/>
                  </a:lnTo>
                  <a:cubicBezTo>
                    <a:pt x="87" y="0"/>
                    <a:pt x="72" y="15"/>
                    <a:pt x="72" y="33"/>
                  </a:cubicBezTo>
                  <a:lnTo>
                    <a:pt x="72" y="157"/>
                  </a:lnTo>
                  <a:lnTo>
                    <a:pt x="34" y="157"/>
                  </a:lnTo>
                  <a:cubicBezTo>
                    <a:pt x="15" y="157"/>
                    <a:pt x="0" y="173"/>
                    <a:pt x="0" y="191"/>
                  </a:cubicBezTo>
                  <a:lnTo>
                    <a:pt x="0" y="200"/>
                  </a:lnTo>
                  <a:cubicBezTo>
                    <a:pt x="0" y="218"/>
                    <a:pt x="15" y="233"/>
                    <a:pt x="34" y="233"/>
                  </a:cubicBezTo>
                  <a:lnTo>
                    <a:pt x="72" y="233"/>
                  </a:lnTo>
                  <a:lnTo>
                    <a:pt x="72" y="536"/>
                  </a:lnTo>
                  <a:lnTo>
                    <a:pt x="34" y="536"/>
                  </a:lnTo>
                  <a:cubicBezTo>
                    <a:pt x="15" y="536"/>
                    <a:pt x="0" y="551"/>
                    <a:pt x="0" y="570"/>
                  </a:cubicBezTo>
                  <a:lnTo>
                    <a:pt x="0" y="578"/>
                  </a:lnTo>
                  <a:cubicBezTo>
                    <a:pt x="0" y="597"/>
                    <a:pt x="15" y="612"/>
                    <a:pt x="34" y="612"/>
                  </a:cubicBezTo>
                  <a:lnTo>
                    <a:pt x="72" y="612"/>
                  </a:lnTo>
                  <a:lnTo>
                    <a:pt x="72" y="915"/>
                  </a:lnTo>
                  <a:lnTo>
                    <a:pt x="34" y="915"/>
                  </a:lnTo>
                  <a:cubicBezTo>
                    <a:pt x="15" y="915"/>
                    <a:pt x="0" y="930"/>
                    <a:pt x="0" y="948"/>
                  </a:cubicBezTo>
                  <a:lnTo>
                    <a:pt x="0" y="957"/>
                  </a:lnTo>
                  <a:cubicBezTo>
                    <a:pt x="0" y="975"/>
                    <a:pt x="15" y="990"/>
                    <a:pt x="34" y="990"/>
                  </a:cubicBezTo>
                  <a:lnTo>
                    <a:pt x="72" y="990"/>
                  </a:lnTo>
                  <a:lnTo>
                    <a:pt x="72" y="1293"/>
                  </a:lnTo>
                  <a:lnTo>
                    <a:pt x="34" y="1293"/>
                  </a:lnTo>
                  <a:cubicBezTo>
                    <a:pt x="15" y="1293"/>
                    <a:pt x="0" y="1308"/>
                    <a:pt x="0" y="1327"/>
                  </a:cubicBezTo>
                  <a:lnTo>
                    <a:pt x="0" y="1335"/>
                  </a:lnTo>
                  <a:cubicBezTo>
                    <a:pt x="0" y="1354"/>
                    <a:pt x="15" y="1369"/>
                    <a:pt x="34" y="1369"/>
                  </a:cubicBezTo>
                  <a:lnTo>
                    <a:pt x="72" y="1369"/>
                  </a:lnTo>
                  <a:lnTo>
                    <a:pt x="72" y="1556"/>
                  </a:lnTo>
                  <a:cubicBezTo>
                    <a:pt x="72" y="1575"/>
                    <a:pt x="87" y="1590"/>
                    <a:pt x="106" y="1590"/>
                  </a:cubicBezTo>
                  <a:lnTo>
                    <a:pt x="354" y="1590"/>
                  </a:lnTo>
                  <a:lnTo>
                    <a:pt x="354" y="1624"/>
                  </a:lnTo>
                  <a:cubicBezTo>
                    <a:pt x="354" y="1642"/>
                    <a:pt x="369" y="1657"/>
                    <a:pt x="388" y="1657"/>
                  </a:cubicBezTo>
                  <a:lnTo>
                    <a:pt x="396" y="1657"/>
                  </a:lnTo>
                  <a:cubicBezTo>
                    <a:pt x="415" y="1657"/>
                    <a:pt x="430" y="1642"/>
                    <a:pt x="430" y="1624"/>
                  </a:cubicBezTo>
                  <a:lnTo>
                    <a:pt x="430" y="1590"/>
                  </a:lnTo>
                  <a:lnTo>
                    <a:pt x="733" y="1590"/>
                  </a:lnTo>
                  <a:lnTo>
                    <a:pt x="733" y="1624"/>
                  </a:lnTo>
                  <a:cubicBezTo>
                    <a:pt x="733" y="1642"/>
                    <a:pt x="748" y="1657"/>
                    <a:pt x="767" y="1657"/>
                  </a:cubicBezTo>
                  <a:lnTo>
                    <a:pt x="775" y="1657"/>
                  </a:lnTo>
                  <a:cubicBezTo>
                    <a:pt x="794" y="1657"/>
                    <a:pt x="809" y="1642"/>
                    <a:pt x="809" y="1624"/>
                  </a:cubicBezTo>
                  <a:lnTo>
                    <a:pt x="809" y="1590"/>
                  </a:lnTo>
                  <a:lnTo>
                    <a:pt x="1111" y="1590"/>
                  </a:lnTo>
                  <a:lnTo>
                    <a:pt x="1111" y="1624"/>
                  </a:lnTo>
                  <a:cubicBezTo>
                    <a:pt x="1111" y="1642"/>
                    <a:pt x="1127" y="1657"/>
                    <a:pt x="1145" y="1657"/>
                  </a:cubicBezTo>
                  <a:lnTo>
                    <a:pt x="1154" y="1657"/>
                  </a:lnTo>
                  <a:cubicBezTo>
                    <a:pt x="1172" y="1657"/>
                    <a:pt x="1187" y="1642"/>
                    <a:pt x="1187" y="1624"/>
                  </a:cubicBezTo>
                  <a:lnTo>
                    <a:pt x="1187" y="1590"/>
                  </a:lnTo>
                  <a:lnTo>
                    <a:pt x="1490" y="1590"/>
                  </a:lnTo>
                  <a:lnTo>
                    <a:pt x="1490" y="1624"/>
                  </a:lnTo>
                  <a:cubicBezTo>
                    <a:pt x="1490" y="1642"/>
                    <a:pt x="1505" y="1657"/>
                    <a:pt x="1524" y="1657"/>
                  </a:cubicBezTo>
                  <a:lnTo>
                    <a:pt x="1532" y="1657"/>
                  </a:lnTo>
                  <a:cubicBezTo>
                    <a:pt x="1551" y="1657"/>
                    <a:pt x="1566" y="1642"/>
                    <a:pt x="1566" y="1624"/>
                  </a:cubicBezTo>
                  <a:lnTo>
                    <a:pt x="1566" y="1590"/>
                  </a:lnTo>
                  <a:lnTo>
                    <a:pt x="1595" y="1590"/>
                  </a:lnTo>
                  <a:cubicBezTo>
                    <a:pt x="1614" y="1590"/>
                    <a:pt x="1629" y="1575"/>
                    <a:pt x="1629" y="1556"/>
                  </a:cubicBezTo>
                  <a:lnTo>
                    <a:pt x="1629" y="1510"/>
                  </a:lnTo>
                  <a:cubicBezTo>
                    <a:pt x="1629" y="1491"/>
                    <a:pt x="1614" y="1476"/>
                    <a:pt x="1595" y="14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" name="Oval 142"/>
            <p:cNvSpPr>
              <a:spLocks noChangeArrowheads="1"/>
            </p:cNvSpPr>
            <p:nvPr/>
          </p:nvSpPr>
          <p:spPr bwMode="auto">
            <a:xfrm>
              <a:off x="4887640" y="2223083"/>
              <a:ext cx="85725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2" name="Oval 143"/>
            <p:cNvSpPr>
              <a:spLocks noChangeArrowheads="1"/>
            </p:cNvSpPr>
            <p:nvPr/>
          </p:nvSpPr>
          <p:spPr bwMode="auto">
            <a:xfrm>
              <a:off x="5044802" y="2181808"/>
              <a:ext cx="84138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" name="Oval 144"/>
            <p:cNvSpPr>
              <a:spLocks noChangeArrowheads="1"/>
            </p:cNvSpPr>
            <p:nvPr/>
          </p:nvSpPr>
          <p:spPr bwMode="auto">
            <a:xfrm>
              <a:off x="5044802" y="2023058"/>
              <a:ext cx="84138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" name="Oval 145"/>
            <p:cNvSpPr>
              <a:spLocks noChangeArrowheads="1"/>
            </p:cNvSpPr>
            <p:nvPr/>
          </p:nvSpPr>
          <p:spPr bwMode="auto">
            <a:xfrm>
              <a:off x="5222602" y="1945270"/>
              <a:ext cx="85725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aphicFrame>
        <p:nvGraphicFramePr>
          <p:cNvPr id="4" name="Chart"/>
          <p:cNvGraphicFramePr/>
          <p:nvPr>
            <p:extLst>
              <p:ext uri="{D42A27DB-BD31-4B8C-83A1-F6EECF244321}">
                <p14:modId xmlns:p14="http://schemas.microsoft.com/office/powerpoint/2010/main" val="2519996998"/>
              </p:ext>
            </p:extLst>
          </p:nvPr>
        </p:nvGraphicFramePr>
        <p:xfrm>
          <a:off x="295595" y="1484784"/>
          <a:ext cx="5528288" cy="2376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3" name="SquareInfo1"/>
          <p:cNvSpPr/>
          <p:nvPr/>
        </p:nvSpPr>
        <p:spPr>
          <a:xfrm>
            <a:off x="6014454" y="1430768"/>
            <a:ext cx="2556471" cy="2376264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endParaRPr lang="ru-RU" sz="700" b="0" i="0" u="none" strike="noStrike" kern="1200" baseline="0" dirty="0">
              <a:solidFill>
                <a:srgbClr val="545353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" name="SquareInfo2"/>
          <p:cNvSpPr/>
          <p:nvPr/>
        </p:nvSpPr>
        <p:spPr>
          <a:xfrm>
            <a:off x="6012159" y="4149080"/>
            <a:ext cx="2844503" cy="2286264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endParaRPr lang="ru-RU" sz="700" b="0" i="0" u="none" strike="noStrike" kern="1200" baseline="0" dirty="0">
              <a:solidFill>
                <a:srgbClr val="545353"/>
              </a:solidFill>
            </a:endParaRPr>
          </a:p>
        </p:txBody>
      </p:sp>
      <p:graphicFrame>
        <p:nvGraphicFramePr>
          <p:cNvPr id="20" name="Chart_Zbs"/>
          <p:cNvGraphicFramePr/>
          <p:nvPr>
            <p:extLst>
              <p:ext uri="{D42A27DB-BD31-4B8C-83A1-F6EECF244321}">
                <p14:modId xmlns:p14="http://schemas.microsoft.com/office/powerpoint/2010/main" val="645952299"/>
              </p:ext>
            </p:extLst>
          </p:nvPr>
        </p:nvGraphicFramePr>
        <p:xfrm>
          <a:off x="303852" y="4254131"/>
          <a:ext cx="5528288" cy="23762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  <p:extLst>
      <p:ext uri="{BB962C8B-B14F-4D97-AF65-F5344CB8AC3E}">
        <p14:creationId xmlns:p14="http://schemas.microsoft.com/office/powerpoint/2010/main" val="1130001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07604" y="336324"/>
            <a:ext cx="7705042" cy="608400"/>
          </a:xfrm>
        </p:spPr>
        <p:txBody>
          <a:bodyPr/>
          <a:lstStyle/>
          <a:p>
            <a:r>
              <a:rPr lang="ru-RU" sz="2000" b="1" dirty="0">
                <a:solidFill>
                  <a:srgbClr val="545353"/>
                </a:solidFill>
                <a:latin typeface="Arial" charset="0"/>
              </a:rPr>
              <a:t>НПВ по подрядчикам </a:t>
            </a:r>
            <a:br>
              <a:rPr lang="ru-RU" sz="2000" b="1" dirty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С начала года в разрезе ДО</a:t>
            </a:r>
            <a:endParaRPr lang="ru-RU" sz="1200" b="1" dirty="0">
              <a:solidFill>
                <a:srgbClr val="545353"/>
              </a:solidFill>
              <a:latin typeface="Arial" charset="0"/>
            </a:endParaRPr>
          </a:p>
        </p:txBody>
      </p:sp>
      <p:grpSp>
        <p:nvGrpSpPr>
          <p:cNvPr id="21" name="Группа 20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03852" y="344168"/>
            <a:ext cx="550986" cy="600452"/>
            <a:chOff x="4747940" y="1875420"/>
            <a:chExt cx="587375" cy="598488"/>
          </a:xfrm>
        </p:grpSpPr>
        <p:sp>
          <p:nvSpPr>
            <p:cNvPr id="22" name="Freeform 132"/>
            <p:cNvSpPr>
              <a:spLocks/>
            </p:cNvSpPr>
            <p:nvPr/>
          </p:nvSpPr>
          <p:spPr bwMode="auto">
            <a:xfrm>
              <a:off x="4747940" y="1875420"/>
              <a:ext cx="587375" cy="598488"/>
            </a:xfrm>
            <a:custGeom>
              <a:avLst/>
              <a:gdLst>
                <a:gd name="T0" fmla="*/ 226 w 1629"/>
                <a:gd name="T1" fmla="*/ 1476 h 1657"/>
                <a:gd name="T2" fmla="*/ 475 w 1629"/>
                <a:gd name="T3" fmla="*/ 1183 h 1657"/>
                <a:gd name="T4" fmla="*/ 618 w 1629"/>
                <a:gd name="T5" fmla="*/ 1091 h 1657"/>
                <a:gd name="T6" fmla="*/ 851 w 1629"/>
                <a:gd name="T7" fmla="*/ 1025 h 1657"/>
                <a:gd name="T8" fmla="*/ 941 w 1629"/>
                <a:gd name="T9" fmla="*/ 1071 h 1657"/>
                <a:gd name="T10" fmla="*/ 983 w 1629"/>
                <a:gd name="T11" fmla="*/ 859 h 1657"/>
                <a:gd name="T12" fmla="*/ 979 w 1629"/>
                <a:gd name="T13" fmla="*/ 629 h 1657"/>
                <a:gd name="T14" fmla="*/ 1051 w 1629"/>
                <a:gd name="T15" fmla="*/ 526 h 1657"/>
                <a:gd name="T16" fmla="*/ 1051 w 1629"/>
                <a:gd name="T17" fmla="*/ 519 h 1657"/>
                <a:gd name="T18" fmla="*/ 1360 w 1629"/>
                <a:gd name="T19" fmla="*/ 388 h 1657"/>
                <a:gd name="T20" fmla="*/ 1547 w 1629"/>
                <a:gd name="T21" fmla="*/ 309 h 1657"/>
                <a:gd name="T22" fmla="*/ 1326 w 1629"/>
                <a:gd name="T23" fmla="*/ 308 h 1657"/>
                <a:gd name="T24" fmla="*/ 1326 w 1629"/>
                <a:gd name="T25" fmla="*/ 316 h 1657"/>
                <a:gd name="T26" fmla="*/ 1018 w 1629"/>
                <a:gd name="T27" fmla="*/ 446 h 1657"/>
                <a:gd name="T28" fmla="*/ 831 w 1629"/>
                <a:gd name="T29" fmla="*/ 526 h 1657"/>
                <a:gd name="T30" fmla="*/ 903 w 1629"/>
                <a:gd name="T31" fmla="*/ 629 h 1657"/>
                <a:gd name="T32" fmla="*/ 899 w 1629"/>
                <a:gd name="T33" fmla="*/ 859 h 1657"/>
                <a:gd name="T34" fmla="*/ 831 w 1629"/>
                <a:gd name="T35" fmla="*/ 951 h 1657"/>
                <a:gd name="T36" fmla="*/ 597 w 1629"/>
                <a:gd name="T37" fmla="*/ 1011 h 1657"/>
                <a:gd name="T38" fmla="*/ 398 w 1629"/>
                <a:gd name="T39" fmla="*/ 1078 h 1657"/>
                <a:gd name="T40" fmla="*/ 413 w 1629"/>
                <a:gd name="T41" fmla="*/ 1133 h 1657"/>
                <a:gd name="T42" fmla="*/ 186 w 1629"/>
                <a:gd name="T43" fmla="*/ 33 h 1657"/>
                <a:gd name="T44" fmla="*/ 106 w 1629"/>
                <a:gd name="T45" fmla="*/ 0 h 1657"/>
                <a:gd name="T46" fmla="*/ 72 w 1629"/>
                <a:gd name="T47" fmla="*/ 157 h 1657"/>
                <a:gd name="T48" fmla="*/ 0 w 1629"/>
                <a:gd name="T49" fmla="*/ 191 h 1657"/>
                <a:gd name="T50" fmla="*/ 34 w 1629"/>
                <a:gd name="T51" fmla="*/ 233 h 1657"/>
                <a:gd name="T52" fmla="*/ 72 w 1629"/>
                <a:gd name="T53" fmla="*/ 536 h 1657"/>
                <a:gd name="T54" fmla="*/ 0 w 1629"/>
                <a:gd name="T55" fmla="*/ 570 h 1657"/>
                <a:gd name="T56" fmla="*/ 34 w 1629"/>
                <a:gd name="T57" fmla="*/ 612 h 1657"/>
                <a:gd name="T58" fmla="*/ 72 w 1629"/>
                <a:gd name="T59" fmla="*/ 915 h 1657"/>
                <a:gd name="T60" fmla="*/ 0 w 1629"/>
                <a:gd name="T61" fmla="*/ 948 h 1657"/>
                <a:gd name="T62" fmla="*/ 34 w 1629"/>
                <a:gd name="T63" fmla="*/ 990 h 1657"/>
                <a:gd name="T64" fmla="*/ 72 w 1629"/>
                <a:gd name="T65" fmla="*/ 1293 h 1657"/>
                <a:gd name="T66" fmla="*/ 0 w 1629"/>
                <a:gd name="T67" fmla="*/ 1327 h 1657"/>
                <a:gd name="T68" fmla="*/ 34 w 1629"/>
                <a:gd name="T69" fmla="*/ 1369 h 1657"/>
                <a:gd name="T70" fmla="*/ 72 w 1629"/>
                <a:gd name="T71" fmla="*/ 1556 h 1657"/>
                <a:gd name="T72" fmla="*/ 354 w 1629"/>
                <a:gd name="T73" fmla="*/ 1590 h 1657"/>
                <a:gd name="T74" fmla="*/ 388 w 1629"/>
                <a:gd name="T75" fmla="*/ 1657 h 1657"/>
                <a:gd name="T76" fmla="*/ 430 w 1629"/>
                <a:gd name="T77" fmla="*/ 1624 h 1657"/>
                <a:gd name="T78" fmla="*/ 733 w 1629"/>
                <a:gd name="T79" fmla="*/ 1590 h 1657"/>
                <a:gd name="T80" fmla="*/ 767 w 1629"/>
                <a:gd name="T81" fmla="*/ 1657 h 1657"/>
                <a:gd name="T82" fmla="*/ 809 w 1629"/>
                <a:gd name="T83" fmla="*/ 1624 h 1657"/>
                <a:gd name="T84" fmla="*/ 1111 w 1629"/>
                <a:gd name="T85" fmla="*/ 1590 h 1657"/>
                <a:gd name="T86" fmla="*/ 1145 w 1629"/>
                <a:gd name="T87" fmla="*/ 1657 h 1657"/>
                <a:gd name="T88" fmla="*/ 1187 w 1629"/>
                <a:gd name="T89" fmla="*/ 1624 h 1657"/>
                <a:gd name="T90" fmla="*/ 1490 w 1629"/>
                <a:gd name="T91" fmla="*/ 1590 h 1657"/>
                <a:gd name="T92" fmla="*/ 1524 w 1629"/>
                <a:gd name="T93" fmla="*/ 1657 h 1657"/>
                <a:gd name="T94" fmla="*/ 1566 w 1629"/>
                <a:gd name="T95" fmla="*/ 1624 h 1657"/>
                <a:gd name="T96" fmla="*/ 1595 w 1629"/>
                <a:gd name="T97" fmla="*/ 1590 h 1657"/>
                <a:gd name="T98" fmla="*/ 1629 w 1629"/>
                <a:gd name="T99" fmla="*/ 1510 h 1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29" h="1657">
                  <a:moveTo>
                    <a:pt x="1595" y="1476"/>
                  </a:moveTo>
                  <a:lnTo>
                    <a:pt x="226" y="1476"/>
                  </a:lnTo>
                  <a:lnTo>
                    <a:pt x="471" y="1182"/>
                  </a:lnTo>
                  <a:lnTo>
                    <a:pt x="475" y="1183"/>
                  </a:lnTo>
                  <a:cubicBezTo>
                    <a:pt x="486" y="1186"/>
                    <a:pt x="497" y="1188"/>
                    <a:pt x="509" y="1188"/>
                  </a:cubicBezTo>
                  <a:cubicBezTo>
                    <a:pt x="564" y="1188"/>
                    <a:pt x="612" y="1146"/>
                    <a:pt x="618" y="1091"/>
                  </a:cubicBezTo>
                  <a:lnTo>
                    <a:pt x="619" y="1087"/>
                  </a:lnTo>
                  <a:lnTo>
                    <a:pt x="851" y="1025"/>
                  </a:lnTo>
                  <a:lnTo>
                    <a:pt x="853" y="1028"/>
                  </a:lnTo>
                  <a:cubicBezTo>
                    <a:pt x="874" y="1055"/>
                    <a:pt x="906" y="1071"/>
                    <a:pt x="941" y="1071"/>
                  </a:cubicBezTo>
                  <a:cubicBezTo>
                    <a:pt x="1002" y="1071"/>
                    <a:pt x="1051" y="1022"/>
                    <a:pt x="1051" y="961"/>
                  </a:cubicBezTo>
                  <a:cubicBezTo>
                    <a:pt x="1051" y="916"/>
                    <a:pt x="1025" y="876"/>
                    <a:pt x="983" y="859"/>
                  </a:cubicBezTo>
                  <a:lnTo>
                    <a:pt x="979" y="857"/>
                  </a:lnTo>
                  <a:lnTo>
                    <a:pt x="979" y="629"/>
                  </a:lnTo>
                  <a:lnTo>
                    <a:pt x="983" y="628"/>
                  </a:lnTo>
                  <a:cubicBezTo>
                    <a:pt x="1024" y="611"/>
                    <a:pt x="1051" y="571"/>
                    <a:pt x="1051" y="526"/>
                  </a:cubicBezTo>
                  <a:cubicBezTo>
                    <a:pt x="1051" y="526"/>
                    <a:pt x="1051" y="525"/>
                    <a:pt x="1051" y="525"/>
                  </a:cubicBezTo>
                  <a:lnTo>
                    <a:pt x="1051" y="519"/>
                  </a:lnTo>
                  <a:lnTo>
                    <a:pt x="1356" y="385"/>
                  </a:lnTo>
                  <a:lnTo>
                    <a:pt x="1360" y="388"/>
                  </a:lnTo>
                  <a:cubicBezTo>
                    <a:pt x="1380" y="408"/>
                    <a:pt x="1408" y="419"/>
                    <a:pt x="1436" y="419"/>
                  </a:cubicBezTo>
                  <a:cubicBezTo>
                    <a:pt x="1497" y="419"/>
                    <a:pt x="1547" y="370"/>
                    <a:pt x="1547" y="309"/>
                  </a:cubicBezTo>
                  <a:cubicBezTo>
                    <a:pt x="1547" y="248"/>
                    <a:pt x="1497" y="198"/>
                    <a:pt x="1436" y="198"/>
                  </a:cubicBezTo>
                  <a:cubicBezTo>
                    <a:pt x="1376" y="198"/>
                    <a:pt x="1326" y="248"/>
                    <a:pt x="1326" y="308"/>
                  </a:cubicBezTo>
                  <a:cubicBezTo>
                    <a:pt x="1326" y="309"/>
                    <a:pt x="1326" y="309"/>
                    <a:pt x="1326" y="309"/>
                  </a:cubicBezTo>
                  <a:lnTo>
                    <a:pt x="1326" y="316"/>
                  </a:lnTo>
                  <a:lnTo>
                    <a:pt x="1021" y="449"/>
                  </a:lnTo>
                  <a:lnTo>
                    <a:pt x="1018" y="446"/>
                  </a:lnTo>
                  <a:cubicBezTo>
                    <a:pt x="997" y="426"/>
                    <a:pt x="970" y="415"/>
                    <a:pt x="941" y="415"/>
                  </a:cubicBezTo>
                  <a:cubicBezTo>
                    <a:pt x="880" y="415"/>
                    <a:pt x="831" y="465"/>
                    <a:pt x="831" y="526"/>
                  </a:cubicBezTo>
                  <a:cubicBezTo>
                    <a:pt x="831" y="571"/>
                    <a:pt x="858" y="611"/>
                    <a:pt x="899" y="628"/>
                  </a:cubicBezTo>
                  <a:lnTo>
                    <a:pt x="903" y="629"/>
                  </a:lnTo>
                  <a:lnTo>
                    <a:pt x="903" y="857"/>
                  </a:lnTo>
                  <a:lnTo>
                    <a:pt x="899" y="859"/>
                  </a:lnTo>
                  <a:cubicBezTo>
                    <a:pt x="862" y="874"/>
                    <a:pt x="836" y="908"/>
                    <a:pt x="832" y="947"/>
                  </a:cubicBezTo>
                  <a:lnTo>
                    <a:pt x="831" y="951"/>
                  </a:lnTo>
                  <a:lnTo>
                    <a:pt x="599" y="1014"/>
                  </a:lnTo>
                  <a:lnTo>
                    <a:pt x="597" y="1011"/>
                  </a:lnTo>
                  <a:cubicBezTo>
                    <a:pt x="576" y="983"/>
                    <a:pt x="544" y="967"/>
                    <a:pt x="509" y="967"/>
                  </a:cubicBezTo>
                  <a:cubicBezTo>
                    <a:pt x="448" y="967"/>
                    <a:pt x="398" y="1017"/>
                    <a:pt x="398" y="1078"/>
                  </a:cubicBezTo>
                  <a:cubicBezTo>
                    <a:pt x="398" y="1096"/>
                    <a:pt x="403" y="1113"/>
                    <a:pt x="411" y="1129"/>
                  </a:cubicBezTo>
                  <a:lnTo>
                    <a:pt x="413" y="1133"/>
                  </a:lnTo>
                  <a:lnTo>
                    <a:pt x="186" y="1406"/>
                  </a:lnTo>
                  <a:lnTo>
                    <a:pt x="186" y="33"/>
                  </a:lnTo>
                  <a:cubicBezTo>
                    <a:pt x="186" y="15"/>
                    <a:pt x="171" y="0"/>
                    <a:pt x="152" y="0"/>
                  </a:cubicBezTo>
                  <a:lnTo>
                    <a:pt x="106" y="0"/>
                  </a:lnTo>
                  <a:cubicBezTo>
                    <a:pt x="87" y="0"/>
                    <a:pt x="72" y="15"/>
                    <a:pt x="72" y="33"/>
                  </a:cubicBezTo>
                  <a:lnTo>
                    <a:pt x="72" y="157"/>
                  </a:lnTo>
                  <a:lnTo>
                    <a:pt x="34" y="157"/>
                  </a:lnTo>
                  <a:cubicBezTo>
                    <a:pt x="15" y="157"/>
                    <a:pt x="0" y="173"/>
                    <a:pt x="0" y="191"/>
                  </a:cubicBezTo>
                  <a:lnTo>
                    <a:pt x="0" y="200"/>
                  </a:lnTo>
                  <a:cubicBezTo>
                    <a:pt x="0" y="218"/>
                    <a:pt x="15" y="233"/>
                    <a:pt x="34" y="233"/>
                  </a:cubicBezTo>
                  <a:lnTo>
                    <a:pt x="72" y="233"/>
                  </a:lnTo>
                  <a:lnTo>
                    <a:pt x="72" y="536"/>
                  </a:lnTo>
                  <a:lnTo>
                    <a:pt x="34" y="536"/>
                  </a:lnTo>
                  <a:cubicBezTo>
                    <a:pt x="15" y="536"/>
                    <a:pt x="0" y="551"/>
                    <a:pt x="0" y="570"/>
                  </a:cubicBezTo>
                  <a:lnTo>
                    <a:pt x="0" y="578"/>
                  </a:lnTo>
                  <a:cubicBezTo>
                    <a:pt x="0" y="597"/>
                    <a:pt x="15" y="612"/>
                    <a:pt x="34" y="612"/>
                  </a:cubicBezTo>
                  <a:lnTo>
                    <a:pt x="72" y="612"/>
                  </a:lnTo>
                  <a:lnTo>
                    <a:pt x="72" y="915"/>
                  </a:lnTo>
                  <a:lnTo>
                    <a:pt x="34" y="915"/>
                  </a:lnTo>
                  <a:cubicBezTo>
                    <a:pt x="15" y="915"/>
                    <a:pt x="0" y="930"/>
                    <a:pt x="0" y="948"/>
                  </a:cubicBezTo>
                  <a:lnTo>
                    <a:pt x="0" y="957"/>
                  </a:lnTo>
                  <a:cubicBezTo>
                    <a:pt x="0" y="975"/>
                    <a:pt x="15" y="990"/>
                    <a:pt x="34" y="990"/>
                  </a:cubicBezTo>
                  <a:lnTo>
                    <a:pt x="72" y="990"/>
                  </a:lnTo>
                  <a:lnTo>
                    <a:pt x="72" y="1293"/>
                  </a:lnTo>
                  <a:lnTo>
                    <a:pt x="34" y="1293"/>
                  </a:lnTo>
                  <a:cubicBezTo>
                    <a:pt x="15" y="1293"/>
                    <a:pt x="0" y="1308"/>
                    <a:pt x="0" y="1327"/>
                  </a:cubicBezTo>
                  <a:lnTo>
                    <a:pt x="0" y="1335"/>
                  </a:lnTo>
                  <a:cubicBezTo>
                    <a:pt x="0" y="1354"/>
                    <a:pt x="15" y="1369"/>
                    <a:pt x="34" y="1369"/>
                  </a:cubicBezTo>
                  <a:lnTo>
                    <a:pt x="72" y="1369"/>
                  </a:lnTo>
                  <a:lnTo>
                    <a:pt x="72" y="1556"/>
                  </a:lnTo>
                  <a:cubicBezTo>
                    <a:pt x="72" y="1575"/>
                    <a:pt x="87" y="1590"/>
                    <a:pt x="106" y="1590"/>
                  </a:cubicBezTo>
                  <a:lnTo>
                    <a:pt x="354" y="1590"/>
                  </a:lnTo>
                  <a:lnTo>
                    <a:pt x="354" y="1624"/>
                  </a:lnTo>
                  <a:cubicBezTo>
                    <a:pt x="354" y="1642"/>
                    <a:pt x="369" y="1657"/>
                    <a:pt x="388" y="1657"/>
                  </a:cubicBezTo>
                  <a:lnTo>
                    <a:pt x="396" y="1657"/>
                  </a:lnTo>
                  <a:cubicBezTo>
                    <a:pt x="415" y="1657"/>
                    <a:pt x="430" y="1642"/>
                    <a:pt x="430" y="1624"/>
                  </a:cubicBezTo>
                  <a:lnTo>
                    <a:pt x="430" y="1590"/>
                  </a:lnTo>
                  <a:lnTo>
                    <a:pt x="733" y="1590"/>
                  </a:lnTo>
                  <a:lnTo>
                    <a:pt x="733" y="1624"/>
                  </a:lnTo>
                  <a:cubicBezTo>
                    <a:pt x="733" y="1642"/>
                    <a:pt x="748" y="1657"/>
                    <a:pt x="767" y="1657"/>
                  </a:cubicBezTo>
                  <a:lnTo>
                    <a:pt x="775" y="1657"/>
                  </a:lnTo>
                  <a:cubicBezTo>
                    <a:pt x="794" y="1657"/>
                    <a:pt x="809" y="1642"/>
                    <a:pt x="809" y="1624"/>
                  </a:cubicBezTo>
                  <a:lnTo>
                    <a:pt x="809" y="1590"/>
                  </a:lnTo>
                  <a:lnTo>
                    <a:pt x="1111" y="1590"/>
                  </a:lnTo>
                  <a:lnTo>
                    <a:pt x="1111" y="1624"/>
                  </a:lnTo>
                  <a:cubicBezTo>
                    <a:pt x="1111" y="1642"/>
                    <a:pt x="1127" y="1657"/>
                    <a:pt x="1145" y="1657"/>
                  </a:cubicBezTo>
                  <a:lnTo>
                    <a:pt x="1154" y="1657"/>
                  </a:lnTo>
                  <a:cubicBezTo>
                    <a:pt x="1172" y="1657"/>
                    <a:pt x="1187" y="1642"/>
                    <a:pt x="1187" y="1624"/>
                  </a:cubicBezTo>
                  <a:lnTo>
                    <a:pt x="1187" y="1590"/>
                  </a:lnTo>
                  <a:lnTo>
                    <a:pt x="1490" y="1590"/>
                  </a:lnTo>
                  <a:lnTo>
                    <a:pt x="1490" y="1624"/>
                  </a:lnTo>
                  <a:cubicBezTo>
                    <a:pt x="1490" y="1642"/>
                    <a:pt x="1505" y="1657"/>
                    <a:pt x="1524" y="1657"/>
                  </a:cubicBezTo>
                  <a:lnTo>
                    <a:pt x="1532" y="1657"/>
                  </a:lnTo>
                  <a:cubicBezTo>
                    <a:pt x="1551" y="1657"/>
                    <a:pt x="1566" y="1642"/>
                    <a:pt x="1566" y="1624"/>
                  </a:cubicBezTo>
                  <a:lnTo>
                    <a:pt x="1566" y="1590"/>
                  </a:lnTo>
                  <a:lnTo>
                    <a:pt x="1595" y="1590"/>
                  </a:lnTo>
                  <a:cubicBezTo>
                    <a:pt x="1614" y="1590"/>
                    <a:pt x="1629" y="1575"/>
                    <a:pt x="1629" y="1556"/>
                  </a:cubicBezTo>
                  <a:lnTo>
                    <a:pt x="1629" y="1510"/>
                  </a:lnTo>
                  <a:cubicBezTo>
                    <a:pt x="1629" y="1491"/>
                    <a:pt x="1614" y="1476"/>
                    <a:pt x="1595" y="14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3" name="Oval 142"/>
            <p:cNvSpPr>
              <a:spLocks noChangeArrowheads="1"/>
            </p:cNvSpPr>
            <p:nvPr/>
          </p:nvSpPr>
          <p:spPr bwMode="auto">
            <a:xfrm>
              <a:off x="4887640" y="2223083"/>
              <a:ext cx="85725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4" name="Oval 143"/>
            <p:cNvSpPr>
              <a:spLocks noChangeArrowheads="1"/>
            </p:cNvSpPr>
            <p:nvPr/>
          </p:nvSpPr>
          <p:spPr bwMode="auto">
            <a:xfrm>
              <a:off x="5044802" y="2181808"/>
              <a:ext cx="84138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5" name="Oval 144"/>
            <p:cNvSpPr>
              <a:spLocks noChangeArrowheads="1"/>
            </p:cNvSpPr>
            <p:nvPr/>
          </p:nvSpPr>
          <p:spPr bwMode="auto">
            <a:xfrm>
              <a:off x="5044802" y="2023058"/>
              <a:ext cx="84138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6" name="Oval 145"/>
            <p:cNvSpPr>
              <a:spLocks noChangeArrowheads="1"/>
            </p:cNvSpPr>
            <p:nvPr/>
          </p:nvSpPr>
          <p:spPr bwMode="auto">
            <a:xfrm>
              <a:off x="5222602" y="1945270"/>
              <a:ext cx="85725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aphicFrame>
        <p:nvGraphicFramePr>
          <p:cNvPr id="17" name="Chart_Eb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4453781"/>
              </p:ext>
            </p:extLst>
          </p:nvPr>
        </p:nvGraphicFramePr>
        <p:xfrm>
          <a:off x="287337" y="1089025"/>
          <a:ext cx="85693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_Zbs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618370"/>
              </p:ext>
            </p:extLst>
          </p:nvPr>
        </p:nvGraphicFramePr>
        <p:xfrm>
          <a:off x="287336" y="3832225"/>
          <a:ext cx="85693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410056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1600" y="321470"/>
            <a:ext cx="7705042" cy="608400"/>
          </a:xfrm>
        </p:spPr>
        <p:txBody>
          <a:bodyPr/>
          <a:lstStyle/>
          <a:p>
            <a:r>
              <a:rPr lang="ru-RU" sz="2000" b="1" dirty="0">
                <a:solidFill>
                  <a:srgbClr val="545353"/>
                </a:solidFill>
                <a:latin typeface="Arial" charset="0"/>
              </a:rPr>
              <a:t>НПВ по подрядчикам </a:t>
            </a:r>
            <a:br>
              <a:rPr lang="ru-RU" sz="2000" b="1" dirty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С начала года </a:t>
            </a: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в </a:t>
            </a:r>
            <a:r>
              <a:rPr lang="ru-RU" sz="1200" b="1" dirty="0">
                <a:solidFill>
                  <a:srgbClr val="545353"/>
                </a:solidFill>
                <a:latin typeface="Arial" charset="0"/>
              </a:rPr>
              <a:t>разрезе ДО</a:t>
            </a:r>
          </a:p>
        </p:txBody>
      </p:sp>
      <p:grpSp>
        <p:nvGrpSpPr>
          <p:cNvPr id="29" name="Группа 28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03852" y="344168"/>
            <a:ext cx="550986" cy="600452"/>
            <a:chOff x="4747940" y="1875420"/>
            <a:chExt cx="587375" cy="598488"/>
          </a:xfrm>
        </p:grpSpPr>
        <p:sp>
          <p:nvSpPr>
            <p:cNvPr id="30" name="Freeform 132"/>
            <p:cNvSpPr>
              <a:spLocks/>
            </p:cNvSpPr>
            <p:nvPr/>
          </p:nvSpPr>
          <p:spPr bwMode="auto">
            <a:xfrm>
              <a:off x="4747940" y="1875420"/>
              <a:ext cx="587375" cy="598488"/>
            </a:xfrm>
            <a:custGeom>
              <a:avLst/>
              <a:gdLst>
                <a:gd name="T0" fmla="*/ 226 w 1629"/>
                <a:gd name="T1" fmla="*/ 1476 h 1657"/>
                <a:gd name="T2" fmla="*/ 475 w 1629"/>
                <a:gd name="T3" fmla="*/ 1183 h 1657"/>
                <a:gd name="T4" fmla="*/ 618 w 1629"/>
                <a:gd name="T5" fmla="*/ 1091 h 1657"/>
                <a:gd name="T6" fmla="*/ 851 w 1629"/>
                <a:gd name="T7" fmla="*/ 1025 h 1657"/>
                <a:gd name="T8" fmla="*/ 941 w 1629"/>
                <a:gd name="T9" fmla="*/ 1071 h 1657"/>
                <a:gd name="T10" fmla="*/ 983 w 1629"/>
                <a:gd name="T11" fmla="*/ 859 h 1657"/>
                <a:gd name="T12" fmla="*/ 979 w 1629"/>
                <a:gd name="T13" fmla="*/ 629 h 1657"/>
                <a:gd name="T14" fmla="*/ 1051 w 1629"/>
                <a:gd name="T15" fmla="*/ 526 h 1657"/>
                <a:gd name="T16" fmla="*/ 1051 w 1629"/>
                <a:gd name="T17" fmla="*/ 519 h 1657"/>
                <a:gd name="T18" fmla="*/ 1360 w 1629"/>
                <a:gd name="T19" fmla="*/ 388 h 1657"/>
                <a:gd name="T20" fmla="*/ 1547 w 1629"/>
                <a:gd name="T21" fmla="*/ 309 h 1657"/>
                <a:gd name="T22" fmla="*/ 1326 w 1629"/>
                <a:gd name="T23" fmla="*/ 308 h 1657"/>
                <a:gd name="T24" fmla="*/ 1326 w 1629"/>
                <a:gd name="T25" fmla="*/ 316 h 1657"/>
                <a:gd name="T26" fmla="*/ 1018 w 1629"/>
                <a:gd name="T27" fmla="*/ 446 h 1657"/>
                <a:gd name="T28" fmla="*/ 831 w 1629"/>
                <a:gd name="T29" fmla="*/ 526 h 1657"/>
                <a:gd name="T30" fmla="*/ 903 w 1629"/>
                <a:gd name="T31" fmla="*/ 629 h 1657"/>
                <a:gd name="T32" fmla="*/ 899 w 1629"/>
                <a:gd name="T33" fmla="*/ 859 h 1657"/>
                <a:gd name="T34" fmla="*/ 831 w 1629"/>
                <a:gd name="T35" fmla="*/ 951 h 1657"/>
                <a:gd name="T36" fmla="*/ 597 w 1629"/>
                <a:gd name="T37" fmla="*/ 1011 h 1657"/>
                <a:gd name="T38" fmla="*/ 398 w 1629"/>
                <a:gd name="T39" fmla="*/ 1078 h 1657"/>
                <a:gd name="T40" fmla="*/ 413 w 1629"/>
                <a:gd name="T41" fmla="*/ 1133 h 1657"/>
                <a:gd name="T42" fmla="*/ 186 w 1629"/>
                <a:gd name="T43" fmla="*/ 33 h 1657"/>
                <a:gd name="T44" fmla="*/ 106 w 1629"/>
                <a:gd name="T45" fmla="*/ 0 h 1657"/>
                <a:gd name="T46" fmla="*/ 72 w 1629"/>
                <a:gd name="T47" fmla="*/ 157 h 1657"/>
                <a:gd name="T48" fmla="*/ 0 w 1629"/>
                <a:gd name="T49" fmla="*/ 191 h 1657"/>
                <a:gd name="T50" fmla="*/ 34 w 1629"/>
                <a:gd name="T51" fmla="*/ 233 h 1657"/>
                <a:gd name="T52" fmla="*/ 72 w 1629"/>
                <a:gd name="T53" fmla="*/ 536 h 1657"/>
                <a:gd name="T54" fmla="*/ 0 w 1629"/>
                <a:gd name="T55" fmla="*/ 570 h 1657"/>
                <a:gd name="T56" fmla="*/ 34 w 1629"/>
                <a:gd name="T57" fmla="*/ 612 h 1657"/>
                <a:gd name="T58" fmla="*/ 72 w 1629"/>
                <a:gd name="T59" fmla="*/ 915 h 1657"/>
                <a:gd name="T60" fmla="*/ 0 w 1629"/>
                <a:gd name="T61" fmla="*/ 948 h 1657"/>
                <a:gd name="T62" fmla="*/ 34 w 1629"/>
                <a:gd name="T63" fmla="*/ 990 h 1657"/>
                <a:gd name="T64" fmla="*/ 72 w 1629"/>
                <a:gd name="T65" fmla="*/ 1293 h 1657"/>
                <a:gd name="T66" fmla="*/ 0 w 1629"/>
                <a:gd name="T67" fmla="*/ 1327 h 1657"/>
                <a:gd name="T68" fmla="*/ 34 w 1629"/>
                <a:gd name="T69" fmla="*/ 1369 h 1657"/>
                <a:gd name="T70" fmla="*/ 72 w 1629"/>
                <a:gd name="T71" fmla="*/ 1556 h 1657"/>
                <a:gd name="T72" fmla="*/ 354 w 1629"/>
                <a:gd name="T73" fmla="*/ 1590 h 1657"/>
                <a:gd name="T74" fmla="*/ 388 w 1629"/>
                <a:gd name="T75" fmla="*/ 1657 h 1657"/>
                <a:gd name="T76" fmla="*/ 430 w 1629"/>
                <a:gd name="T77" fmla="*/ 1624 h 1657"/>
                <a:gd name="T78" fmla="*/ 733 w 1629"/>
                <a:gd name="T79" fmla="*/ 1590 h 1657"/>
                <a:gd name="T80" fmla="*/ 767 w 1629"/>
                <a:gd name="T81" fmla="*/ 1657 h 1657"/>
                <a:gd name="T82" fmla="*/ 809 w 1629"/>
                <a:gd name="T83" fmla="*/ 1624 h 1657"/>
                <a:gd name="T84" fmla="*/ 1111 w 1629"/>
                <a:gd name="T85" fmla="*/ 1590 h 1657"/>
                <a:gd name="T86" fmla="*/ 1145 w 1629"/>
                <a:gd name="T87" fmla="*/ 1657 h 1657"/>
                <a:gd name="T88" fmla="*/ 1187 w 1629"/>
                <a:gd name="T89" fmla="*/ 1624 h 1657"/>
                <a:gd name="T90" fmla="*/ 1490 w 1629"/>
                <a:gd name="T91" fmla="*/ 1590 h 1657"/>
                <a:gd name="T92" fmla="*/ 1524 w 1629"/>
                <a:gd name="T93" fmla="*/ 1657 h 1657"/>
                <a:gd name="T94" fmla="*/ 1566 w 1629"/>
                <a:gd name="T95" fmla="*/ 1624 h 1657"/>
                <a:gd name="T96" fmla="*/ 1595 w 1629"/>
                <a:gd name="T97" fmla="*/ 1590 h 1657"/>
                <a:gd name="T98" fmla="*/ 1629 w 1629"/>
                <a:gd name="T99" fmla="*/ 1510 h 16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29" h="1657">
                  <a:moveTo>
                    <a:pt x="1595" y="1476"/>
                  </a:moveTo>
                  <a:lnTo>
                    <a:pt x="226" y="1476"/>
                  </a:lnTo>
                  <a:lnTo>
                    <a:pt x="471" y="1182"/>
                  </a:lnTo>
                  <a:lnTo>
                    <a:pt x="475" y="1183"/>
                  </a:lnTo>
                  <a:cubicBezTo>
                    <a:pt x="486" y="1186"/>
                    <a:pt x="497" y="1188"/>
                    <a:pt x="509" y="1188"/>
                  </a:cubicBezTo>
                  <a:cubicBezTo>
                    <a:pt x="564" y="1188"/>
                    <a:pt x="612" y="1146"/>
                    <a:pt x="618" y="1091"/>
                  </a:cubicBezTo>
                  <a:lnTo>
                    <a:pt x="619" y="1087"/>
                  </a:lnTo>
                  <a:lnTo>
                    <a:pt x="851" y="1025"/>
                  </a:lnTo>
                  <a:lnTo>
                    <a:pt x="853" y="1028"/>
                  </a:lnTo>
                  <a:cubicBezTo>
                    <a:pt x="874" y="1055"/>
                    <a:pt x="906" y="1071"/>
                    <a:pt x="941" y="1071"/>
                  </a:cubicBezTo>
                  <a:cubicBezTo>
                    <a:pt x="1002" y="1071"/>
                    <a:pt x="1051" y="1022"/>
                    <a:pt x="1051" y="961"/>
                  </a:cubicBezTo>
                  <a:cubicBezTo>
                    <a:pt x="1051" y="916"/>
                    <a:pt x="1025" y="876"/>
                    <a:pt x="983" y="859"/>
                  </a:cubicBezTo>
                  <a:lnTo>
                    <a:pt x="979" y="857"/>
                  </a:lnTo>
                  <a:lnTo>
                    <a:pt x="979" y="629"/>
                  </a:lnTo>
                  <a:lnTo>
                    <a:pt x="983" y="628"/>
                  </a:lnTo>
                  <a:cubicBezTo>
                    <a:pt x="1024" y="611"/>
                    <a:pt x="1051" y="571"/>
                    <a:pt x="1051" y="526"/>
                  </a:cubicBezTo>
                  <a:cubicBezTo>
                    <a:pt x="1051" y="526"/>
                    <a:pt x="1051" y="525"/>
                    <a:pt x="1051" y="525"/>
                  </a:cubicBezTo>
                  <a:lnTo>
                    <a:pt x="1051" y="519"/>
                  </a:lnTo>
                  <a:lnTo>
                    <a:pt x="1356" y="385"/>
                  </a:lnTo>
                  <a:lnTo>
                    <a:pt x="1360" y="388"/>
                  </a:lnTo>
                  <a:cubicBezTo>
                    <a:pt x="1380" y="408"/>
                    <a:pt x="1408" y="419"/>
                    <a:pt x="1436" y="419"/>
                  </a:cubicBezTo>
                  <a:cubicBezTo>
                    <a:pt x="1497" y="419"/>
                    <a:pt x="1547" y="370"/>
                    <a:pt x="1547" y="309"/>
                  </a:cubicBezTo>
                  <a:cubicBezTo>
                    <a:pt x="1547" y="248"/>
                    <a:pt x="1497" y="198"/>
                    <a:pt x="1436" y="198"/>
                  </a:cubicBezTo>
                  <a:cubicBezTo>
                    <a:pt x="1376" y="198"/>
                    <a:pt x="1326" y="248"/>
                    <a:pt x="1326" y="308"/>
                  </a:cubicBezTo>
                  <a:cubicBezTo>
                    <a:pt x="1326" y="309"/>
                    <a:pt x="1326" y="309"/>
                    <a:pt x="1326" y="309"/>
                  </a:cubicBezTo>
                  <a:lnTo>
                    <a:pt x="1326" y="316"/>
                  </a:lnTo>
                  <a:lnTo>
                    <a:pt x="1021" y="449"/>
                  </a:lnTo>
                  <a:lnTo>
                    <a:pt x="1018" y="446"/>
                  </a:lnTo>
                  <a:cubicBezTo>
                    <a:pt x="997" y="426"/>
                    <a:pt x="970" y="415"/>
                    <a:pt x="941" y="415"/>
                  </a:cubicBezTo>
                  <a:cubicBezTo>
                    <a:pt x="880" y="415"/>
                    <a:pt x="831" y="465"/>
                    <a:pt x="831" y="526"/>
                  </a:cubicBezTo>
                  <a:cubicBezTo>
                    <a:pt x="831" y="571"/>
                    <a:pt x="858" y="611"/>
                    <a:pt x="899" y="628"/>
                  </a:cubicBezTo>
                  <a:lnTo>
                    <a:pt x="903" y="629"/>
                  </a:lnTo>
                  <a:lnTo>
                    <a:pt x="903" y="857"/>
                  </a:lnTo>
                  <a:lnTo>
                    <a:pt x="899" y="859"/>
                  </a:lnTo>
                  <a:cubicBezTo>
                    <a:pt x="862" y="874"/>
                    <a:pt x="836" y="908"/>
                    <a:pt x="832" y="947"/>
                  </a:cubicBezTo>
                  <a:lnTo>
                    <a:pt x="831" y="951"/>
                  </a:lnTo>
                  <a:lnTo>
                    <a:pt x="599" y="1014"/>
                  </a:lnTo>
                  <a:lnTo>
                    <a:pt x="597" y="1011"/>
                  </a:lnTo>
                  <a:cubicBezTo>
                    <a:pt x="576" y="983"/>
                    <a:pt x="544" y="967"/>
                    <a:pt x="509" y="967"/>
                  </a:cubicBezTo>
                  <a:cubicBezTo>
                    <a:pt x="448" y="967"/>
                    <a:pt x="398" y="1017"/>
                    <a:pt x="398" y="1078"/>
                  </a:cubicBezTo>
                  <a:cubicBezTo>
                    <a:pt x="398" y="1096"/>
                    <a:pt x="403" y="1113"/>
                    <a:pt x="411" y="1129"/>
                  </a:cubicBezTo>
                  <a:lnTo>
                    <a:pt x="413" y="1133"/>
                  </a:lnTo>
                  <a:lnTo>
                    <a:pt x="186" y="1406"/>
                  </a:lnTo>
                  <a:lnTo>
                    <a:pt x="186" y="33"/>
                  </a:lnTo>
                  <a:cubicBezTo>
                    <a:pt x="186" y="15"/>
                    <a:pt x="171" y="0"/>
                    <a:pt x="152" y="0"/>
                  </a:cubicBezTo>
                  <a:lnTo>
                    <a:pt x="106" y="0"/>
                  </a:lnTo>
                  <a:cubicBezTo>
                    <a:pt x="87" y="0"/>
                    <a:pt x="72" y="15"/>
                    <a:pt x="72" y="33"/>
                  </a:cubicBezTo>
                  <a:lnTo>
                    <a:pt x="72" y="157"/>
                  </a:lnTo>
                  <a:lnTo>
                    <a:pt x="34" y="157"/>
                  </a:lnTo>
                  <a:cubicBezTo>
                    <a:pt x="15" y="157"/>
                    <a:pt x="0" y="173"/>
                    <a:pt x="0" y="191"/>
                  </a:cubicBezTo>
                  <a:lnTo>
                    <a:pt x="0" y="200"/>
                  </a:lnTo>
                  <a:cubicBezTo>
                    <a:pt x="0" y="218"/>
                    <a:pt x="15" y="233"/>
                    <a:pt x="34" y="233"/>
                  </a:cubicBezTo>
                  <a:lnTo>
                    <a:pt x="72" y="233"/>
                  </a:lnTo>
                  <a:lnTo>
                    <a:pt x="72" y="536"/>
                  </a:lnTo>
                  <a:lnTo>
                    <a:pt x="34" y="536"/>
                  </a:lnTo>
                  <a:cubicBezTo>
                    <a:pt x="15" y="536"/>
                    <a:pt x="0" y="551"/>
                    <a:pt x="0" y="570"/>
                  </a:cubicBezTo>
                  <a:lnTo>
                    <a:pt x="0" y="578"/>
                  </a:lnTo>
                  <a:cubicBezTo>
                    <a:pt x="0" y="597"/>
                    <a:pt x="15" y="612"/>
                    <a:pt x="34" y="612"/>
                  </a:cubicBezTo>
                  <a:lnTo>
                    <a:pt x="72" y="612"/>
                  </a:lnTo>
                  <a:lnTo>
                    <a:pt x="72" y="915"/>
                  </a:lnTo>
                  <a:lnTo>
                    <a:pt x="34" y="915"/>
                  </a:lnTo>
                  <a:cubicBezTo>
                    <a:pt x="15" y="915"/>
                    <a:pt x="0" y="930"/>
                    <a:pt x="0" y="948"/>
                  </a:cubicBezTo>
                  <a:lnTo>
                    <a:pt x="0" y="957"/>
                  </a:lnTo>
                  <a:cubicBezTo>
                    <a:pt x="0" y="975"/>
                    <a:pt x="15" y="990"/>
                    <a:pt x="34" y="990"/>
                  </a:cubicBezTo>
                  <a:lnTo>
                    <a:pt x="72" y="990"/>
                  </a:lnTo>
                  <a:lnTo>
                    <a:pt x="72" y="1293"/>
                  </a:lnTo>
                  <a:lnTo>
                    <a:pt x="34" y="1293"/>
                  </a:lnTo>
                  <a:cubicBezTo>
                    <a:pt x="15" y="1293"/>
                    <a:pt x="0" y="1308"/>
                    <a:pt x="0" y="1327"/>
                  </a:cubicBezTo>
                  <a:lnTo>
                    <a:pt x="0" y="1335"/>
                  </a:lnTo>
                  <a:cubicBezTo>
                    <a:pt x="0" y="1354"/>
                    <a:pt x="15" y="1369"/>
                    <a:pt x="34" y="1369"/>
                  </a:cubicBezTo>
                  <a:lnTo>
                    <a:pt x="72" y="1369"/>
                  </a:lnTo>
                  <a:lnTo>
                    <a:pt x="72" y="1556"/>
                  </a:lnTo>
                  <a:cubicBezTo>
                    <a:pt x="72" y="1575"/>
                    <a:pt x="87" y="1590"/>
                    <a:pt x="106" y="1590"/>
                  </a:cubicBezTo>
                  <a:lnTo>
                    <a:pt x="354" y="1590"/>
                  </a:lnTo>
                  <a:lnTo>
                    <a:pt x="354" y="1624"/>
                  </a:lnTo>
                  <a:cubicBezTo>
                    <a:pt x="354" y="1642"/>
                    <a:pt x="369" y="1657"/>
                    <a:pt x="388" y="1657"/>
                  </a:cubicBezTo>
                  <a:lnTo>
                    <a:pt x="396" y="1657"/>
                  </a:lnTo>
                  <a:cubicBezTo>
                    <a:pt x="415" y="1657"/>
                    <a:pt x="430" y="1642"/>
                    <a:pt x="430" y="1624"/>
                  </a:cubicBezTo>
                  <a:lnTo>
                    <a:pt x="430" y="1590"/>
                  </a:lnTo>
                  <a:lnTo>
                    <a:pt x="733" y="1590"/>
                  </a:lnTo>
                  <a:lnTo>
                    <a:pt x="733" y="1624"/>
                  </a:lnTo>
                  <a:cubicBezTo>
                    <a:pt x="733" y="1642"/>
                    <a:pt x="748" y="1657"/>
                    <a:pt x="767" y="1657"/>
                  </a:cubicBezTo>
                  <a:lnTo>
                    <a:pt x="775" y="1657"/>
                  </a:lnTo>
                  <a:cubicBezTo>
                    <a:pt x="794" y="1657"/>
                    <a:pt x="809" y="1642"/>
                    <a:pt x="809" y="1624"/>
                  </a:cubicBezTo>
                  <a:lnTo>
                    <a:pt x="809" y="1590"/>
                  </a:lnTo>
                  <a:lnTo>
                    <a:pt x="1111" y="1590"/>
                  </a:lnTo>
                  <a:lnTo>
                    <a:pt x="1111" y="1624"/>
                  </a:lnTo>
                  <a:cubicBezTo>
                    <a:pt x="1111" y="1642"/>
                    <a:pt x="1127" y="1657"/>
                    <a:pt x="1145" y="1657"/>
                  </a:cubicBezTo>
                  <a:lnTo>
                    <a:pt x="1154" y="1657"/>
                  </a:lnTo>
                  <a:cubicBezTo>
                    <a:pt x="1172" y="1657"/>
                    <a:pt x="1187" y="1642"/>
                    <a:pt x="1187" y="1624"/>
                  </a:cubicBezTo>
                  <a:lnTo>
                    <a:pt x="1187" y="1590"/>
                  </a:lnTo>
                  <a:lnTo>
                    <a:pt x="1490" y="1590"/>
                  </a:lnTo>
                  <a:lnTo>
                    <a:pt x="1490" y="1624"/>
                  </a:lnTo>
                  <a:cubicBezTo>
                    <a:pt x="1490" y="1642"/>
                    <a:pt x="1505" y="1657"/>
                    <a:pt x="1524" y="1657"/>
                  </a:cubicBezTo>
                  <a:lnTo>
                    <a:pt x="1532" y="1657"/>
                  </a:lnTo>
                  <a:cubicBezTo>
                    <a:pt x="1551" y="1657"/>
                    <a:pt x="1566" y="1642"/>
                    <a:pt x="1566" y="1624"/>
                  </a:cubicBezTo>
                  <a:lnTo>
                    <a:pt x="1566" y="1590"/>
                  </a:lnTo>
                  <a:lnTo>
                    <a:pt x="1595" y="1590"/>
                  </a:lnTo>
                  <a:cubicBezTo>
                    <a:pt x="1614" y="1590"/>
                    <a:pt x="1629" y="1575"/>
                    <a:pt x="1629" y="1556"/>
                  </a:cubicBezTo>
                  <a:lnTo>
                    <a:pt x="1629" y="1510"/>
                  </a:lnTo>
                  <a:cubicBezTo>
                    <a:pt x="1629" y="1491"/>
                    <a:pt x="1614" y="1476"/>
                    <a:pt x="1595" y="147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1" name="Oval 142"/>
            <p:cNvSpPr>
              <a:spLocks noChangeArrowheads="1"/>
            </p:cNvSpPr>
            <p:nvPr/>
          </p:nvSpPr>
          <p:spPr bwMode="auto">
            <a:xfrm>
              <a:off x="4887640" y="2223083"/>
              <a:ext cx="85725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2" name="Oval 143"/>
            <p:cNvSpPr>
              <a:spLocks noChangeArrowheads="1"/>
            </p:cNvSpPr>
            <p:nvPr/>
          </p:nvSpPr>
          <p:spPr bwMode="auto">
            <a:xfrm>
              <a:off x="5044802" y="2181808"/>
              <a:ext cx="84138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3" name="Oval 144"/>
            <p:cNvSpPr>
              <a:spLocks noChangeArrowheads="1"/>
            </p:cNvSpPr>
            <p:nvPr/>
          </p:nvSpPr>
          <p:spPr bwMode="auto">
            <a:xfrm>
              <a:off x="5044802" y="2023058"/>
              <a:ext cx="84138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4" name="Oval 145"/>
            <p:cNvSpPr>
              <a:spLocks noChangeArrowheads="1"/>
            </p:cNvSpPr>
            <p:nvPr/>
          </p:nvSpPr>
          <p:spPr bwMode="auto">
            <a:xfrm>
              <a:off x="5222602" y="1945270"/>
              <a:ext cx="85725" cy="84138"/>
            </a:xfrm>
            <a:prstGeom prst="ellipse">
              <a:avLst/>
            </a:pr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aphicFrame>
        <p:nvGraphicFramePr>
          <p:cNvPr id="11" name="Chart_Nnb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7962975"/>
              </p:ext>
            </p:extLst>
          </p:nvPr>
        </p:nvGraphicFramePr>
        <p:xfrm>
          <a:off x="287337" y="1089025"/>
          <a:ext cx="85693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_Mud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9384676"/>
              </p:ext>
            </p:extLst>
          </p:nvPr>
        </p:nvGraphicFramePr>
        <p:xfrm>
          <a:off x="287336" y="3832225"/>
          <a:ext cx="8569325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5712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331640" y="322463"/>
            <a:ext cx="7525022" cy="607021"/>
          </a:xfrm>
        </p:spPr>
        <p:txBody>
          <a:bodyPr/>
          <a:lstStyle/>
          <a:p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>Функция Бурение</a:t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Эксплуатационное бурение и ЗБС </a:t>
            </a:r>
            <a:r>
              <a:rPr lang="ru-RU" sz="2000" b="1" dirty="0" smtClean="0">
                <a:solidFill>
                  <a:srgbClr val="545353"/>
                </a:solidFill>
                <a:latin typeface="Arial" charset="0"/>
              </a:rPr>
              <a:t/>
            </a:r>
            <a:br>
              <a:rPr lang="ru-RU" sz="2000" b="1" dirty="0" smtClean="0">
                <a:solidFill>
                  <a:srgbClr val="545353"/>
                </a:solidFill>
                <a:latin typeface="Arial" charset="0"/>
              </a:rPr>
            </a:b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Динамика НПВ  (периметр текущие активы </a:t>
            </a:r>
            <a:r>
              <a:rPr lang="en-US" sz="1200" b="1" smtClean="0">
                <a:solidFill>
                  <a:srgbClr val="545353"/>
                </a:solidFill>
                <a:latin typeface="Arial" charset="0"/>
              </a:rPr>
              <a:t>+ </a:t>
            </a:r>
            <a:r>
              <a:rPr lang="ru-RU" sz="1200" b="1" smtClean="0">
                <a:solidFill>
                  <a:srgbClr val="545353"/>
                </a:solidFill>
                <a:latin typeface="Arial" charset="0"/>
              </a:rPr>
              <a:t>Новый </a:t>
            </a:r>
            <a:r>
              <a:rPr lang="ru-RU" sz="1200" b="1" dirty="0" smtClean="0">
                <a:solidFill>
                  <a:srgbClr val="545353"/>
                </a:solidFill>
                <a:latin typeface="Arial" charset="0"/>
              </a:rPr>
              <a:t>Порт)</a:t>
            </a:r>
            <a:endParaRPr lang="ru-RU" sz="1200" dirty="0">
              <a:solidFill>
                <a:srgbClr val="545353"/>
              </a:solidFill>
            </a:endParaRPr>
          </a:p>
        </p:txBody>
      </p:sp>
      <p:sp>
        <p:nvSpPr>
          <p:cNvPr id="7" name="Текст 13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87337" y="1124716"/>
            <a:ext cx="4572695" cy="2086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НПВ</a:t>
            </a:r>
            <a:r>
              <a:rPr lang="en-US" sz="800" dirty="0" smtClean="0">
                <a:solidFill>
                  <a:srgbClr val="545353"/>
                </a:solidFill>
                <a:cs typeface="Arabic Typesetting" pitchFamily="66" charset="-78"/>
              </a:rPr>
              <a:t> 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в ЭБ за календарное время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sp>
        <p:nvSpPr>
          <p:cNvPr id="14" name="RoundDZO_Eb"/>
          <p:cNvSpPr/>
          <p:nvPr>
            <p:custDataLst>
              <p:tags r:id="rId3"/>
            </p:custDataLst>
          </p:nvPr>
        </p:nvSpPr>
        <p:spPr>
          <a:xfrm>
            <a:off x="6789959" y="1556816"/>
            <a:ext cx="216000" cy="216000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SquareInfo_Eb"/>
          <p:cNvSpPr/>
          <p:nvPr>
            <p:custDataLst>
              <p:tags r:id="rId4"/>
            </p:custDataLst>
          </p:nvPr>
        </p:nvSpPr>
        <p:spPr>
          <a:xfrm>
            <a:off x="7596336" y="1376772"/>
            <a:ext cx="1296144" cy="2440929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endParaRPr lang="ru-RU" sz="500" dirty="0">
              <a:solidFill>
                <a:srgbClr val="545353"/>
              </a:solidFill>
            </a:endParaRPr>
          </a:p>
        </p:txBody>
      </p:sp>
      <p:grpSp>
        <p:nvGrpSpPr>
          <p:cNvPr id="38" name="Группа 37"/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24708" y="349204"/>
            <a:ext cx="602876" cy="667528"/>
            <a:chOff x="7051636" y="2029408"/>
            <a:chExt cx="561975" cy="571500"/>
          </a:xfrm>
        </p:grpSpPr>
        <p:grpSp>
          <p:nvGrpSpPr>
            <p:cNvPr id="39" name="Группа 38"/>
            <p:cNvGrpSpPr/>
            <p:nvPr/>
          </p:nvGrpSpPr>
          <p:grpSpPr>
            <a:xfrm>
              <a:off x="7051636" y="2029408"/>
              <a:ext cx="561975" cy="571500"/>
              <a:chOff x="7051636" y="2029408"/>
              <a:chExt cx="561975" cy="571500"/>
            </a:xfrm>
            <a:solidFill>
              <a:schemeClr val="accent2"/>
            </a:solidFill>
          </p:grpSpPr>
          <p:sp>
            <p:nvSpPr>
              <p:cNvPr id="41" name="Freeform 146"/>
              <p:cNvSpPr>
                <a:spLocks/>
              </p:cNvSpPr>
              <p:nvPr/>
            </p:nvSpPr>
            <p:spPr bwMode="auto">
              <a:xfrm>
                <a:off x="7051636" y="2248483"/>
                <a:ext cx="561975" cy="352425"/>
              </a:xfrm>
              <a:custGeom>
                <a:avLst/>
                <a:gdLst>
                  <a:gd name="T0" fmla="*/ 1522 w 1556"/>
                  <a:gd name="T1" fmla="*/ 444 h 977"/>
                  <a:gd name="T2" fmla="*/ 33 w 1556"/>
                  <a:gd name="T3" fmla="*/ 444 h 977"/>
                  <a:gd name="T4" fmla="*/ 0 w 1556"/>
                  <a:gd name="T5" fmla="*/ 478 h 977"/>
                  <a:gd name="T6" fmla="*/ 0 w 1556"/>
                  <a:gd name="T7" fmla="*/ 524 h 977"/>
                  <a:gd name="T8" fmla="*/ 33 w 1556"/>
                  <a:gd name="T9" fmla="*/ 558 h 977"/>
                  <a:gd name="T10" fmla="*/ 1522 w 1556"/>
                  <a:gd name="T11" fmla="*/ 558 h 977"/>
                  <a:gd name="T12" fmla="*/ 1556 w 1556"/>
                  <a:gd name="T13" fmla="*/ 524 h 977"/>
                  <a:gd name="T14" fmla="*/ 1556 w 1556"/>
                  <a:gd name="T15" fmla="*/ 478 h 977"/>
                  <a:gd name="T16" fmla="*/ 1522 w 1556"/>
                  <a:gd name="T17" fmla="*/ 444 h 9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56" h="977">
                    <a:moveTo>
                      <a:pt x="1522" y="444"/>
                    </a:moveTo>
                    <a:cubicBezTo>
                      <a:pt x="1031" y="444"/>
                      <a:pt x="391" y="444"/>
                      <a:pt x="33" y="444"/>
                    </a:cubicBezTo>
                    <a:cubicBezTo>
                      <a:pt x="15" y="444"/>
                      <a:pt x="0" y="459"/>
                      <a:pt x="0" y="478"/>
                    </a:cubicBezTo>
                    <a:cubicBezTo>
                      <a:pt x="0" y="977"/>
                      <a:pt x="0" y="0"/>
                      <a:pt x="0" y="524"/>
                    </a:cubicBezTo>
                    <a:cubicBezTo>
                      <a:pt x="0" y="543"/>
                      <a:pt x="15" y="558"/>
                      <a:pt x="33" y="558"/>
                    </a:cubicBezTo>
                    <a:cubicBezTo>
                      <a:pt x="560" y="558"/>
                      <a:pt x="1075" y="558"/>
                      <a:pt x="1522" y="558"/>
                    </a:cubicBezTo>
                    <a:cubicBezTo>
                      <a:pt x="1541" y="558"/>
                      <a:pt x="1556" y="543"/>
                      <a:pt x="1556" y="524"/>
                    </a:cubicBezTo>
                    <a:lnTo>
                      <a:pt x="1556" y="478"/>
                    </a:lnTo>
                    <a:cubicBezTo>
                      <a:pt x="1556" y="459"/>
                      <a:pt x="1541" y="444"/>
                      <a:pt x="1522" y="44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" name="Oval 147"/>
              <p:cNvSpPr>
                <a:spLocks noChangeArrowheads="1"/>
              </p:cNvSpPr>
              <p:nvPr/>
            </p:nvSpPr>
            <p:spPr bwMode="auto">
              <a:xfrm>
                <a:off x="7167523" y="2029408"/>
                <a:ext cx="277813" cy="12382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3" name="Freeform 148"/>
              <p:cNvSpPr>
                <a:spLocks/>
              </p:cNvSpPr>
              <p:nvPr/>
            </p:nvSpPr>
            <p:spPr bwMode="auto">
              <a:xfrm>
                <a:off x="7167523" y="2237370"/>
                <a:ext cx="169863" cy="109538"/>
              </a:xfrm>
              <a:custGeom>
                <a:avLst/>
                <a:gdLst>
                  <a:gd name="T0" fmla="*/ 473 w 473"/>
                  <a:gd name="T1" fmla="*/ 226 h 302"/>
                  <a:gd name="T2" fmla="*/ 421 w 473"/>
                  <a:gd name="T3" fmla="*/ 170 h 302"/>
                  <a:gd name="T4" fmla="*/ 384 w 473"/>
                  <a:gd name="T5" fmla="*/ 171 h 302"/>
                  <a:gd name="T6" fmla="*/ 0 w 473"/>
                  <a:gd name="T7" fmla="*/ 0 h 302"/>
                  <a:gd name="T8" fmla="*/ 0 w 473"/>
                  <a:gd name="T9" fmla="*/ 131 h 302"/>
                  <a:gd name="T10" fmla="*/ 384 w 473"/>
                  <a:gd name="T11" fmla="*/ 302 h 302"/>
                  <a:gd name="T12" fmla="*/ 473 w 473"/>
                  <a:gd name="T13" fmla="*/ 297 h 302"/>
                  <a:gd name="T14" fmla="*/ 473 w 473"/>
                  <a:gd name="T15" fmla="*/ 226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73" h="302">
                    <a:moveTo>
                      <a:pt x="473" y="226"/>
                    </a:moveTo>
                    <a:cubicBezTo>
                      <a:pt x="446" y="219"/>
                      <a:pt x="426" y="197"/>
                      <a:pt x="421" y="170"/>
                    </a:cubicBezTo>
                    <a:cubicBezTo>
                      <a:pt x="409" y="171"/>
                      <a:pt x="3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ubicBezTo>
                      <a:pt x="415" y="302"/>
                      <a:pt x="444" y="300"/>
                      <a:pt x="473" y="297"/>
                    </a:cubicBezTo>
                    <a:cubicBezTo>
                      <a:pt x="461" y="275"/>
                      <a:pt x="460" y="248"/>
                      <a:pt x="473" y="22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4" name="Freeform 149"/>
              <p:cNvSpPr>
                <a:spLocks/>
              </p:cNvSpPr>
              <p:nvPr/>
            </p:nvSpPr>
            <p:spPr bwMode="auto">
              <a:xfrm>
                <a:off x="7167523" y="2172283"/>
                <a:ext cx="171450" cy="109538"/>
              </a:xfrm>
              <a:custGeom>
                <a:avLst/>
                <a:gdLst>
                  <a:gd name="T0" fmla="*/ 384 w 474"/>
                  <a:gd name="T1" fmla="*/ 302 h 302"/>
                  <a:gd name="T2" fmla="*/ 420 w 474"/>
                  <a:gd name="T3" fmla="*/ 301 h 302"/>
                  <a:gd name="T4" fmla="*/ 420 w 474"/>
                  <a:gd name="T5" fmla="*/ 281 h 302"/>
                  <a:gd name="T6" fmla="*/ 474 w 474"/>
                  <a:gd name="T7" fmla="*/ 213 h 302"/>
                  <a:gd name="T8" fmla="*/ 464 w 474"/>
                  <a:gd name="T9" fmla="*/ 167 h 302"/>
                  <a:gd name="T10" fmla="*/ 384 w 474"/>
                  <a:gd name="T11" fmla="*/ 171 h 302"/>
                  <a:gd name="T12" fmla="*/ 0 w 474"/>
                  <a:gd name="T13" fmla="*/ 0 h 302"/>
                  <a:gd name="T14" fmla="*/ 0 w 474"/>
                  <a:gd name="T15" fmla="*/ 131 h 302"/>
                  <a:gd name="T16" fmla="*/ 384 w 474"/>
                  <a:gd name="T1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74" h="302">
                    <a:moveTo>
                      <a:pt x="384" y="302"/>
                    </a:moveTo>
                    <a:cubicBezTo>
                      <a:pt x="396" y="302"/>
                      <a:pt x="408" y="302"/>
                      <a:pt x="420" y="301"/>
                    </a:cubicBezTo>
                    <a:lnTo>
                      <a:pt x="420" y="281"/>
                    </a:lnTo>
                    <a:cubicBezTo>
                      <a:pt x="420" y="249"/>
                      <a:pt x="442" y="220"/>
                      <a:pt x="474" y="213"/>
                    </a:cubicBezTo>
                    <a:cubicBezTo>
                      <a:pt x="465" y="199"/>
                      <a:pt x="463" y="183"/>
                      <a:pt x="464" y="167"/>
                    </a:cubicBezTo>
                    <a:cubicBezTo>
                      <a:pt x="439" y="170"/>
                      <a:pt x="412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" name="Freeform 150"/>
              <p:cNvSpPr>
                <a:spLocks/>
              </p:cNvSpPr>
              <p:nvPr/>
            </p:nvSpPr>
            <p:spPr bwMode="auto">
              <a:xfrm>
                <a:off x="7167523" y="2108783"/>
                <a:ext cx="277813" cy="109538"/>
              </a:xfrm>
              <a:custGeom>
                <a:avLst/>
                <a:gdLst>
                  <a:gd name="T0" fmla="*/ 384 w 769"/>
                  <a:gd name="T1" fmla="*/ 302 h 302"/>
                  <a:gd name="T2" fmla="*/ 494 w 769"/>
                  <a:gd name="T3" fmla="*/ 295 h 302"/>
                  <a:gd name="T4" fmla="*/ 522 w 769"/>
                  <a:gd name="T5" fmla="*/ 266 h 302"/>
                  <a:gd name="T6" fmla="*/ 573 w 769"/>
                  <a:gd name="T7" fmla="*/ 245 h 302"/>
                  <a:gd name="T8" fmla="*/ 609 w 769"/>
                  <a:gd name="T9" fmla="*/ 255 h 302"/>
                  <a:gd name="T10" fmla="*/ 677 w 769"/>
                  <a:gd name="T11" fmla="*/ 202 h 302"/>
                  <a:gd name="T12" fmla="*/ 731 w 769"/>
                  <a:gd name="T13" fmla="*/ 202 h 302"/>
                  <a:gd name="T14" fmla="*/ 734 w 769"/>
                  <a:gd name="T15" fmla="*/ 202 h 302"/>
                  <a:gd name="T16" fmla="*/ 769 w 769"/>
                  <a:gd name="T17" fmla="*/ 131 h 302"/>
                  <a:gd name="T18" fmla="*/ 769 w 769"/>
                  <a:gd name="T19" fmla="*/ 0 h 302"/>
                  <a:gd name="T20" fmla="*/ 384 w 769"/>
                  <a:gd name="T21" fmla="*/ 171 h 302"/>
                  <a:gd name="T22" fmla="*/ 0 w 769"/>
                  <a:gd name="T23" fmla="*/ 0 h 302"/>
                  <a:gd name="T24" fmla="*/ 0 w 769"/>
                  <a:gd name="T25" fmla="*/ 131 h 302"/>
                  <a:gd name="T26" fmla="*/ 384 w 769"/>
                  <a:gd name="T27" fmla="*/ 302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9" h="302">
                    <a:moveTo>
                      <a:pt x="384" y="302"/>
                    </a:moveTo>
                    <a:cubicBezTo>
                      <a:pt x="422" y="302"/>
                      <a:pt x="459" y="299"/>
                      <a:pt x="494" y="295"/>
                    </a:cubicBezTo>
                    <a:lnTo>
                      <a:pt x="522" y="266"/>
                    </a:lnTo>
                    <a:cubicBezTo>
                      <a:pt x="536" y="252"/>
                      <a:pt x="554" y="245"/>
                      <a:pt x="573" y="245"/>
                    </a:cubicBezTo>
                    <a:cubicBezTo>
                      <a:pt x="585" y="245"/>
                      <a:pt x="598" y="249"/>
                      <a:pt x="609" y="255"/>
                    </a:cubicBezTo>
                    <a:cubicBezTo>
                      <a:pt x="617" y="224"/>
                      <a:pt x="645" y="202"/>
                      <a:pt x="677" y="202"/>
                    </a:cubicBezTo>
                    <a:lnTo>
                      <a:pt x="731" y="202"/>
                    </a:lnTo>
                    <a:cubicBezTo>
                      <a:pt x="732" y="202"/>
                      <a:pt x="733" y="202"/>
                      <a:pt x="734" y="202"/>
                    </a:cubicBezTo>
                    <a:cubicBezTo>
                      <a:pt x="756" y="180"/>
                      <a:pt x="769" y="156"/>
                      <a:pt x="769" y="131"/>
                    </a:cubicBezTo>
                    <a:lnTo>
                      <a:pt x="769" y="0"/>
                    </a:lnTo>
                    <a:cubicBezTo>
                      <a:pt x="769" y="94"/>
                      <a:pt x="597" y="171"/>
                      <a:pt x="384" y="171"/>
                    </a:cubicBezTo>
                    <a:cubicBezTo>
                      <a:pt x="172" y="171"/>
                      <a:pt x="0" y="94"/>
                      <a:pt x="0" y="0"/>
                    </a:cubicBezTo>
                    <a:lnTo>
                      <a:pt x="0" y="131"/>
                    </a:lnTo>
                    <a:cubicBezTo>
                      <a:pt x="0" y="225"/>
                      <a:pt x="172" y="302"/>
                      <a:pt x="384" y="30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sp>
          <p:nvSpPr>
            <p:cNvPr id="40" name="Freeform 151"/>
            <p:cNvSpPr>
              <a:spLocks noEditPoints="1"/>
            </p:cNvSpPr>
            <p:nvPr/>
          </p:nvSpPr>
          <p:spPr bwMode="auto">
            <a:xfrm>
              <a:off x="7343736" y="2207208"/>
              <a:ext cx="153988" cy="153988"/>
            </a:xfrm>
            <a:custGeom>
              <a:avLst/>
              <a:gdLst>
                <a:gd name="T0" fmla="*/ 427 w 427"/>
                <a:gd name="T1" fmla="*/ 240 h 427"/>
                <a:gd name="T2" fmla="*/ 427 w 427"/>
                <a:gd name="T3" fmla="*/ 186 h 427"/>
                <a:gd name="T4" fmla="*/ 363 w 427"/>
                <a:gd name="T5" fmla="*/ 176 h 427"/>
                <a:gd name="T6" fmla="*/ 346 w 427"/>
                <a:gd name="T7" fmla="*/ 134 h 427"/>
                <a:gd name="T8" fmla="*/ 383 w 427"/>
                <a:gd name="T9" fmla="*/ 81 h 427"/>
                <a:gd name="T10" fmla="*/ 345 w 427"/>
                <a:gd name="T11" fmla="*/ 44 h 427"/>
                <a:gd name="T12" fmla="*/ 293 w 427"/>
                <a:gd name="T13" fmla="*/ 81 h 427"/>
                <a:gd name="T14" fmla="*/ 251 w 427"/>
                <a:gd name="T15" fmla="*/ 63 h 427"/>
                <a:gd name="T16" fmla="*/ 240 w 427"/>
                <a:gd name="T17" fmla="*/ 0 h 427"/>
                <a:gd name="T18" fmla="*/ 186 w 427"/>
                <a:gd name="T19" fmla="*/ 0 h 427"/>
                <a:gd name="T20" fmla="*/ 176 w 427"/>
                <a:gd name="T21" fmla="*/ 63 h 427"/>
                <a:gd name="T22" fmla="*/ 134 w 427"/>
                <a:gd name="T23" fmla="*/ 81 h 427"/>
                <a:gd name="T24" fmla="*/ 82 w 427"/>
                <a:gd name="T25" fmla="*/ 44 h 427"/>
                <a:gd name="T26" fmla="*/ 44 w 427"/>
                <a:gd name="T27" fmla="*/ 81 h 427"/>
                <a:gd name="T28" fmla="*/ 80 w 427"/>
                <a:gd name="T29" fmla="*/ 133 h 427"/>
                <a:gd name="T30" fmla="*/ 63 w 427"/>
                <a:gd name="T31" fmla="*/ 176 h 427"/>
                <a:gd name="T32" fmla="*/ 0 w 427"/>
                <a:gd name="T33" fmla="*/ 186 h 427"/>
                <a:gd name="T34" fmla="*/ 0 w 427"/>
                <a:gd name="T35" fmla="*/ 240 h 427"/>
                <a:gd name="T36" fmla="*/ 63 w 427"/>
                <a:gd name="T37" fmla="*/ 251 h 427"/>
                <a:gd name="T38" fmla="*/ 80 w 427"/>
                <a:gd name="T39" fmla="*/ 294 h 427"/>
                <a:gd name="T40" fmla="*/ 43 w 427"/>
                <a:gd name="T41" fmla="*/ 345 h 427"/>
                <a:gd name="T42" fmla="*/ 81 w 427"/>
                <a:gd name="T43" fmla="*/ 383 h 427"/>
                <a:gd name="T44" fmla="*/ 133 w 427"/>
                <a:gd name="T45" fmla="*/ 346 h 427"/>
                <a:gd name="T46" fmla="*/ 176 w 427"/>
                <a:gd name="T47" fmla="*/ 364 h 427"/>
                <a:gd name="T48" fmla="*/ 186 w 427"/>
                <a:gd name="T49" fmla="*/ 427 h 427"/>
                <a:gd name="T50" fmla="*/ 240 w 427"/>
                <a:gd name="T51" fmla="*/ 427 h 427"/>
                <a:gd name="T52" fmla="*/ 251 w 427"/>
                <a:gd name="T53" fmla="*/ 364 h 427"/>
                <a:gd name="T54" fmla="*/ 293 w 427"/>
                <a:gd name="T55" fmla="*/ 346 h 427"/>
                <a:gd name="T56" fmla="*/ 346 w 427"/>
                <a:gd name="T57" fmla="*/ 383 h 427"/>
                <a:gd name="T58" fmla="*/ 384 w 427"/>
                <a:gd name="T59" fmla="*/ 345 h 427"/>
                <a:gd name="T60" fmla="*/ 346 w 427"/>
                <a:gd name="T61" fmla="*/ 293 h 427"/>
                <a:gd name="T62" fmla="*/ 363 w 427"/>
                <a:gd name="T63" fmla="*/ 251 h 427"/>
                <a:gd name="T64" fmla="*/ 427 w 427"/>
                <a:gd name="T65" fmla="*/ 240 h 427"/>
                <a:gd name="T66" fmla="*/ 214 w 427"/>
                <a:gd name="T67" fmla="*/ 288 h 427"/>
                <a:gd name="T68" fmla="*/ 139 w 427"/>
                <a:gd name="T69" fmla="*/ 214 h 427"/>
                <a:gd name="T70" fmla="*/ 214 w 427"/>
                <a:gd name="T71" fmla="*/ 139 h 427"/>
                <a:gd name="T72" fmla="*/ 288 w 427"/>
                <a:gd name="T73" fmla="*/ 214 h 427"/>
                <a:gd name="T74" fmla="*/ 214 w 427"/>
                <a:gd name="T75" fmla="*/ 288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27" h="427">
                  <a:moveTo>
                    <a:pt x="427" y="240"/>
                  </a:moveTo>
                  <a:lnTo>
                    <a:pt x="427" y="186"/>
                  </a:lnTo>
                  <a:lnTo>
                    <a:pt x="363" y="176"/>
                  </a:lnTo>
                  <a:cubicBezTo>
                    <a:pt x="360" y="161"/>
                    <a:pt x="354" y="147"/>
                    <a:pt x="346" y="134"/>
                  </a:cubicBezTo>
                  <a:lnTo>
                    <a:pt x="383" y="81"/>
                  </a:lnTo>
                  <a:lnTo>
                    <a:pt x="345" y="44"/>
                  </a:lnTo>
                  <a:lnTo>
                    <a:pt x="293" y="81"/>
                  </a:lnTo>
                  <a:cubicBezTo>
                    <a:pt x="280" y="73"/>
                    <a:pt x="266" y="67"/>
                    <a:pt x="251" y="63"/>
                  </a:cubicBezTo>
                  <a:lnTo>
                    <a:pt x="240" y="0"/>
                  </a:lnTo>
                  <a:lnTo>
                    <a:pt x="186" y="0"/>
                  </a:lnTo>
                  <a:lnTo>
                    <a:pt x="176" y="63"/>
                  </a:lnTo>
                  <a:cubicBezTo>
                    <a:pt x="161" y="67"/>
                    <a:pt x="147" y="73"/>
                    <a:pt x="134" y="81"/>
                  </a:cubicBezTo>
                  <a:lnTo>
                    <a:pt x="82" y="44"/>
                  </a:lnTo>
                  <a:lnTo>
                    <a:pt x="44" y="81"/>
                  </a:lnTo>
                  <a:lnTo>
                    <a:pt x="80" y="133"/>
                  </a:lnTo>
                  <a:cubicBezTo>
                    <a:pt x="73" y="147"/>
                    <a:pt x="67" y="161"/>
                    <a:pt x="63" y="176"/>
                  </a:cubicBezTo>
                  <a:lnTo>
                    <a:pt x="0" y="186"/>
                  </a:lnTo>
                  <a:lnTo>
                    <a:pt x="0" y="240"/>
                  </a:lnTo>
                  <a:lnTo>
                    <a:pt x="63" y="251"/>
                  </a:lnTo>
                  <a:cubicBezTo>
                    <a:pt x="67" y="266"/>
                    <a:pt x="72" y="280"/>
                    <a:pt x="80" y="294"/>
                  </a:cubicBezTo>
                  <a:lnTo>
                    <a:pt x="43" y="345"/>
                  </a:lnTo>
                  <a:lnTo>
                    <a:pt x="81" y="383"/>
                  </a:lnTo>
                  <a:lnTo>
                    <a:pt x="133" y="346"/>
                  </a:lnTo>
                  <a:cubicBezTo>
                    <a:pt x="147" y="354"/>
                    <a:pt x="161" y="360"/>
                    <a:pt x="176" y="364"/>
                  </a:cubicBezTo>
                  <a:lnTo>
                    <a:pt x="186" y="427"/>
                  </a:lnTo>
                  <a:lnTo>
                    <a:pt x="240" y="427"/>
                  </a:lnTo>
                  <a:lnTo>
                    <a:pt x="251" y="364"/>
                  </a:lnTo>
                  <a:cubicBezTo>
                    <a:pt x="266" y="360"/>
                    <a:pt x="280" y="354"/>
                    <a:pt x="293" y="346"/>
                  </a:cubicBezTo>
                  <a:lnTo>
                    <a:pt x="346" y="383"/>
                  </a:lnTo>
                  <a:lnTo>
                    <a:pt x="384" y="345"/>
                  </a:lnTo>
                  <a:lnTo>
                    <a:pt x="346" y="293"/>
                  </a:lnTo>
                  <a:cubicBezTo>
                    <a:pt x="354" y="280"/>
                    <a:pt x="360" y="266"/>
                    <a:pt x="363" y="251"/>
                  </a:cubicBezTo>
                  <a:lnTo>
                    <a:pt x="427" y="240"/>
                  </a:lnTo>
                  <a:close/>
                  <a:moveTo>
                    <a:pt x="214" y="288"/>
                  </a:moveTo>
                  <a:cubicBezTo>
                    <a:pt x="173" y="288"/>
                    <a:pt x="139" y="255"/>
                    <a:pt x="139" y="214"/>
                  </a:cubicBezTo>
                  <a:cubicBezTo>
                    <a:pt x="139" y="173"/>
                    <a:pt x="173" y="139"/>
                    <a:pt x="214" y="139"/>
                  </a:cubicBezTo>
                  <a:cubicBezTo>
                    <a:pt x="255" y="139"/>
                    <a:pt x="288" y="173"/>
                    <a:pt x="288" y="214"/>
                  </a:cubicBezTo>
                  <a:cubicBezTo>
                    <a:pt x="288" y="255"/>
                    <a:pt x="255" y="288"/>
                    <a:pt x="214" y="288"/>
                  </a:cubicBezTo>
                  <a:close/>
                </a:path>
              </a:pathLst>
            </a:custGeom>
            <a:solidFill>
              <a:srgbClr val="FF2400"/>
            </a:solidFill>
            <a:ln>
              <a:noFill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27" name="SquareInfo_Zbs"/>
          <p:cNvSpPr/>
          <p:nvPr>
            <p:custDataLst>
              <p:tags r:id="rId6"/>
            </p:custDataLst>
          </p:nvPr>
        </p:nvSpPr>
        <p:spPr>
          <a:xfrm>
            <a:off x="7596336" y="4185084"/>
            <a:ext cx="1296144" cy="2160240"/>
          </a:xfrm>
          <a:prstGeom prst="rect">
            <a:avLst/>
          </a:prstGeom>
        </p:spPr>
        <p:txBody>
          <a:bodyPr lIns="0" tIns="0" rIns="0" bIns="0" rtlCol="0" anchor="t" anchorCtr="0">
            <a:noAutofit/>
          </a:bodyPr>
          <a:lstStyle/>
          <a:p>
            <a:endParaRPr lang="ru-RU" sz="600" b="0" i="0" u="none" strike="noStrike" kern="1200" baseline="0" dirty="0">
              <a:solidFill>
                <a:srgbClr val="545353"/>
              </a:solidFill>
            </a:endParaRPr>
          </a:p>
        </p:txBody>
      </p:sp>
      <p:sp>
        <p:nvSpPr>
          <p:cNvPr id="28" name="Текст 13"/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294428" y="3817701"/>
            <a:ext cx="4565604" cy="2086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НПВ</a:t>
            </a:r>
            <a:r>
              <a:rPr lang="en-US" sz="800" dirty="0" smtClean="0">
                <a:solidFill>
                  <a:srgbClr val="545353"/>
                </a:solidFill>
                <a:cs typeface="Arabic Typesetting" pitchFamily="66" charset="-78"/>
              </a:rPr>
              <a:t> </a:t>
            </a: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в ЗБС за календарное время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sp>
        <p:nvSpPr>
          <p:cNvPr id="30" name="RoundDZO_Zbs"/>
          <p:cNvSpPr/>
          <p:nvPr>
            <p:custDataLst>
              <p:tags r:id="rId8"/>
            </p:custDataLst>
          </p:nvPr>
        </p:nvSpPr>
        <p:spPr>
          <a:xfrm>
            <a:off x="7017139" y="4329100"/>
            <a:ext cx="216000" cy="216000"/>
          </a:xfrm>
          <a:prstGeom prst="ellipse">
            <a:avLst/>
          </a:prstGeom>
          <a:noFill/>
          <a:ln w="127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Текст 13"/>
          <p:cNvSpPr txBox="1">
            <a:spLocks/>
          </p:cNvSpPr>
          <p:nvPr>
            <p:custDataLst>
              <p:tags r:id="rId9"/>
            </p:custDataLst>
          </p:nvPr>
        </p:nvSpPr>
        <p:spPr>
          <a:xfrm>
            <a:off x="4974664" y="1124715"/>
            <a:ext cx="3924436" cy="2086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НПВ в ЭБ с начала года по ДО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sp>
        <p:nvSpPr>
          <p:cNvPr id="37" name="Текст 13"/>
          <p:cNvSpPr txBox="1">
            <a:spLocks/>
          </p:cNvSpPr>
          <p:nvPr>
            <p:custDataLst>
              <p:tags r:id="rId10"/>
            </p:custDataLst>
          </p:nvPr>
        </p:nvSpPr>
        <p:spPr>
          <a:xfrm>
            <a:off x="4968044" y="3825044"/>
            <a:ext cx="3924436" cy="2086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lIns="0" tIns="0" rIns="0" bIns="0" anchor="ctr"/>
          <a:lstStyle>
            <a:lvl1pPr marL="0" indent="0" algn="l" defTabSz="914400" rtl="0" eaLnBrk="1" latinLnBrk="0" hangingPunct="1"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90000"/>
              <a:buFont typeface="Wingdings" pitchFamily="2" charset="2"/>
              <a:buNone/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80975" marR="0" indent="-18097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tabLst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50838" indent="-169863" algn="l" defTabSz="914400" rtl="0" eaLnBrk="1" latinLnBrk="0" hangingPunct="1">
              <a:spcBef>
                <a:spcPts val="600"/>
              </a:spcBef>
              <a:buClr>
                <a:schemeClr val="accent3"/>
              </a:buClr>
              <a:buFont typeface="Wingdings" pitchFamily="2" charset="2"/>
              <a:buChar char="§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31343" eaLnBrk="0" hangingPunct="0">
              <a:spcBef>
                <a:spcPct val="0"/>
              </a:spcBef>
            </a:pPr>
            <a:r>
              <a:rPr lang="ru-RU" sz="800" dirty="0" smtClean="0">
                <a:solidFill>
                  <a:srgbClr val="545353"/>
                </a:solidFill>
                <a:cs typeface="Arabic Typesetting" pitchFamily="66" charset="-78"/>
              </a:rPr>
              <a:t>НПВ в ЗБС с начала года по ДО</a:t>
            </a:r>
            <a:endParaRPr lang="ru-RU" sz="800" dirty="0">
              <a:solidFill>
                <a:srgbClr val="545353"/>
              </a:solidFill>
              <a:cs typeface="Arabic Typesetting" pitchFamily="66" charset="-78"/>
            </a:endParaRPr>
          </a:p>
        </p:txBody>
      </p:sp>
      <p:grpSp>
        <p:nvGrpSpPr>
          <p:cNvPr id="35" name="Группа 34"/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762307" y="353340"/>
            <a:ext cx="461321" cy="447368"/>
            <a:chOff x="2154187" y="4126930"/>
            <a:chExt cx="1284385" cy="1291432"/>
          </a:xfrm>
        </p:grpSpPr>
        <p:sp>
          <p:nvSpPr>
            <p:cNvPr id="46" name="Овал 45"/>
            <p:cNvSpPr/>
            <p:nvPr/>
          </p:nvSpPr>
          <p:spPr>
            <a:xfrm>
              <a:off x="2297779" y="4274046"/>
              <a:ext cx="997200" cy="997200"/>
            </a:xfrm>
            <a:prstGeom prst="ellipse">
              <a:avLst/>
            </a:prstGeom>
            <a:solidFill>
              <a:srgbClr val="E6E6E6"/>
            </a:solidFill>
            <a:ln w="7938" cap="flat">
              <a:solidFill>
                <a:srgbClr val="FEFEFE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7" name="Группа 46"/>
            <p:cNvGrpSpPr/>
            <p:nvPr/>
          </p:nvGrpSpPr>
          <p:grpSpPr>
            <a:xfrm>
              <a:off x="2154187" y="4126930"/>
              <a:ext cx="1284385" cy="1291432"/>
              <a:chOff x="2182018" y="4039169"/>
              <a:chExt cx="1284385" cy="1291432"/>
            </a:xfrm>
            <a:solidFill>
              <a:schemeClr val="accent2"/>
            </a:solidFill>
          </p:grpSpPr>
          <p:sp>
            <p:nvSpPr>
              <p:cNvPr id="54" name="Freeform 8"/>
              <p:cNvSpPr>
                <a:spLocks noEditPoints="1"/>
              </p:cNvSpPr>
              <p:nvPr/>
            </p:nvSpPr>
            <p:spPr bwMode="auto">
              <a:xfrm>
                <a:off x="2819806" y="4398585"/>
                <a:ext cx="646597" cy="932016"/>
              </a:xfrm>
              <a:custGeom>
                <a:avLst/>
                <a:gdLst>
                  <a:gd name="T0" fmla="*/ 0 w 1609"/>
                  <a:gd name="T1" fmla="*/ 2187 h 2327"/>
                  <a:gd name="T2" fmla="*/ 0 w 1609"/>
                  <a:gd name="T3" fmla="*/ 2187 h 2327"/>
                  <a:gd name="T4" fmla="*/ 31 w 1609"/>
                  <a:gd name="T5" fmla="*/ 2327 h 2327"/>
                  <a:gd name="T6" fmla="*/ 165 w 1609"/>
                  <a:gd name="T7" fmla="*/ 2319 h 2327"/>
                  <a:gd name="T8" fmla="*/ 295 w 1609"/>
                  <a:gd name="T9" fmla="*/ 2300 h 2327"/>
                  <a:gd name="T10" fmla="*/ 422 w 1609"/>
                  <a:gd name="T11" fmla="*/ 2271 h 2327"/>
                  <a:gd name="T12" fmla="*/ 545 w 1609"/>
                  <a:gd name="T13" fmla="*/ 2233 h 2327"/>
                  <a:gd name="T14" fmla="*/ 450 w 1609"/>
                  <a:gd name="T15" fmla="*/ 1969 h 2327"/>
                  <a:gd name="T16" fmla="*/ 349 w 1609"/>
                  <a:gd name="T17" fmla="*/ 2001 h 2327"/>
                  <a:gd name="T18" fmla="*/ 244 w 1609"/>
                  <a:gd name="T19" fmla="*/ 2025 h 2327"/>
                  <a:gd name="T20" fmla="*/ 136 w 1609"/>
                  <a:gd name="T21" fmla="*/ 2040 h 2327"/>
                  <a:gd name="T22" fmla="*/ 26 w 1609"/>
                  <a:gd name="T23" fmla="*/ 2047 h 2327"/>
                  <a:gd name="T24" fmla="*/ 1454 w 1609"/>
                  <a:gd name="T25" fmla="*/ 21 h 2327"/>
                  <a:gd name="T26" fmla="*/ 1470 w 1609"/>
                  <a:gd name="T27" fmla="*/ 55 h 2327"/>
                  <a:gd name="T28" fmla="*/ 1485 w 1609"/>
                  <a:gd name="T29" fmla="*/ 90 h 2327"/>
                  <a:gd name="T30" fmla="*/ 1499 w 1609"/>
                  <a:gd name="T31" fmla="*/ 125 h 2327"/>
                  <a:gd name="T32" fmla="*/ 1512 w 1609"/>
                  <a:gd name="T33" fmla="*/ 160 h 2327"/>
                  <a:gd name="T34" fmla="*/ 1525 w 1609"/>
                  <a:gd name="T35" fmla="*/ 196 h 2327"/>
                  <a:gd name="T36" fmla="*/ 1537 w 1609"/>
                  <a:gd name="T37" fmla="*/ 231 h 2327"/>
                  <a:gd name="T38" fmla="*/ 1548 w 1609"/>
                  <a:gd name="T39" fmla="*/ 267 h 2327"/>
                  <a:gd name="T40" fmla="*/ 1558 w 1609"/>
                  <a:gd name="T41" fmla="*/ 303 h 2327"/>
                  <a:gd name="T42" fmla="*/ 1567 w 1609"/>
                  <a:gd name="T43" fmla="*/ 340 h 2327"/>
                  <a:gd name="T44" fmla="*/ 1575 w 1609"/>
                  <a:gd name="T45" fmla="*/ 377 h 2327"/>
                  <a:gd name="T46" fmla="*/ 1583 w 1609"/>
                  <a:gd name="T47" fmla="*/ 414 h 2327"/>
                  <a:gd name="T48" fmla="*/ 1589 w 1609"/>
                  <a:gd name="T49" fmla="*/ 450 h 2327"/>
                  <a:gd name="T50" fmla="*/ 1595 w 1609"/>
                  <a:gd name="T51" fmla="*/ 488 h 2327"/>
                  <a:gd name="T52" fmla="*/ 1314 w 1609"/>
                  <a:gd name="T53" fmla="*/ 504 h 2327"/>
                  <a:gd name="T54" fmla="*/ 1309 w 1609"/>
                  <a:gd name="T55" fmla="*/ 473 h 2327"/>
                  <a:gd name="T56" fmla="*/ 1303 w 1609"/>
                  <a:gd name="T57" fmla="*/ 443 h 2327"/>
                  <a:gd name="T58" fmla="*/ 1296 w 1609"/>
                  <a:gd name="T59" fmla="*/ 412 h 2327"/>
                  <a:gd name="T60" fmla="*/ 1289 w 1609"/>
                  <a:gd name="T61" fmla="*/ 382 h 2327"/>
                  <a:gd name="T62" fmla="*/ 1281 w 1609"/>
                  <a:gd name="T63" fmla="*/ 352 h 2327"/>
                  <a:gd name="T64" fmla="*/ 1272 w 1609"/>
                  <a:gd name="T65" fmla="*/ 322 h 2327"/>
                  <a:gd name="T66" fmla="*/ 1262 w 1609"/>
                  <a:gd name="T67" fmla="*/ 293 h 2327"/>
                  <a:gd name="T68" fmla="*/ 1252 w 1609"/>
                  <a:gd name="T69" fmla="*/ 263 h 2327"/>
                  <a:gd name="T70" fmla="*/ 1241 w 1609"/>
                  <a:gd name="T71" fmla="*/ 234 h 2327"/>
                  <a:gd name="T72" fmla="*/ 1229 w 1609"/>
                  <a:gd name="T73" fmla="*/ 205 h 2327"/>
                  <a:gd name="T74" fmla="*/ 1217 w 1609"/>
                  <a:gd name="T75" fmla="*/ 177 h 2327"/>
                  <a:gd name="T76" fmla="*/ 1204 w 1609"/>
                  <a:gd name="T77" fmla="*/ 148 h 2327"/>
                  <a:gd name="T78" fmla="*/ 1609 w 1609"/>
                  <a:gd name="T79" fmla="*/ 794 h 2327"/>
                  <a:gd name="T80" fmla="*/ 1598 w 1609"/>
                  <a:gd name="T81" fmla="*/ 921 h 2327"/>
                  <a:gd name="T82" fmla="*/ 1577 w 1609"/>
                  <a:gd name="T83" fmla="*/ 1050 h 2327"/>
                  <a:gd name="T84" fmla="*/ 1545 w 1609"/>
                  <a:gd name="T85" fmla="*/ 1176 h 2327"/>
                  <a:gd name="T86" fmla="*/ 1503 w 1609"/>
                  <a:gd name="T87" fmla="*/ 1298 h 2327"/>
                  <a:gd name="T88" fmla="*/ 1217 w 1609"/>
                  <a:gd name="T89" fmla="*/ 1256 h 2327"/>
                  <a:gd name="T90" fmla="*/ 1256 w 1609"/>
                  <a:gd name="T91" fmla="*/ 1158 h 2327"/>
                  <a:gd name="T92" fmla="*/ 1287 w 1609"/>
                  <a:gd name="T93" fmla="*/ 1057 h 2327"/>
                  <a:gd name="T94" fmla="*/ 1311 w 1609"/>
                  <a:gd name="T95" fmla="*/ 952 h 2327"/>
                  <a:gd name="T96" fmla="*/ 1325 w 1609"/>
                  <a:gd name="T97" fmla="*/ 844 h 2327"/>
                  <a:gd name="T98" fmla="*/ 1297 w 1609"/>
                  <a:gd name="T99" fmla="*/ 1672 h 2327"/>
                  <a:gd name="T100" fmla="*/ 1218 w 1609"/>
                  <a:gd name="T101" fmla="*/ 1770 h 2327"/>
                  <a:gd name="T102" fmla="*/ 1133 w 1609"/>
                  <a:gd name="T103" fmla="*/ 1862 h 2327"/>
                  <a:gd name="T104" fmla="*/ 1040 w 1609"/>
                  <a:gd name="T105" fmla="*/ 1947 h 2327"/>
                  <a:gd name="T106" fmla="*/ 941 w 1609"/>
                  <a:gd name="T107" fmla="*/ 2024 h 2327"/>
                  <a:gd name="T108" fmla="*/ 738 w 1609"/>
                  <a:gd name="T109" fmla="*/ 1824 h 2327"/>
                  <a:gd name="T110" fmla="*/ 822 w 1609"/>
                  <a:gd name="T111" fmla="*/ 1763 h 2327"/>
                  <a:gd name="T112" fmla="*/ 901 w 1609"/>
                  <a:gd name="T113" fmla="*/ 1696 h 2327"/>
                  <a:gd name="T114" fmla="*/ 975 w 1609"/>
                  <a:gd name="T115" fmla="*/ 1623 h 2327"/>
                  <a:gd name="T116" fmla="*/ 1043 w 1609"/>
                  <a:gd name="T117" fmla="*/ 1544 h 2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1609" h="2327">
                    <a:moveTo>
                      <a:pt x="0" y="2047"/>
                    </a:move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187"/>
                    </a:lnTo>
                    <a:lnTo>
                      <a:pt x="0" y="2327"/>
                    </a:lnTo>
                    <a:lnTo>
                      <a:pt x="11" y="2327"/>
                    </a:lnTo>
                    <a:lnTo>
                      <a:pt x="21" y="2327"/>
                    </a:lnTo>
                    <a:lnTo>
                      <a:pt x="31" y="2327"/>
                    </a:lnTo>
                    <a:lnTo>
                      <a:pt x="42" y="2327"/>
                    </a:lnTo>
                    <a:lnTo>
                      <a:pt x="52" y="2326"/>
                    </a:lnTo>
                    <a:lnTo>
                      <a:pt x="62" y="2326"/>
                    </a:lnTo>
                    <a:lnTo>
                      <a:pt x="73" y="2326"/>
                    </a:lnTo>
                    <a:lnTo>
                      <a:pt x="83" y="2325"/>
                    </a:lnTo>
                    <a:lnTo>
                      <a:pt x="93" y="2325"/>
                    </a:lnTo>
                    <a:lnTo>
                      <a:pt x="104" y="2324"/>
                    </a:lnTo>
                    <a:lnTo>
                      <a:pt x="114" y="2323"/>
                    </a:lnTo>
                    <a:lnTo>
                      <a:pt x="124" y="2322"/>
                    </a:lnTo>
                    <a:lnTo>
                      <a:pt x="134" y="2322"/>
                    </a:lnTo>
                    <a:lnTo>
                      <a:pt x="144" y="2321"/>
                    </a:lnTo>
                    <a:lnTo>
                      <a:pt x="155" y="2320"/>
                    </a:lnTo>
                    <a:lnTo>
                      <a:pt x="165" y="2319"/>
                    </a:lnTo>
                    <a:lnTo>
                      <a:pt x="175" y="2318"/>
                    </a:lnTo>
                    <a:lnTo>
                      <a:pt x="185" y="2317"/>
                    </a:lnTo>
                    <a:lnTo>
                      <a:pt x="195" y="2315"/>
                    </a:lnTo>
                    <a:lnTo>
                      <a:pt x="205" y="2314"/>
                    </a:lnTo>
                    <a:lnTo>
                      <a:pt x="215" y="2313"/>
                    </a:lnTo>
                    <a:lnTo>
                      <a:pt x="225" y="2312"/>
                    </a:lnTo>
                    <a:lnTo>
                      <a:pt x="235" y="2310"/>
                    </a:lnTo>
                    <a:lnTo>
                      <a:pt x="245" y="2309"/>
                    </a:lnTo>
                    <a:lnTo>
                      <a:pt x="255" y="2307"/>
                    </a:lnTo>
                    <a:lnTo>
                      <a:pt x="265" y="2305"/>
                    </a:lnTo>
                    <a:lnTo>
                      <a:pt x="275" y="2304"/>
                    </a:lnTo>
                    <a:lnTo>
                      <a:pt x="285" y="2302"/>
                    </a:lnTo>
                    <a:lnTo>
                      <a:pt x="295" y="2300"/>
                    </a:lnTo>
                    <a:lnTo>
                      <a:pt x="305" y="2298"/>
                    </a:lnTo>
                    <a:lnTo>
                      <a:pt x="315" y="2296"/>
                    </a:lnTo>
                    <a:lnTo>
                      <a:pt x="325" y="2294"/>
                    </a:lnTo>
                    <a:lnTo>
                      <a:pt x="335" y="2292"/>
                    </a:lnTo>
                    <a:lnTo>
                      <a:pt x="344" y="2290"/>
                    </a:lnTo>
                    <a:lnTo>
                      <a:pt x="354" y="2288"/>
                    </a:lnTo>
                    <a:lnTo>
                      <a:pt x="364" y="2286"/>
                    </a:lnTo>
                    <a:lnTo>
                      <a:pt x="374" y="2284"/>
                    </a:lnTo>
                    <a:lnTo>
                      <a:pt x="383" y="2281"/>
                    </a:lnTo>
                    <a:lnTo>
                      <a:pt x="393" y="2279"/>
                    </a:lnTo>
                    <a:lnTo>
                      <a:pt x="403" y="2276"/>
                    </a:lnTo>
                    <a:lnTo>
                      <a:pt x="412" y="2274"/>
                    </a:lnTo>
                    <a:lnTo>
                      <a:pt x="422" y="2271"/>
                    </a:lnTo>
                    <a:lnTo>
                      <a:pt x="432" y="2269"/>
                    </a:lnTo>
                    <a:lnTo>
                      <a:pt x="441" y="2266"/>
                    </a:lnTo>
                    <a:lnTo>
                      <a:pt x="451" y="2263"/>
                    </a:lnTo>
                    <a:lnTo>
                      <a:pt x="460" y="2260"/>
                    </a:lnTo>
                    <a:lnTo>
                      <a:pt x="470" y="2258"/>
                    </a:lnTo>
                    <a:lnTo>
                      <a:pt x="479" y="2255"/>
                    </a:lnTo>
                    <a:lnTo>
                      <a:pt x="489" y="2252"/>
                    </a:lnTo>
                    <a:lnTo>
                      <a:pt x="498" y="2249"/>
                    </a:lnTo>
                    <a:lnTo>
                      <a:pt x="508" y="2246"/>
                    </a:lnTo>
                    <a:lnTo>
                      <a:pt x="517" y="2242"/>
                    </a:lnTo>
                    <a:lnTo>
                      <a:pt x="526" y="2239"/>
                    </a:lnTo>
                    <a:lnTo>
                      <a:pt x="536" y="2236"/>
                    </a:lnTo>
                    <a:lnTo>
                      <a:pt x="545" y="2233"/>
                    </a:lnTo>
                    <a:lnTo>
                      <a:pt x="554" y="2229"/>
                    </a:lnTo>
                    <a:lnTo>
                      <a:pt x="563" y="2226"/>
                    </a:lnTo>
                    <a:lnTo>
                      <a:pt x="573" y="2222"/>
                    </a:lnTo>
                    <a:lnTo>
                      <a:pt x="582" y="2219"/>
                    </a:lnTo>
                    <a:lnTo>
                      <a:pt x="591" y="2215"/>
                    </a:lnTo>
                    <a:lnTo>
                      <a:pt x="598" y="2212"/>
                    </a:lnTo>
                    <a:lnTo>
                      <a:pt x="496" y="1952"/>
                    </a:lnTo>
                    <a:lnTo>
                      <a:pt x="488" y="1955"/>
                    </a:lnTo>
                    <a:lnTo>
                      <a:pt x="481" y="1958"/>
                    </a:lnTo>
                    <a:lnTo>
                      <a:pt x="473" y="1961"/>
                    </a:lnTo>
                    <a:lnTo>
                      <a:pt x="466" y="1964"/>
                    </a:lnTo>
                    <a:lnTo>
                      <a:pt x="458" y="1966"/>
                    </a:lnTo>
                    <a:lnTo>
                      <a:pt x="450" y="1969"/>
                    </a:lnTo>
                    <a:lnTo>
                      <a:pt x="443" y="1972"/>
                    </a:lnTo>
                    <a:lnTo>
                      <a:pt x="435" y="1975"/>
                    </a:lnTo>
                    <a:lnTo>
                      <a:pt x="427" y="1977"/>
                    </a:lnTo>
                    <a:lnTo>
                      <a:pt x="420" y="1980"/>
                    </a:lnTo>
                    <a:lnTo>
                      <a:pt x="412" y="1982"/>
                    </a:lnTo>
                    <a:lnTo>
                      <a:pt x="404" y="1985"/>
                    </a:lnTo>
                    <a:lnTo>
                      <a:pt x="396" y="1987"/>
                    </a:lnTo>
                    <a:lnTo>
                      <a:pt x="388" y="1990"/>
                    </a:lnTo>
                    <a:lnTo>
                      <a:pt x="380" y="1992"/>
                    </a:lnTo>
                    <a:lnTo>
                      <a:pt x="373" y="1994"/>
                    </a:lnTo>
                    <a:lnTo>
                      <a:pt x="365" y="1997"/>
                    </a:lnTo>
                    <a:lnTo>
                      <a:pt x="357" y="1999"/>
                    </a:lnTo>
                    <a:lnTo>
                      <a:pt x="349" y="2001"/>
                    </a:lnTo>
                    <a:lnTo>
                      <a:pt x="341" y="2003"/>
                    </a:lnTo>
                    <a:lnTo>
                      <a:pt x="333" y="2005"/>
                    </a:lnTo>
                    <a:lnTo>
                      <a:pt x="325" y="2007"/>
                    </a:lnTo>
                    <a:lnTo>
                      <a:pt x="317" y="2009"/>
                    </a:lnTo>
                    <a:lnTo>
                      <a:pt x="309" y="2011"/>
                    </a:lnTo>
                    <a:lnTo>
                      <a:pt x="301" y="2013"/>
                    </a:lnTo>
                    <a:lnTo>
                      <a:pt x="293" y="2015"/>
                    </a:lnTo>
                    <a:lnTo>
                      <a:pt x="285" y="2017"/>
                    </a:lnTo>
                    <a:lnTo>
                      <a:pt x="277" y="2018"/>
                    </a:lnTo>
                    <a:lnTo>
                      <a:pt x="269" y="2020"/>
                    </a:lnTo>
                    <a:lnTo>
                      <a:pt x="261" y="2022"/>
                    </a:lnTo>
                    <a:lnTo>
                      <a:pt x="252" y="2023"/>
                    </a:lnTo>
                    <a:lnTo>
                      <a:pt x="244" y="2025"/>
                    </a:lnTo>
                    <a:lnTo>
                      <a:pt x="236" y="2026"/>
                    </a:lnTo>
                    <a:lnTo>
                      <a:pt x="228" y="2028"/>
                    </a:lnTo>
                    <a:lnTo>
                      <a:pt x="220" y="2029"/>
                    </a:lnTo>
                    <a:lnTo>
                      <a:pt x="211" y="2031"/>
                    </a:lnTo>
                    <a:lnTo>
                      <a:pt x="203" y="2032"/>
                    </a:lnTo>
                    <a:lnTo>
                      <a:pt x="195" y="2033"/>
                    </a:lnTo>
                    <a:lnTo>
                      <a:pt x="187" y="2034"/>
                    </a:lnTo>
                    <a:lnTo>
                      <a:pt x="178" y="2035"/>
                    </a:lnTo>
                    <a:lnTo>
                      <a:pt x="170" y="2036"/>
                    </a:lnTo>
                    <a:lnTo>
                      <a:pt x="162" y="2038"/>
                    </a:lnTo>
                    <a:lnTo>
                      <a:pt x="153" y="2038"/>
                    </a:lnTo>
                    <a:lnTo>
                      <a:pt x="145" y="2039"/>
                    </a:lnTo>
                    <a:lnTo>
                      <a:pt x="136" y="2040"/>
                    </a:lnTo>
                    <a:lnTo>
                      <a:pt x="128" y="2041"/>
                    </a:lnTo>
                    <a:lnTo>
                      <a:pt x="120" y="2042"/>
                    </a:lnTo>
                    <a:lnTo>
                      <a:pt x="111" y="2043"/>
                    </a:lnTo>
                    <a:lnTo>
                      <a:pt x="103" y="2043"/>
                    </a:lnTo>
                    <a:lnTo>
                      <a:pt x="94" y="2044"/>
                    </a:lnTo>
                    <a:lnTo>
                      <a:pt x="86" y="2044"/>
                    </a:lnTo>
                    <a:lnTo>
                      <a:pt x="77" y="2045"/>
                    </a:lnTo>
                    <a:lnTo>
                      <a:pt x="69" y="2045"/>
                    </a:lnTo>
                    <a:lnTo>
                      <a:pt x="60" y="2046"/>
                    </a:lnTo>
                    <a:lnTo>
                      <a:pt x="52" y="2046"/>
                    </a:lnTo>
                    <a:lnTo>
                      <a:pt x="43" y="2046"/>
                    </a:lnTo>
                    <a:lnTo>
                      <a:pt x="35" y="2047"/>
                    </a:lnTo>
                    <a:lnTo>
                      <a:pt x="26" y="2047"/>
                    </a:lnTo>
                    <a:lnTo>
                      <a:pt x="18" y="2047"/>
                    </a:lnTo>
                    <a:lnTo>
                      <a:pt x="9" y="2047"/>
                    </a:lnTo>
                    <a:lnTo>
                      <a:pt x="0" y="2047"/>
                    </a:lnTo>
                    <a:close/>
                    <a:moveTo>
                      <a:pt x="1193" y="125"/>
                    </a:moveTo>
                    <a:lnTo>
                      <a:pt x="1444" y="0"/>
                    </a:lnTo>
                    <a:lnTo>
                      <a:pt x="1445" y="3"/>
                    </a:lnTo>
                    <a:lnTo>
                      <a:pt x="1446" y="6"/>
                    </a:lnTo>
                    <a:lnTo>
                      <a:pt x="1447" y="8"/>
                    </a:lnTo>
                    <a:lnTo>
                      <a:pt x="1449" y="11"/>
                    </a:lnTo>
                    <a:lnTo>
                      <a:pt x="1450" y="13"/>
                    </a:lnTo>
                    <a:lnTo>
                      <a:pt x="1451" y="16"/>
                    </a:lnTo>
                    <a:lnTo>
                      <a:pt x="1453" y="19"/>
                    </a:lnTo>
                    <a:lnTo>
                      <a:pt x="1454" y="21"/>
                    </a:lnTo>
                    <a:lnTo>
                      <a:pt x="1455" y="24"/>
                    </a:lnTo>
                    <a:lnTo>
                      <a:pt x="1456" y="26"/>
                    </a:lnTo>
                    <a:lnTo>
                      <a:pt x="1458" y="29"/>
                    </a:lnTo>
                    <a:lnTo>
                      <a:pt x="1459" y="32"/>
                    </a:lnTo>
                    <a:lnTo>
                      <a:pt x="1460" y="34"/>
                    </a:lnTo>
                    <a:lnTo>
                      <a:pt x="1461" y="37"/>
                    </a:lnTo>
                    <a:lnTo>
                      <a:pt x="1462" y="40"/>
                    </a:lnTo>
                    <a:lnTo>
                      <a:pt x="1464" y="42"/>
                    </a:lnTo>
                    <a:lnTo>
                      <a:pt x="1465" y="45"/>
                    </a:lnTo>
                    <a:lnTo>
                      <a:pt x="1466" y="48"/>
                    </a:lnTo>
                    <a:lnTo>
                      <a:pt x="1467" y="50"/>
                    </a:lnTo>
                    <a:lnTo>
                      <a:pt x="1468" y="53"/>
                    </a:lnTo>
                    <a:lnTo>
                      <a:pt x="1470" y="55"/>
                    </a:lnTo>
                    <a:lnTo>
                      <a:pt x="1471" y="58"/>
                    </a:lnTo>
                    <a:lnTo>
                      <a:pt x="1472" y="61"/>
                    </a:lnTo>
                    <a:lnTo>
                      <a:pt x="1473" y="63"/>
                    </a:lnTo>
                    <a:lnTo>
                      <a:pt x="1474" y="66"/>
                    </a:lnTo>
                    <a:lnTo>
                      <a:pt x="1476" y="69"/>
                    </a:lnTo>
                    <a:lnTo>
                      <a:pt x="1477" y="71"/>
                    </a:lnTo>
                    <a:lnTo>
                      <a:pt x="1478" y="74"/>
                    </a:lnTo>
                    <a:lnTo>
                      <a:pt x="1479" y="77"/>
                    </a:lnTo>
                    <a:lnTo>
                      <a:pt x="1480" y="79"/>
                    </a:lnTo>
                    <a:lnTo>
                      <a:pt x="1481" y="82"/>
                    </a:lnTo>
                    <a:lnTo>
                      <a:pt x="1483" y="85"/>
                    </a:lnTo>
                    <a:lnTo>
                      <a:pt x="1484" y="87"/>
                    </a:lnTo>
                    <a:lnTo>
                      <a:pt x="1485" y="90"/>
                    </a:lnTo>
                    <a:lnTo>
                      <a:pt x="1486" y="93"/>
                    </a:lnTo>
                    <a:lnTo>
                      <a:pt x="1487" y="95"/>
                    </a:lnTo>
                    <a:lnTo>
                      <a:pt x="1488" y="98"/>
                    </a:lnTo>
                    <a:lnTo>
                      <a:pt x="1489" y="101"/>
                    </a:lnTo>
                    <a:lnTo>
                      <a:pt x="1490" y="103"/>
                    </a:lnTo>
                    <a:lnTo>
                      <a:pt x="1491" y="106"/>
                    </a:lnTo>
                    <a:lnTo>
                      <a:pt x="1492" y="109"/>
                    </a:lnTo>
                    <a:lnTo>
                      <a:pt x="1494" y="112"/>
                    </a:lnTo>
                    <a:lnTo>
                      <a:pt x="1495" y="114"/>
                    </a:lnTo>
                    <a:lnTo>
                      <a:pt x="1496" y="117"/>
                    </a:lnTo>
                    <a:lnTo>
                      <a:pt x="1497" y="120"/>
                    </a:lnTo>
                    <a:lnTo>
                      <a:pt x="1498" y="122"/>
                    </a:lnTo>
                    <a:lnTo>
                      <a:pt x="1499" y="125"/>
                    </a:lnTo>
                    <a:lnTo>
                      <a:pt x="1500" y="127"/>
                    </a:lnTo>
                    <a:lnTo>
                      <a:pt x="1501" y="130"/>
                    </a:lnTo>
                    <a:lnTo>
                      <a:pt x="1502" y="133"/>
                    </a:lnTo>
                    <a:lnTo>
                      <a:pt x="1503" y="136"/>
                    </a:lnTo>
                    <a:lnTo>
                      <a:pt x="1504" y="138"/>
                    </a:lnTo>
                    <a:lnTo>
                      <a:pt x="1505" y="141"/>
                    </a:lnTo>
                    <a:lnTo>
                      <a:pt x="1506" y="144"/>
                    </a:lnTo>
                    <a:lnTo>
                      <a:pt x="1507" y="147"/>
                    </a:lnTo>
                    <a:lnTo>
                      <a:pt x="1508" y="149"/>
                    </a:lnTo>
                    <a:lnTo>
                      <a:pt x="1509" y="152"/>
                    </a:lnTo>
                    <a:lnTo>
                      <a:pt x="1510" y="154"/>
                    </a:lnTo>
                    <a:lnTo>
                      <a:pt x="1511" y="158"/>
                    </a:lnTo>
                    <a:lnTo>
                      <a:pt x="1512" y="160"/>
                    </a:lnTo>
                    <a:lnTo>
                      <a:pt x="1513" y="163"/>
                    </a:lnTo>
                    <a:lnTo>
                      <a:pt x="1514" y="165"/>
                    </a:lnTo>
                    <a:lnTo>
                      <a:pt x="1515" y="168"/>
                    </a:lnTo>
                    <a:lnTo>
                      <a:pt x="1516" y="171"/>
                    </a:lnTo>
                    <a:lnTo>
                      <a:pt x="1517" y="174"/>
                    </a:lnTo>
                    <a:lnTo>
                      <a:pt x="1518" y="176"/>
                    </a:lnTo>
                    <a:lnTo>
                      <a:pt x="1519" y="179"/>
                    </a:lnTo>
                    <a:lnTo>
                      <a:pt x="1520" y="182"/>
                    </a:lnTo>
                    <a:lnTo>
                      <a:pt x="1521" y="185"/>
                    </a:lnTo>
                    <a:lnTo>
                      <a:pt x="1522" y="187"/>
                    </a:lnTo>
                    <a:lnTo>
                      <a:pt x="1523" y="190"/>
                    </a:lnTo>
                    <a:lnTo>
                      <a:pt x="1524" y="193"/>
                    </a:lnTo>
                    <a:lnTo>
                      <a:pt x="1525" y="196"/>
                    </a:lnTo>
                    <a:lnTo>
                      <a:pt x="1526" y="198"/>
                    </a:lnTo>
                    <a:lnTo>
                      <a:pt x="1527" y="201"/>
                    </a:lnTo>
                    <a:lnTo>
                      <a:pt x="1528" y="204"/>
                    </a:lnTo>
                    <a:lnTo>
                      <a:pt x="1529" y="207"/>
                    </a:lnTo>
                    <a:lnTo>
                      <a:pt x="1530" y="209"/>
                    </a:lnTo>
                    <a:lnTo>
                      <a:pt x="1531" y="212"/>
                    </a:lnTo>
                    <a:lnTo>
                      <a:pt x="1531" y="215"/>
                    </a:lnTo>
                    <a:lnTo>
                      <a:pt x="1532" y="217"/>
                    </a:lnTo>
                    <a:lnTo>
                      <a:pt x="1533" y="220"/>
                    </a:lnTo>
                    <a:lnTo>
                      <a:pt x="1534" y="223"/>
                    </a:lnTo>
                    <a:lnTo>
                      <a:pt x="1535" y="226"/>
                    </a:lnTo>
                    <a:lnTo>
                      <a:pt x="1536" y="228"/>
                    </a:lnTo>
                    <a:lnTo>
                      <a:pt x="1537" y="231"/>
                    </a:lnTo>
                    <a:lnTo>
                      <a:pt x="1538" y="234"/>
                    </a:lnTo>
                    <a:lnTo>
                      <a:pt x="1538" y="237"/>
                    </a:lnTo>
                    <a:lnTo>
                      <a:pt x="1539" y="240"/>
                    </a:lnTo>
                    <a:lnTo>
                      <a:pt x="1540" y="242"/>
                    </a:lnTo>
                    <a:lnTo>
                      <a:pt x="1541" y="245"/>
                    </a:lnTo>
                    <a:lnTo>
                      <a:pt x="1542" y="248"/>
                    </a:lnTo>
                    <a:lnTo>
                      <a:pt x="1543" y="251"/>
                    </a:lnTo>
                    <a:lnTo>
                      <a:pt x="1544" y="253"/>
                    </a:lnTo>
                    <a:lnTo>
                      <a:pt x="1544" y="256"/>
                    </a:lnTo>
                    <a:lnTo>
                      <a:pt x="1545" y="259"/>
                    </a:lnTo>
                    <a:lnTo>
                      <a:pt x="1546" y="262"/>
                    </a:lnTo>
                    <a:lnTo>
                      <a:pt x="1547" y="264"/>
                    </a:lnTo>
                    <a:lnTo>
                      <a:pt x="1548" y="267"/>
                    </a:lnTo>
                    <a:lnTo>
                      <a:pt x="1548" y="270"/>
                    </a:lnTo>
                    <a:lnTo>
                      <a:pt x="1549" y="273"/>
                    </a:lnTo>
                    <a:lnTo>
                      <a:pt x="1550" y="276"/>
                    </a:lnTo>
                    <a:lnTo>
                      <a:pt x="1551" y="278"/>
                    </a:lnTo>
                    <a:lnTo>
                      <a:pt x="1552" y="281"/>
                    </a:lnTo>
                    <a:lnTo>
                      <a:pt x="1552" y="284"/>
                    </a:lnTo>
                    <a:lnTo>
                      <a:pt x="1553" y="287"/>
                    </a:lnTo>
                    <a:lnTo>
                      <a:pt x="1554" y="290"/>
                    </a:lnTo>
                    <a:lnTo>
                      <a:pt x="1555" y="292"/>
                    </a:lnTo>
                    <a:lnTo>
                      <a:pt x="1555" y="295"/>
                    </a:lnTo>
                    <a:lnTo>
                      <a:pt x="1556" y="298"/>
                    </a:lnTo>
                    <a:lnTo>
                      <a:pt x="1557" y="301"/>
                    </a:lnTo>
                    <a:lnTo>
                      <a:pt x="1558" y="303"/>
                    </a:lnTo>
                    <a:lnTo>
                      <a:pt x="1558" y="306"/>
                    </a:lnTo>
                    <a:lnTo>
                      <a:pt x="1559" y="309"/>
                    </a:lnTo>
                    <a:lnTo>
                      <a:pt x="1560" y="312"/>
                    </a:lnTo>
                    <a:lnTo>
                      <a:pt x="1561" y="315"/>
                    </a:lnTo>
                    <a:lnTo>
                      <a:pt x="1561" y="317"/>
                    </a:lnTo>
                    <a:lnTo>
                      <a:pt x="1562" y="321"/>
                    </a:lnTo>
                    <a:lnTo>
                      <a:pt x="1563" y="323"/>
                    </a:lnTo>
                    <a:lnTo>
                      <a:pt x="1563" y="326"/>
                    </a:lnTo>
                    <a:lnTo>
                      <a:pt x="1564" y="329"/>
                    </a:lnTo>
                    <a:lnTo>
                      <a:pt x="1565" y="332"/>
                    </a:lnTo>
                    <a:lnTo>
                      <a:pt x="1565" y="334"/>
                    </a:lnTo>
                    <a:lnTo>
                      <a:pt x="1566" y="337"/>
                    </a:lnTo>
                    <a:lnTo>
                      <a:pt x="1567" y="340"/>
                    </a:lnTo>
                    <a:lnTo>
                      <a:pt x="1567" y="343"/>
                    </a:lnTo>
                    <a:lnTo>
                      <a:pt x="1568" y="346"/>
                    </a:lnTo>
                    <a:lnTo>
                      <a:pt x="1569" y="349"/>
                    </a:lnTo>
                    <a:lnTo>
                      <a:pt x="1569" y="351"/>
                    </a:lnTo>
                    <a:lnTo>
                      <a:pt x="1570" y="354"/>
                    </a:lnTo>
                    <a:lnTo>
                      <a:pt x="1571" y="357"/>
                    </a:lnTo>
                    <a:lnTo>
                      <a:pt x="1571" y="360"/>
                    </a:lnTo>
                    <a:lnTo>
                      <a:pt x="1572" y="363"/>
                    </a:lnTo>
                    <a:lnTo>
                      <a:pt x="1573" y="365"/>
                    </a:lnTo>
                    <a:lnTo>
                      <a:pt x="1573" y="368"/>
                    </a:lnTo>
                    <a:lnTo>
                      <a:pt x="1574" y="371"/>
                    </a:lnTo>
                    <a:lnTo>
                      <a:pt x="1575" y="374"/>
                    </a:lnTo>
                    <a:lnTo>
                      <a:pt x="1575" y="377"/>
                    </a:lnTo>
                    <a:lnTo>
                      <a:pt x="1576" y="380"/>
                    </a:lnTo>
                    <a:lnTo>
                      <a:pt x="1576" y="382"/>
                    </a:lnTo>
                    <a:lnTo>
                      <a:pt x="1577" y="385"/>
                    </a:lnTo>
                    <a:lnTo>
                      <a:pt x="1578" y="388"/>
                    </a:lnTo>
                    <a:lnTo>
                      <a:pt x="1578" y="391"/>
                    </a:lnTo>
                    <a:lnTo>
                      <a:pt x="1579" y="394"/>
                    </a:lnTo>
                    <a:lnTo>
                      <a:pt x="1579" y="396"/>
                    </a:lnTo>
                    <a:lnTo>
                      <a:pt x="1580" y="399"/>
                    </a:lnTo>
                    <a:lnTo>
                      <a:pt x="1580" y="402"/>
                    </a:lnTo>
                    <a:lnTo>
                      <a:pt x="1581" y="405"/>
                    </a:lnTo>
                    <a:lnTo>
                      <a:pt x="1582" y="408"/>
                    </a:lnTo>
                    <a:lnTo>
                      <a:pt x="1582" y="411"/>
                    </a:lnTo>
                    <a:lnTo>
                      <a:pt x="1583" y="414"/>
                    </a:lnTo>
                    <a:lnTo>
                      <a:pt x="1583" y="416"/>
                    </a:lnTo>
                    <a:lnTo>
                      <a:pt x="1584" y="419"/>
                    </a:lnTo>
                    <a:lnTo>
                      <a:pt x="1584" y="422"/>
                    </a:lnTo>
                    <a:lnTo>
                      <a:pt x="1585" y="425"/>
                    </a:lnTo>
                    <a:lnTo>
                      <a:pt x="1585" y="428"/>
                    </a:lnTo>
                    <a:lnTo>
                      <a:pt x="1586" y="430"/>
                    </a:lnTo>
                    <a:lnTo>
                      <a:pt x="1586" y="433"/>
                    </a:lnTo>
                    <a:lnTo>
                      <a:pt x="1587" y="436"/>
                    </a:lnTo>
                    <a:lnTo>
                      <a:pt x="1587" y="439"/>
                    </a:lnTo>
                    <a:lnTo>
                      <a:pt x="1588" y="442"/>
                    </a:lnTo>
                    <a:lnTo>
                      <a:pt x="1588" y="445"/>
                    </a:lnTo>
                    <a:lnTo>
                      <a:pt x="1589" y="448"/>
                    </a:lnTo>
                    <a:lnTo>
                      <a:pt x="1589" y="450"/>
                    </a:lnTo>
                    <a:lnTo>
                      <a:pt x="1590" y="453"/>
                    </a:lnTo>
                    <a:lnTo>
                      <a:pt x="1590" y="456"/>
                    </a:lnTo>
                    <a:lnTo>
                      <a:pt x="1591" y="459"/>
                    </a:lnTo>
                    <a:lnTo>
                      <a:pt x="1591" y="462"/>
                    </a:lnTo>
                    <a:lnTo>
                      <a:pt x="1592" y="465"/>
                    </a:lnTo>
                    <a:lnTo>
                      <a:pt x="1592" y="467"/>
                    </a:lnTo>
                    <a:lnTo>
                      <a:pt x="1593" y="470"/>
                    </a:lnTo>
                    <a:lnTo>
                      <a:pt x="1593" y="473"/>
                    </a:lnTo>
                    <a:lnTo>
                      <a:pt x="1593" y="476"/>
                    </a:lnTo>
                    <a:lnTo>
                      <a:pt x="1594" y="479"/>
                    </a:lnTo>
                    <a:lnTo>
                      <a:pt x="1594" y="482"/>
                    </a:lnTo>
                    <a:lnTo>
                      <a:pt x="1595" y="485"/>
                    </a:lnTo>
                    <a:lnTo>
                      <a:pt x="1595" y="488"/>
                    </a:lnTo>
                    <a:lnTo>
                      <a:pt x="1595" y="488"/>
                    </a:lnTo>
                    <a:lnTo>
                      <a:pt x="1318" y="528"/>
                    </a:lnTo>
                    <a:lnTo>
                      <a:pt x="1318" y="527"/>
                    </a:lnTo>
                    <a:lnTo>
                      <a:pt x="1318" y="525"/>
                    </a:lnTo>
                    <a:lnTo>
                      <a:pt x="1317" y="523"/>
                    </a:lnTo>
                    <a:lnTo>
                      <a:pt x="1317" y="520"/>
                    </a:lnTo>
                    <a:lnTo>
                      <a:pt x="1317" y="518"/>
                    </a:lnTo>
                    <a:lnTo>
                      <a:pt x="1316" y="515"/>
                    </a:lnTo>
                    <a:lnTo>
                      <a:pt x="1316" y="513"/>
                    </a:lnTo>
                    <a:lnTo>
                      <a:pt x="1315" y="511"/>
                    </a:lnTo>
                    <a:lnTo>
                      <a:pt x="1315" y="508"/>
                    </a:lnTo>
                    <a:lnTo>
                      <a:pt x="1315" y="506"/>
                    </a:lnTo>
                    <a:lnTo>
                      <a:pt x="1314" y="504"/>
                    </a:lnTo>
                    <a:lnTo>
                      <a:pt x="1314" y="501"/>
                    </a:lnTo>
                    <a:lnTo>
                      <a:pt x="1314" y="499"/>
                    </a:lnTo>
                    <a:lnTo>
                      <a:pt x="1313" y="497"/>
                    </a:lnTo>
                    <a:lnTo>
                      <a:pt x="1313" y="494"/>
                    </a:lnTo>
                    <a:lnTo>
                      <a:pt x="1312" y="492"/>
                    </a:lnTo>
                    <a:lnTo>
                      <a:pt x="1312" y="490"/>
                    </a:lnTo>
                    <a:lnTo>
                      <a:pt x="1312" y="487"/>
                    </a:lnTo>
                    <a:lnTo>
                      <a:pt x="1311" y="485"/>
                    </a:lnTo>
                    <a:lnTo>
                      <a:pt x="1311" y="483"/>
                    </a:lnTo>
                    <a:lnTo>
                      <a:pt x="1310" y="480"/>
                    </a:lnTo>
                    <a:lnTo>
                      <a:pt x="1310" y="478"/>
                    </a:lnTo>
                    <a:lnTo>
                      <a:pt x="1309" y="476"/>
                    </a:lnTo>
                    <a:lnTo>
                      <a:pt x="1309" y="473"/>
                    </a:lnTo>
                    <a:lnTo>
                      <a:pt x="1309" y="471"/>
                    </a:lnTo>
                    <a:lnTo>
                      <a:pt x="1308" y="468"/>
                    </a:lnTo>
                    <a:lnTo>
                      <a:pt x="1308" y="466"/>
                    </a:lnTo>
                    <a:lnTo>
                      <a:pt x="1307" y="464"/>
                    </a:lnTo>
                    <a:lnTo>
                      <a:pt x="1307" y="461"/>
                    </a:lnTo>
                    <a:lnTo>
                      <a:pt x="1306" y="459"/>
                    </a:lnTo>
                    <a:lnTo>
                      <a:pt x="1306" y="457"/>
                    </a:lnTo>
                    <a:lnTo>
                      <a:pt x="1305" y="454"/>
                    </a:lnTo>
                    <a:lnTo>
                      <a:pt x="1305" y="452"/>
                    </a:lnTo>
                    <a:lnTo>
                      <a:pt x="1304" y="450"/>
                    </a:lnTo>
                    <a:lnTo>
                      <a:pt x="1304" y="447"/>
                    </a:lnTo>
                    <a:lnTo>
                      <a:pt x="1303" y="445"/>
                    </a:lnTo>
                    <a:lnTo>
                      <a:pt x="1303" y="443"/>
                    </a:lnTo>
                    <a:lnTo>
                      <a:pt x="1302" y="440"/>
                    </a:lnTo>
                    <a:lnTo>
                      <a:pt x="1302" y="438"/>
                    </a:lnTo>
                    <a:lnTo>
                      <a:pt x="1301" y="436"/>
                    </a:lnTo>
                    <a:lnTo>
                      <a:pt x="1301" y="434"/>
                    </a:lnTo>
                    <a:lnTo>
                      <a:pt x="1300" y="431"/>
                    </a:lnTo>
                    <a:lnTo>
                      <a:pt x="1300" y="429"/>
                    </a:lnTo>
                    <a:lnTo>
                      <a:pt x="1299" y="426"/>
                    </a:lnTo>
                    <a:lnTo>
                      <a:pt x="1299" y="424"/>
                    </a:lnTo>
                    <a:lnTo>
                      <a:pt x="1298" y="422"/>
                    </a:lnTo>
                    <a:lnTo>
                      <a:pt x="1298" y="419"/>
                    </a:lnTo>
                    <a:lnTo>
                      <a:pt x="1297" y="417"/>
                    </a:lnTo>
                    <a:lnTo>
                      <a:pt x="1297" y="415"/>
                    </a:lnTo>
                    <a:lnTo>
                      <a:pt x="1296" y="412"/>
                    </a:lnTo>
                    <a:lnTo>
                      <a:pt x="1296" y="410"/>
                    </a:lnTo>
                    <a:lnTo>
                      <a:pt x="1295" y="408"/>
                    </a:lnTo>
                    <a:lnTo>
                      <a:pt x="1295" y="405"/>
                    </a:lnTo>
                    <a:lnTo>
                      <a:pt x="1294" y="403"/>
                    </a:lnTo>
                    <a:lnTo>
                      <a:pt x="1294" y="401"/>
                    </a:lnTo>
                    <a:lnTo>
                      <a:pt x="1293" y="398"/>
                    </a:lnTo>
                    <a:lnTo>
                      <a:pt x="1292" y="396"/>
                    </a:lnTo>
                    <a:lnTo>
                      <a:pt x="1292" y="394"/>
                    </a:lnTo>
                    <a:lnTo>
                      <a:pt x="1291" y="391"/>
                    </a:lnTo>
                    <a:lnTo>
                      <a:pt x="1291" y="389"/>
                    </a:lnTo>
                    <a:lnTo>
                      <a:pt x="1290" y="387"/>
                    </a:lnTo>
                    <a:lnTo>
                      <a:pt x="1289" y="385"/>
                    </a:lnTo>
                    <a:lnTo>
                      <a:pt x="1289" y="382"/>
                    </a:lnTo>
                    <a:lnTo>
                      <a:pt x="1288" y="380"/>
                    </a:lnTo>
                    <a:lnTo>
                      <a:pt x="1288" y="378"/>
                    </a:lnTo>
                    <a:lnTo>
                      <a:pt x="1287" y="375"/>
                    </a:lnTo>
                    <a:lnTo>
                      <a:pt x="1286" y="373"/>
                    </a:lnTo>
                    <a:lnTo>
                      <a:pt x="1286" y="371"/>
                    </a:lnTo>
                    <a:lnTo>
                      <a:pt x="1285" y="368"/>
                    </a:lnTo>
                    <a:lnTo>
                      <a:pt x="1285" y="366"/>
                    </a:lnTo>
                    <a:lnTo>
                      <a:pt x="1284" y="364"/>
                    </a:lnTo>
                    <a:lnTo>
                      <a:pt x="1283" y="361"/>
                    </a:lnTo>
                    <a:lnTo>
                      <a:pt x="1283" y="359"/>
                    </a:lnTo>
                    <a:lnTo>
                      <a:pt x="1282" y="357"/>
                    </a:lnTo>
                    <a:lnTo>
                      <a:pt x="1281" y="355"/>
                    </a:lnTo>
                    <a:lnTo>
                      <a:pt x="1281" y="352"/>
                    </a:lnTo>
                    <a:lnTo>
                      <a:pt x="1280" y="350"/>
                    </a:lnTo>
                    <a:lnTo>
                      <a:pt x="1279" y="348"/>
                    </a:lnTo>
                    <a:lnTo>
                      <a:pt x="1279" y="345"/>
                    </a:lnTo>
                    <a:lnTo>
                      <a:pt x="1278" y="343"/>
                    </a:lnTo>
                    <a:lnTo>
                      <a:pt x="1277" y="341"/>
                    </a:lnTo>
                    <a:lnTo>
                      <a:pt x="1277" y="338"/>
                    </a:lnTo>
                    <a:lnTo>
                      <a:pt x="1276" y="336"/>
                    </a:lnTo>
                    <a:lnTo>
                      <a:pt x="1275" y="334"/>
                    </a:lnTo>
                    <a:lnTo>
                      <a:pt x="1275" y="332"/>
                    </a:lnTo>
                    <a:lnTo>
                      <a:pt x="1274" y="329"/>
                    </a:lnTo>
                    <a:lnTo>
                      <a:pt x="1273" y="327"/>
                    </a:lnTo>
                    <a:lnTo>
                      <a:pt x="1273" y="325"/>
                    </a:lnTo>
                    <a:lnTo>
                      <a:pt x="1272" y="322"/>
                    </a:lnTo>
                    <a:lnTo>
                      <a:pt x="1271" y="320"/>
                    </a:lnTo>
                    <a:lnTo>
                      <a:pt x="1270" y="318"/>
                    </a:lnTo>
                    <a:lnTo>
                      <a:pt x="1270" y="316"/>
                    </a:lnTo>
                    <a:lnTo>
                      <a:pt x="1269" y="313"/>
                    </a:lnTo>
                    <a:lnTo>
                      <a:pt x="1268" y="311"/>
                    </a:lnTo>
                    <a:lnTo>
                      <a:pt x="1268" y="309"/>
                    </a:lnTo>
                    <a:lnTo>
                      <a:pt x="1267" y="307"/>
                    </a:lnTo>
                    <a:lnTo>
                      <a:pt x="1266" y="304"/>
                    </a:lnTo>
                    <a:lnTo>
                      <a:pt x="1265" y="302"/>
                    </a:lnTo>
                    <a:lnTo>
                      <a:pt x="1265" y="300"/>
                    </a:lnTo>
                    <a:lnTo>
                      <a:pt x="1264" y="297"/>
                    </a:lnTo>
                    <a:lnTo>
                      <a:pt x="1263" y="295"/>
                    </a:lnTo>
                    <a:lnTo>
                      <a:pt x="1262" y="293"/>
                    </a:lnTo>
                    <a:lnTo>
                      <a:pt x="1262" y="291"/>
                    </a:lnTo>
                    <a:lnTo>
                      <a:pt x="1261" y="288"/>
                    </a:lnTo>
                    <a:lnTo>
                      <a:pt x="1260" y="286"/>
                    </a:lnTo>
                    <a:lnTo>
                      <a:pt x="1259" y="284"/>
                    </a:lnTo>
                    <a:lnTo>
                      <a:pt x="1258" y="282"/>
                    </a:lnTo>
                    <a:lnTo>
                      <a:pt x="1258" y="279"/>
                    </a:lnTo>
                    <a:lnTo>
                      <a:pt x="1257" y="277"/>
                    </a:lnTo>
                    <a:lnTo>
                      <a:pt x="1256" y="275"/>
                    </a:lnTo>
                    <a:lnTo>
                      <a:pt x="1255" y="272"/>
                    </a:lnTo>
                    <a:lnTo>
                      <a:pt x="1254" y="270"/>
                    </a:lnTo>
                    <a:lnTo>
                      <a:pt x="1254" y="268"/>
                    </a:lnTo>
                    <a:lnTo>
                      <a:pt x="1253" y="266"/>
                    </a:lnTo>
                    <a:lnTo>
                      <a:pt x="1252" y="263"/>
                    </a:lnTo>
                    <a:lnTo>
                      <a:pt x="1251" y="261"/>
                    </a:lnTo>
                    <a:lnTo>
                      <a:pt x="1250" y="259"/>
                    </a:lnTo>
                    <a:lnTo>
                      <a:pt x="1250" y="257"/>
                    </a:lnTo>
                    <a:lnTo>
                      <a:pt x="1249" y="254"/>
                    </a:lnTo>
                    <a:lnTo>
                      <a:pt x="1248" y="252"/>
                    </a:lnTo>
                    <a:lnTo>
                      <a:pt x="1247" y="250"/>
                    </a:lnTo>
                    <a:lnTo>
                      <a:pt x="1246" y="248"/>
                    </a:lnTo>
                    <a:lnTo>
                      <a:pt x="1245" y="245"/>
                    </a:lnTo>
                    <a:lnTo>
                      <a:pt x="1245" y="243"/>
                    </a:lnTo>
                    <a:lnTo>
                      <a:pt x="1244" y="241"/>
                    </a:lnTo>
                    <a:lnTo>
                      <a:pt x="1243" y="239"/>
                    </a:lnTo>
                    <a:lnTo>
                      <a:pt x="1242" y="236"/>
                    </a:lnTo>
                    <a:lnTo>
                      <a:pt x="1241" y="234"/>
                    </a:lnTo>
                    <a:lnTo>
                      <a:pt x="1240" y="232"/>
                    </a:lnTo>
                    <a:lnTo>
                      <a:pt x="1239" y="230"/>
                    </a:lnTo>
                    <a:lnTo>
                      <a:pt x="1238" y="228"/>
                    </a:lnTo>
                    <a:lnTo>
                      <a:pt x="1238" y="225"/>
                    </a:lnTo>
                    <a:lnTo>
                      <a:pt x="1237" y="223"/>
                    </a:lnTo>
                    <a:lnTo>
                      <a:pt x="1236" y="221"/>
                    </a:lnTo>
                    <a:lnTo>
                      <a:pt x="1235" y="219"/>
                    </a:lnTo>
                    <a:lnTo>
                      <a:pt x="1234" y="216"/>
                    </a:lnTo>
                    <a:lnTo>
                      <a:pt x="1233" y="214"/>
                    </a:lnTo>
                    <a:lnTo>
                      <a:pt x="1232" y="212"/>
                    </a:lnTo>
                    <a:lnTo>
                      <a:pt x="1231" y="210"/>
                    </a:lnTo>
                    <a:lnTo>
                      <a:pt x="1230" y="208"/>
                    </a:lnTo>
                    <a:lnTo>
                      <a:pt x="1229" y="205"/>
                    </a:lnTo>
                    <a:lnTo>
                      <a:pt x="1229" y="203"/>
                    </a:lnTo>
                    <a:lnTo>
                      <a:pt x="1228" y="201"/>
                    </a:lnTo>
                    <a:lnTo>
                      <a:pt x="1227" y="199"/>
                    </a:lnTo>
                    <a:lnTo>
                      <a:pt x="1226" y="197"/>
                    </a:lnTo>
                    <a:lnTo>
                      <a:pt x="1225" y="194"/>
                    </a:lnTo>
                    <a:lnTo>
                      <a:pt x="1224" y="192"/>
                    </a:lnTo>
                    <a:lnTo>
                      <a:pt x="1223" y="190"/>
                    </a:lnTo>
                    <a:lnTo>
                      <a:pt x="1222" y="188"/>
                    </a:lnTo>
                    <a:lnTo>
                      <a:pt x="1221" y="186"/>
                    </a:lnTo>
                    <a:lnTo>
                      <a:pt x="1220" y="183"/>
                    </a:lnTo>
                    <a:lnTo>
                      <a:pt x="1219" y="181"/>
                    </a:lnTo>
                    <a:lnTo>
                      <a:pt x="1218" y="179"/>
                    </a:lnTo>
                    <a:lnTo>
                      <a:pt x="1217" y="177"/>
                    </a:lnTo>
                    <a:lnTo>
                      <a:pt x="1216" y="175"/>
                    </a:lnTo>
                    <a:lnTo>
                      <a:pt x="1215" y="172"/>
                    </a:lnTo>
                    <a:lnTo>
                      <a:pt x="1214" y="170"/>
                    </a:lnTo>
                    <a:lnTo>
                      <a:pt x="1213" y="168"/>
                    </a:lnTo>
                    <a:lnTo>
                      <a:pt x="1212" y="166"/>
                    </a:lnTo>
                    <a:lnTo>
                      <a:pt x="1211" y="164"/>
                    </a:lnTo>
                    <a:lnTo>
                      <a:pt x="1210" y="161"/>
                    </a:lnTo>
                    <a:lnTo>
                      <a:pt x="1209" y="159"/>
                    </a:lnTo>
                    <a:lnTo>
                      <a:pt x="1208" y="157"/>
                    </a:lnTo>
                    <a:lnTo>
                      <a:pt x="1207" y="155"/>
                    </a:lnTo>
                    <a:lnTo>
                      <a:pt x="1206" y="153"/>
                    </a:lnTo>
                    <a:lnTo>
                      <a:pt x="1205" y="151"/>
                    </a:lnTo>
                    <a:lnTo>
                      <a:pt x="1204" y="148"/>
                    </a:lnTo>
                    <a:lnTo>
                      <a:pt x="1203" y="146"/>
                    </a:lnTo>
                    <a:lnTo>
                      <a:pt x="1202" y="144"/>
                    </a:lnTo>
                    <a:lnTo>
                      <a:pt x="1201" y="142"/>
                    </a:lnTo>
                    <a:lnTo>
                      <a:pt x="1200" y="140"/>
                    </a:lnTo>
                    <a:lnTo>
                      <a:pt x="1199" y="138"/>
                    </a:lnTo>
                    <a:lnTo>
                      <a:pt x="1198" y="135"/>
                    </a:lnTo>
                    <a:lnTo>
                      <a:pt x="1197" y="133"/>
                    </a:lnTo>
                    <a:lnTo>
                      <a:pt x="1196" y="131"/>
                    </a:lnTo>
                    <a:lnTo>
                      <a:pt x="1195" y="129"/>
                    </a:lnTo>
                    <a:lnTo>
                      <a:pt x="1194" y="127"/>
                    </a:lnTo>
                    <a:lnTo>
                      <a:pt x="1193" y="125"/>
                    </a:lnTo>
                    <a:close/>
                    <a:moveTo>
                      <a:pt x="1330" y="780"/>
                    </a:moveTo>
                    <a:lnTo>
                      <a:pt x="1609" y="794"/>
                    </a:lnTo>
                    <a:lnTo>
                      <a:pt x="1609" y="799"/>
                    </a:lnTo>
                    <a:lnTo>
                      <a:pt x="1609" y="809"/>
                    </a:lnTo>
                    <a:lnTo>
                      <a:pt x="1608" y="819"/>
                    </a:lnTo>
                    <a:lnTo>
                      <a:pt x="1607" y="830"/>
                    </a:lnTo>
                    <a:lnTo>
                      <a:pt x="1607" y="840"/>
                    </a:lnTo>
                    <a:lnTo>
                      <a:pt x="1606" y="850"/>
                    </a:lnTo>
                    <a:lnTo>
                      <a:pt x="1605" y="860"/>
                    </a:lnTo>
                    <a:lnTo>
                      <a:pt x="1604" y="870"/>
                    </a:lnTo>
                    <a:lnTo>
                      <a:pt x="1603" y="881"/>
                    </a:lnTo>
                    <a:lnTo>
                      <a:pt x="1602" y="891"/>
                    </a:lnTo>
                    <a:lnTo>
                      <a:pt x="1601" y="901"/>
                    </a:lnTo>
                    <a:lnTo>
                      <a:pt x="1600" y="911"/>
                    </a:lnTo>
                    <a:lnTo>
                      <a:pt x="1598" y="921"/>
                    </a:lnTo>
                    <a:lnTo>
                      <a:pt x="1597" y="931"/>
                    </a:lnTo>
                    <a:lnTo>
                      <a:pt x="1596" y="941"/>
                    </a:lnTo>
                    <a:lnTo>
                      <a:pt x="1594" y="951"/>
                    </a:lnTo>
                    <a:lnTo>
                      <a:pt x="1593" y="961"/>
                    </a:lnTo>
                    <a:lnTo>
                      <a:pt x="1591" y="971"/>
                    </a:lnTo>
                    <a:lnTo>
                      <a:pt x="1590" y="981"/>
                    </a:lnTo>
                    <a:lnTo>
                      <a:pt x="1588" y="991"/>
                    </a:lnTo>
                    <a:lnTo>
                      <a:pt x="1586" y="1001"/>
                    </a:lnTo>
                    <a:lnTo>
                      <a:pt x="1584" y="1011"/>
                    </a:lnTo>
                    <a:lnTo>
                      <a:pt x="1583" y="1021"/>
                    </a:lnTo>
                    <a:lnTo>
                      <a:pt x="1581" y="1031"/>
                    </a:lnTo>
                    <a:lnTo>
                      <a:pt x="1579" y="1041"/>
                    </a:lnTo>
                    <a:lnTo>
                      <a:pt x="1577" y="1050"/>
                    </a:lnTo>
                    <a:lnTo>
                      <a:pt x="1574" y="1060"/>
                    </a:lnTo>
                    <a:lnTo>
                      <a:pt x="1572" y="1070"/>
                    </a:lnTo>
                    <a:lnTo>
                      <a:pt x="1570" y="1080"/>
                    </a:lnTo>
                    <a:lnTo>
                      <a:pt x="1568" y="1090"/>
                    </a:lnTo>
                    <a:lnTo>
                      <a:pt x="1565" y="1099"/>
                    </a:lnTo>
                    <a:lnTo>
                      <a:pt x="1563" y="1109"/>
                    </a:lnTo>
                    <a:lnTo>
                      <a:pt x="1561" y="1119"/>
                    </a:lnTo>
                    <a:lnTo>
                      <a:pt x="1558" y="1128"/>
                    </a:lnTo>
                    <a:lnTo>
                      <a:pt x="1556" y="1138"/>
                    </a:lnTo>
                    <a:lnTo>
                      <a:pt x="1553" y="1148"/>
                    </a:lnTo>
                    <a:lnTo>
                      <a:pt x="1550" y="1157"/>
                    </a:lnTo>
                    <a:lnTo>
                      <a:pt x="1547" y="1167"/>
                    </a:lnTo>
                    <a:lnTo>
                      <a:pt x="1545" y="1176"/>
                    </a:lnTo>
                    <a:lnTo>
                      <a:pt x="1542" y="1186"/>
                    </a:lnTo>
                    <a:lnTo>
                      <a:pt x="1539" y="1195"/>
                    </a:lnTo>
                    <a:lnTo>
                      <a:pt x="1536" y="1205"/>
                    </a:lnTo>
                    <a:lnTo>
                      <a:pt x="1533" y="1214"/>
                    </a:lnTo>
                    <a:lnTo>
                      <a:pt x="1530" y="1223"/>
                    </a:lnTo>
                    <a:lnTo>
                      <a:pt x="1527" y="1233"/>
                    </a:lnTo>
                    <a:lnTo>
                      <a:pt x="1523" y="1242"/>
                    </a:lnTo>
                    <a:lnTo>
                      <a:pt x="1520" y="1251"/>
                    </a:lnTo>
                    <a:lnTo>
                      <a:pt x="1517" y="1261"/>
                    </a:lnTo>
                    <a:lnTo>
                      <a:pt x="1514" y="1270"/>
                    </a:lnTo>
                    <a:lnTo>
                      <a:pt x="1510" y="1279"/>
                    </a:lnTo>
                    <a:lnTo>
                      <a:pt x="1507" y="1289"/>
                    </a:lnTo>
                    <a:lnTo>
                      <a:pt x="1503" y="1298"/>
                    </a:lnTo>
                    <a:lnTo>
                      <a:pt x="1500" y="1307"/>
                    </a:lnTo>
                    <a:lnTo>
                      <a:pt x="1496" y="1316"/>
                    </a:lnTo>
                    <a:lnTo>
                      <a:pt x="1492" y="1325"/>
                    </a:lnTo>
                    <a:lnTo>
                      <a:pt x="1488" y="1334"/>
                    </a:lnTo>
                    <a:lnTo>
                      <a:pt x="1485" y="1343"/>
                    </a:lnTo>
                    <a:lnTo>
                      <a:pt x="1481" y="1352"/>
                    </a:lnTo>
                    <a:lnTo>
                      <a:pt x="1477" y="1361"/>
                    </a:lnTo>
                    <a:lnTo>
                      <a:pt x="1473" y="1370"/>
                    </a:lnTo>
                    <a:lnTo>
                      <a:pt x="1469" y="1379"/>
                    </a:lnTo>
                    <a:lnTo>
                      <a:pt x="1466" y="1387"/>
                    </a:lnTo>
                    <a:lnTo>
                      <a:pt x="1211" y="1270"/>
                    </a:lnTo>
                    <a:lnTo>
                      <a:pt x="1214" y="1264"/>
                    </a:lnTo>
                    <a:lnTo>
                      <a:pt x="1217" y="1256"/>
                    </a:lnTo>
                    <a:lnTo>
                      <a:pt x="1220" y="1249"/>
                    </a:lnTo>
                    <a:lnTo>
                      <a:pt x="1224" y="1242"/>
                    </a:lnTo>
                    <a:lnTo>
                      <a:pt x="1227" y="1234"/>
                    </a:lnTo>
                    <a:lnTo>
                      <a:pt x="1230" y="1227"/>
                    </a:lnTo>
                    <a:lnTo>
                      <a:pt x="1233" y="1219"/>
                    </a:lnTo>
                    <a:lnTo>
                      <a:pt x="1236" y="1212"/>
                    </a:lnTo>
                    <a:lnTo>
                      <a:pt x="1239" y="1204"/>
                    </a:lnTo>
                    <a:lnTo>
                      <a:pt x="1242" y="1197"/>
                    </a:lnTo>
                    <a:lnTo>
                      <a:pt x="1245" y="1189"/>
                    </a:lnTo>
                    <a:lnTo>
                      <a:pt x="1248" y="1181"/>
                    </a:lnTo>
                    <a:lnTo>
                      <a:pt x="1251" y="1174"/>
                    </a:lnTo>
                    <a:lnTo>
                      <a:pt x="1253" y="1166"/>
                    </a:lnTo>
                    <a:lnTo>
                      <a:pt x="1256" y="1158"/>
                    </a:lnTo>
                    <a:lnTo>
                      <a:pt x="1259" y="1151"/>
                    </a:lnTo>
                    <a:lnTo>
                      <a:pt x="1261" y="1143"/>
                    </a:lnTo>
                    <a:lnTo>
                      <a:pt x="1264" y="1135"/>
                    </a:lnTo>
                    <a:lnTo>
                      <a:pt x="1267" y="1128"/>
                    </a:lnTo>
                    <a:lnTo>
                      <a:pt x="1269" y="1120"/>
                    </a:lnTo>
                    <a:lnTo>
                      <a:pt x="1272" y="1112"/>
                    </a:lnTo>
                    <a:lnTo>
                      <a:pt x="1274" y="1104"/>
                    </a:lnTo>
                    <a:lnTo>
                      <a:pt x="1276" y="1096"/>
                    </a:lnTo>
                    <a:lnTo>
                      <a:pt x="1279" y="1088"/>
                    </a:lnTo>
                    <a:lnTo>
                      <a:pt x="1281" y="1081"/>
                    </a:lnTo>
                    <a:lnTo>
                      <a:pt x="1283" y="1073"/>
                    </a:lnTo>
                    <a:lnTo>
                      <a:pt x="1285" y="1065"/>
                    </a:lnTo>
                    <a:lnTo>
                      <a:pt x="1287" y="1057"/>
                    </a:lnTo>
                    <a:lnTo>
                      <a:pt x="1289" y="1049"/>
                    </a:lnTo>
                    <a:lnTo>
                      <a:pt x="1292" y="1041"/>
                    </a:lnTo>
                    <a:lnTo>
                      <a:pt x="1293" y="1033"/>
                    </a:lnTo>
                    <a:lnTo>
                      <a:pt x="1295" y="1025"/>
                    </a:lnTo>
                    <a:lnTo>
                      <a:pt x="1297" y="1017"/>
                    </a:lnTo>
                    <a:lnTo>
                      <a:pt x="1299" y="1009"/>
                    </a:lnTo>
                    <a:lnTo>
                      <a:pt x="1301" y="1001"/>
                    </a:lnTo>
                    <a:lnTo>
                      <a:pt x="1303" y="993"/>
                    </a:lnTo>
                    <a:lnTo>
                      <a:pt x="1304" y="985"/>
                    </a:lnTo>
                    <a:lnTo>
                      <a:pt x="1306" y="976"/>
                    </a:lnTo>
                    <a:lnTo>
                      <a:pt x="1308" y="968"/>
                    </a:lnTo>
                    <a:lnTo>
                      <a:pt x="1309" y="960"/>
                    </a:lnTo>
                    <a:lnTo>
                      <a:pt x="1311" y="952"/>
                    </a:lnTo>
                    <a:lnTo>
                      <a:pt x="1312" y="944"/>
                    </a:lnTo>
                    <a:lnTo>
                      <a:pt x="1313" y="935"/>
                    </a:lnTo>
                    <a:lnTo>
                      <a:pt x="1315" y="927"/>
                    </a:lnTo>
                    <a:lnTo>
                      <a:pt x="1316" y="919"/>
                    </a:lnTo>
                    <a:lnTo>
                      <a:pt x="1317" y="911"/>
                    </a:lnTo>
                    <a:lnTo>
                      <a:pt x="1318" y="902"/>
                    </a:lnTo>
                    <a:lnTo>
                      <a:pt x="1320" y="894"/>
                    </a:lnTo>
                    <a:lnTo>
                      <a:pt x="1321" y="886"/>
                    </a:lnTo>
                    <a:lnTo>
                      <a:pt x="1322" y="877"/>
                    </a:lnTo>
                    <a:lnTo>
                      <a:pt x="1323" y="869"/>
                    </a:lnTo>
                    <a:lnTo>
                      <a:pt x="1324" y="861"/>
                    </a:lnTo>
                    <a:lnTo>
                      <a:pt x="1325" y="852"/>
                    </a:lnTo>
                    <a:lnTo>
                      <a:pt x="1325" y="844"/>
                    </a:lnTo>
                    <a:lnTo>
                      <a:pt x="1326" y="836"/>
                    </a:lnTo>
                    <a:lnTo>
                      <a:pt x="1327" y="827"/>
                    </a:lnTo>
                    <a:lnTo>
                      <a:pt x="1327" y="819"/>
                    </a:lnTo>
                    <a:lnTo>
                      <a:pt x="1328" y="810"/>
                    </a:lnTo>
                    <a:lnTo>
                      <a:pt x="1329" y="802"/>
                    </a:lnTo>
                    <a:lnTo>
                      <a:pt x="1329" y="793"/>
                    </a:lnTo>
                    <a:lnTo>
                      <a:pt x="1330" y="785"/>
                    </a:lnTo>
                    <a:lnTo>
                      <a:pt x="1330" y="780"/>
                    </a:lnTo>
                    <a:close/>
                    <a:moveTo>
                      <a:pt x="1085" y="1488"/>
                    </a:moveTo>
                    <a:lnTo>
                      <a:pt x="1312" y="1652"/>
                    </a:lnTo>
                    <a:lnTo>
                      <a:pt x="1308" y="1657"/>
                    </a:lnTo>
                    <a:lnTo>
                      <a:pt x="1303" y="1665"/>
                    </a:lnTo>
                    <a:lnTo>
                      <a:pt x="1297" y="1672"/>
                    </a:lnTo>
                    <a:lnTo>
                      <a:pt x="1291" y="1680"/>
                    </a:lnTo>
                    <a:lnTo>
                      <a:pt x="1285" y="1688"/>
                    </a:lnTo>
                    <a:lnTo>
                      <a:pt x="1280" y="1696"/>
                    </a:lnTo>
                    <a:lnTo>
                      <a:pt x="1274" y="1703"/>
                    </a:lnTo>
                    <a:lnTo>
                      <a:pt x="1268" y="1711"/>
                    </a:lnTo>
                    <a:lnTo>
                      <a:pt x="1262" y="1718"/>
                    </a:lnTo>
                    <a:lnTo>
                      <a:pt x="1256" y="1726"/>
                    </a:lnTo>
                    <a:lnTo>
                      <a:pt x="1250" y="1733"/>
                    </a:lnTo>
                    <a:lnTo>
                      <a:pt x="1243" y="1741"/>
                    </a:lnTo>
                    <a:lnTo>
                      <a:pt x="1237" y="1748"/>
                    </a:lnTo>
                    <a:lnTo>
                      <a:pt x="1231" y="1756"/>
                    </a:lnTo>
                    <a:lnTo>
                      <a:pt x="1225" y="1763"/>
                    </a:lnTo>
                    <a:lnTo>
                      <a:pt x="1218" y="1770"/>
                    </a:lnTo>
                    <a:lnTo>
                      <a:pt x="1212" y="1778"/>
                    </a:lnTo>
                    <a:lnTo>
                      <a:pt x="1206" y="1785"/>
                    </a:lnTo>
                    <a:lnTo>
                      <a:pt x="1199" y="1792"/>
                    </a:lnTo>
                    <a:lnTo>
                      <a:pt x="1193" y="1799"/>
                    </a:lnTo>
                    <a:lnTo>
                      <a:pt x="1186" y="1807"/>
                    </a:lnTo>
                    <a:lnTo>
                      <a:pt x="1180" y="1814"/>
                    </a:lnTo>
                    <a:lnTo>
                      <a:pt x="1173" y="1821"/>
                    </a:lnTo>
                    <a:lnTo>
                      <a:pt x="1166" y="1828"/>
                    </a:lnTo>
                    <a:lnTo>
                      <a:pt x="1160" y="1835"/>
                    </a:lnTo>
                    <a:lnTo>
                      <a:pt x="1153" y="1842"/>
                    </a:lnTo>
                    <a:lnTo>
                      <a:pt x="1146" y="1848"/>
                    </a:lnTo>
                    <a:lnTo>
                      <a:pt x="1139" y="1855"/>
                    </a:lnTo>
                    <a:lnTo>
                      <a:pt x="1133" y="1862"/>
                    </a:lnTo>
                    <a:lnTo>
                      <a:pt x="1126" y="1869"/>
                    </a:lnTo>
                    <a:lnTo>
                      <a:pt x="1119" y="1876"/>
                    </a:lnTo>
                    <a:lnTo>
                      <a:pt x="1112" y="1882"/>
                    </a:lnTo>
                    <a:lnTo>
                      <a:pt x="1105" y="1889"/>
                    </a:lnTo>
                    <a:lnTo>
                      <a:pt x="1098" y="1895"/>
                    </a:lnTo>
                    <a:lnTo>
                      <a:pt x="1091" y="1902"/>
                    </a:lnTo>
                    <a:lnTo>
                      <a:pt x="1084" y="1909"/>
                    </a:lnTo>
                    <a:lnTo>
                      <a:pt x="1076" y="1915"/>
                    </a:lnTo>
                    <a:lnTo>
                      <a:pt x="1069" y="1921"/>
                    </a:lnTo>
                    <a:lnTo>
                      <a:pt x="1062" y="1928"/>
                    </a:lnTo>
                    <a:lnTo>
                      <a:pt x="1055" y="1934"/>
                    </a:lnTo>
                    <a:lnTo>
                      <a:pt x="1047" y="1941"/>
                    </a:lnTo>
                    <a:lnTo>
                      <a:pt x="1040" y="1947"/>
                    </a:lnTo>
                    <a:lnTo>
                      <a:pt x="1033" y="1953"/>
                    </a:lnTo>
                    <a:lnTo>
                      <a:pt x="1025" y="1959"/>
                    </a:lnTo>
                    <a:lnTo>
                      <a:pt x="1018" y="1965"/>
                    </a:lnTo>
                    <a:lnTo>
                      <a:pt x="1010" y="1971"/>
                    </a:lnTo>
                    <a:lnTo>
                      <a:pt x="1003" y="1977"/>
                    </a:lnTo>
                    <a:lnTo>
                      <a:pt x="995" y="1983"/>
                    </a:lnTo>
                    <a:lnTo>
                      <a:pt x="987" y="1989"/>
                    </a:lnTo>
                    <a:lnTo>
                      <a:pt x="980" y="1995"/>
                    </a:lnTo>
                    <a:lnTo>
                      <a:pt x="972" y="2001"/>
                    </a:lnTo>
                    <a:lnTo>
                      <a:pt x="964" y="2007"/>
                    </a:lnTo>
                    <a:lnTo>
                      <a:pt x="957" y="2013"/>
                    </a:lnTo>
                    <a:lnTo>
                      <a:pt x="949" y="2019"/>
                    </a:lnTo>
                    <a:lnTo>
                      <a:pt x="941" y="2024"/>
                    </a:lnTo>
                    <a:lnTo>
                      <a:pt x="933" y="2030"/>
                    </a:lnTo>
                    <a:lnTo>
                      <a:pt x="925" y="2035"/>
                    </a:lnTo>
                    <a:lnTo>
                      <a:pt x="917" y="2041"/>
                    </a:lnTo>
                    <a:lnTo>
                      <a:pt x="909" y="2046"/>
                    </a:lnTo>
                    <a:lnTo>
                      <a:pt x="901" y="2052"/>
                    </a:lnTo>
                    <a:lnTo>
                      <a:pt x="893" y="2057"/>
                    </a:lnTo>
                    <a:lnTo>
                      <a:pt x="885" y="2063"/>
                    </a:lnTo>
                    <a:lnTo>
                      <a:pt x="877" y="2068"/>
                    </a:lnTo>
                    <a:lnTo>
                      <a:pt x="871" y="2072"/>
                    </a:lnTo>
                    <a:lnTo>
                      <a:pt x="720" y="1836"/>
                    </a:lnTo>
                    <a:lnTo>
                      <a:pt x="724" y="1833"/>
                    </a:lnTo>
                    <a:lnTo>
                      <a:pt x="731" y="1829"/>
                    </a:lnTo>
                    <a:lnTo>
                      <a:pt x="738" y="1824"/>
                    </a:lnTo>
                    <a:lnTo>
                      <a:pt x="744" y="1820"/>
                    </a:lnTo>
                    <a:lnTo>
                      <a:pt x="751" y="1815"/>
                    </a:lnTo>
                    <a:lnTo>
                      <a:pt x="758" y="1811"/>
                    </a:lnTo>
                    <a:lnTo>
                      <a:pt x="764" y="1806"/>
                    </a:lnTo>
                    <a:lnTo>
                      <a:pt x="771" y="1802"/>
                    </a:lnTo>
                    <a:lnTo>
                      <a:pt x="777" y="1797"/>
                    </a:lnTo>
                    <a:lnTo>
                      <a:pt x="784" y="1792"/>
                    </a:lnTo>
                    <a:lnTo>
                      <a:pt x="790" y="1788"/>
                    </a:lnTo>
                    <a:lnTo>
                      <a:pt x="797" y="1783"/>
                    </a:lnTo>
                    <a:lnTo>
                      <a:pt x="803" y="1778"/>
                    </a:lnTo>
                    <a:lnTo>
                      <a:pt x="809" y="1773"/>
                    </a:lnTo>
                    <a:lnTo>
                      <a:pt x="816" y="1768"/>
                    </a:lnTo>
                    <a:lnTo>
                      <a:pt x="822" y="1763"/>
                    </a:lnTo>
                    <a:lnTo>
                      <a:pt x="828" y="1758"/>
                    </a:lnTo>
                    <a:lnTo>
                      <a:pt x="835" y="1753"/>
                    </a:lnTo>
                    <a:lnTo>
                      <a:pt x="841" y="1748"/>
                    </a:lnTo>
                    <a:lnTo>
                      <a:pt x="847" y="1743"/>
                    </a:lnTo>
                    <a:lnTo>
                      <a:pt x="853" y="1738"/>
                    </a:lnTo>
                    <a:lnTo>
                      <a:pt x="859" y="1733"/>
                    </a:lnTo>
                    <a:lnTo>
                      <a:pt x="865" y="1728"/>
                    </a:lnTo>
                    <a:lnTo>
                      <a:pt x="871" y="1723"/>
                    </a:lnTo>
                    <a:lnTo>
                      <a:pt x="877" y="1717"/>
                    </a:lnTo>
                    <a:lnTo>
                      <a:pt x="883" y="1712"/>
                    </a:lnTo>
                    <a:lnTo>
                      <a:pt x="889" y="1707"/>
                    </a:lnTo>
                    <a:lnTo>
                      <a:pt x="895" y="1701"/>
                    </a:lnTo>
                    <a:lnTo>
                      <a:pt x="901" y="1696"/>
                    </a:lnTo>
                    <a:lnTo>
                      <a:pt x="907" y="1691"/>
                    </a:lnTo>
                    <a:lnTo>
                      <a:pt x="913" y="1685"/>
                    </a:lnTo>
                    <a:lnTo>
                      <a:pt x="919" y="1680"/>
                    </a:lnTo>
                    <a:lnTo>
                      <a:pt x="924" y="1674"/>
                    </a:lnTo>
                    <a:lnTo>
                      <a:pt x="930" y="1669"/>
                    </a:lnTo>
                    <a:lnTo>
                      <a:pt x="936" y="1663"/>
                    </a:lnTo>
                    <a:lnTo>
                      <a:pt x="942" y="1657"/>
                    </a:lnTo>
                    <a:lnTo>
                      <a:pt x="947" y="1652"/>
                    </a:lnTo>
                    <a:lnTo>
                      <a:pt x="953" y="1646"/>
                    </a:lnTo>
                    <a:lnTo>
                      <a:pt x="958" y="1640"/>
                    </a:lnTo>
                    <a:lnTo>
                      <a:pt x="964" y="1634"/>
                    </a:lnTo>
                    <a:lnTo>
                      <a:pt x="969" y="1629"/>
                    </a:lnTo>
                    <a:lnTo>
                      <a:pt x="975" y="1623"/>
                    </a:lnTo>
                    <a:lnTo>
                      <a:pt x="980" y="1617"/>
                    </a:lnTo>
                    <a:lnTo>
                      <a:pt x="986" y="1611"/>
                    </a:lnTo>
                    <a:lnTo>
                      <a:pt x="991" y="1605"/>
                    </a:lnTo>
                    <a:lnTo>
                      <a:pt x="996" y="1599"/>
                    </a:lnTo>
                    <a:lnTo>
                      <a:pt x="1002" y="1593"/>
                    </a:lnTo>
                    <a:lnTo>
                      <a:pt x="1007" y="1587"/>
                    </a:lnTo>
                    <a:lnTo>
                      <a:pt x="1012" y="1581"/>
                    </a:lnTo>
                    <a:lnTo>
                      <a:pt x="1017" y="1575"/>
                    </a:lnTo>
                    <a:lnTo>
                      <a:pt x="1022" y="1569"/>
                    </a:lnTo>
                    <a:lnTo>
                      <a:pt x="1027" y="1563"/>
                    </a:lnTo>
                    <a:lnTo>
                      <a:pt x="1033" y="1557"/>
                    </a:lnTo>
                    <a:lnTo>
                      <a:pt x="1038" y="1550"/>
                    </a:lnTo>
                    <a:lnTo>
                      <a:pt x="1043" y="1544"/>
                    </a:lnTo>
                    <a:lnTo>
                      <a:pt x="1048" y="1538"/>
                    </a:lnTo>
                    <a:lnTo>
                      <a:pt x="1052" y="1531"/>
                    </a:lnTo>
                    <a:lnTo>
                      <a:pt x="1057" y="1525"/>
                    </a:lnTo>
                    <a:lnTo>
                      <a:pt x="1062" y="1519"/>
                    </a:lnTo>
                    <a:lnTo>
                      <a:pt x="1067" y="1512"/>
                    </a:lnTo>
                    <a:lnTo>
                      <a:pt x="1072" y="1506"/>
                    </a:lnTo>
                    <a:lnTo>
                      <a:pt x="1077" y="1500"/>
                    </a:lnTo>
                    <a:lnTo>
                      <a:pt x="1081" y="1493"/>
                    </a:lnTo>
                    <a:lnTo>
                      <a:pt x="1085" y="1488"/>
                    </a:lnTo>
                    <a:close/>
                    <a:moveTo>
                      <a:pt x="0" y="2327"/>
                    </a:moveTo>
                    <a:lnTo>
                      <a:pt x="0" y="2047"/>
                    </a:ln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" name="Freeform 9"/>
              <p:cNvSpPr>
                <a:spLocks/>
              </p:cNvSpPr>
              <p:nvPr/>
            </p:nvSpPr>
            <p:spPr bwMode="auto">
              <a:xfrm>
                <a:off x="2182018" y="4039169"/>
                <a:ext cx="1161056" cy="1279099"/>
              </a:xfrm>
              <a:custGeom>
                <a:avLst/>
                <a:gdLst>
                  <a:gd name="T0" fmla="*/ 2617 w 2894"/>
                  <a:gd name="T1" fmla="*/ 111 h 3192"/>
                  <a:gd name="T2" fmla="*/ 2756 w 2894"/>
                  <a:gd name="T3" fmla="*/ 408 h 3192"/>
                  <a:gd name="T4" fmla="*/ 2894 w 2894"/>
                  <a:gd name="T5" fmla="*/ 705 h 3192"/>
                  <a:gd name="T6" fmla="*/ 2567 w 2894"/>
                  <a:gd name="T7" fmla="*/ 676 h 3192"/>
                  <a:gd name="T8" fmla="*/ 2241 w 2894"/>
                  <a:gd name="T9" fmla="*/ 647 h 3192"/>
                  <a:gd name="T10" fmla="*/ 2345 w 2894"/>
                  <a:gd name="T11" fmla="*/ 500 h 3192"/>
                  <a:gd name="T12" fmla="*/ 2097 w 2894"/>
                  <a:gd name="T13" fmla="*/ 371 h 3192"/>
                  <a:gd name="T14" fmla="*/ 1611 w 2894"/>
                  <a:gd name="T15" fmla="*/ 280 h 3192"/>
                  <a:gd name="T16" fmla="*/ 670 w 2894"/>
                  <a:gd name="T17" fmla="*/ 670 h 3192"/>
                  <a:gd name="T18" fmla="*/ 280 w 2894"/>
                  <a:gd name="T19" fmla="*/ 1611 h 3192"/>
                  <a:gd name="T20" fmla="*/ 584 w 2894"/>
                  <a:gd name="T21" fmla="*/ 2458 h 3192"/>
                  <a:gd name="T22" fmla="*/ 1357 w 2894"/>
                  <a:gd name="T23" fmla="*/ 2918 h 3192"/>
                  <a:gd name="T24" fmla="*/ 1304 w 2894"/>
                  <a:gd name="T25" fmla="*/ 3192 h 3192"/>
                  <a:gd name="T26" fmla="*/ 368 w 2894"/>
                  <a:gd name="T27" fmla="*/ 2635 h 3192"/>
                  <a:gd name="T28" fmla="*/ 0 w 2894"/>
                  <a:gd name="T29" fmla="*/ 1611 h 3192"/>
                  <a:gd name="T30" fmla="*/ 472 w 2894"/>
                  <a:gd name="T31" fmla="*/ 472 h 3192"/>
                  <a:gd name="T32" fmla="*/ 1611 w 2894"/>
                  <a:gd name="T33" fmla="*/ 0 h 3192"/>
                  <a:gd name="T34" fmla="*/ 2198 w 2894"/>
                  <a:gd name="T35" fmla="*/ 111 h 3192"/>
                  <a:gd name="T36" fmla="*/ 2505 w 2894"/>
                  <a:gd name="T37" fmla="*/ 271 h 3192"/>
                  <a:gd name="T38" fmla="*/ 2617 w 2894"/>
                  <a:gd name="T39" fmla="*/ 111 h 3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2894" h="3192">
                    <a:moveTo>
                      <a:pt x="2617" y="111"/>
                    </a:moveTo>
                    <a:lnTo>
                      <a:pt x="2756" y="408"/>
                    </a:lnTo>
                    <a:lnTo>
                      <a:pt x="2894" y="705"/>
                    </a:lnTo>
                    <a:lnTo>
                      <a:pt x="2567" y="676"/>
                    </a:lnTo>
                    <a:lnTo>
                      <a:pt x="2241" y="647"/>
                    </a:lnTo>
                    <a:lnTo>
                      <a:pt x="2345" y="500"/>
                    </a:lnTo>
                    <a:cubicBezTo>
                      <a:pt x="2267" y="448"/>
                      <a:pt x="2183" y="405"/>
                      <a:pt x="2097" y="371"/>
                    </a:cubicBezTo>
                    <a:cubicBezTo>
                      <a:pt x="1944" y="312"/>
                      <a:pt x="1779" y="280"/>
                      <a:pt x="1611" y="280"/>
                    </a:cubicBezTo>
                    <a:cubicBezTo>
                      <a:pt x="1243" y="280"/>
                      <a:pt x="911" y="429"/>
                      <a:pt x="670" y="670"/>
                    </a:cubicBezTo>
                    <a:cubicBezTo>
                      <a:pt x="429" y="911"/>
                      <a:pt x="280" y="1243"/>
                      <a:pt x="280" y="1611"/>
                    </a:cubicBezTo>
                    <a:cubicBezTo>
                      <a:pt x="280" y="1930"/>
                      <a:pt x="393" y="2227"/>
                      <a:pt x="584" y="2458"/>
                    </a:cubicBezTo>
                    <a:cubicBezTo>
                      <a:pt x="775" y="2690"/>
                      <a:pt x="1044" y="2857"/>
                      <a:pt x="1357" y="2918"/>
                    </a:cubicBezTo>
                    <a:lnTo>
                      <a:pt x="1304" y="3192"/>
                    </a:lnTo>
                    <a:cubicBezTo>
                      <a:pt x="926" y="3119"/>
                      <a:pt x="600" y="2916"/>
                      <a:pt x="368" y="2635"/>
                    </a:cubicBezTo>
                    <a:cubicBezTo>
                      <a:pt x="137" y="2355"/>
                      <a:pt x="0" y="1996"/>
                      <a:pt x="0" y="1611"/>
                    </a:cubicBezTo>
                    <a:cubicBezTo>
                      <a:pt x="0" y="1166"/>
                      <a:pt x="180" y="763"/>
                      <a:pt x="472" y="472"/>
                    </a:cubicBezTo>
                    <a:cubicBezTo>
                      <a:pt x="763" y="180"/>
                      <a:pt x="1166" y="0"/>
                      <a:pt x="1611" y="0"/>
                    </a:cubicBezTo>
                    <a:cubicBezTo>
                      <a:pt x="1813" y="0"/>
                      <a:pt x="2012" y="38"/>
                      <a:pt x="2198" y="111"/>
                    </a:cubicBezTo>
                    <a:cubicBezTo>
                      <a:pt x="2305" y="153"/>
                      <a:pt x="2408" y="207"/>
                      <a:pt x="2505" y="271"/>
                    </a:cubicBezTo>
                    <a:lnTo>
                      <a:pt x="2617" y="11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  <p:grpSp>
          <p:nvGrpSpPr>
            <p:cNvPr id="48" name="Группа 47"/>
            <p:cNvGrpSpPr/>
            <p:nvPr/>
          </p:nvGrpSpPr>
          <p:grpSpPr>
            <a:xfrm>
              <a:off x="2789185" y="4426694"/>
              <a:ext cx="0" cy="756000"/>
              <a:chOff x="2791616" y="4277018"/>
              <a:chExt cx="0" cy="863494"/>
            </a:xfrm>
          </p:grpSpPr>
          <p:cxnSp>
            <p:nvCxnSpPr>
              <p:cNvPr id="52" name="Прямая соединительная линия 51"/>
              <p:cNvCxnSpPr/>
              <p:nvPr/>
            </p:nvCxnSpPr>
            <p:spPr>
              <a:xfrm>
                <a:off x="2791616" y="4277018"/>
                <a:ext cx="0" cy="431747"/>
              </a:xfrm>
              <a:prstGeom prst="line">
                <a:avLst/>
              </a:prstGeom>
              <a:ln w="76200" cap="rnd">
                <a:solidFill>
                  <a:srgbClr val="FF24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Прямая соединительная линия 52"/>
              <p:cNvCxnSpPr/>
              <p:nvPr/>
            </p:nvCxnSpPr>
            <p:spPr>
              <a:xfrm>
                <a:off x="2791616" y="4708765"/>
                <a:ext cx="0" cy="431747"/>
              </a:xfrm>
              <a:prstGeom prst="line">
                <a:avLst/>
              </a:prstGeom>
              <a:ln w="76200" cap="rnd">
                <a:solidFill>
                  <a:srgbClr val="FFFFFF">
                    <a:alpha val="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Группа 48"/>
            <p:cNvGrpSpPr/>
            <p:nvPr/>
          </p:nvGrpSpPr>
          <p:grpSpPr>
            <a:xfrm>
              <a:off x="2789185" y="4426694"/>
              <a:ext cx="0" cy="756000"/>
              <a:chOff x="2791616" y="4277018"/>
              <a:chExt cx="0" cy="863494"/>
            </a:xfrm>
          </p:grpSpPr>
          <p:cxnSp>
            <p:nvCxnSpPr>
              <p:cNvPr id="50" name="Прямая соединительная линия 49"/>
              <p:cNvCxnSpPr/>
              <p:nvPr/>
            </p:nvCxnSpPr>
            <p:spPr>
              <a:xfrm>
                <a:off x="2791616" y="4277018"/>
                <a:ext cx="0" cy="431747"/>
              </a:xfrm>
              <a:prstGeom prst="line">
                <a:avLst/>
              </a:prstGeom>
              <a:ln w="76200" cap="rnd">
                <a:solidFill>
                  <a:srgbClr val="FF24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Прямая соединительная линия 50"/>
              <p:cNvCxnSpPr/>
              <p:nvPr/>
            </p:nvCxnSpPr>
            <p:spPr>
              <a:xfrm>
                <a:off x="2791616" y="4708765"/>
                <a:ext cx="0" cy="431747"/>
              </a:xfrm>
              <a:prstGeom prst="line">
                <a:avLst/>
              </a:prstGeom>
              <a:ln w="76200" cap="rnd">
                <a:solidFill>
                  <a:srgbClr val="FFFFFF">
                    <a:alpha val="1176"/>
                  </a:srgb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57" name="Chart_Eb"/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906672939"/>
              </p:ext>
            </p:extLst>
          </p:nvPr>
        </p:nvGraphicFramePr>
        <p:xfrm>
          <a:off x="213919" y="1374986"/>
          <a:ext cx="4827911" cy="2410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58" name="ChartDZO_Eb"/>
          <p:cNvGraphicFramePr/>
          <p:nvPr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1281933710"/>
              </p:ext>
            </p:extLst>
          </p:nvPr>
        </p:nvGraphicFramePr>
        <p:xfrm>
          <a:off x="4974664" y="1377920"/>
          <a:ext cx="3881997" cy="24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60" name="ChartDZO_Zbs"/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1398324386"/>
              </p:ext>
            </p:extLst>
          </p:nvPr>
        </p:nvGraphicFramePr>
        <p:xfrm>
          <a:off x="4974664" y="4076906"/>
          <a:ext cx="3881997" cy="24055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graphicFrame>
        <p:nvGraphicFramePr>
          <p:cNvPr id="34" name="Chart_Zbs"/>
          <p:cNvGraphicFramePr/>
          <p:nvPr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682886429"/>
              </p:ext>
            </p:extLst>
          </p:nvPr>
        </p:nvGraphicFramePr>
        <p:xfrm>
          <a:off x="227833" y="4143623"/>
          <a:ext cx="4827911" cy="24103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</p:spTree>
    <p:extLst>
      <p:ext uri="{BB962C8B-B14F-4D97-AF65-F5344CB8AC3E}">
        <p14:creationId xmlns:p14="http://schemas.microsoft.com/office/powerpoint/2010/main" val="181349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REATOR" val="powerlexis_panel_for_gpn"/>
  <p:tag name="TYPE" val="speech"/>
  <p:tag name="LANG" val="rus"/>
  <p:tag name="THINKCELLUNDODONOTDELETE" val="3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a_s3EuRy02nMtqi5U8v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oKUAbZyaUelqJUeoAbHg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_oYjGxUN0CuNfjh06t.D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lIPhNphiU2Ik6XJqXTjV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rEcwQP6kO.2X7k8oxqo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rEcwQP6kO.2X7k8oxqo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rEcwQP6kO.2X7k8oxqo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rEcwQP6kO.2X7k8oxqo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rEcwQP6kO.2X7k8oxqo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rEcwQP6kO.2X7k8oxqo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rEcwQP6kO.2X7k8oxqo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owZDMxwa0mZM2tLsFlXn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cJ3WMBq8k.4p42nR1Bbo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dfxxPyeT0KmbknW8.Q_i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k21wosB9Eyqb3sq_EkAy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HjexswzfEGf2SxnspSBI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MXcePfr4U.15Fne7pIDG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8gZRAZbi0eN.e3QDylZe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a_s3EuRy02nMtqi5U8vO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bW_msvf.U209C3C3fAMn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MHzR1Dw3kukNbtHZJ8Zd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_iKi_1eWk.1gEIjK26e2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oKUAbZyaUelqJUeoAbHg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_oYjGxUN0CuNfjh06t.D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lIPhNphiU2Ik6XJqXTjV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PP87CqeE0KTfOmNC3jkp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VIYaMTWak6yuTxMXoFz.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a.Ih5B93E26DKZm3lqx0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Z4xkBvz10OisMfO588_f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osSywfpdUac.E_j9rUAM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RrGMeLL7UyhG9OLN3yn_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Xp5x2DurUyoirEK7pwW7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.gic.0gqkmNv0JC8WuJ1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alrsZB3HUWFEdfQfln2f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SrNyTXYyUa0uW1_I0Jeb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DaDcw8qUGNbh7hS7w8z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cCc2RW4tUSlD1DzB4wo.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ZXy_pzw30.2j7KTbvTly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a.Ih5B93E26DKZm3lqx0w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Z4xkBvz10OisMfO588_fQ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osSywfpdUac.E_j9rUAM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DaDcw8qUGNbh7hS7w8z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7CTuDPLLkedHRBxbMZuF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mnWM7wohUaoWafJT42IMA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5z_DiwviUyVwAHS4uUj4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1R._HPIEUKZNSVXYGyuqw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uw6OWbVT0.skxc6nNkOC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uG8HjvGhUib2jPa_40fu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7xRqBGdzUKvm.K9L_lPc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dOfRWETyk2vDYfipZer3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Vdmi_oelkOJs4D7BQkJu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UrsAyKiGUKedoqbXTsvv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AzXdtpi0E.5vaG57JlSO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vqp6wEx1UCd0zkAP5OYu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EZfbs89E6tS0BPyXCmz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arJnBbHYUG_cUFDkqBlYQ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EQHY26Ut0KoYaYhVdt5w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bfiTmMejUiAasTckZCpZ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0rM_C.iz0KykKOW9dZCLw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WMf.ufNLk2hvM.7GZGBf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5B9nuVNaUejpAbRoi2O0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BB9.TvQ8EyiWv4Y0i2GO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P13M1tmuUuuHQ8U5024H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UzaKoYEYEeS1ZvYyXAMdw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_b2bfjGJkOwqAzYFIczW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d26B_LGikC3kWleWEU_X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zCzLgLd106gkrCRrl4UN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kx7Z70.YkCNRDnr8PlRP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PisnxOCyUSn89XRkwgzN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VjdKuGfgU2BGjtkaasloQ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xfn2J.3FESUgw.qLdCy6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tw1It2BC0ytIhMaKL2Dj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sdX6VKf1UOHW_SJp_4cS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Fo1eLN_60K5gwEfpe6ga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pA3zVwU5USs2JpYID7Tw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qP3IcQRzkSl9XxyvoF4h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Vdmi_oelkOJs4D7BQkJu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AzXdtpi0E.5vaG57JlSOw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vqp6wEx1UCd0zkAP5OYu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oNdP98oOEKN1XEd43OzN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Ju_yTIBf0S6zMug5_vvM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IwbjLrnQkiyRObwTzxS0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7okqD4XfEy1L35Tlo8nr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xhG2TUyOEuRHi4e15zs.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VX26aEq3kWCuzLR9T7Ev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uG8HjvGhUib2jPa_40fu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7xRqBGdzUKvm.K9L_lPc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dOfRWETyk2vDYfipZer3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Vdmi_oelkOJs4D7BQkJu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UrsAyKiGUKedoqbXTsvv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0rM_C.iz0KykKOW9dZCL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WMf.ufNLk2hvM.7GZGBf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5B9nuVNaUejpAbRoi2O0Q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BB9.TvQ8EyiWv4Y0i2GO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P13M1tmuUuuHQ8U5024H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UzaKoYEYEeS1ZvYyXAMd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_b2bfjGJkOwqAzYFIczW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d26B_LGikC3kWleWEU_Xg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zCzLgLd106gkrCRrl4UNw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kx7Z70.YkCNRDnr8PlRP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PisnxOCyUSn89XRkwgzN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VjdKuGfgU2BGjtkaasloQ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sdX6VKf1UOHW_SJp_4cSQ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Fo1eLN_60K5gwEfpe6gaQ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pA3zVwU5USs2JpYID7TwA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qP3IcQRzkSl9XxyvoF4h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Vdmi_oelkOJs4D7BQkJu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6jrqkJk0UKumd9zuysK3w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mQoulocTk2ZViVZYP7bmQ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TUgf4M0RUOLkDMS3b2l0g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mRDRK0hyU.Vaka7Rz4jh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Qi4M.HuCUanYF9iMyygBQ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R_lDYi7yku0F8FCKasoB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w.DeOID4UO0gsROt_2VtQ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hwoiIKjUarzigf4ZWRr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MbcHsZ0yaxFPKkAE4oQ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nWR5k8YO0eNzwNwM6kB7A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Ouxapru0isZ6trqoNXhQ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YtQ1.3hUah0aCrs2cSI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cDF0CpokeTOHl3fEgPF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doR6lnveUKsKMxNEV.uq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rZxtdhAUq_VRq3vRazKw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Lboxi1IV0GR9BlNfWwTi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0.N7mkgU2e57nkOjUwZ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OZhzyw2C06fsaP8lgsG_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XMEVy1uUUOwIzsdwtmauQ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tSSMB0ftlkqr.sy_FH_VBA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pFW.YXZ4ECwpdV7j4BLy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gNaxS883U.7B_0xZNGEj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TZWIl03g0GubQ1EPxxutA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1tPjqIBWkGqyJH1xTX5QA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vk_he6gY0eVVbKhkQhtjA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MXob9aekkCjbQCbz.TdW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6jrqkJk0UKumd9zuysK3w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mQoulocTk2ZViVZYP7bmQ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MbcHsZ0yaxFPKkAE4oQ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7xRqBGdzUKvm.K9L_lPc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7xRqBGdzUKvm.K9L_lPc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hwoiIKjUarzigf4ZWRrw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MXob9aekkCjbQCbz.TdWw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ZT7DQfr10ST_T.kdfmbbg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2fByZM005EmBWa79kID7P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lW_imLUwE263sBRqqVbQ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nE1Qe7BOk6h9G8QD4yad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N4rmqhok0GV0Xin04moU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G9a_Djnk0mMxD.4wlTCC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6jrqkJk0UKumd9zuysK3w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mQoulocTk2ZViVZYP7bmQ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hwoiIKjUarzigf4ZWRr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MbcHsZ0yaxFPKkAE4oQ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nWR5k8YO0eNzwNwM6kB7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vOuxapru0isZ6trqoNXhQ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xYtQ1.3hUah0aCrs2cSI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cDF0CpokeTOHl3fEgPF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doR6lnveUKsKMxNEV.uqA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rZxtdhAUq_VRq3vRazKw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Lboxi1IV0GR9BlNfWwTig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I0.N7mkgU2e57nkOjUwZQ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OZhzyw2C06fsaP8lgsG_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XMEVy1uUUOwIzsdwtmau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gNaxS883U.7B_0xZNGEjw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TZWIl03g0GubQ1EPxxut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1tPjqIBWkGqyJH1xTX5Q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vk_he6gY0eVVbKhkQhtjA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MXob9aekkCjbQCbz.TdW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6jrqkJk0UKumd9zuysK3w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mQoulocTk2ZViVZYP7bmQ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yYMbcHsZ0yaxFPKkAE4o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7xRqBGdzUKvm.K9L_lPc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7xRqBGdzUKvm.K9L_lPcw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YhwoiIKjUarzigf4ZWRrw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MXob9aekkCjbQCbz.TdW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r.LDANLEuti1pA8VZmo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KulJngqyUS3sxbxzAb5h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aRlvlI.jkqd4YcEPBq.0A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VIZSpbwmEuf36v15FEldw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6m2.Hk2AUePndgGOHRcGA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XlNbb3Hc0q6KcLdfJNLJw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Q91K2hKQUSFcGYZ5Za5EA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x4Rt1fP30qTNtALzi4VSg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FFOv1mjY0O.l2MYF94aBQ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bf7I3k7F0GlxLfuxGQpv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OwJFn_hPEKngZaG1vZq9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d7TExfK0uSFtrQmshz1g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KulJngqyUS3sxbxzAb5hQ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_xAnQoDH02MHeaAYXBWtQ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_xAnQoDH02MHeaAYXBWtQ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hPWrhkuQkiTkZStqUTwuQ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wX17SR020qAzFPXLzFiew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JP5gGZIlkOQmkuykFDOmw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34KPKsKaki2Zy4K9wpnI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8GHk5T0YEW0NK7E9WH7Kg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m8jk0xgDkWA7wfIDYDjpA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d4a3OIJMUSAgZRw1J9tZ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vw1sJzwEWRBBWpIGY7Uw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fsn2JDcxUmt3CulFMOblg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hPWrhkuQkiTkZStqUTwuQ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hPWrhkuQkiTkZStqUTwuQ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hPWrhkuQkiTkZStqUTwuQ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hPWrhkuQkiTkZStqUTwuQ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OnnZeO9P0.Z_8MM22wlWA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uA7Cm60W0qQGZrYTcfLjA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hPWrhkuQkiTkZStqUTwuQ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JP5gGZIlkOQmkuykFDOmw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34KPKsKaki2Zy4K9wpnIQ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8GHk5T0YEW0NK7E9WH7Kg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m8jk0xgDkWA7wfIDYDjpA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d4a3OIJMUSAgZRw1J9tZQ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fsn2JDcxUmt3CulFMOblg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hPWrhkuQkiTkZStqUTwuQ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hPWrhkuQkiTkZStqUTwuQ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hPWrhkuQkiTkZStqUTwuQ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hPWrhkuQkiTkZStqUTwuQ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1V31fRI20qUpyt99DxgWQ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_oYjGxUN0CuNfjh06t.DQ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fr.uGr090e0xXCQ3h2irw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d0fw1xlEU.Sj8SWfYQ69g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5JqycR3UqSxcysh.qlHA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PP87CqeE0KTfOmNC3jkpA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VIYaMTWak6yuTxMXoFz.w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a.Ih5B93E26DKZm3lqx0w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Z4xkBvz10OisMfO588_fQ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osSywfpdUac.E_j9rUAMA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RDaDcw8qUGNbh7hS7w8zQ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ROXXpLVVkWgDYLGmIW3kg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6iAcmZXxkiqbDGgQwqa2Q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r24HsgY8DkmAgS69MF2OSA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gheHvsWOUWkg4jH81IYjQ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NXhY0YUn02X2W0VOXRHtA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aXX9ddJK06fJMUzHTatKw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JFD2NNJukS5wYCC5W4j6Q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ON_Sllky0mV35qtf9PTkA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48IHy5tBE.RtGUZ6ZLd3A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41jbhi8AkmwySXtdCSGMw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zBGPmDeq0K6cQ_zviRzlg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AM1GvJlo0OmCIFB8qK5rw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zBGPmDeq0K6cQ_zviRzlg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jxUdMP8kqnN.OXfbMtOQ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s8RN4D5JEOWv09HQ7PDEg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eWaBahaSESIgd.SnOxOZg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zBGPmDeq0K6cQ_zviRzlg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PiIfS8H902Hv4OzHa34Og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8bbvXRAHnUCO98rKwaC0kQ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zRNR4MEe0eBkqFwsJ7R8Q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mjSWgwpckav9o2.ySq5Pg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xQy9Nmp9Uu9kqI472bjdQ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w8vCZFkV0ypw9EerkvFJQ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wKvJsbwrEKY7uvBJaxiTg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MFV7nEXYU23L0IpigBt4g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cOnjkfr40aNGSJEfd4ipw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t7axRaNK0q8f_FLL9l0rg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Z4xkBvz10OisMfO588_fQ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Z4xkBvz10OisMfO588_fQ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xCNdF9q0Scz1iPCpPSzA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q0Fbd6_NECYaLLePmlRwA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4LDhjenlkKUwaKvC_gKDA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_xAnQoDH02MHeaAYXBWtQ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ZcM9oPFo40Olp3UhtpPn_w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zBGPmDeq0K6cQ_zviRzlg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20Mx5ZnkEatR4nilzuYew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r0JD5q4kkCF20_eZmGgLA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gbclikD4k2yu4ePD7Zq2Q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wXmUXHggkG8RRd9Gc.dHw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lXLVkVNJkC6d655hvEESQ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gYhtwT5CBEmEPwNM7Uo5lw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9ew8DKsOEqLOmPke6eqcw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Mg7GkubH0W9IBHp4NdBzg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Mg7GkubH0W9IBHp4NdBzg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Mg7GkubH0W9IBHp4NdBzg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aRlvlI.jkqd4YcEPBq.0A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VIZSpbwmEuf36v15FEldw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6m2.Hk2AUePndgGOHRcGA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XlNbb3Hc0q6KcLdfJNLJw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Q91K2hKQUSFcGYZ5Za5EA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x4Rt1fP30qTNtALzi4VSg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FFOv1mjY0O.l2MYF94aBQ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bf7I3k7F0GlxLfuxGQpvg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sOwJFn_hPEKngZaG1vZq9g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Rd7TExfK0uSFtrQmshz1g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_oYjGxUN0CuNfjh06t.DQ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_xAnQoDH02MHeaAYXBWtQ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KulJngqyUS3sxbxzAb5hQ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KulJngqyUS3sxbxzAb5hQ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_xAnQoDH02MHeaAYXBWtQ"/>
</p:tagLst>
</file>

<file path=ppt/theme/theme1.xml><?xml version="1.0" encoding="utf-8"?>
<a:theme xmlns:a="http://schemas.openxmlformats.org/drawingml/2006/main" name="gpn_speech">
  <a:themeElements>
    <a:clrScheme name="ГПН">
      <a:dk1>
        <a:srgbClr val="3C3C3C"/>
      </a:dk1>
      <a:lt1>
        <a:srgbClr val="FFFFFF"/>
      </a:lt1>
      <a:dk2>
        <a:srgbClr val="000000"/>
      </a:dk2>
      <a:lt2>
        <a:srgbClr val="706F6F"/>
      </a:lt2>
      <a:accent1>
        <a:srgbClr val="004077"/>
      </a:accent1>
      <a:accent2>
        <a:srgbClr val="2FB4E9"/>
      </a:accent2>
      <a:accent3>
        <a:srgbClr val="0070BA"/>
      </a:accent3>
      <a:accent4>
        <a:srgbClr val="DADADA"/>
      </a:accent4>
      <a:accent5>
        <a:srgbClr val="AEBD15"/>
      </a:accent5>
      <a:accent6>
        <a:srgbClr val="F7A600"/>
      </a:accent6>
      <a:hlink>
        <a:srgbClr val="0070BA"/>
      </a:hlink>
      <a:folHlink>
        <a:srgbClr val="706F6F"/>
      </a:folHlink>
    </a:clrScheme>
    <a:fontScheme name="Газпром нефть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lIns="0" tIns="0" rIns="0" bIns="0">
        <a:noAutofit/>
      </a:bodyPr>
      <a:lstStyle>
        <a:defPPr>
          <a:defRPr sz="2400" b="0" i="0" u="none" strike="noStrike" kern="1200" baseline="0">
            <a:solidFill>
              <a:srgbClr val="004077"/>
            </a:solidFill>
            <a:latin typeface="+mn-lt"/>
            <a:ea typeface="+mn-ea"/>
            <a:cs typeface="+mn-cs"/>
          </a:defRPr>
        </a:defPPr>
      </a:lstStyle>
    </a:spDef>
    <a:lnDef>
      <a:spPr>
        <a:ln w="9525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spcBef>
            <a:spcPts val="800"/>
          </a:spcBef>
          <a:defRPr sz="12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gpn_speech</Template>
  <TotalTime>0</TotalTime>
  <Words>1100</Words>
  <Application>Microsoft Office PowerPoint</Application>
  <PresentationFormat>Экран (4:3)</PresentationFormat>
  <Paragraphs>245</Paragraphs>
  <Slides>22</Slides>
  <Notes>14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8" baseType="lpstr">
      <vt:lpstr>Arabic Typesetting</vt:lpstr>
      <vt:lpstr>Arial</vt:lpstr>
      <vt:lpstr>Calibri</vt:lpstr>
      <vt:lpstr>Wingdings</vt:lpstr>
      <vt:lpstr>gpn_speech</vt:lpstr>
      <vt:lpstr>think-cell Slide</vt:lpstr>
      <vt:lpstr>ОТЧЁТ  Функции Бурения и Внутрискважинных работ за monthes mCount year года  по Бурению</vt:lpstr>
      <vt:lpstr>Содержание</vt:lpstr>
      <vt:lpstr>Презентация PowerPoint</vt:lpstr>
      <vt:lpstr>Бурение и ЗБС</vt:lpstr>
      <vt:lpstr> Дирекция по добыче Эксплуатационное бурение  Физические показатели</vt:lpstr>
      <vt:lpstr> Дирекция по добыче Зарезка Боковых Стволов Физические показатели</vt:lpstr>
      <vt:lpstr>Дирекция по добыче  Эксплуатационное бурение Динамика скорости бурения</vt:lpstr>
      <vt:lpstr>Дирекция по добыче  Зарезка Боковых Стволов Динамика скорости бурения</vt:lpstr>
      <vt:lpstr>Дирекция по добыче Эксплуатационное бурение  Динамика удельной стоимости скважин (без учета водозаборных скважин, и скважин с непринятыми затратами по бурению, телеметрии, растворам и пр.)</vt:lpstr>
      <vt:lpstr>Дирекция по добыче Зарезка Боковых Стволов Динамика удельной стоимости скважин (без учета скважин с непринятыми затратами по бурению, телеметрии, растворам и пр.)</vt:lpstr>
      <vt:lpstr>Дирекция по добыче Эксплуатационное бурение и ЗБС  Динамика НПВ</vt:lpstr>
      <vt:lpstr>Дирекция по добыче Динамика НПВ в ЭБ за календарное время по ДО</vt:lpstr>
      <vt:lpstr>Дирекция по добыче Динамика НПВ в ЗБС за календарное время по ДО</vt:lpstr>
      <vt:lpstr>Дирекция крупных проектов  Эксплуатационное Бурение Физические показатели </vt:lpstr>
      <vt:lpstr>Дирекция крупных проектов Динамика скорости бурения эксплуатационных скважин Удельная стоимость эксплуатационных скважин</vt:lpstr>
      <vt:lpstr>Дирекция крупных проектов   Эксплуатационное Бурение Динамика НПВ за календарное время</vt:lpstr>
      <vt:lpstr>Дирекция по ГРР и РРБ  Поисково-разведочное бурение Физические показатели </vt:lpstr>
      <vt:lpstr>Дирекция по ГРР и РРБ Поисково-Разведочное бурение (ДО)  Динамика НПВ за календарное время, рейтинг подрядчиков по ПРБ</vt:lpstr>
      <vt:lpstr>НПВ по подрядчикам  По Дирекции по Добыче с начала года</vt:lpstr>
      <vt:lpstr>НПВ по подрядчикам  С начала года в разрезе ДО</vt:lpstr>
      <vt:lpstr>НПВ по подрядчикам  С начала года в разрезе ДО</vt:lpstr>
      <vt:lpstr>Функция Бурение Эксплуатационное бурение и ЗБС  Динамика НПВ  (периметр текущие активы + Новый Порт)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2016-03-25T06:24:57Z</dcterms:created>
  <dcterms:modified xsi:type="dcterms:W3CDTF">2016-06-20T15:23:18Z</dcterms:modified>
</cp:coreProperties>
</file>